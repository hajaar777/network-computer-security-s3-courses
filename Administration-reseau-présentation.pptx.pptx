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Times New Roman Bold Italics" charset="1" panose="02020703060505090304"/>
      <p:regular r:id="rId20"/>
    </p:embeddedFont>
    <p:embeddedFont>
      <p:font typeface="Times New Roman Bold" charset="1" panose="02020803070505020304"/>
      <p:regular r:id="rId21"/>
    </p:embeddedFont>
    <p:embeddedFont>
      <p:font typeface="Calibri (MS) Bold" charset="1" panose="020F0702030404030204"/>
      <p:regular r:id="rId22"/>
    </p:embeddedFont>
    <p:embeddedFont>
      <p:font typeface="Calibri (MS)" charset="1" panose="020F0502020204030204"/>
      <p:regular r:id="rId23"/>
    </p:embeddedFont>
    <p:embeddedFont>
      <p:font typeface="Arimo Bold" charset="1" panose="020B0704020202020204"/>
      <p:regular r:id="rId24"/>
    </p:embeddedFont>
    <p:embeddedFont>
      <p:font typeface="Arimo" charset="1" panose="020B0604020202020204"/>
      <p:regular r:id="rId25"/>
    </p:embeddedFont>
    <p:embeddedFont>
      <p:font typeface="Times New Roman" charset="1" panose="02020603050405020304"/>
      <p:regular r:id="rId26"/>
    </p:embeddedFont>
    <p:embeddedFont>
      <p:font typeface="Roboto Bold" charset="1" panose="02000000000000000000"/>
      <p:regular r:id="rId27"/>
    </p:embeddedFont>
    <p:embeddedFont>
      <p:font typeface="Source Sans Pro" charset="1" panose="020B0503030403020204"/>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14" Target="../media/image17.png" Type="http://schemas.openxmlformats.org/officeDocument/2006/relationships/image"/><Relationship Id="rId15" Target="../media/image18.svg" Type="http://schemas.openxmlformats.org/officeDocument/2006/relationships/image"/><Relationship Id="rId16" Target="../media/image19.png" Type="http://schemas.openxmlformats.org/officeDocument/2006/relationships/image"/><Relationship Id="rId17" Target="../media/image20.svg" Type="http://schemas.openxmlformats.org/officeDocument/2006/relationships/image"/><Relationship Id="rId18" Target="../media/image21.png" Type="http://schemas.openxmlformats.org/officeDocument/2006/relationships/image"/><Relationship Id="rId19" Target="../media/image22.svg" Type="http://schemas.openxmlformats.org/officeDocument/2006/relationships/image"/><Relationship Id="rId2" Target="../media/image5.png" Type="http://schemas.openxmlformats.org/officeDocument/2006/relationships/image"/><Relationship Id="rId20" Target="../media/image23.png" Type="http://schemas.openxmlformats.org/officeDocument/2006/relationships/image"/><Relationship Id="rId21" Target="../media/image24.png" Type="http://schemas.openxmlformats.org/officeDocument/2006/relationships/image"/><Relationship Id="rId22" Target="../media/image25.png" Type="http://schemas.openxmlformats.org/officeDocument/2006/relationships/image"/><Relationship Id="rId23" Target="../media/image26.png" Type="http://schemas.openxmlformats.org/officeDocument/2006/relationships/image"/><Relationship Id="rId24" Target="../media/image27.png" Type="http://schemas.openxmlformats.org/officeDocument/2006/relationships/image"/><Relationship Id="rId25" Target="../media/image28.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3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583408" y="7261765"/>
            <a:ext cx="2606135" cy="1439323"/>
            <a:chOff x="0" y="0"/>
            <a:chExt cx="3474847" cy="1919097"/>
          </a:xfrm>
        </p:grpSpPr>
        <p:sp>
          <p:nvSpPr>
            <p:cNvPr name="Freeform 3" id="3"/>
            <p:cNvSpPr/>
            <p:nvPr/>
          </p:nvSpPr>
          <p:spPr>
            <a:xfrm flipH="false" flipV="false" rot="0">
              <a:off x="0" y="0"/>
              <a:ext cx="3474847" cy="1919097"/>
            </a:xfrm>
            <a:custGeom>
              <a:avLst/>
              <a:gdLst/>
              <a:ahLst/>
              <a:cxnLst/>
              <a:rect r="r" b="b" t="t" l="l"/>
              <a:pathLst>
                <a:path h="1919097" w="3474847">
                  <a:moveTo>
                    <a:pt x="0" y="0"/>
                  </a:moveTo>
                  <a:lnTo>
                    <a:pt x="247650" y="0"/>
                  </a:lnTo>
                  <a:lnTo>
                    <a:pt x="247650" y="1580515"/>
                  </a:lnTo>
                  <a:lnTo>
                    <a:pt x="2980182" y="0"/>
                  </a:lnTo>
                  <a:lnTo>
                    <a:pt x="3474847" y="0"/>
                  </a:lnTo>
                  <a:lnTo>
                    <a:pt x="185801" y="1902460"/>
                  </a:lnTo>
                  <a:cubicBezTo>
                    <a:pt x="167005" y="1913382"/>
                    <a:pt x="145669" y="1919097"/>
                    <a:pt x="123952" y="1919097"/>
                  </a:cubicBezTo>
                  <a:cubicBezTo>
                    <a:pt x="55626" y="1919097"/>
                    <a:pt x="127" y="1863598"/>
                    <a:pt x="127" y="1795272"/>
                  </a:cubicBezTo>
                  <a:close/>
                </a:path>
              </a:pathLst>
            </a:custGeom>
            <a:solidFill>
              <a:srgbClr val="FF9514"/>
            </a:solidFill>
          </p:spPr>
        </p:sp>
      </p:grpSp>
      <p:grpSp>
        <p:nvGrpSpPr>
          <p:cNvPr name="Group 4" id="4"/>
          <p:cNvGrpSpPr/>
          <p:nvPr/>
        </p:nvGrpSpPr>
        <p:grpSpPr>
          <a:xfrm rot="0">
            <a:off x="15741649" y="3"/>
            <a:ext cx="1273969" cy="536543"/>
            <a:chOff x="0" y="0"/>
            <a:chExt cx="1698625" cy="715391"/>
          </a:xfrm>
        </p:grpSpPr>
        <p:sp>
          <p:nvSpPr>
            <p:cNvPr name="Freeform 5" id="5"/>
            <p:cNvSpPr/>
            <p:nvPr/>
          </p:nvSpPr>
          <p:spPr>
            <a:xfrm flipH="false" flipV="false" rot="0">
              <a:off x="0" y="0"/>
              <a:ext cx="1698625" cy="715391"/>
            </a:xfrm>
            <a:custGeom>
              <a:avLst/>
              <a:gdLst/>
              <a:ahLst/>
              <a:cxnLst/>
              <a:rect r="r" b="b" t="t" l="l"/>
              <a:pathLst>
                <a:path h="715391" w="1698625">
                  <a:moveTo>
                    <a:pt x="0" y="0"/>
                  </a:moveTo>
                  <a:lnTo>
                    <a:pt x="1698625" y="0"/>
                  </a:lnTo>
                  <a:lnTo>
                    <a:pt x="1696085" y="25146"/>
                  </a:lnTo>
                  <a:cubicBezTo>
                    <a:pt x="1615567" y="419100"/>
                    <a:pt x="1267079" y="715391"/>
                    <a:pt x="849376" y="715391"/>
                  </a:cubicBezTo>
                  <a:cubicBezTo>
                    <a:pt x="431673" y="715391"/>
                    <a:pt x="83185" y="419100"/>
                    <a:pt x="2540" y="25146"/>
                  </a:cubicBezTo>
                  <a:close/>
                </a:path>
              </a:pathLst>
            </a:custGeom>
            <a:solidFill>
              <a:srgbClr val="2CC3B4"/>
            </a:solidFill>
          </p:spPr>
        </p:sp>
      </p:grpSp>
      <p:grpSp>
        <p:nvGrpSpPr>
          <p:cNvPr name="Group 6" id="6"/>
          <p:cNvGrpSpPr/>
          <p:nvPr/>
        </p:nvGrpSpPr>
        <p:grpSpPr>
          <a:xfrm rot="0">
            <a:off x="1135002" y="329445"/>
            <a:ext cx="1822418" cy="1822418"/>
            <a:chOff x="0" y="0"/>
            <a:chExt cx="2429891" cy="2429891"/>
          </a:xfrm>
        </p:grpSpPr>
        <p:sp>
          <p:nvSpPr>
            <p:cNvPr name="Freeform 7" id="7" descr="Ecole Supérieure de Technologie Béni Mellal"/>
            <p:cNvSpPr/>
            <p:nvPr/>
          </p:nvSpPr>
          <p:spPr>
            <a:xfrm flipH="false" flipV="false" rot="0">
              <a:off x="0" y="0"/>
              <a:ext cx="2429891" cy="2429891"/>
            </a:xfrm>
            <a:custGeom>
              <a:avLst/>
              <a:gdLst/>
              <a:ahLst/>
              <a:cxnLst/>
              <a:rect r="r" b="b" t="t" l="l"/>
              <a:pathLst>
                <a:path h="2429891" w="2429891">
                  <a:moveTo>
                    <a:pt x="0" y="0"/>
                  </a:moveTo>
                  <a:lnTo>
                    <a:pt x="2429891" y="0"/>
                  </a:lnTo>
                  <a:lnTo>
                    <a:pt x="2429891" y="2429891"/>
                  </a:lnTo>
                  <a:lnTo>
                    <a:pt x="0" y="2429891"/>
                  </a:lnTo>
                  <a:lnTo>
                    <a:pt x="0" y="0"/>
                  </a:lnTo>
                  <a:close/>
                </a:path>
              </a:pathLst>
            </a:custGeom>
            <a:blipFill>
              <a:blip r:embed="rId2"/>
              <a:stretch>
                <a:fillRect l="0" t="0" r="0" b="0"/>
              </a:stretch>
            </a:blipFill>
          </p:spPr>
        </p:sp>
      </p:grpSp>
      <p:grpSp>
        <p:nvGrpSpPr>
          <p:cNvPr name="Group 8" id="8"/>
          <p:cNvGrpSpPr/>
          <p:nvPr/>
        </p:nvGrpSpPr>
        <p:grpSpPr>
          <a:xfrm rot="0">
            <a:off x="15325530" y="0"/>
            <a:ext cx="2169414" cy="760286"/>
            <a:chOff x="0" y="0"/>
            <a:chExt cx="2892552" cy="1013714"/>
          </a:xfrm>
        </p:grpSpPr>
        <p:sp>
          <p:nvSpPr>
            <p:cNvPr name="Freeform 9" id="9"/>
            <p:cNvSpPr/>
            <p:nvPr/>
          </p:nvSpPr>
          <p:spPr>
            <a:xfrm flipH="false" flipV="false" rot="0">
              <a:off x="0" y="0"/>
              <a:ext cx="2892552" cy="1013714"/>
            </a:xfrm>
            <a:custGeom>
              <a:avLst/>
              <a:gdLst/>
              <a:ahLst/>
              <a:cxnLst/>
              <a:rect r="r" b="b" t="t" l="l"/>
              <a:pathLst>
                <a:path h="1013714" w="2892552">
                  <a:moveTo>
                    <a:pt x="0" y="0"/>
                  </a:moveTo>
                  <a:lnTo>
                    <a:pt x="2892552" y="0"/>
                  </a:lnTo>
                  <a:lnTo>
                    <a:pt x="2892552" y="1013714"/>
                  </a:lnTo>
                  <a:lnTo>
                    <a:pt x="0" y="1013714"/>
                  </a:lnTo>
                  <a:close/>
                </a:path>
              </a:pathLst>
            </a:custGeom>
            <a:solidFill>
              <a:srgbClr val="FFFFFF"/>
            </a:solidFill>
          </p:spPr>
        </p:sp>
      </p:grpSp>
      <p:grpSp>
        <p:nvGrpSpPr>
          <p:cNvPr name="Group 10" id="10"/>
          <p:cNvGrpSpPr/>
          <p:nvPr/>
        </p:nvGrpSpPr>
        <p:grpSpPr>
          <a:xfrm rot="0">
            <a:off x="15464529" y="329445"/>
            <a:ext cx="1650206" cy="1826799"/>
            <a:chOff x="0" y="0"/>
            <a:chExt cx="2200275" cy="2435732"/>
          </a:xfrm>
        </p:grpSpPr>
        <p:sp>
          <p:nvSpPr>
            <p:cNvPr name="Freeform 11" id="11"/>
            <p:cNvSpPr/>
            <p:nvPr/>
          </p:nvSpPr>
          <p:spPr>
            <a:xfrm flipH="false" flipV="false" rot="0">
              <a:off x="0" y="0"/>
              <a:ext cx="2200275" cy="2435733"/>
            </a:xfrm>
            <a:custGeom>
              <a:avLst/>
              <a:gdLst/>
              <a:ahLst/>
              <a:cxnLst/>
              <a:rect r="r" b="b" t="t" l="l"/>
              <a:pathLst>
                <a:path h="2435733" w="2200275">
                  <a:moveTo>
                    <a:pt x="0" y="0"/>
                  </a:moveTo>
                  <a:lnTo>
                    <a:pt x="2200275" y="0"/>
                  </a:lnTo>
                  <a:lnTo>
                    <a:pt x="2200275" y="2435733"/>
                  </a:lnTo>
                  <a:lnTo>
                    <a:pt x="0" y="2435733"/>
                  </a:lnTo>
                  <a:lnTo>
                    <a:pt x="0" y="0"/>
                  </a:lnTo>
                  <a:close/>
                </a:path>
              </a:pathLst>
            </a:custGeom>
            <a:blipFill>
              <a:blip r:embed="rId3"/>
              <a:stretch>
                <a:fillRect l="-4174" t="0" r="-4174" b="0"/>
              </a:stretch>
            </a:blipFill>
          </p:spPr>
        </p:sp>
      </p:grpSp>
      <p:grpSp>
        <p:nvGrpSpPr>
          <p:cNvPr name="Group 12" id="12"/>
          <p:cNvGrpSpPr/>
          <p:nvPr/>
        </p:nvGrpSpPr>
        <p:grpSpPr>
          <a:xfrm rot="0">
            <a:off x="0" y="6634065"/>
            <a:ext cx="1581532" cy="2757202"/>
            <a:chOff x="0" y="0"/>
            <a:chExt cx="2108709" cy="3676269"/>
          </a:xfrm>
        </p:grpSpPr>
        <p:sp>
          <p:nvSpPr>
            <p:cNvPr name="Freeform 13" id="13"/>
            <p:cNvSpPr/>
            <p:nvPr/>
          </p:nvSpPr>
          <p:spPr>
            <a:xfrm flipH="false" flipV="false" rot="0">
              <a:off x="0" y="0"/>
              <a:ext cx="2108708" cy="3676269"/>
            </a:xfrm>
            <a:custGeom>
              <a:avLst/>
              <a:gdLst/>
              <a:ahLst/>
              <a:cxnLst/>
              <a:rect r="r" b="b" t="t" l="l"/>
              <a:pathLst>
                <a:path h="3676269" w="2108708">
                  <a:moveTo>
                    <a:pt x="0" y="0"/>
                  </a:moveTo>
                  <a:lnTo>
                    <a:pt x="2108708" y="0"/>
                  </a:lnTo>
                  <a:lnTo>
                    <a:pt x="2108708" y="3676269"/>
                  </a:lnTo>
                  <a:lnTo>
                    <a:pt x="0" y="3676269"/>
                  </a:lnTo>
                  <a:close/>
                </a:path>
              </a:pathLst>
            </a:custGeom>
            <a:solidFill>
              <a:srgbClr val="FFFFFF"/>
            </a:solidFill>
          </p:spPr>
        </p:sp>
      </p:grpSp>
      <p:grpSp>
        <p:nvGrpSpPr>
          <p:cNvPr name="Group 14" id="14"/>
          <p:cNvGrpSpPr/>
          <p:nvPr/>
        </p:nvGrpSpPr>
        <p:grpSpPr>
          <a:xfrm rot="0">
            <a:off x="1598723" y="3892003"/>
            <a:ext cx="14849857" cy="2502979"/>
            <a:chOff x="0" y="0"/>
            <a:chExt cx="19799809" cy="3337306"/>
          </a:xfrm>
        </p:grpSpPr>
        <p:sp>
          <p:nvSpPr>
            <p:cNvPr name="Freeform 15" id="15"/>
            <p:cNvSpPr/>
            <p:nvPr/>
          </p:nvSpPr>
          <p:spPr>
            <a:xfrm flipH="false" flipV="false" rot="0">
              <a:off x="0" y="0"/>
              <a:ext cx="19799808" cy="3337306"/>
            </a:xfrm>
            <a:custGeom>
              <a:avLst/>
              <a:gdLst/>
              <a:ahLst/>
              <a:cxnLst/>
              <a:rect r="r" b="b" t="t" l="l"/>
              <a:pathLst>
                <a:path h="3337306" w="19799808">
                  <a:moveTo>
                    <a:pt x="0" y="0"/>
                  </a:moveTo>
                  <a:lnTo>
                    <a:pt x="19799808" y="0"/>
                  </a:lnTo>
                  <a:lnTo>
                    <a:pt x="19799808" y="3337306"/>
                  </a:lnTo>
                  <a:lnTo>
                    <a:pt x="0" y="3337306"/>
                  </a:lnTo>
                  <a:close/>
                </a:path>
              </a:pathLst>
            </a:custGeom>
            <a:solidFill>
              <a:srgbClr val="FFFFFF"/>
            </a:solidFill>
          </p:spPr>
        </p:sp>
      </p:grpSp>
      <p:grpSp>
        <p:nvGrpSpPr>
          <p:cNvPr name="Group 16" id="16"/>
          <p:cNvGrpSpPr/>
          <p:nvPr/>
        </p:nvGrpSpPr>
        <p:grpSpPr>
          <a:xfrm rot="0">
            <a:off x="1577292" y="3864733"/>
            <a:ext cx="14892719" cy="2557462"/>
            <a:chOff x="0" y="0"/>
            <a:chExt cx="19856958" cy="3409950"/>
          </a:xfrm>
        </p:grpSpPr>
        <p:sp>
          <p:nvSpPr>
            <p:cNvPr name="Freeform 17" id="17"/>
            <p:cNvSpPr/>
            <p:nvPr/>
          </p:nvSpPr>
          <p:spPr>
            <a:xfrm flipH="false" flipV="false" rot="0">
              <a:off x="0" y="0"/>
              <a:ext cx="19856958" cy="3409950"/>
            </a:xfrm>
            <a:custGeom>
              <a:avLst/>
              <a:gdLst/>
              <a:ahLst/>
              <a:cxnLst/>
              <a:rect r="r" b="b" t="t" l="l"/>
              <a:pathLst>
                <a:path h="3409950" w="19856958">
                  <a:moveTo>
                    <a:pt x="28575" y="0"/>
                  </a:moveTo>
                  <a:lnTo>
                    <a:pt x="19828383" y="0"/>
                  </a:lnTo>
                  <a:cubicBezTo>
                    <a:pt x="19844131" y="0"/>
                    <a:pt x="19856958" y="16383"/>
                    <a:pt x="19856958" y="36322"/>
                  </a:cubicBezTo>
                  <a:lnTo>
                    <a:pt x="19856958" y="3373628"/>
                  </a:lnTo>
                  <a:cubicBezTo>
                    <a:pt x="19856958" y="3393694"/>
                    <a:pt x="19844131" y="3409950"/>
                    <a:pt x="19828383" y="3409950"/>
                  </a:cubicBezTo>
                  <a:lnTo>
                    <a:pt x="28575" y="3409950"/>
                  </a:lnTo>
                  <a:cubicBezTo>
                    <a:pt x="12827" y="3409950"/>
                    <a:pt x="0" y="3393567"/>
                    <a:pt x="0" y="3373628"/>
                  </a:cubicBezTo>
                  <a:lnTo>
                    <a:pt x="0" y="36322"/>
                  </a:lnTo>
                  <a:cubicBezTo>
                    <a:pt x="0" y="16383"/>
                    <a:pt x="12827" y="0"/>
                    <a:pt x="28575" y="0"/>
                  </a:cubicBezTo>
                  <a:moveTo>
                    <a:pt x="28575" y="72771"/>
                  </a:moveTo>
                  <a:lnTo>
                    <a:pt x="28575" y="36322"/>
                  </a:lnTo>
                  <a:lnTo>
                    <a:pt x="57150" y="36322"/>
                  </a:lnTo>
                  <a:lnTo>
                    <a:pt x="57150" y="3373628"/>
                  </a:lnTo>
                  <a:lnTo>
                    <a:pt x="28575" y="3373628"/>
                  </a:lnTo>
                  <a:lnTo>
                    <a:pt x="28575" y="3337306"/>
                  </a:lnTo>
                  <a:lnTo>
                    <a:pt x="19828383" y="3337306"/>
                  </a:lnTo>
                  <a:lnTo>
                    <a:pt x="19828383" y="3373628"/>
                  </a:lnTo>
                  <a:lnTo>
                    <a:pt x="19799808" y="3373628"/>
                  </a:lnTo>
                  <a:lnTo>
                    <a:pt x="19799808" y="36322"/>
                  </a:lnTo>
                  <a:lnTo>
                    <a:pt x="19828383" y="36322"/>
                  </a:lnTo>
                  <a:lnTo>
                    <a:pt x="19828383" y="72771"/>
                  </a:lnTo>
                  <a:lnTo>
                    <a:pt x="28575" y="72771"/>
                  </a:lnTo>
                  <a:close/>
                </a:path>
              </a:pathLst>
            </a:custGeom>
            <a:solidFill>
              <a:srgbClr val="0070C0"/>
            </a:solidFill>
          </p:spPr>
        </p:sp>
      </p:grpSp>
      <p:grpSp>
        <p:nvGrpSpPr>
          <p:cNvPr name="Group 18" id="18"/>
          <p:cNvGrpSpPr/>
          <p:nvPr/>
        </p:nvGrpSpPr>
        <p:grpSpPr>
          <a:xfrm rot="0">
            <a:off x="1577292" y="3821871"/>
            <a:ext cx="14892718" cy="3853528"/>
            <a:chOff x="0" y="0"/>
            <a:chExt cx="19856957" cy="5138038"/>
          </a:xfrm>
        </p:grpSpPr>
        <p:sp>
          <p:nvSpPr>
            <p:cNvPr name="Freeform 19" id="19"/>
            <p:cNvSpPr/>
            <p:nvPr/>
          </p:nvSpPr>
          <p:spPr>
            <a:xfrm flipH="false" flipV="false" rot="0">
              <a:off x="0" y="0"/>
              <a:ext cx="19856957" cy="5138038"/>
            </a:xfrm>
            <a:custGeom>
              <a:avLst/>
              <a:gdLst/>
              <a:ahLst/>
              <a:cxnLst/>
              <a:rect r="r" b="b" t="t" l="l"/>
              <a:pathLst>
                <a:path h="5138038" w="19856957">
                  <a:moveTo>
                    <a:pt x="114300" y="0"/>
                  </a:moveTo>
                  <a:lnTo>
                    <a:pt x="19742657" y="0"/>
                  </a:lnTo>
                  <a:cubicBezTo>
                    <a:pt x="19805783" y="0"/>
                    <a:pt x="19856957" y="51174"/>
                    <a:pt x="19856957" y="114300"/>
                  </a:cubicBezTo>
                  <a:lnTo>
                    <a:pt x="19856957" y="5023738"/>
                  </a:lnTo>
                  <a:cubicBezTo>
                    <a:pt x="19856957" y="5054052"/>
                    <a:pt x="19844914" y="5083125"/>
                    <a:pt x="19823480" y="5104560"/>
                  </a:cubicBezTo>
                  <a:cubicBezTo>
                    <a:pt x="19802044" y="5125996"/>
                    <a:pt x="19772971" y="5138038"/>
                    <a:pt x="19742657" y="5138038"/>
                  </a:cubicBezTo>
                  <a:lnTo>
                    <a:pt x="114300" y="5138038"/>
                  </a:lnTo>
                  <a:cubicBezTo>
                    <a:pt x="83986" y="5138038"/>
                    <a:pt x="54913" y="5125996"/>
                    <a:pt x="33478" y="5104560"/>
                  </a:cubicBezTo>
                  <a:cubicBezTo>
                    <a:pt x="12042" y="5083125"/>
                    <a:pt x="0" y="5054052"/>
                    <a:pt x="0" y="5023738"/>
                  </a:cubicBezTo>
                  <a:lnTo>
                    <a:pt x="0" y="114300"/>
                  </a:lnTo>
                  <a:cubicBezTo>
                    <a:pt x="0" y="51174"/>
                    <a:pt x="51174" y="0"/>
                    <a:pt x="114300" y="0"/>
                  </a:cubicBezTo>
                  <a:close/>
                </a:path>
              </a:pathLst>
            </a:custGeom>
            <a:ln cap="sq">
              <a:noFill/>
              <a:prstDash val="sysDot"/>
              <a:miter/>
            </a:ln>
          </p:spPr>
        </p:sp>
        <p:sp>
          <p:nvSpPr>
            <p:cNvPr name="TextBox 20" id="20"/>
            <p:cNvSpPr txBox="true"/>
            <p:nvPr/>
          </p:nvSpPr>
          <p:spPr>
            <a:xfrm>
              <a:off x="0" y="-28575"/>
              <a:ext cx="19856957" cy="5166613"/>
            </a:xfrm>
            <a:prstGeom prst="rect">
              <a:avLst/>
            </a:prstGeom>
          </p:spPr>
          <p:txBody>
            <a:bodyPr anchor="ctr" rtlCol="false" tIns="0" lIns="0" bIns="0" rIns="0"/>
            <a:lstStyle/>
            <a:p>
              <a:pPr algn="ctr">
                <a:lnSpc>
                  <a:spcPts val="5755"/>
                </a:lnSpc>
              </a:pPr>
              <a:r>
                <a:rPr lang="en-US" b="true" sz="4800" i="true">
                  <a:solidFill>
                    <a:srgbClr val="0070C0"/>
                  </a:solidFill>
                  <a:latin typeface="Times New Roman Bold Italics"/>
                  <a:ea typeface="Times New Roman Bold Italics"/>
                  <a:cs typeface="Times New Roman Bold Italics"/>
                  <a:sym typeface="Times New Roman Bold Italics"/>
                </a:rPr>
                <a:t>Outils de supervision Open Source : (Nagios, Zabbix ,</a:t>
              </a:r>
            </a:p>
            <a:p>
              <a:pPr algn="ctr">
                <a:lnSpc>
                  <a:spcPts val="5755"/>
                </a:lnSpc>
              </a:pPr>
              <a:r>
                <a:rPr lang="en-US" b="true" sz="4800" i="true">
                  <a:solidFill>
                    <a:srgbClr val="0070C0"/>
                  </a:solidFill>
                  <a:latin typeface="Times New Roman Bold Italics"/>
                  <a:ea typeface="Times New Roman Bold Italics"/>
                  <a:cs typeface="Times New Roman Bold Italics"/>
                  <a:sym typeface="Times New Roman Bold Italics"/>
                </a:rPr>
                <a:t> Cacti...)</a:t>
              </a:r>
            </a:p>
            <a:p>
              <a:pPr algn="ctr">
                <a:lnSpc>
                  <a:spcPts val="5755"/>
                </a:lnSpc>
              </a:pPr>
            </a:p>
            <a:p>
              <a:pPr algn="ctr">
                <a:lnSpc>
                  <a:spcPts val="5759"/>
                </a:lnSpc>
              </a:pPr>
            </a:p>
          </p:txBody>
        </p:sp>
      </p:grpSp>
      <p:sp>
        <p:nvSpPr>
          <p:cNvPr name="TextBox 21" id="21"/>
          <p:cNvSpPr txBox="true"/>
          <p:nvPr/>
        </p:nvSpPr>
        <p:spPr>
          <a:xfrm rot="0">
            <a:off x="4201802" y="656004"/>
            <a:ext cx="9884397" cy="876300"/>
          </a:xfrm>
          <a:prstGeom prst="rect">
            <a:avLst/>
          </a:prstGeom>
        </p:spPr>
        <p:txBody>
          <a:bodyPr anchor="t" rtlCol="false" tIns="0" lIns="0" bIns="0" rIns="0">
            <a:spAutoFit/>
          </a:bodyPr>
          <a:lstStyle/>
          <a:p>
            <a:pPr algn="ctr">
              <a:lnSpc>
                <a:spcPts val="3240"/>
              </a:lnSpc>
            </a:pPr>
            <a:r>
              <a:rPr lang="en-US" sz="2700" b="true">
                <a:solidFill>
                  <a:srgbClr val="0C4493"/>
                </a:solidFill>
                <a:latin typeface="Times New Roman Bold"/>
                <a:ea typeface="Times New Roman Bold"/>
                <a:cs typeface="Times New Roman Bold"/>
                <a:sym typeface="Times New Roman Bold"/>
              </a:rPr>
              <a:t>ECOLE SUPERRIEUR DE TECHNOLOGIE - BENI MELLAL</a:t>
            </a:r>
          </a:p>
          <a:p>
            <a:pPr algn="ctr">
              <a:lnSpc>
                <a:spcPts val="3240"/>
              </a:lnSpc>
            </a:pPr>
            <a:r>
              <a:rPr lang="en-US" sz="2700" b="true">
                <a:solidFill>
                  <a:srgbClr val="0C4493"/>
                </a:solidFill>
                <a:latin typeface="Times New Roman Bold"/>
                <a:ea typeface="Times New Roman Bold"/>
                <a:cs typeface="Times New Roman Bold"/>
                <a:sym typeface="Times New Roman Bold"/>
              </a:rPr>
              <a:t>DEPARTEMENT Informatique et Techniques de Gestion</a:t>
            </a:r>
          </a:p>
        </p:txBody>
      </p:sp>
      <p:sp>
        <p:nvSpPr>
          <p:cNvPr name="TextBox 22" id="22"/>
          <p:cNvSpPr txBox="true"/>
          <p:nvPr/>
        </p:nvSpPr>
        <p:spPr>
          <a:xfrm rot="0">
            <a:off x="5667473" y="1553110"/>
            <a:ext cx="8635047" cy="990600"/>
          </a:xfrm>
          <a:prstGeom prst="rect">
            <a:avLst/>
          </a:prstGeom>
        </p:spPr>
        <p:txBody>
          <a:bodyPr anchor="t" rtlCol="false" tIns="0" lIns="0" bIns="0" rIns="0">
            <a:spAutoFit/>
          </a:bodyPr>
          <a:lstStyle/>
          <a:p>
            <a:pPr algn="l">
              <a:lnSpc>
                <a:spcPts val="3240"/>
              </a:lnSpc>
            </a:pPr>
            <a:r>
              <a:rPr lang="en-US" b="true" sz="2700" u="sng">
                <a:solidFill>
                  <a:srgbClr val="0070C0"/>
                </a:solidFill>
                <a:latin typeface="Calibri (MS) Bold"/>
                <a:ea typeface="Calibri (MS) Bold"/>
                <a:cs typeface="Calibri (MS) Bold"/>
                <a:sym typeface="Calibri (MS) Bold"/>
              </a:rPr>
              <a:t>Filière :</a:t>
            </a:r>
            <a:r>
              <a:rPr lang="en-US" sz="2700" b="true">
                <a:solidFill>
                  <a:srgbClr val="0070C0"/>
                </a:solidFill>
                <a:latin typeface="Calibri (MS) Bold"/>
                <a:ea typeface="Calibri (MS) Bold"/>
                <a:cs typeface="Calibri (MS) Bold"/>
                <a:sym typeface="Calibri (MS) Bold"/>
              </a:rPr>
              <a:t> </a:t>
            </a:r>
            <a:r>
              <a:rPr lang="en-US" sz="2700">
                <a:solidFill>
                  <a:srgbClr val="000000"/>
                </a:solidFill>
                <a:latin typeface="Calibri (MS)"/>
                <a:ea typeface="Calibri (MS)"/>
                <a:cs typeface="Calibri (MS)"/>
                <a:sym typeface="Calibri (MS)"/>
              </a:rPr>
              <a:t>DUT en Sécurité informatique et réseaux </a:t>
            </a:r>
          </a:p>
          <a:p>
            <a:pPr algn="l">
              <a:lnSpc>
                <a:spcPts val="3240"/>
              </a:lnSpc>
            </a:pPr>
            <a:r>
              <a:rPr lang="en-US" sz="2700">
                <a:solidFill>
                  <a:srgbClr val="000000"/>
                </a:solidFill>
                <a:latin typeface="Calibri (MS)"/>
                <a:ea typeface="Calibri (MS)"/>
                <a:cs typeface="Calibri (MS)"/>
                <a:sym typeface="Calibri (MS)"/>
              </a:rPr>
              <a:t> </a:t>
            </a:r>
          </a:p>
        </p:txBody>
      </p:sp>
      <p:sp>
        <p:nvSpPr>
          <p:cNvPr name="TextBox 23" id="23"/>
          <p:cNvSpPr txBox="true"/>
          <p:nvPr/>
        </p:nvSpPr>
        <p:spPr>
          <a:xfrm rot="0">
            <a:off x="7179347" y="9465205"/>
            <a:ext cx="4121664" cy="323850"/>
          </a:xfrm>
          <a:prstGeom prst="rect">
            <a:avLst/>
          </a:prstGeom>
        </p:spPr>
        <p:txBody>
          <a:bodyPr anchor="t" rtlCol="false" tIns="0" lIns="0" bIns="0" rIns="0">
            <a:spAutoFit/>
          </a:bodyPr>
          <a:lstStyle/>
          <a:p>
            <a:pPr algn="l">
              <a:lnSpc>
                <a:spcPts val="2520"/>
              </a:lnSpc>
            </a:pPr>
            <a:r>
              <a:rPr lang="en-US" sz="2100" b="true">
                <a:solidFill>
                  <a:srgbClr val="000000"/>
                </a:solidFill>
                <a:latin typeface="Arimo Bold"/>
                <a:ea typeface="Arimo Bold"/>
                <a:cs typeface="Arimo Bold"/>
                <a:sym typeface="Arimo Bold"/>
              </a:rPr>
              <a:t>Année Universitaire : 2025/2026</a:t>
            </a:r>
          </a:p>
        </p:txBody>
      </p:sp>
      <p:sp>
        <p:nvSpPr>
          <p:cNvPr name="TextBox 24" id="24"/>
          <p:cNvSpPr txBox="true"/>
          <p:nvPr/>
        </p:nvSpPr>
        <p:spPr>
          <a:xfrm rot="0">
            <a:off x="3013097" y="6621209"/>
            <a:ext cx="5066731" cy="2305050"/>
          </a:xfrm>
          <a:prstGeom prst="rect">
            <a:avLst/>
          </a:prstGeom>
        </p:spPr>
        <p:txBody>
          <a:bodyPr anchor="t" rtlCol="false" tIns="0" lIns="0" bIns="0" rIns="0">
            <a:spAutoFit/>
          </a:bodyPr>
          <a:lstStyle/>
          <a:p>
            <a:pPr algn="l">
              <a:lnSpc>
                <a:spcPts val="3240"/>
              </a:lnSpc>
            </a:pPr>
            <a:r>
              <a:rPr lang="en-US" b="true" sz="2700" u="sng">
                <a:solidFill>
                  <a:srgbClr val="0070C0"/>
                </a:solidFill>
                <a:latin typeface="Calibri (MS) Bold"/>
                <a:ea typeface="Calibri (MS) Bold"/>
                <a:cs typeface="Calibri (MS) Bold"/>
                <a:sym typeface="Calibri (MS) Bold"/>
              </a:rPr>
              <a:t> Présenté par :</a:t>
            </a:r>
          </a:p>
          <a:p>
            <a:pPr algn="l">
              <a:lnSpc>
                <a:spcPts val="4860"/>
              </a:lnSpc>
            </a:pPr>
            <a:r>
              <a:rPr lang="en-US" sz="2700" b="true">
                <a:solidFill>
                  <a:srgbClr val="000000"/>
                </a:solidFill>
                <a:latin typeface="Times New Roman Bold"/>
                <a:ea typeface="Times New Roman Bold"/>
                <a:cs typeface="Times New Roman Bold"/>
                <a:sym typeface="Times New Roman Bold"/>
              </a:rPr>
              <a:t>Hajar Rachid  </a:t>
            </a:r>
          </a:p>
          <a:p>
            <a:pPr algn="l">
              <a:lnSpc>
                <a:spcPts val="3240"/>
              </a:lnSpc>
            </a:pPr>
            <a:r>
              <a:rPr lang="en-US" sz="2700" b="true">
                <a:solidFill>
                  <a:srgbClr val="000000"/>
                </a:solidFill>
                <a:latin typeface="Times New Roman Bold"/>
                <a:ea typeface="Times New Roman Bold"/>
                <a:cs typeface="Times New Roman Bold"/>
                <a:sym typeface="Times New Roman Bold"/>
              </a:rPr>
              <a:t>Salma Fadili</a:t>
            </a:r>
          </a:p>
          <a:p>
            <a:pPr algn="l">
              <a:lnSpc>
                <a:spcPts val="3240"/>
              </a:lnSpc>
            </a:pPr>
            <a:r>
              <a:rPr lang="en-US" sz="2700" b="true">
                <a:solidFill>
                  <a:srgbClr val="000000"/>
                </a:solidFill>
                <a:latin typeface="Times New Roman Bold"/>
                <a:ea typeface="Times New Roman Bold"/>
                <a:cs typeface="Times New Roman Bold"/>
                <a:sym typeface="Times New Roman Bold"/>
              </a:rPr>
              <a:t>Imane Rajif</a:t>
            </a:r>
          </a:p>
          <a:p>
            <a:pPr algn="l">
              <a:lnSpc>
                <a:spcPts val="3240"/>
              </a:lnSpc>
            </a:pPr>
          </a:p>
        </p:txBody>
      </p:sp>
      <p:sp>
        <p:nvSpPr>
          <p:cNvPr name="TextBox 25" id="25"/>
          <p:cNvSpPr txBox="true"/>
          <p:nvPr/>
        </p:nvSpPr>
        <p:spPr>
          <a:xfrm rot="0">
            <a:off x="8079828" y="3403036"/>
            <a:ext cx="2128329" cy="450457"/>
          </a:xfrm>
          <a:prstGeom prst="rect">
            <a:avLst/>
          </a:prstGeom>
        </p:spPr>
        <p:txBody>
          <a:bodyPr anchor="t" rtlCol="false" tIns="0" lIns="0" bIns="0" rIns="0">
            <a:spAutoFit/>
          </a:bodyPr>
          <a:lstStyle/>
          <a:p>
            <a:pPr algn="l">
              <a:lnSpc>
                <a:spcPts val="2700"/>
              </a:lnSpc>
            </a:pPr>
            <a:r>
              <a:rPr lang="en-US" b="true" sz="2250" u="sng">
                <a:solidFill>
                  <a:srgbClr val="000000"/>
                </a:solidFill>
                <a:latin typeface="Arimo Bold"/>
                <a:ea typeface="Arimo Bold"/>
                <a:cs typeface="Arimo Bold"/>
                <a:sym typeface="Arimo Bold"/>
              </a:rPr>
              <a:t>Sous le thème </a:t>
            </a:r>
          </a:p>
        </p:txBody>
      </p:sp>
      <p:sp>
        <p:nvSpPr>
          <p:cNvPr name="TextBox 26" id="26"/>
          <p:cNvSpPr txBox="true"/>
          <p:nvPr/>
        </p:nvSpPr>
        <p:spPr>
          <a:xfrm rot="0">
            <a:off x="3946216" y="2213072"/>
            <a:ext cx="10139983" cy="899456"/>
          </a:xfrm>
          <a:prstGeom prst="rect">
            <a:avLst/>
          </a:prstGeom>
        </p:spPr>
        <p:txBody>
          <a:bodyPr anchor="t" rtlCol="false" tIns="0" lIns="0" bIns="0" rIns="0">
            <a:spAutoFit/>
          </a:bodyPr>
          <a:lstStyle/>
          <a:p>
            <a:pPr algn="ctr">
              <a:lnSpc>
                <a:spcPts val="6889"/>
              </a:lnSpc>
            </a:pPr>
            <a:r>
              <a:rPr lang="en-US" sz="5741" b="true">
                <a:solidFill>
                  <a:srgbClr val="244061"/>
                </a:solidFill>
                <a:latin typeface="Times New Roman Bold"/>
                <a:ea typeface="Times New Roman Bold"/>
                <a:cs typeface="Times New Roman Bold"/>
                <a:sym typeface="Times New Roman Bold"/>
              </a:rPr>
              <a:t>Presentation</a:t>
            </a:r>
          </a:p>
        </p:txBody>
      </p:sp>
      <p:sp>
        <p:nvSpPr>
          <p:cNvPr name="TextBox 27" id="27"/>
          <p:cNvSpPr txBox="true"/>
          <p:nvPr/>
        </p:nvSpPr>
        <p:spPr>
          <a:xfrm rot="0">
            <a:off x="10975187" y="6468809"/>
            <a:ext cx="4489342" cy="1223010"/>
          </a:xfrm>
          <a:prstGeom prst="rect">
            <a:avLst/>
          </a:prstGeom>
        </p:spPr>
        <p:txBody>
          <a:bodyPr anchor="t" rtlCol="false" tIns="0" lIns="0" bIns="0" rIns="0">
            <a:spAutoFit/>
          </a:bodyPr>
          <a:lstStyle/>
          <a:p>
            <a:pPr algn="l">
              <a:lnSpc>
                <a:spcPts val="4860"/>
              </a:lnSpc>
            </a:pPr>
            <a:r>
              <a:rPr lang="en-US" b="true" sz="2700" u="sng">
                <a:solidFill>
                  <a:srgbClr val="0070C0"/>
                </a:solidFill>
                <a:latin typeface="Calibri (MS) Bold"/>
                <a:ea typeface="Calibri (MS) Bold"/>
                <a:cs typeface="Calibri (MS) Bold"/>
                <a:sym typeface="Calibri (MS) Bold"/>
              </a:rPr>
              <a:t>Module : :</a:t>
            </a:r>
          </a:p>
          <a:p>
            <a:pPr algn="l">
              <a:lnSpc>
                <a:spcPts val="4860"/>
              </a:lnSpc>
            </a:pPr>
            <a:r>
              <a:rPr lang="en-US" sz="2700" b="true">
                <a:solidFill>
                  <a:srgbClr val="000000"/>
                </a:solidFill>
                <a:latin typeface="Times New Roman Bold"/>
                <a:ea typeface="Times New Roman Bold"/>
                <a:cs typeface="Times New Roman Bold"/>
                <a:sym typeface="Times New Roman Bold"/>
              </a:rPr>
              <a:t> Administration des Réseaux</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733783" y="1678546"/>
            <a:ext cx="6929914" cy="6929914"/>
            <a:chOff x="0" y="0"/>
            <a:chExt cx="9239885" cy="9239885"/>
          </a:xfrm>
        </p:grpSpPr>
        <p:sp>
          <p:nvSpPr>
            <p:cNvPr name="Freeform 3" id="3"/>
            <p:cNvSpPr/>
            <p:nvPr/>
          </p:nvSpPr>
          <p:spPr>
            <a:xfrm flipH="false" flipV="false" rot="0">
              <a:off x="0" y="0"/>
              <a:ext cx="9239885" cy="9239885"/>
            </a:xfrm>
            <a:custGeom>
              <a:avLst/>
              <a:gdLst/>
              <a:ahLst/>
              <a:cxnLst/>
              <a:rect r="r" b="b" t="t" l="l"/>
              <a:pathLst>
                <a:path h="9239885" w="9239885">
                  <a:moveTo>
                    <a:pt x="0" y="4619879"/>
                  </a:moveTo>
                  <a:cubicBezTo>
                    <a:pt x="0" y="2068449"/>
                    <a:pt x="2068449" y="0"/>
                    <a:pt x="4619879" y="0"/>
                  </a:cubicBezTo>
                  <a:cubicBezTo>
                    <a:pt x="7171309" y="0"/>
                    <a:pt x="9239885" y="2068449"/>
                    <a:pt x="9239885" y="4619879"/>
                  </a:cubicBezTo>
                  <a:cubicBezTo>
                    <a:pt x="9239885" y="7171309"/>
                    <a:pt x="7171436" y="9239885"/>
                    <a:pt x="4619879" y="9239885"/>
                  </a:cubicBezTo>
                  <a:cubicBezTo>
                    <a:pt x="2068322" y="9239885"/>
                    <a:pt x="0" y="7171436"/>
                    <a:pt x="0" y="4619879"/>
                  </a:cubicBezTo>
                  <a:close/>
                </a:path>
              </a:pathLst>
            </a:custGeom>
            <a:solidFill>
              <a:srgbClr val="0070C0"/>
            </a:solidFill>
          </p:spPr>
        </p:sp>
      </p:grpSp>
      <p:grpSp>
        <p:nvGrpSpPr>
          <p:cNvPr name="Group 4" id="4"/>
          <p:cNvGrpSpPr/>
          <p:nvPr/>
        </p:nvGrpSpPr>
        <p:grpSpPr>
          <a:xfrm rot="0">
            <a:off x="1755648" y="2212848"/>
            <a:ext cx="4855464" cy="5989320"/>
            <a:chOff x="0" y="0"/>
            <a:chExt cx="6473952" cy="7985760"/>
          </a:xfrm>
        </p:grpSpPr>
        <p:sp>
          <p:nvSpPr>
            <p:cNvPr name="Freeform 5" id="5"/>
            <p:cNvSpPr/>
            <p:nvPr/>
          </p:nvSpPr>
          <p:spPr>
            <a:xfrm flipH="false" flipV="false" rot="0">
              <a:off x="0" y="0"/>
              <a:ext cx="6473952" cy="7985760"/>
            </a:xfrm>
            <a:custGeom>
              <a:avLst/>
              <a:gdLst/>
              <a:ahLst/>
              <a:cxnLst/>
              <a:rect r="r" b="b" t="t" l="l"/>
              <a:pathLst>
                <a:path h="7985760" w="6473952">
                  <a:moveTo>
                    <a:pt x="0" y="0"/>
                  </a:moveTo>
                  <a:lnTo>
                    <a:pt x="6473952" y="0"/>
                  </a:lnTo>
                  <a:lnTo>
                    <a:pt x="6473952" y="7985760"/>
                  </a:lnTo>
                  <a:lnTo>
                    <a:pt x="0" y="7985760"/>
                  </a:lnTo>
                  <a:close/>
                </a:path>
              </a:pathLst>
            </a:custGeom>
          </p:spPr>
        </p:sp>
        <p:sp>
          <p:nvSpPr>
            <p:cNvPr name="TextBox 6" id="6"/>
            <p:cNvSpPr txBox="true"/>
            <p:nvPr/>
          </p:nvSpPr>
          <p:spPr>
            <a:xfrm>
              <a:off x="0" y="76200"/>
              <a:ext cx="6473952" cy="7909560"/>
            </a:xfrm>
            <a:prstGeom prst="rect">
              <a:avLst/>
            </a:prstGeom>
          </p:spPr>
          <p:txBody>
            <a:bodyPr anchor="ctr" rtlCol="false" tIns="0" lIns="0" bIns="0" rIns="0"/>
            <a:lstStyle/>
            <a:p>
              <a:pPr algn="ctr">
                <a:lnSpc>
                  <a:spcPts val="11664"/>
                </a:lnSpc>
              </a:pPr>
              <a:r>
                <a:rPr lang="en-US" sz="10800">
                  <a:solidFill>
                    <a:srgbClr val="FFFFFF"/>
                  </a:solidFill>
                  <a:latin typeface="Arimo"/>
                  <a:ea typeface="Arimo"/>
                  <a:cs typeface="Arimo"/>
                  <a:sym typeface="Arimo"/>
                </a:rPr>
                <a:t>Plan</a:t>
              </a:r>
            </a:p>
          </p:txBody>
        </p:sp>
      </p:grpSp>
      <p:grpSp>
        <p:nvGrpSpPr>
          <p:cNvPr name="Group 7" id="7"/>
          <p:cNvGrpSpPr/>
          <p:nvPr/>
        </p:nvGrpSpPr>
        <p:grpSpPr>
          <a:xfrm rot="0">
            <a:off x="12915900" y="9477375"/>
            <a:ext cx="4114800" cy="604838"/>
            <a:chOff x="0" y="0"/>
            <a:chExt cx="5486400" cy="806451"/>
          </a:xfrm>
        </p:grpSpPr>
        <p:sp>
          <p:nvSpPr>
            <p:cNvPr name="Freeform 8" id="8"/>
            <p:cNvSpPr/>
            <p:nvPr/>
          </p:nvSpPr>
          <p:spPr>
            <a:xfrm flipH="false" flipV="false" rot="0">
              <a:off x="0" y="0"/>
              <a:ext cx="5486400" cy="806451"/>
            </a:xfrm>
            <a:custGeom>
              <a:avLst/>
              <a:gdLst/>
              <a:ahLst/>
              <a:cxnLst/>
              <a:rect r="r" b="b" t="t" l="l"/>
              <a:pathLst>
                <a:path h="806451" w="5486400">
                  <a:moveTo>
                    <a:pt x="0" y="0"/>
                  </a:moveTo>
                  <a:lnTo>
                    <a:pt x="5486400" y="0"/>
                  </a:lnTo>
                  <a:lnTo>
                    <a:pt x="5486400" y="806451"/>
                  </a:lnTo>
                  <a:lnTo>
                    <a:pt x="0" y="806451"/>
                  </a:lnTo>
                  <a:close/>
                </a:path>
              </a:pathLst>
            </a:custGeom>
          </p:spPr>
        </p:sp>
        <p:sp>
          <p:nvSpPr>
            <p:cNvPr name="TextBox 9" id="9"/>
            <p:cNvSpPr txBox="true"/>
            <p:nvPr/>
          </p:nvSpPr>
          <p:spPr>
            <a:xfrm>
              <a:off x="0" y="-38100"/>
              <a:ext cx="5486400" cy="844551"/>
            </a:xfrm>
            <a:prstGeom prst="rect">
              <a:avLst/>
            </a:prstGeom>
          </p:spPr>
          <p:txBody>
            <a:bodyPr anchor="ctr" rtlCol="false" tIns="0" lIns="0" bIns="0" rIns="0"/>
            <a:lstStyle/>
            <a:p>
              <a:pPr algn="r">
                <a:lnSpc>
                  <a:spcPts val="2160"/>
                </a:lnSpc>
              </a:pPr>
              <a:r>
                <a:rPr lang="en-US" sz="1800">
                  <a:solidFill>
                    <a:srgbClr val="898989"/>
                  </a:solidFill>
                  <a:latin typeface="Calibri (MS)"/>
                  <a:ea typeface="Calibri (MS)"/>
                  <a:cs typeface="Calibri (MS)"/>
                  <a:sym typeface="Calibri (MS)"/>
                </a:rPr>
                <a:t>1</a:t>
              </a:r>
            </a:p>
          </p:txBody>
        </p:sp>
      </p:grpSp>
      <p:grpSp>
        <p:nvGrpSpPr>
          <p:cNvPr name="Group 10" id="10"/>
          <p:cNvGrpSpPr/>
          <p:nvPr/>
        </p:nvGrpSpPr>
        <p:grpSpPr>
          <a:xfrm rot="0">
            <a:off x="6780426" y="2086737"/>
            <a:ext cx="802387" cy="802387"/>
            <a:chOff x="0" y="0"/>
            <a:chExt cx="1069849" cy="1069849"/>
          </a:xfrm>
        </p:grpSpPr>
        <p:sp>
          <p:nvSpPr>
            <p:cNvPr name="Freeform 11" id="11"/>
            <p:cNvSpPr/>
            <p:nvPr/>
          </p:nvSpPr>
          <p:spPr>
            <a:xfrm flipH="false" flipV="false" rot="0">
              <a:off x="0" y="0"/>
              <a:ext cx="1069848" cy="1069848"/>
            </a:xfrm>
            <a:custGeom>
              <a:avLst/>
              <a:gdLst/>
              <a:ahLst/>
              <a:cxnLst/>
              <a:rect r="r" b="b" t="t" l="l"/>
              <a:pathLst>
                <a:path h="1069848" w="1069848">
                  <a:moveTo>
                    <a:pt x="0" y="534924"/>
                  </a:moveTo>
                  <a:cubicBezTo>
                    <a:pt x="0" y="239522"/>
                    <a:pt x="239522" y="0"/>
                    <a:pt x="534924" y="0"/>
                  </a:cubicBezTo>
                  <a:cubicBezTo>
                    <a:pt x="830326" y="0"/>
                    <a:pt x="1069848" y="239522"/>
                    <a:pt x="1069848" y="534924"/>
                  </a:cubicBezTo>
                  <a:cubicBezTo>
                    <a:pt x="1069848" y="830326"/>
                    <a:pt x="830453" y="1069848"/>
                    <a:pt x="534924" y="1069848"/>
                  </a:cubicBezTo>
                  <a:cubicBezTo>
                    <a:pt x="239395" y="1069848"/>
                    <a:pt x="0" y="830453"/>
                    <a:pt x="0" y="534924"/>
                  </a:cubicBezTo>
                  <a:close/>
                </a:path>
              </a:pathLst>
            </a:custGeom>
            <a:solidFill>
              <a:srgbClr val="0070C0"/>
            </a:solidFill>
          </p:spPr>
        </p:sp>
      </p:grpSp>
      <p:grpSp>
        <p:nvGrpSpPr>
          <p:cNvPr name="Group 12" id="12"/>
          <p:cNvGrpSpPr/>
          <p:nvPr/>
        </p:nvGrpSpPr>
        <p:grpSpPr>
          <a:xfrm rot="0">
            <a:off x="7456664" y="3226259"/>
            <a:ext cx="802387" cy="802385"/>
            <a:chOff x="0" y="0"/>
            <a:chExt cx="1069849" cy="1069847"/>
          </a:xfrm>
        </p:grpSpPr>
        <p:sp>
          <p:nvSpPr>
            <p:cNvPr name="Freeform 13" id="13"/>
            <p:cNvSpPr/>
            <p:nvPr/>
          </p:nvSpPr>
          <p:spPr>
            <a:xfrm flipH="false" flipV="false" rot="0">
              <a:off x="0" y="0"/>
              <a:ext cx="1069848" cy="1069848"/>
            </a:xfrm>
            <a:custGeom>
              <a:avLst/>
              <a:gdLst/>
              <a:ahLst/>
              <a:cxnLst/>
              <a:rect r="r" b="b" t="t" l="l"/>
              <a:pathLst>
                <a:path h="1069848" w="1069848">
                  <a:moveTo>
                    <a:pt x="0" y="534924"/>
                  </a:moveTo>
                  <a:cubicBezTo>
                    <a:pt x="0" y="239522"/>
                    <a:pt x="239522" y="0"/>
                    <a:pt x="534924" y="0"/>
                  </a:cubicBezTo>
                  <a:cubicBezTo>
                    <a:pt x="830326" y="0"/>
                    <a:pt x="1069848" y="239522"/>
                    <a:pt x="1069848" y="534924"/>
                  </a:cubicBezTo>
                  <a:cubicBezTo>
                    <a:pt x="1069848" y="830326"/>
                    <a:pt x="830453" y="1069848"/>
                    <a:pt x="534924" y="1069848"/>
                  </a:cubicBezTo>
                  <a:cubicBezTo>
                    <a:pt x="239395" y="1069848"/>
                    <a:pt x="0" y="830453"/>
                    <a:pt x="0" y="534924"/>
                  </a:cubicBezTo>
                  <a:close/>
                </a:path>
              </a:pathLst>
            </a:custGeom>
            <a:solidFill>
              <a:srgbClr val="0070C0"/>
            </a:solidFill>
          </p:spPr>
        </p:sp>
      </p:grpSp>
      <p:grpSp>
        <p:nvGrpSpPr>
          <p:cNvPr name="Group 14" id="14"/>
          <p:cNvGrpSpPr/>
          <p:nvPr/>
        </p:nvGrpSpPr>
        <p:grpSpPr>
          <a:xfrm rot="0">
            <a:off x="7735634" y="4482016"/>
            <a:ext cx="802387" cy="802385"/>
            <a:chOff x="0" y="0"/>
            <a:chExt cx="1069849" cy="1069847"/>
          </a:xfrm>
        </p:grpSpPr>
        <p:sp>
          <p:nvSpPr>
            <p:cNvPr name="Freeform 15" id="15"/>
            <p:cNvSpPr/>
            <p:nvPr/>
          </p:nvSpPr>
          <p:spPr>
            <a:xfrm flipH="false" flipV="false" rot="0">
              <a:off x="0" y="0"/>
              <a:ext cx="1069848" cy="1069848"/>
            </a:xfrm>
            <a:custGeom>
              <a:avLst/>
              <a:gdLst/>
              <a:ahLst/>
              <a:cxnLst/>
              <a:rect r="r" b="b" t="t" l="l"/>
              <a:pathLst>
                <a:path h="1069848" w="1069848">
                  <a:moveTo>
                    <a:pt x="0" y="534924"/>
                  </a:moveTo>
                  <a:cubicBezTo>
                    <a:pt x="0" y="239522"/>
                    <a:pt x="239522" y="0"/>
                    <a:pt x="534924" y="0"/>
                  </a:cubicBezTo>
                  <a:cubicBezTo>
                    <a:pt x="830326" y="0"/>
                    <a:pt x="1069848" y="239522"/>
                    <a:pt x="1069848" y="534924"/>
                  </a:cubicBezTo>
                  <a:cubicBezTo>
                    <a:pt x="1069848" y="830326"/>
                    <a:pt x="830453" y="1069848"/>
                    <a:pt x="534924" y="1069848"/>
                  </a:cubicBezTo>
                  <a:cubicBezTo>
                    <a:pt x="239395" y="1069848"/>
                    <a:pt x="0" y="830453"/>
                    <a:pt x="0" y="534924"/>
                  </a:cubicBezTo>
                  <a:close/>
                </a:path>
              </a:pathLst>
            </a:custGeom>
            <a:solidFill>
              <a:srgbClr val="0070C0"/>
            </a:solidFill>
          </p:spPr>
        </p:sp>
      </p:grpSp>
      <p:grpSp>
        <p:nvGrpSpPr>
          <p:cNvPr name="Group 16" id="16"/>
          <p:cNvGrpSpPr/>
          <p:nvPr/>
        </p:nvGrpSpPr>
        <p:grpSpPr>
          <a:xfrm rot="0">
            <a:off x="7687076" y="5851994"/>
            <a:ext cx="802387" cy="802387"/>
            <a:chOff x="0" y="0"/>
            <a:chExt cx="1069849" cy="1069849"/>
          </a:xfrm>
        </p:grpSpPr>
        <p:sp>
          <p:nvSpPr>
            <p:cNvPr name="Freeform 17" id="17"/>
            <p:cNvSpPr/>
            <p:nvPr/>
          </p:nvSpPr>
          <p:spPr>
            <a:xfrm flipH="false" flipV="false" rot="0">
              <a:off x="0" y="0"/>
              <a:ext cx="1069848" cy="1069848"/>
            </a:xfrm>
            <a:custGeom>
              <a:avLst/>
              <a:gdLst/>
              <a:ahLst/>
              <a:cxnLst/>
              <a:rect r="r" b="b" t="t" l="l"/>
              <a:pathLst>
                <a:path h="1069848" w="1069848">
                  <a:moveTo>
                    <a:pt x="0" y="534924"/>
                  </a:moveTo>
                  <a:cubicBezTo>
                    <a:pt x="0" y="239522"/>
                    <a:pt x="239522" y="0"/>
                    <a:pt x="534924" y="0"/>
                  </a:cubicBezTo>
                  <a:cubicBezTo>
                    <a:pt x="830326" y="0"/>
                    <a:pt x="1069848" y="239522"/>
                    <a:pt x="1069848" y="534924"/>
                  </a:cubicBezTo>
                  <a:cubicBezTo>
                    <a:pt x="1069848" y="830326"/>
                    <a:pt x="830453" y="1069848"/>
                    <a:pt x="534924" y="1069848"/>
                  </a:cubicBezTo>
                  <a:cubicBezTo>
                    <a:pt x="239395" y="1069848"/>
                    <a:pt x="0" y="830453"/>
                    <a:pt x="0" y="534924"/>
                  </a:cubicBezTo>
                  <a:close/>
                </a:path>
              </a:pathLst>
            </a:custGeom>
            <a:solidFill>
              <a:srgbClr val="0070C0"/>
            </a:solidFill>
          </p:spPr>
        </p:sp>
      </p:grpSp>
      <p:sp>
        <p:nvSpPr>
          <p:cNvPr name="TextBox 18" id="18"/>
          <p:cNvSpPr txBox="true"/>
          <p:nvPr/>
        </p:nvSpPr>
        <p:spPr>
          <a:xfrm rot="0">
            <a:off x="8107067" y="1869223"/>
            <a:ext cx="6068088" cy="571500"/>
          </a:xfrm>
          <a:prstGeom prst="rect">
            <a:avLst/>
          </a:prstGeom>
        </p:spPr>
        <p:txBody>
          <a:bodyPr anchor="t" rtlCol="false" tIns="0" lIns="0" bIns="0" rIns="0">
            <a:spAutoFit/>
          </a:bodyPr>
          <a:lstStyle/>
          <a:p>
            <a:pPr algn="l">
              <a:lnSpc>
                <a:spcPts val="4320"/>
              </a:lnSpc>
            </a:pPr>
            <a:r>
              <a:rPr lang="en-US" sz="3600" b="true">
                <a:solidFill>
                  <a:srgbClr val="000000"/>
                </a:solidFill>
                <a:latin typeface="Times New Roman Bold"/>
                <a:ea typeface="Times New Roman Bold"/>
                <a:cs typeface="Times New Roman Bold"/>
                <a:sym typeface="Times New Roman Bold"/>
              </a:rPr>
              <a:t>Introduction à la supervision</a:t>
            </a:r>
          </a:p>
        </p:txBody>
      </p:sp>
      <p:sp>
        <p:nvSpPr>
          <p:cNvPr name="TextBox 19" id="19"/>
          <p:cNvSpPr txBox="true"/>
          <p:nvPr/>
        </p:nvSpPr>
        <p:spPr>
          <a:xfrm rot="0">
            <a:off x="8920726" y="5843707"/>
            <a:ext cx="4739622" cy="571500"/>
          </a:xfrm>
          <a:prstGeom prst="rect">
            <a:avLst/>
          </a:prstGeom>
        </p:spPr>
        <p:txBody>
          <a:bodyPr anchor="t" rtlCol="false" tIns="0" lIns="0" bIns="0" rIns="0">
            <a:spAutoFit/>
          </a:bodyPr>
          <a:lstStyle/>
          <a:p>
            <a:pPr algn="l">
              <a:lnSpc>
                <a:spcPts val="4320"/>
              </a:lnSpc>
            </a:pPr>
            <a:r>
              <a:rPr lang="en-US" sz="3600" b="true">
                <a:solidFill>
                  <a:srgbClr val="000000"/>
                </a:solidFill>
                <a:latin typeface="Times New Roman Bold"/>
                <a:ea typeface="Times New Roman Bold"/>
                <a:cs typeface="Times New Roman Bold"/>
                <a:sym typeface="Times New Roman Bold"/>
              </a:rPr>
              <a:t>Comparaison et analyse</a:t>
            </a:r>
          </a:p>
        </p:txBody>
      </p:sp>
      <p:sp>
        <p:nvSpPr>
          <p:cNvPr name="TextBox 20" id="20"/>
          <p:cNvSpPr txBox="true"/>
          <p:nvPr/>
        </p:nvSpPr>
        <p:spPr>
          <a:xfrm rot="0">
            <a:off x="8634564" y="3055239"/>
            <a:ext cx="9597972" cy="571500"/>
          </a:xfrm>
          <a:prstGeom prst="rect">
            <a:avLst/>
          </a:prstGeom>
        </p:spPr>
        <p:txBody>
          <a:bodyPr anchor="t" rtlCol="false" tIns="0" lIns="0" bIns="0" rIns="0">
            <a:spAutoFit/>
          </a:bodyPr>
          <a:lstStyle/>
          <a:p>
            <a:pPr algn="l">
              <a:lnSpc>
                <a:spcPts val="4320"/>
              </a:lnSpc>
            </a:pPr>
            <a:r>
              <a:rPr lang="en-US" sz="3600" b="true">
                <a:solidFill>
                  <a:srgbClr val="000000"/>
                </a:solidFill>
                <a:latin typeface="Times New Roman Bold"/>
                <a:ea typeface="Times New Roman Bold"/>
                <a:cs typeface="Times New Roman Bold"/>
                <a:sym typeface="Times New Roman Bold"/>
              </a:rPr>
              <a:t>Architecture et fonctionnement</a:t>
            </a:r>
          </a:p>
        </p:txBody>
      </p:sp>
      <p:sp>
        <p:nvSpPr>
          <p:cNvPr name="TextBox 21" id="21"/>
          <p:cNvSpPr txBox="true"/>
          <p:nvPr/>
        </p:nvSpPr>
        <p:spPr>
          <a:xfrm rot="0">
            <a:off x="8890286" y="4310556"/>
            <a:ext cx="8673635" cy="571500"/>
          </a:xfrm>
          <a:prstGeom prst="rect">
            <a:avLst/>
          </a:prstGeom>
        </p:spPr>
        <p:txBody>
          <a:bodyPr anchor="t" rtlCol="false" tIns="0" lIns="0" bIns="0" rIns="0">
            <a:spAutoFit/>
          </a:bodyPr>
          <a:lstStyle/>
          <a:p>
            <a:pPr algn="l">
              <a:lnSpc>
                <a:spcPts val="4320"/>
              </a:lnSpc>
            </a:pPr>
            <a:r>
              <a:rPr lang="en-US" sz="3600" b="true">
                <a:solidFill>
                  <a:srgbClr val="000000"/>
                </a:solidFill>
                <a:latin typeface="Times New Roman Bold"/>
                <a:ea typeface="Times New Roman Bold"/>
                <a:cs typeface="Times New Roman Bold"/>
                <a:sym typeface="Times New Roman Bold"/>
              </a:rPr>
              <a:t>Présentation des outils Open Source</a:t>
            </a:r>
          </a:p>
        </p:txBody>
      </p:sp>
      <p:grpSp>
        <p:nvGrpSpPr>
          <p:cNvPr name="Group 22" id="22"/>
          <p:cNvGrpSpPr/>
          <p:nvPr/>
        </p:nvGrpSpPr>
        <p:grpSpPr>
          <a:xfrm rot="0">
            <a:off x="7125262" y="7010493"/>
            <a:ext cx="802387" cy="802387"/>
            <a:chOff x="0" y="0"/>
            <a:chExt cx="1069849" cy="1069849"/>
          </a:xfrm>
        </p:grpSpPr>
        <p:sp>
          <p:nvSpPr>
            <p:cNvPr name="Freeform 23" id="23"/>
            <p:cNvSpPr/>
            <p:nvPr/>
          </p:nvSpPr>
          <p:spPr>
            <a:xfrm flipH="false" flipV="false" rot="0">
              <a:off x="0" y="0"/>
              <a:ext cx="1069848" cy="1069848"/>
            </a:xfrm>
            <a:custGeom>
              <a:avLst/>
              <a:gdLst/>
              <a:ahLst/>
              <a:cxnLst/>
              <a:rect r="r" b="b" t="t" l="l"/>
              <a:pathLst>
                <a:path h="1069848" w="1069848">
                  <a:moveTo>
                    <a:pt x="0" y="534924"/>
                  </a:moveTo>
                  <a:cubicBezTo>
                    <a:pt x="0" y="239522"/>
                    <a:pt x="239522" y="0"/>
                    <a:pt x="534924" y="0"/>
                  </a:cubicBezTo>
                  <a:cubicBezTo>
                    <a:pt x="830326" y="0"/>
                    <a:pt x="1069848" y="239522"/>
                    <a:pt x="1069848" y="534924"/>
                  </a:cubicBezTo>
                  <a:cubicBezTo>
                    <a:pt x="1069848" y="830326"/>
                    <a:pt x="830453" y="1069848"/>
                    <a:pt x="534924" y="1069848"/>
                  </a:cubicBezTo>
                  <a:cubicBezTo>
                    <a:pt x="239395" y="1069848"/>
                    <a:pt x="0" y="830453"/>
                    <a:pt x="0" y="534924"/>
                  </a:cubicBezTo>
                  <a:close/>
                </a:path>
              </a:pathLst>
            </a:custGeom>
            <a:solidFill>
              <a:srgbClr val="0070C0"/>
            </a:solidFill>
          </p:spPr>
        </p:sp>
      </p:grpSp>
      <p:sp>
        <p:nvSpPr>
          <p:cNvPr name="TextBox 24" id="24"/>
          <p:cNvSpPr txBox="true"/>
          <p:nvPr/>
        </p:nvSpPr>
        <p:spPr>
          <a:xfrm rot="0">
            <a:off x="8297792" y="7213201"/>
            <a:ext cx="5135758" cy="571500"/>
          </a:xfrm>
          <a:prstGeom prst="rect">
            <a:avLst/>
          </a:prstGeom>
        </p:spPr>
        <p:txBody>
          <a:bodyPr anchor="t" rtlCol="false" tIns="0" lIns="0" bIns="0" rIns="0">
            <a:spAutoFit/>
          </a:bodyPr>
          <a:lstStyle/>
          <a:p>
            <a:pPr algn="l">
              <a:lnSpc>
                <a:spcPts val="4320"/>
              </a:lnSpc>
            </a:pPr>
            <a:r>
              <a:rPr lang="en-US" sz="3600" b="true">
                <a:solidFill>
                  <a:srgbClr val="000000"/>
                </a:solidFill>
                <a:latin typeface="Times New Roman Bold"/>
                <a:ea typeface="Times New Roman Bold"/>
                <a:cs typeface="Times New Roman Bold"/>
                <a:sym typeface="Times New Roman Bold"/>
              </a:rPr>
              <a:t>Évolution et Conclusion</a:t>
            </a: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915900" y="9477375"/>
            <a:ext cx="4114800" cy="604838"/>
            <a:chOff x="0" y="0"/>
            <a:chExt cx="5486400" cy="806451"/>
          </a:xfrm>
        </p:grpSpPr>
        <p:sp>
          <p:nvSpPr>
            <p:cNvPr name="Freeform 3" id="3"/>
            <p:cNvSpPr/>
            <p:nvPr/>
          </p:nvSpPr>
          <p:spPr>
            <a:xfrm flipH="false" flipV="false" rot="0">
              <a:off x="0" y="0"/>
              <a:ext cx="5486400" cy="806451"/>
            </a:xfrm>
            <a:custGeom>
              <a:avLst/>
              <a:gdLst/>
              <a:ahLst/>
              <a:cxnLst/>
              <a:rect r="r" b="b" t="t" l="l"/>
              <a:pathLst>
                <a:path h="806451" w="5486400">
                  <a:moveTo>
                    <a:pt x="0" y="0"/>
                  </a:moveTo>
                  <a:lnTo>
                    <a:pt x="5486400" y="0"/>
                  </a:lnTo>
                  <a:lnTo>
                    <a:pt x="5486400" y="806451"/>
                  </a:lnTo>
                  <a:lnTo>
                    <a:pt x="0" y="806451"/>
                  </a:lnTo>
                  <a:close/>
                </a:path>
              </a:pathLst>
            </a:custGeom>
          </p:spPr>
        </p:sp>
        <p:sp>
          <p:nvSpPr>
            <p:cNvPr name="TextBox 4" id="4"/>
            <p:cNvSpPr txBox="true"/>
            <p:nvPr/>
          </p:nvSpPr>
          <p:spPr>
            <a:xfrm>
              <a:off x="0" y="-38100"/>
              <a:ext cx="5486400" cy="844551"/>
            </a:xfrm>
            <a:prstGeom prst="rect">
              <a:avLst/>
            </a:prstGeom>
          </p:spPr>
          <p:txBody>
            <a:bodyPr anchor="ctr" rtlCol="false" tIns="0" lIns="0" bIns="0" rIns="0"/>
            <a:lstStyle/>
            <a:p>
              <a:pPr algn="r">
                <a:lnSpc>
                  <a:spcPts val="2160"/>
                </a:lnSpc>
              </a:pPr>
              <a:r>
                <a:rPr lang="en-US" sz="1800">
                  <a:solidFill>
                    <a:srgbClr val="898989"/>
                  </a:solidFill>
                  <a:latin typeface="Calibri (MS)"/>
                  <a:ea typeface="Calibri (MS)"/>
                  <a:cs typeface="Calibri (MS)"/>
                  <a:sym typeface="Calibri (MS)"/>
                </a:rPr>
                <a:t>2</a:t>
              </a:r>
            </a:p>
          </p:txBody>
        </p:sp>
      </p:grpSp>
      <p:grpSp>
        <p:nvGrpSpPr>
          <p:cNvPr name="Group 5" id="5"/>
          <p:cNvGrpSpPr/>
          <p:nvPr/>
        </p:nvGrpSpPr>
        <p:grpSpPr>
          <a:xfrm rot="0">
            <a:off x="3364640" y="615134"/>
            <a:ext cx="10866025" cy="57150"/>
            <a:chOff x="0" y="0"/>
            <a:chExt cx="14488033" cy="76200"/>
          </a:xfrm>
        </p:grpSpPr>
        <p:sp>
          <p:nvSpPr>
            <p:cNvPr name="Freeform 6" id="6"/>
            <p:cNvSpPr/>
            <p:nvPr/>
          </p:nvSpPr>
          <p:spPr>
            <a:xfrm flipH="false" flipV="false" rot="0">
              <a:off x="0" y="0"/>
              <a:ext cx="14488033" cy="76200"/>
            </a:xfrm>
            <a:custGeom>
              <a:avLst/>
              <a:gdLst/>
              <a:ahLst/>
              <a:cxnLst/>
              <a:rect r="r" b="b" t="t" l="l"/>
              <a:pathLst>
                <a:path h="76200" w="14488033">
                  <a:moveTo>
                    <a:pt x="19050" y="0"/>
                  </a:moveTo>
                  <a:lnTo>
                    <a:pt x="14468983" y="38100"/>
                  </a:lnTo>
                  <a:cubicBezTo>
                    <a:pt x="14479524" y="38100"/>
                    <a:pt x="14488033" y="46736"/>
                    <a:pt x="14488033" y="57150"/>
                  </a:cubicBezTo>
                  <a:cubicBezTo>
                    <a:pt x="14488033" y="67564"/>
                    <a:pt x="14479397" y="76200"/>
                    <a:pt x="14468983" y="76200"/>
                  </a:cubicBezTo>
                  <a:lnTo>
                    <a:pt x="19050" y="38100"/>
                  </a:lnTo>
                  <a:cubicBezTo>
                    <a:pt x="8509" y="38100"/>
                    <a:pt x="0" y="29464"/>
                    <a:pt x="0" y="19050"/>
                  </a:cubicBezTo>
                  <a:cubicBezTo>
                    <a:pt x="0" y="8636"/>
                    <a:pt x="8636" y="0"/>
                    <a:pt x="19050" y="0"/>
                  </a:cubicBezTo>
                  <a:close/>
                </a:path>
              </a:pathLst>
            </a:custGeom>
            <a:solidFill>
              <a:srgbClr val="0091EA"/>
            </a:solidFill>
          </p:spPr>
        </p:sp>
      </p:grpSp>
      <p:sp>
        <p:nvSpPr>
          <p:cNvPr name="Freeform 7" id="7"/>
          <p:cNvSpPr/>
          <p:nvPr/>
        </p:nvSpPr>
        <p:spPr>
          <a:xfrm flipH="false" flipV="false" rot="0">
            <a:off x="2726322" y="28189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5288206" y="28189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8570764" y="292692"/>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4178066" y="305142"/>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2498531" y="1011190"/>
            <a:ext cx="1567060" cy="514350"/>
          </a:xfrm>
          <a:prstGeom prst="rect">
            <a:avLst/>
          </a:prstGeom>
        </p:spPr>
        <p:txBody>
          <a:bodyPr anchor="t" rtlCol="false" tIns="0" lIns="0" bIns="0" rIns="0">
            <a:spAutoFit/>
          </a:bodyPr>
          <a:lstStyle/>
          <a:p>
            <a:pPr algn="ctr">
              <a:lnSpc>
                <a:spcPts val="1980"/>
              </a:lnSpc>
            </a:pPr>
            <a:r>
              <a:rPr lang="en-US" sz="1650" b="true">
                <a:solidFill>
                  <a:srgbClr val="4E91F0"/>
                </a:solidFill>
                <a:latin typeface="Times New Roman Bold"/>
                <a:ea typeface="Times New Roman Bold"/>
                <a:cs typeface="Times New Roman Bold"/>
                <a:sym typeface="Times New Roman Bold"/>
              </a:rPr>
              <a:t>Introduction à la supervision</a:t>
            </a:r>
          </a:p>
        </p:txBody>
      </p:sp>
      <p:sp>
        <p:nvSpPr>
          <p:cNvPr name="TextBox 12" id="12"/>
          <p:cNvSpPr txBox="true"/>
          <p:nvPr/>
        </p:nvSpPr>
        <p:spPr>
          <a:xfrm rot="0">
            <a:off x="4827591" y="998289"/>
            <a:ext cx="2563545" cy="514350"/>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Architecture et fonctionnement</a:t>
            </a:r>
          </a:p>
        </p:txBody>
      </p:sp>
      <p:sp>
        <p:nvSpPr>
          <p:cNvPr name="TextBox 13" id="13"/>
          <p:cNvSpPr txBox="true"/>
          <p:nvPr/>
        </p:nvSpPr>
        <p:spPr>
          <a:xfrm rot="0">
            <a:off x="14041790" y="1068032"/>
            <a:ext cx="1104010" cy="358125"/>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Conclusion</a:t>
            </a:r>
          </a:p>
        </p:txBody>
      </p:sp>
      <p:sp>
        <p:nvSpPr>
          <p:cNvPr name="TextBox 14" id="14"/>
          <p:cNvSpPr txBox="true"/>
          <p:nvPr/>
        </p:nvSpPr>
        <p:spPr>
          <a:xfrm rot="0">
            <a:off x="1433103" y="2169315"/>
            <a:ext cx="6190513" cy="571500"/>
          </a:xfrm>
          <a:prstGeom prst="rect">
            <a:avLst/>
          </a:prstGeom>
        </p:spPr>
        <p:txBody>
          <a:bodyPr anchor="t" rtlCol="false" tIns="0" lIns="0" bIns="0" rIns="0">
            <a:spAutoFit/>
          </a:bodyPr>
          <a:lstStyle/>
          <a:p>
            <a:pPr algn="l">
              <a:lnSpc>
                <a:spcPts val="4320"/>
              </a:lnSpc>
            </a:pPr>
            <a:r>
              <a:rPr lang="en-US" b="true" sz="3600">
                <a:solidFill>
                  <a:srgbClr val="0C4493"/>
                </a:solidFill>
                <a:latin typeface="Times New Roman Bold"/>
                <a:ea typeface="Times New Roman Bold"/>
                <a:cs typeface="Times New Roman Bold"/>
                <a:sym typeface="Times New Roman Bold"/>
              </a:rPr>
              <a:t>Introduction à la supervision</a:t>
            </a:r>
          </a:p>
        </p:txBody>
      </p:sp>
      <p:sp>
        <p:nvSpPr>
          <p:cNvPr name="TextBox 15" id="15"/>
          <p:cNvSpPr txBox="true"/>
          <p:nvPr/>
        </p:nvSpPr>
        <p:spPr>
          <a:xfrm rot="0">
            <a:off x="1083224" y="2870718"/>
            <a:ext cx="11832676" cy="1794510"/>
          </a:xfrm>
          <a:prstGeom prst="rect">
            <a:avLst/>
          </a:prstGeom>
        </p:spPr>
        <p:txBody>
          <a:bodyPr anchor="t" rtlCol="false" tIns="0" lIns="0" bIns="0" rIns="0">
            <a:spAutoFit/>
          </a:bodyPr>
          <a:lstStyle/>
          <a:p>
            <a:pPr algn="just">
              <a:lnSpc>
                <a:spcPts val="4860"/>
              </a:lnSpc>
            </a:pPr>
            <a:r>
              <a:rPr lang="en-US" sz="2700">
                <a:solidFill>
                  <a:srgbClr val="000000"/>
                </a:solidFill>
                <a:latin typeface="Times New Roman"/>
                <a:ea typeface="Times New Roman"/>
                <a:cs typeface="Times New Roman"/>
                <a:sym typeface="Times New Roman"/>
              </a:rPr>
              <a:t>La supervision est un processus continu qui permet de surveiller, analyser et contrôler l’état, la performance et la disponibilité des équipements réseau, des serveurs et des applications au sein d’un système d’information.</a:t>
            </a:r>
          </a:p>
        </p:txBody>
      </p:sp>
      <p:sp>
        <p:nvSpPr>
          <p:cNvPr name="Freeform 16" id="16"/>
          <p:cNvSpPr/>
          <p:nvPr/>
        </p:nvSpPr>
        <p:spPr>
          <a:xfrm flipH="false" flipV="false" rot="0">
            <a:off x="11616970" y="32451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7" id="17"/>
          <p:cNvSpPr txBox="true"/>
          <p:nvPr/>
        </p:nvSpPr>
        <p:spPr>
          <a:xfrm rot="0">
            <a:off x="11110736" y="1127696"/>
            <a:ext cx="2165112" cy="266700"/>
          </a:xfrm>
          <a:prstGeom prst="rect">
            <a:avLst/>
          </a:prstGeom>
        </p:spPr>
        <p:txBody>
          <a:bodyPr anchor="t" rtlCol="false" tIns="0" lIns="0" bIns="0" rIns="0">
            <a:spAutoFit/>
          </a:bodyPr>
          <a:lstStyle/>
          <a:p>
            <a:pPr algn="l">
              <a:lnSpc>
                <a:spcPts val="1980"/>
              </a:lnSpc>
            </a:pPr>
            <a:r>
              <a:rPr lang="en-US" sz="1650" b="true">
                <a:solidFill>
                  <a:srgbClr val="A6A6A6"/>
                </a:solidFill>
                <a:latin typeface="Times New Roman Bold"/>
                <a:ea typeface="Times New Roman Bold"/>
                <a:cs typeface="Times New Roman Bold"/>
                <a:sym typeface="Times New Roman Bold"/>
              </a:rPr>
              <a:t>Comparaison et analyse</a:t>
            </a:r>
          </a:p>
        </p:txBody>
      </p:sp>
      <p:sp>
        <p:nvSpPr>
          <p:cNvPr name="TextBox 18" id="18"/>
          <p:cNvSpPr txBox="true"/>
          <p:nvPr/>
        </p:nvSpPr>
        <p:spPr>
          <a:xfrm rot="0">
            <a:off x="7623616" y="1088982"/>
            <a:ext cx="2949177" cy="514350"/>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Présentation des outils Open Source</a:t>
            </a:r>
          </a:p>
        </p:txBody>
      </p:sp>
      <p:sp>
        <p:nvSpPr>
          <p:cNvPr name="TextBox 19" id="19"/>
          <p:cNvSpPr txBox="true"/>
          <p:nvPr/>
        </p:nvSpPr>
        <p:spPr>
          <a:xfrm rot="0">
            <a:off x="1433103" y="5189103"/>
            <a:ext cx="6190513" cy="1114425"/>
          </a:xfrm>
          <a:prstGeom prst="rect">
            <a:avLst/>
          </a:prstGeom>
        </p:spPr>
        <p:txBody>
          <a:bodyPr anchor="t" rtlCol="false" tIns="0" lIns="0" bIns="0" rIns="0">
            <a:spAutoFit/>
          </a:bodyPr>
          <a:lstStyle/>
          <a:p>
            <a:pPr algn="l">
              <a:lnSpc>
                <a:spcPts val="4320"/>
              </a:lnSpc>
            </a:pPr>
            <a:r>
              <a:rPr lang="en-US" sz="3600" b="true">
                <a:solidFill>
                  <a:srgbClr val="0C4493"/>
                </a:solidFill>
                <a:latin typeface="Times New Roman Bold"/>
                <a:ea typeface="Times New Roman Bold"/>
                <a:cs typeface="Times New Roman Bold"/>
                <a:sym typeface="Times New Roman Bold"/>
              </a:rPr>
              <a:t>Objectifs :</a:t>
            </a:r>
          </a:p>
          <a:p>
            <a:pPr algn="l">
              <a:lnSpc>
                <a:spcPts val="4320"/>
              </a:lnSpc>
            </a:pPr>
          </a:p>
        </p:txBody>
      </p:sp>
      <p:sp>
        <p:nvSpPr>
          <p:cNvPr name="TextBox 20" id="20"/>
          <p:cNvSpPr txBox="true"/>
          <p:nvPr/>
        </p:nvSpPr>
        <p:spPr>
          <a:xfrm rot="0">
            <a:off x="1255153" y="5819775"/>
            <a:ext cx="11832676" cy="3013710"/>
          </a:xfrm>
          <a:prstGeom prst="rect">
            <a:avLst/>
          </a:prstGeom>
        </p:spPr>
        <p:txBody>
          <a:bodyPr anchor="t" rtlCol="false" tIns="0" lIns="0" bIns="0" rIns="0">
            <a:spAutoFit/>
          </a:bodyPr>
          <a:lstStyle/>
          <a:p>
            <a:pPr algn="just" marL="582930" indent="-291465" lvl="1">
              <a:lnSpc>
                <a:spcPts val="4860"/>
              </a:lnSpc>
              <a:buFont typeface="Arial"/>
              <a:buChar char="•"/>
            </a:pPr>
            <a:r>
              <a:rPr lang="en-US" sz="2700">
                <a:solidFill>
                  <a:srgbClr val="000000"/>
                </a:solidFill>
                <a:latin typeface="Times New Roman"/>
                <a:ea typeface="Times New Roman"/>
                <a:cs typeface="Times New Roman"/>
                <a:sym typeface="Times New Roman"/>
              </a:rPr>
              <a:t>Détecter les pannes rapidement</a:t>
            </a:r>
          </a:p>
          <a:p>
            <a:pPr algn="just" marL="582930" indent="-291465" lvl="1">
              <a:lnSpc>
                <a:spcPts val="4860"/>
              </a:lnSpc>
              <a:buFont typeface="Arial"/>
              <a:buChar char="•"/>
            </a:pPr>
            <a:r>
              <a:rPr lang="en-US" sz="2700">
                <a:solidFill>
                  <a:srgbClr val="000000"/>
                </a:solidFill>
                <a:latin typeface="Times New Roman"/>
                <a:ea typeface="Times New Roman"/>
                <a:cs typeface="Times New Roman"/>
                <a:sym typeface="Times New Roman"/>
              </a:rPr>
              <a:t>Garantir la disponibilité des services</a:t>
            </a:r>
          </a:p>
          <a:p>
            <a:pPr algn="just" marL="582930" indent="-291465" lvl="1">
              <a:lnSpc>
                <a:spcPts val="4860"/>
              </a:lnSpc>
              <a:buFont typeface="Arial"/>
              <a:buChar char="•"/>
            </a:pPr>
            <a:r>
              <a:rPr lang="en-US" sz="2700">
                <a:solidFill>
                  <a:srgbClr val="000000"/>
                </a:solidFill>
                <a:latin typeface="Times New Roman"/>
                <a:ea typeface="Times New Roman"/>
                <a:cs typeface="Times New Roman"/>
                <a:sym typeface="Times New Roman"/>
              </a:rPr>
              <a:t>Surveiller les performances (CPU, RAM, Bande passante)</a:t>
            </a:r>
          </a:p>
          <a:p>
            <a:pPr algn="just" marL="582930" indent="-291465" lvl="1">
              <a:lnSpc>
                <a:spcPts val="4860"/>
              </a:lnSpc>
              <a:buFont typeface="Arial"/>
              <a:buChar char="•"/>
            </a:pPr>
            <a:r>
              <a:rPr lang="en-US" sz="2700">
                <a:solidFill>
                  <a:srgbClr val="000000"/>
                </a:solidFill>
                <a:latin typeface="Times New Roman"/>
                <a:ea typeface="Times New Roman"/>
                <a:cs typeface="Times New Roman"/>
                <a:sym typeface="Times New Roman"/>
              </a:rPr>
              <a:t>Réduire le temps d’indisponibilité</a:t>
            </a:r>
          </a:p>
          <a:p>
            <a:pPr algn="just">
              <a:lnSpc>
                <a:spcPts val="4860"/>
              </a:lnSpc>
            </a:pPr>
          </a:p>
        </p:txBody>
      </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915900" y="9477375"/>
            <a:ext cx="4114800" cy="604838"/>
            <a:chOff x="0" y="0"/>
            <a:chExt cx="5486400" cy="806451"/>
          </a:xfrm>
        </p:grpSpPr>
        <p:sp>
          <p:nvSpPr>
            <p:cNvPr name="Freeform 3" id="3"/>
            <p:cNvSpPr/>
            <p:nvPr/>
          </p:nvSpPr>
          <p:spPr>
            <a:xfrm flipH="false" flipV="false" rot="0">
              <a:off x="0" y="0"/>
              <a:ext cx="5486400" cy="806451"/>
            </a:xfrm>
            <a:custGeom>
              <a:avLst/>
              <a:gdLst/>
              <a:ahLst/>
              <a:cxnLst/>
              <a:rect r="r" b="b" t="t" l="l"/>
              <a:pathLst>
                <a:path h="806451" w="5486400">
                  <a:moveTo>
                    <a:pt x="0" y="0"/>
                  </a:moveTo>
                  <a:lnTo>
                    <a:pt x="5486400" y="0"/>
                  </a:lnTo>
                  <a:lnTo>
                    <a:pt x="5486400" y="806451"/>
                  </a:lnTo>
                  <a:lnTo>
                    <a:pt x="0" y="806451"/>
                  </a:lnTo>
                  <a:close/>
                </a:path>
              </a:pathLst>
            </a:custGeom>
          </p:spPr>
        </p:sp>
        <p:sp>
          <p:nvSpPr>
            <p:cNvPr name="TextBox 4" id="4"/>
            <p:cNvSpPr txBox="true"/>
            <p:nvPr/>
          </p:nvSpPr>
          <p:spPr>
            <a:xfrm>
              <a:off x="0" y="-38100"/>
              <a:ext cx="5486400" cy="844551"/>
            </a:xfrm>
            <a:prstGeom prst="rect">
              <a:avLst/>
            </a:prstGeom>
          </p:spPr>
          <p:txBody>
            <a:bodyPr anchor="ctr" rtlCol="false" tIns="0" lIns="0" bIns="0" rIns="0"/>
            <a:lstStyle/>
            <a:p>
              <a:pPr algn="r">
                <a:lnSpc>
                  <a:spcPts val="2160"/>
                </a:lnSpc>
              </a:pPr>
              <a:r>
                <a:rPr lang="en-US" sz="1800">
                  <a:solidFill>
                    <a:srgbClr val="898989"/>
                  </a:solidFill>
                  <a:latin typeface="Calibri (MS)"/>
                  <a:ea typeface="Calibri (MS)"/>
                  <a:cs typeface="Calibri (MS)"/>
                  <a:sym typeface="Calibri (MS)"/>
                </a:rPr>
                <a:t>3</a:t>
              </a:r>
            </a:p>
          </p:txBody>
        </p:sp>
      </p:grpSp>
      <p:grpSp>
        <p:nvGrpSpPr>
          <p:cNvPr name="Group 5" id="5"/>
          <p:cNvGrpSpPr/>
          <p:nvPr/>
        </p:nvGrpSpPr>
        <p:grpSpPr>
          <a:xfrm rot="0">
            <a:off x="3364640" y="615134"/>
            <a:ext cx="10866025" cy="57150"/>
            <a:chOff x="0" y="0"/>
            <a:chExt cx="14488033" cy="76200"/>
          </a:xfrm>
        </p:grpSpPr>
        <p:sp>
          <p:nvSpPr>
            <p:cNvPr name="Freeform 6" id="6"/>
            <p:cNvSpPr/>
            <p:nvPr/>
          </p:nvSpPr>
          <p:spPr>
            <a:xfrm flipH="false" flipV="false" rot="0">
              <a:off x="0" y="0"/>
              <a:ext cx="14488033" cy="76200"/>
            </a:xfrm>
            <a:custGeom>
              <a:avLst/>
              <a:gdLst/>
              <a:ahLst/>
              <a:cxnLst/>
              <a:rect r="r" b="b" t="t" l="l"/>
              <a:pathLst>
                <a:path h="76200" w="14488033">
                  <a:moveTo>
                    <a:pt x="19050" y="0"/>
                  </a:moveTo>
                  <a:lnTo>
                    <a:pt x="14468983" y="38100"/>
                  </a:lnTo>
                  <a:cubicBezTo>
                    <a:pt x="14479524" y="38100"/>
                    <a:pt x="14488033" y="46736"/>
                    <a:pt x="14488033" y="57150"/>
                  </a:cubicBezTo>
                  <a:cubicBezTo>
                    <a:pt x="14488033" y="67564"/>
                    <a:pt x="14479397" y="76200"/>
                    <a:pt x="14468983" y="76200"/>
                  </a:cubicBezTo>
                  <a:lnTo>
                    <a:pt x="19050" y="38100"/>
                  </a:lnTo>
                  <a:cubicBezTo>
                    <a:pt x="8509" y="38100"/>
                    <a:pt x="0" y="29464"/>
                    <a:pt x="0" y="19050"/>
                  </a:cubicBezTo>
                  <a:cubicBezTo>
                    <a:pt x="0" y="8636"/>
                    <a:pt x="8636" y="0"/>
                    <a:pt x="19050" y="0"/>
                  </a:cubicBezTo>
                  <a:close/>
                </a:path>
              </a:pathLst>
            </a:custGeom>
            <a:solidFill>
              <a:srgbClr val="4E91F0"/>
            </a:solidFill>
          </p:spPr>
        </p:sp>
      </p:grpSp>
      <p:sp>
        <p:nvSpPr>
          <p:cNvPr name="Freeform 7" id="7"/>
          <p:cNvSpPr/>
          <p:nvPr/>
        </p:nvSpPr>
        <p:spPr>
          <a:xfrm flipH="false" flipV="false" rot="0">
            <a:off x="2726322" y="28189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5288206" y="28189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8570764" y="292692"/>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4178066" y="305142"/>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1616970" y="32451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5633630" y="1199778"/>
            <a:ext cx="11443853" cy="6515397"/>
          </a:xfrm>
          <a:custGeom>
            <a:avLst/>
            <a:gdLst/>
            <a:ahLst/>
            <a:cxnLst/>
            <a:rect r="r" b="b" t="t" l="l"/>
            <a:pathLst>
              <a:path h="6515397" w="11443853">
                <a:moveTo>
                  <a:pt x="0" y="0"/>
                </a:moveTo>
                <a:lnTo>
                  <a:pt x="11443853" y="0"/>
                </a:lnTo>
                <a:lnTo>
                  <a:pt x="11443853" y="6515396"/>
                </a:lnTo>
                <a:lnTo>
                  <a:pt x="0" y="6515396"/>
                </a:lnTo>
                <a:lnTo>
                  <a:pt x="0" y="0"/>
                </a:lnTo>
                <a:close/>
              </a:path>
            </a:pathLst>
          </a:custGeom>
          <a:blipFill>
            <a:blip r:embed="rId6"/>
            <a:stretch>
              <a:fillRect l="0" t="0" r="0" b="0"/>
            </a:stretch>
          </a:blipFill>
        </p:spPr>
      </p:sp>
      <p:sp>
        <p:nvSpPr>
          <p:cNvPr name="TextBox 13" id="13"/>
          <p:cNvSpPr txBox="true"/>
          <p:nvPr/>
        </p:nvSpPr>
        <p:spPr>
          <a:xfrm rot="0">
            <a:off x="2498531" y="1011190"/>
            <a:ext cx="1567060" cy="514350"/>
          </a:xfrm>
          <a:prstGeom prst="rect">
            <a:avLst/>
          </a:prstGeom>
        </p:spPr>
        <p:txBody>
          <a:bodyPr anchor="t" rtlCol="false" tIns="0" lIns="0" bIns="0" rIns="0">
            <a:spAutoFit/>
          </a:bodyPr>
          <a:lstStyle/>
          <a:p>
            <a:pPr algn="ctr">
              <a:lnSpc>
                <a:spcPts val="1980"/>
              </a:lnSpc>
            </a:pPr>
            <a:r>
              <a:rPr lang="en-US" sz="1650" b="true">
                <a:solidFill>
                  <a:srgbClr val="4E91F0"/>
                </a:solidFill>
                <a:latin typeface="Times New Roman Bold"/>
                <a:ea typeface="Times New Roman Bold"/>
                <a:cs typeface="Times New Roman Bold"/>
                <a:sym typeface="Times New Roman Bold"/>
              </a:rPr>
              <a:t>Introduction à la supervision</a:t>
            </a:r>
          </a:p>
        </p:txBody>
      </p:sp>
      <p:sp>
        <p:nvSpPr>
          <p:cNvPr name="TextBox 14" id="14"/>
          <p:cNvSpPr txBox="true"/>
          <p:nvPr/>
        </p:nvSpPr>
        <p:spPr>
          <a:xfrm rot="0">
            <a:off x="4827591" y="998289"/>
            <a:ext cx="2563545" cy="514350"/>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Architecture et fonctionnement</a:t>
            </a:r>
          </a:p>
        </p:txBody>
      </p:sp>
      <p:sp>
        <p:nvSpPr>
          <p:cNvPr name="TextBox 15" id="15"/>
          <p:cNvSpPr txBox="true"/>
          <p:nvPr/>
        </p:nvSpPr>
        <p:spPr>
          <a:xfrm rot="0">
            <a:off x="14041790" y="1068032"/>
            <a:ext cx="1104010" cy="358125"/>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Conclusion</a:t>
            </a:r>
          </a:p>
        </p:txBody>
      </p:sp>
      <p:sp>
        <p:nvSpPr>
          <p:cNvPr name="TextBox 16" id="16"/>
          <p:cNvSpPr txBox="true"/>
          <p:nvPr/>
        </p:nvSpPr>
        <p:spPr>
          <a:xfrm rot="0">
            <a:off x="1433103" y="2169315"/>
            <a:ext cx="5958033" cy="571500"/>
          </a:xfrm>
          <a:prstGeom prst="rect">
            <a:avLst/>
          </a:prstGeom>
        </p:spPr>
        <p:txBody>
          <a:bodyPr anchor="t" rtlCol="false" tIns="0" lIns="0" bIns="0" rIns="0">
            <a:spAutoFit/>
          </a:bodyPr>
          <a:lstStyle/>
          <a:p>
            <a:pPr algn="l">
              <a:lnSpc>
                <a:spcPts val="4320"/>
              </a:lnSpc>
            </a:pPr>
            <a:r>
              <a:rPr lang="en-US" b="true" sz="3600">
                <a:solidFill>
                  <a:srgbClr val="0C4493"/>
                </a:solidFill>
                <a:latin typeface="Times New Roman Bold"/>
                <a:ea typeface="Times New Roman Bold"/>
                <a:cs typeface="Times New Roman Bold"/>
                <a:sym typeface="Times New Roman Bold"/>
              </a:rPr>
              <a:t>Composants principaux</a:t>
            </a:r>
          </a:p>
        </p:txBody>
      </p:sp>
      <p:sp>
        <p:nvSpPr>
          <p:cNvPr name="TextBox 17" id="17"/>
          <p:cNvSpPr txBox="true"/>
          <p:nvPr/>
        </p:nvSpPr>
        <p:spPr>
          <a:xfrm rot="0">
            <a:off x="1083224" y="2870718"/>
            <a:ext cx="9966089" cy="3623310"/>
          </a:xfrm>
          <a:prstGeom prst="rect">
            <a:avLst/>
          </a:prstGeom>
        </p:spPr>
        <p:txBody>
          <a:bodyPr anchor="t" rtlCol="false" tIns="0" lIns="0" bIns="0" rIns="0">
            <a:spAutoFit/>
          </a:bodyPr>
          <a:lstStyle/>
          <a:p>
            <a:pPr algn="just" marL="582930" indent="-291465" lvl="1">
              <a:lnSpc>
                <a:spcPts val="4860"/>
              </a:lnSpc>
              <a:buFont typeface="Arial"/>
              <a:buChar char="•"/>
            </a:pPr>
            <a:r>
              <a:rPr lang="en-US" sz="2700">
                <a:solidFill>
                  <a:srgbClr val="000000"/>
                </a:solidFill>
                <a:latin typeface="Times New Roman"/>
                <a:ea typeface="Times New Roman"/>
                <a:cs typeface="Times New Roman"/>
                <a:sym typeface="Times New Roman"/>
              </a:rPr>
              <a:t>Agent ou protocole SNMP</a:t>
            </a:r>
          </a:p>
          <a:p>
            <a:pPr algn="just" marL="582930" indent="-291465" lvl="1">
              <a:lnSpc>
                <a:spcPts val="4860"/>
              </a:lnSpc>
              <a:buFont typeface="Arial"/>
              <a:buChar char="•"/>
            </a:pPr>
            <a:r>
              <a:rPr lang="en-US" sz="2700">
                <a:solidFill>
                  <a:srgbClr val="000000"/>
                </a:solidFill>
                <a:latin typeface="Times New Roman"/>
                <a:ea typeface="Times New Roman"/>
                <a:cs typeface="Times New Roman"/>
                <a:sym typeface="Times New Roman"/>
              </a:rPr>
              <a:t>Serveur de supervision</a:t>
            </a:r>
          </a:p>
          <a:p>
            <a:pPr algn="just" marL="582930" indent="-291465" lvl="1">
              <a:lnSpc>
                <a:spcPts val="4860"/>
              </a:lnSpc>
              <a:buFont typeface="Arial"/>
              <a:buChar char="•"/>
            </a:pPr>
            <a:r>
              <a:rPr lang="en-US" sz="2700">
                <a:solidFill>
                  <a:srgbClr val="000000"/>
                </a:solidFill>
                <a:latin typeface="Times New Roman"/>
                <a:ea typeface="Times New Roman"/>
                <a:cs typeface="Times New Roman"/>
                <a:sym typeface="Times New Roman"/>
              </a:rPr>
              <a:t>Base de données</a:t>
            </a:r>
          </a:p>
          <a:p>
            <a:pPr algn="just" marL="582930" indent="-291465" lvl="1">
              <a:lnSpc>
                <a:spcPts val="4860"/>
              </a:lnSpc>
              <a:buFont typeface="Arial"/>
              <a:buChar char="•"/>
            </a:pPr>
            <a:r>
              <a:rPr lang="en-US" sz="2700">
                <a:solidFill>
                  <a:srgbClr val="000000"/>
                </a:solidFill>
                <a:latin typeface="Times New Roman"/>
                <a:ea typeface="Times New Roman"/>
                <a:cs typeface="Times New Roman"/>
                <a:sym typeface="Times New Roman"/>
              </a:rPr>
              <a:t>Interface Web (Dashboard)</a:t>
            </a:r>
          </a:p>
          <a:p>
            <a:pPr algn="just" marL="582930" indent="-291465" lvl="1">
              <a:lnSpc>
                <a:spcPts val="4860"/>
              </a:lnSpc>
              <a:buFont typeface="Arial"/>
              <a:buChar char="•"/>
            </a:pPr>
            <a:r>
              <a:rPr lang="en-US" sz="2700">
                <a:solidFill>
                  <a:srgbClr val="000000"/>
                </a:solidFill>
                <a:latin typeface="Times New Roman"/>
                <a:ea typeface="Times New Roman"/>
                <a:cs typeface="Times New Roman"/>
                <a:sym typeface="Times New Roman"/>
              </a:rPr>
              <a:t>Système d’alertes (Email, SMS, Notifications)</a:t>
            </a:r>
          </a:p>
          <a:p>
            <a:pPr algn="just">
              <a:lnSpc>
                <a:spcPts val="4860"/>
              </a:lnSpc>
            </a:pPr>
          </a:p>
        </p:txBody>
      </p:sp>
      <p:sp>
        <p:nvSpPr>
          <p:cNvPr name="TextBox 18" id="18"/>
          <p:cNvSpPr txBox="true"/>
          <p:nvPr/>
        </p:nvSpPr>
        <p:spPr>
          <a:xfrm rot="0">
            <a:off x="11110736" y="1127696"/>
            <a:ext cx="2165112" cy="266700"/>
          </a:xfrm>
          <a:prstGeom prst="rect">
            <a:avLst/>
          </a:prstGeom>
        </p:spPr>
        <p:txBody>
          <a:bodyPr anchor="t" rtlCol="false" tIns="0" lIns="0" bIns="0" rIns="0">
            <a:spAutoFit/>
          </a:bodyPr>
          <a:lstStyle/>
          <a:p>
            <a:pPr algn="l">
              <a:lnSpc>
                <a:spcPts val="1980"/>
              </a:lnSpc>
            </a:pPr>
            <a:r>
              <a:rPr lang="en-US" sz="1650" b="true">
                <a:solidFill>
                  <a:srgbClr val="A6A6A6"/>
                </a:solidFill>
                <a:latin typeface="Times New Roman Bold"/>
                <a:ea typeface="Times New Roman Bold"/>
                <a:cs typeface="Times New Roman Bold"/>
                <a:sym typeface="Times New Roman Bold"/>
              </a:rPr>
              <a:t>Comparaison et analyse</a:t>
            </a:r>
          </a:p>
        </p:txBody>
      </p:sp>
      <p:sp>
        <p:nvSpPr>
          <p:cNvPr name="TextBox 19" id="19"/>
          <p:cNvSpPr txBox="true"/>
          <p:nvPr/>
        </p:nvSpPr>
        <p:spPr>
          <a:xfrm rot="0">
            <a:off x="7623616" y="1088982"/>
            <a:ext cx="2949177" cy="514350"/>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Présentation des outils Open Source</a:t>
            </a:r>
          </a:p>
        </p:txBody>
      </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975802" y="627948"/>
            <a:ext cx="9254775" cy="57150"/>
            <a:chOff x="0" y="0"/>
            <a:chExt cx="12339701" cy="76200"/>
          </a:xfrm>
        </p:grpSpPr>
        <p:sp>
          <p:nvSpPr>
            <p:cNvPr name="Freeform 3" id="3"/>
            <p:cNvSpPr/>
            <p:nvPr/>
          </p:nvSpPr>
          <p:spPr>
            <a:xfrm flipH="false" flipV="false" rot="0">
              <a:off x="0" y="0"/>
              <a:ext cx="12339701" cy="76200"/>
            </a:xfrm>
            <a:custGeom>
              <a:avLst/>
              <a:gdLst/>
              <a:ahLst/>
              <a:cxnLst/>
              <a:rect r="r" b="b" t="t" l="l"/>
              <a:pathLst>
                <a:path h="76200" w="12339701">
                  <a:moveTo>
                    <a:pt x="19050" y="0"/>
                  </a:moveTo>
                  <a:lnTo>
                    <a:pt x="12320651" y="38100"/>
                  </a:lnTo>
                  <a:cubicBezTo>
                    <a:pt x="12331192" y="38100"/>
                    <a:pt x="12339701" y="46736"/>
                    <a:pt x="12339701" y="57150"/>
                  </a:cubicBezTo>
                  <a:cubicBezTo>
                    <a:pt x="12339701" y="67564"/>
                    <a:pt x="12331065" y="76200"/>
                    <a:pt x="12320651" y="76200"/>
                  </a:cubicBezTo>
                  <a:lnTo>
                    <a:pt x="19050" y="38100"/>
                  </a:lnTo>
                  <a:cubicBezTo>
                    <a:pt x="8509" y="38100"/>
                    <a:pt x="0" y="29464"/>
                    <a:pt x="0" y="19050"/>
                  </a:cubicBezTo>
                  <a:cubicBezTo>
                    <a:pt x="0" y="8636"/>
                    <a:pt x="8636" y="0"/>
                    <a:pt x="19050" y="0"/>
                  </a:cubicBezTo>
                  <a:close/>
                </a:path>
              </a:pathLst>
            </a:custGeom>
            <a:solidFill>
              <a:srgbClr val="4E91F0"/>
            </a:solidFill>
          </p:spPr>
        </p:sp>
      </p:grpSp>
      <p:grpSp>
        <p:nvGrpSpPr>
          <p:cNvPr name="Group 4" id="4"/>
          <p:cNvGrpSpPr/>
          <p:nvPr/>
        </p:nvGrpSpPr>
        <p:grpSpPr>
          <a:xfrm rot="0">
            <a:off x="12915900" y="9505949"/>
            <a:ext cx="4114800" cy="576264"/>
            <a:chOff x="0" y="0"/>
            <a:chExt cx="5486400" cy="768351"/>
          </a:xfrm>
        </p:grpSpPr>
        <p:sp>
          <p:nvSpPr>
            <p:cNvPr name="Freeform 5" id="5"/>
            <p:cNvSpPr/>
            <p:nvPr/>
          </p:nvSpPr>
          <p:spPr>
            <a:xfrm flipH="false" flipV="false" rot="0">
              <a:off x="0" y="0"/>
              <a:ext cx="5486400" cy="768351"/>
            </a:xfrm>
            <a:custGeom>
              <a:avLst/>
              <a:gdLst/>
              <a:ahLst/>
              <a:cxnLst/>
              <a:rect r="r" b="b" t="t" l="l"/>
              <a:pathLst>
                <a:path h="768351" w="5486400">
                  <a:moveTo>
                    <a:pt x="0" y="0"/>
                  </a:moveTo>
                  <a:lnTo>
                    <a:pt x="5486400" y="0"/>
                  </a:lnTo>
                  <a:lnTo>
                    <a:pt x="5486400" y="768351"/>
                  </a:lnTo>
                  <a:lnTo>
                    <a:pt x="0" y="768351"/>
                  </a:lnTo>
                  <a:close/>
                </a:path>
              </a:pathLst>
            </a:custGeom>
          </p:spPr>
        </p:sp>
        <p:sp>
          <p:nvSpPr>
            <p:cNvPr name="TextBox 6" id="6"/>
            <p:cNvSpPr txBox="true"/>
            <p:nvPr/>
          </p:nvSpPr>
          <p:spPr>
            <a:xfrm>
              <a:off x="0" y="-19050"/>
              <a:ext cx="5486400" cy="787401"/>
            </a:xfrm>
            <a:prstGeom prst="rect">
              <a:avLst/>
            </a:prstGeom>
          </p:spPr>
          <p:txBody>
            <a:bodyPr anchor="ctr" rtlCol="false" tIns="0" lIns="0" bIns="0" rIns="0"/>
            <a:lstStyle/>
            <a:p>
              <a:pPr algn="r">
                <a:lnSpc>
                  <a:spcPts val="2160"/>
                </a:lnSpc>
              </a:pPr>
              <a:r>
                <a:rPr lang="en-US" sz="1800">
                  <a:solidFill>
                    <a:srgbClr val="898989"/>
                  </a:solidFill>
                  <a:latin typeface="Arimo"/>
                  <a:ea typeface="Arimo"/>
                  <a:cs typeface="Arimo"/>
                  <a:sym typeface="Arimo"/>
                </a:rPr>
                <a:t>4</a:t>
              </a:r>
            </a:p>
          </p:txBody>
        </p:sp>
      </p:grpSp>
      <p:sp>
        <p:nvSpPr>
          <p:cNvPr name="Freeform 7" id="7"/>
          <p:cNvSpPr/>
          <p:nvPr/>
        </p:nvSpPr>
        <p:spPr>
          <a:xfrm flipH="false" flipV="false" rot="0">
            <a:off x="2726322" y="28189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5009238" y="305142"/>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8617260" y="281894"/>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4178068" y="305142"/>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3363727" y="615039"/>
            <a:ext cx="1698975" cy="57436"/>
            <a:chOff x="0" y="0"/>
            <a:chExt cx="2265299" cy="76581"/>
          </a:xfrm>
        </p:grpSpPr>
        <p:sp>
          <p:nvSpPr>
            <p:cNvPr name="Freeform 12" id="12"/>
            <p:cNvSpPr/>
            <p:nvPr/>
          </p:nvSpPr>
          <p:spPr>
            <a:xfrm flipH="false" flipV="false" rot="0">
              <a:off x="126" y="126"/>
              <a:ext cx="2264925" cy="76207"/>
            </a:xfrm>
            <a:custGeom>
              <a:avLst/>
              <a:gdLst/>
              <a:ahLst/>
              <a:cxnLst/>
              <a:rect r="r" b="b" t="t" l="l"/>
              <a:pathLst>
                <a:path h="76207" w="2264925">
                  <a:moveTo>
                    <a:pt x="19432" y="1"/>
                  </a:moveTo>
                  <a:lnTo>
                    <a:pt x="2246250" y="38101"/>
                  </a:lnTo>
                  <a:cubicBezTo>
                    <a:pt x="2256791" y="38228"/>
                    <a:pt x="2265173" y="46991"/>
                    <a:pt x="2264919" y="57532"/>
                  </a:cubicBezTo>
                  <a:cubicBezTo>
                    <a:pt x="2264665" y="68073"/>
                    <a:pt x="2256029" y="76455"/>
                    <a:pt x="2245488" y="76201"/>
                  </a:cubicBezTo>
                  <a:lnTo>
                    <a:pt x="18670" y="38101"/>
                  </a:lnTo>
                  <a:cubicBezTo>
                    <a:pt x="8256" y="37974"/>
                    <a:pt x="-126" y="29211"/>
                    <a:pt x="1" y="18670"/>
                  </a:cubicBezTo>
                  <a:cubicBezTo>
                    <a:pt x="128" y="8129"/>
                    <a:pt x="8891" y="-126"/>
                    <a:pt x="19432" y="1"/>
                  </a:cubicBezTo>
                  <a:close/>
                </a:path>
              </a:pathLst>
            </a:custGeom>
            <a:solidFill>
              <a:srgbClr val="4E91F0"/>
            </a:solidFill>
          </p:spPr>
        </p:sp>
      </p:grpSp>
      <p:sp>
        <p:nvSpPr>
          <p:cNvPr name="Freeform 13" id="13"/>
          <p:cNvSpPr/>
          <p:nvPr/>
        </p:nvSpPr>
        <p:spPr>
          <a:xfrm flipH="false" flipV="false" rot="0">
            <a:off x="11547231" y="301267"/>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4" id="14"/>
          <p:cNvSpPr txBox="true"/>
          <p:nvPr/>
        </p:nvSpPr>
        <p:spPr>
          <a:xfrm rot="0">
            <a:off x="1804153" y="5765009"/>
            <a:ext cx="14395414" cy="3013710"/>
          </a:xfrm>
          <a:prstGeom prst="rect">
            <a:avLst/>
          </a:prstGeom>
        </p:spPr>
        <p:txBody>
          <a:bodyPr anchor="t" rtlCol="false" tIns="0" lIns="0" bIns="0" rIns="0">
            <a:spAutoFit/>
          </a:bodyPr>
          <a:lstStyle/>
          <a:p>
            <a:pPr algn="just">
              <a:lnSpc>
                <a:spcPts val="4860"/>
              </a:lnSpc>
            </a:pPr>
            <a:r>
              <a:rPr lang="en-US" sz="2700">
                <a:solidFill>
                  <a:srgbClr val="000000"/>
                </a:solidFill>
                <a:latin typeface="Times New Roman"/>
                <a:ea typeface="Times New Roman"/>
                <a:cs typeface="Times New Roman"/>
                <a:sym typeface="Times New Roman"/>
              </a:rPr>
              <a:t>Les équipements envoient leurs informations via SNMP ou un agent installé.</a:t>
            </a:r>
          </a:p>
          <a:p>
            <a:pPr algn="just">
              <a:lnSpc>
                <a:spcPts val="4860"/>
              </a:lnSpc>
            </a:pPr>
            <a:r>
              <a:rPr lang="en-US" sz="2700">
                <a:solidFill>
                  <a:srgbClr val="000000"/>
                </a:solidFill>
                <a:latin typeface="Times New Roman"/>
                <a:ea typeface="Times New Roman"/>
                <a:cs typeface="Times New Roman"/>
                <a:sym typeface="Times New Roman"/>
              </a:rPr>
              <a:t> Le serveur central collecte et analyse les données.</a:t>
            </a:r>
          </a:p>
          <a:p>
            <a:pPr algn="just">
              <a:lnSpc>
                <a:spcPts val="4860"/>
              </a:lnSpc>
            </a:pPr>
            <a:r>
              <a:rPr lang="en-US" sz="2700">
                <a:solidFill>
                  <a:srgbClr val="000000"/>
                </a:solidFill>
                <a:latin typeface="Times New Roman"/>
                <a:ea typeface="Times New Roman"/>
                <a:cs typeface="Times New Roman"/>
                <a:sym typeface="Times New Roman"/>
              </a:rPr>
              <a:t> Les résultats sont stockés dans une base de données et affichés sur une interface web.</a:t>
            </a:r>
          </a:p>
          <a:p>
            <a:pPr algn="just">
              <a:lnSpc>
                <a:spcPts val="4860"/>
              </a:lnSpc>
            </a:pPr>
            <a:r>
              <a:rPr lang="en-US" sz="2700">
                <a:solidFill>
                  <a:srgbClr val="000000"/>
                </a:solidFill>
                <a:latin typeface="Times New Roman"/>
                <a:ea typeface="Times New Roman"/>
                <a:cs typeface="Times New Roman"/>
                <a:sym typeface="Times New Roman"/>
              </a:rPr>
              <a:t> En cas de problème, une alerte est envoyée à l’administrateur.</a:t>
            </a:r>
          </a:p>
          <a:p>
            <a:pPr algn="just">
              <a:lnSpc>
                <a:spcPts val="4860"/>
              </a:lnSpc>
            </a:pPr>
          </a:p>
        </p:txBody>
      </p:sp>
      <p:sp>
        <p:nvSpPr>
          <p:cNvPr name="Freeform 15" id="15"/>
          <p:cNvSpPr/>
          <p:nvPr/>
        </p:nvSpPr>
        <p:spPr>
          <a:xfrm flipH="false" flipV="false" rot="0">
            <a:off x="2840611" y="2774453"/>
            <a:ext cx="10075289" cy="2990556"/>
          </a:xfrm>
          <a:custGeom>
            <a:avLst/>
            <a:gdLst/>
            <a:ahLst/>
            <a:cxnLst/>
            <a:rect r="r" b="b" t="t" l="l"/>
            <a:pathLst>
              <a:path h="2990556" w="10075289">
                <a:moveTo>
                  <a:pt x="0" y="0"/>
                </a:moveTo>
                <a:lnTo>
                  <a:pt x="10075289" y="0"/>
                </a:lnTo>
                <a:lnTo>
                  <a:pt x="10075289" y="2990556"/>
                </a:lnTo>
                <a:lnTo>
                  <a:pt x="0" y="2990556"/>
                </a:lnTo>
                <a:lnTo>
                  <a:pt x="0" y="0"/>
                </a:lnTo>
                <a:close/>
              </a:path>
            </a:pathLst>
          </a:custGeom>
          <a:blipFill>
            <a:blip r:embed="rId6"/>
            <a:stretch>
              <a:fillRect l="0" t="-59469" r="0" b="-65133"/>
            </a:stretch>
          </a:blipFill>
        </p:spPr>
      </p:sp>
      <p:sp>
        <p:nvSpPr>
          <p:cNvPr name="TextBox 16" id="16"/>
          <p:cNvSpPr txBox="true"/>
          <p:nvPr/>
        </p:nvSpPr>
        <p:spPr>
          <a:xfrm rot="0">
            <a:off x="1573062" y="2031503"/>
            <a:ext cx="6598061" cy="571500"/>
          </a:xfrm>
          <a:prstGeom prst="rect">
            <a:avLst/>
          </a:prstGeom>
        </p:spPr>
        <p:txBody>
          <a:bodyPr anchor="t" rtlCol="false" tIns="0" lIns="0" bIns="0" rIns="0">
            <a:spAutoFit/>
          </a:bodyPr>
          <a:lstStyle/>
          <a:p>
            <a:pPr algn="l">
              <a:lnSpc>
                <a:spcPts val="4320"/>
              </a:lnSpc>
            </a:pPr>
            <a:r>
              <a:rPr lang="en-US" b="true" sz="3600">
                <a:solidFill>
                  <a:srgbClr val="0C4493"/>
                </a:solidFill>
                <a:latin typeface="Times New Roman Bold"/>
                <a:ea typeface="Times New Roman Bold"/>
                <a:cs typeface="Times New Roman Bold"/>
                <a:sym typeface="Times New Roman Bold"/>
              </a:rPr>
              <a:t> Schéma simplifié</a:t>
            </a:r>
          </a:p>
        </p:txBody>
      </p:sp>
      <p:sp>
        <p:nvSpPr>
          <p:cNvPr name="TextBox 17" id="17"/>
          <p:cNvSpPr txBox="true"/>
          <p:nvPr/>
        </p:nvSpPr>
        <p:spPr>
          <a:xfrm rot="0">
            <a:off x="2498531" y="1011190"/>
            <a:ext cx="1530020" cy="514350"/>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Introduction à la supervision</a:t>
            </a:r>
          </a:p>
        </p:txBody>
      </p:sp>
      <p:sp>
        <p:nvSpPr>
          <p:cNvPr name="TextBox 18" id="18"/>
          <p:cNvSpPr txBox="true"/>
          <p:nvPr/>
        </p:nvSpPr>
        <p:spPr>
          <a:xfrm rot="0">
            <a:off x="4339394" y="975042"/>
            <a:ext cx="2563545" cy="514350"/>
          </a:xfrm>
          <a:prstGeom prst="rect">
            <a:avLst/>
          </a:prstGeom>
        </p:spPr>
        <p:txBody>
          <a:bodyPr anchor="t" rtlCol="false" tIns="0" lIns="0" bIns="0" rIns="0">
            <a:spAutoFit/>
          </a:bodyPr>
          <a:lstStyle/>
          <a:p>
            <a:pPr algn="ctr">
              <a:lnSpc>
                <a:spcPts val="1980"/>
              </a:lnSpc>
            </a:pPr>
            <a:r>
              <a:rPr lang="en-US" sz="1650" b="true">
                <a:solidFill>
                  <a:srgbClr val="4E91F0"/>
                </a:solidFill>
                <a:latin typeface="Times New Roman Bold"/>
                <a:ea typeface="Times New Roman Bold"/>
                <a:cs typeface="Times New Roman Bold"/>
                <a:sym typeface="Times New Roman Bold"/>
              </a:rPr>
              <a:t>Architecture et fonctionnement</a:t>
            </a:r>
          </a:p>
        </p:txBody>
      </p:sp>
      <p:sp>
        <p:nvSpPr>
          <p:cNvPr name="TextBox 19" id="19"/>
          <p:cNvSpPr txBox="true"/>
          <p:nvPr/>
        </p:nvSpPr>
        <p:spPr>
          <a:xfrm rot="0">
            <a:off x="11110736" y="1127696"/>
            <a:ext cx="2165112" cy="266700"/>
          </a:xfrm>
          <a:prstGeom prst="rect">
            <a:avLst/>
          </a:prstGeom>
        </p:spPr>
        <p:txBody>
          <a:bodyPr anchor="t" rtlCol="false" tIns="0" lIns="0" bIns="0" rIns="0">
            <a:spAutoFit/>
          </a:bodyPr>
          <a:lstStyle/>
          <a:p>
            <a:pPr algn="l">
              <a:lnSpc>
                <a:spcPts val="1980"/>
              </a:lnSpc>
            </a:pPr>
            <a:r>
              <a:rPr lang="en-US" sz="1650" b="true">
                <a:solidFill>
                  <a:srgbClr val="A6A6A6"/>
                </a:solidFill>
                <a:latin typeface="Times New Roman Bold"/>
                <a:ea typeface="Times New Roman Bold"/>
                <a:cs typeface="Times New Roman Bold"/>
                <a:sym typeface="Times New Roman Bold"/>
              </a:rPr>
              <a:t>Comparaison et analyse</a:t>
            </a:r>
          </a:p>
        </p:txBody>
      </p:sp>
      <p:sp>
        <p:nvSpPr>
          <p:cNvPr name="TextBox 20" id="20"/>
          <p:cNvSpPr txBox="true"/>
          <p:nvPr/>
        </p:nvSpPr>
        <p:spPr>
          <a:xfrm rot="0">
            <a:off x="14041790" y="1068032"/>
            <a:ext cx="1104010" cy="358125"/>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Conclusion</a:t>
            </a:r>
          </a:p>
        </p:txBody>
      </p:sp>
      <p:sp>
        <p:nvSpPr>
          <p:cNvPr name="TextBox 21" id="21"/>
          <p:cNvSpPr txBox="true"/>
          <p:nvPr/>
        </p:nvSpPr>
        <p:spPr>
          <a:xfrm rot="0">
            <a:off x="7623616" y="1088982"/>
            <a:ext cx="2949177" cy="514350"/>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Présentation des outils Open Source</a:t>
            </a:r>
          </a:p>
        </p:txBody>
      </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975802" y="627948"/>
            <a:ext cx="9254775" cy="57150"/>
            <a:chOff x="0" y="0"/>
            <a:chExt cx="12339701" cy="76200"/>
          </a:xfrm>
        </p:grpSpPr>
        <p:sp>
          <p:nvSpPr>
            <p:cNvPr name="Freeform 3" id="3"/>
            <p:cNvSpPr/>
            <p:nvPr/>
          </p:nvSpPr>
          <p:spPr>
            <a:xfrm flipH="false" flipV="false" rot="0">
              <a:off x="0" y="0"/>
              <a:ext cx="12339701" cy="76200"/>
            </a:xfrm>
            <a:custGeom>
              <a:avLst/>
              <a:gdLst/>
              <a:ahLst/>
              <a:cxnLst/>
              <a:rect r="r" b="b" t="t" l="l"/>
              <a:pathLst>
                <a:path h="76200" w="12339701">
                  <a:moveTo>
                    <a:pt x="19050" y="0"/>
                  </a:moveTo>
                  <a:lnTo>
                    <a:pt x="12320651" y="38100"/>
                  </a:lnTo>
                  <a:cubicBezTo>
                    <a:pt x="12331192" y="38100"/>
                    <a:pt x="12339701" y="46736"/>
                    <a:pt x="12339701" y="57150"/>
                  </a:cubicBezTo>
                  <a:cubicBezTo>
                    <a:pt x="12339701" y="67564"/>
                    <a:pt x="12331065" y="76200"/>
                    <a:pt x="12320651" y="76200"/>
                  </a:cubicBezTo>
                  <a:lnTo>
                    <a:pt x="19050" y="38100"/>
                  </a:lnTo>
                  <a:cubicBezTo>
                    <a:pt x="8509" y="38100"/>
                    <a:pt x="0" y="29464"/>
                    <a:pt x="0" y="19050"/>
                  </a:cubicBezTo>
                  <a:cubicBezTo>
                    <a:pt x="0" y="8636"/>
                    <a:pt x="8636" y="0"/>
                    <a:pt x="19050" y="0"/>
                  </a:cubicBezTo>
                  <a:close/>
                </a:path>
              </a:pathLst>
            </a:custGeom>
            <a:solidFill>
              <a:srgbClr val="4E91F0"/>
            </a:solidFill>
          </p:spPr>
        </p:sp>
      </p:grpSp>
      <p:grpSp>
        <p:nvGrpSpPr>
          <p:cNvPr name="Group 4" id="4"/>
          <p:cNvGrpSpPr/>
          <p:nvPr/>
        </p:nvGrpSpPr>
        <p:grpSpPr>
          <a:xfrm rot="0">
            <a:off x="12915900" y="9505949"/>
            <a:ext cx="4114800" cy="576264"/>
            <a:chOff x="0" y="0"/>
            <a:chExt cx="5486400" cy="768351"/>
          </a:xfrm>
        </p:grpSpPr>
        <p:sp>
          <p:nvSpPr>
            <p:cNvPr name="Freeform 5" id="5"/>
            <p:cNvSpPr/>
            <p:nvPr/>
          </p:nvSpPr>
          <p:spPr>
            <a:xfrm flipH="false" flipV="false" rot="0">
              <a:off x="0" y="0"/>
              <a:ext cx="5486400" cy="768351"/>
            </a:xfrm>
            <a:custGeom>
              <a:avLst/>
              <a:gdLst/>
              <a:ahLst/>
              <a:cxnLst/>
              <a:rect r="r" b="b" t="t" l="l"/>
              <a:pathLst>
                <a:path h="768351" w="5486400">
                  <a:moveTo>
                    <a:pt x="0" y="0"/>
                  </a:moveTo>
                  <a:lnTo>
                    <a:pt x="5486400" y="0"/>
                  </a:lnTo>
                  <a:lnTo>
                    <a:pt x="5486400" y="768351"/>
                  </a:lnTo>
                  <a:lnTo>
                    <a:pt x="0" y="768351"/>
                  </a:lnTo>
                  <a:close/>
                </a:path>
              </a:pathLst>
            </a:custGeom>
          </p:spPr>
        </p:sp>
        <p:sp>
          <p:nvSpPr>
            <p:cNvPr name="TextBox 6" id="6"/>
            <p:cNvSpPr txBox="true"/>
            <p:nvPr/>
          </p:nvSpPr>
          <p:spPr>
            <a:xfrm>
              <a:off x="0" y="-19050"/>
              <a:ext cx="5486400" cy="787401"/>
            </a:xfrm>
            <a:prstGeom prst="rect">
              <a:avLst/>
            </a:prstGeom>
          </p:spPr>
          <p:txBody>
            <a:bodyPr anchor="ctr" rtlCol="false" tIns="0" lIns="0" bIns="0" rIns="0"/>
            <a:lstStyle/>
            <a:p>
              <a:pPr algn="r">
                <a:lnSpc>
                  <a:spcPts val="2160"/>
                </a:lnSpc>
              </a:pPr>
              <a:r>
                <a:rPr lang="en-US" sz="1800">
                  <a:solidFill>
                    <a:srgbClr val="898989"/>
                  </a:solidFill>
                  <a:latin typeface="Arimo"/>
                  <a:ea typeface="Arimo"/>
                  <a:cs typeface="Arimo"/>
                  <a:sym typeface="Arimo"/>
                </a:rPr>
                <a:t>5</a:t>
              </a:r>
            </a:p>
          </p:txBody>
        </p:sp>
      </p:grpSp>
      <p:sp>
        <p:nvSpPr>
          <p:cNvPr name="Freeform 7" id="7"/>
          <p:cNvSpPr/>
          <p:nvPr/>
        </p:nvSpPr>
        <p:spPr>
          <a:xfrm flipH="false" flipV="false" rot="0">
            <a:off x="2726322" y="28189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5009238" y="305142"/>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8617260" y="281894"/>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4178068" y="305142"/>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3363727" y="615039"/>
            <a:ext cx="1698975" cy="57436"/>
            <a:chOff x="0" y="0"/>
            <a:chExt cx="2265299" cy="76581"/>
          </a:xfrm>
        </p:grpSpPr>
        <p:sp>
          <p:nvSpPr>
            <p:cNvPr name="Freeform 12" id="12"/>
            <p:cNvSpPr/>
            <p:nvPr/>
          </p:nvSpPr>
          <p:spPr>
            <a:xfrm flipH="false" flipV="false" rot="0">
              <a:off x="126" y="126"/>
              <a:ext cx="2264925" cy="76207"/>
            </a:xfrm>
            <a:custGeom>
              <a:avLst/>
              <a:gdLst/>
              <a:ahLst/>
              <a:cxnLst/>
              <a:rect r="r" b="b" t="t" l="l"/>
              <a:pathLst>
                <a:path h="76207" w="2264925">
                  <a:moveTo>
                    <a:pt x="19432" y="1"/>
                  </a:moveTo>
                  <a:lnTo>
                    <a:pt x="2246250" y="38101"/>
                  </a:lnTo>
                  <a:cubicBezTo>
                    <a:pt x="2256791" y="38228"/>
                    <a:pt x="2265173" y="46991"/>
                    <a:pt x="2264919" y="57532"/>
                  </a:cubicBezTo>
                  <a:cubicBezTo>
                    <a:pt x="2264665" y="68073"/>
                    <a:pt x="2256029" y="76455"/>
                    <a:pt x="2245488" y="76201"/>
                  </a:cubicBezTo>
                  <a:lnTo>
                    <a:pt x="18670" y="38101"/>
                  </a:lnTo>
                  <a:cubicBezTo>
                    <a:pt x="8256" y="37974"/>
                    <a:pt x="-126" y="29211"/>
                    <a:pt x="1" y="18670"/>
                  </a:cubicBezTo>
                  <a:cubicBezTo>
                    <a:pt x="128" y="8129"/>
                    <a:pt x="8891" y="-126"/>
                    <a:pt x="19432" y="1"/>
                  </a:cubicBezTo>
                  <a:close/>
                </a:path>
              </a:pathLst>
            </a:custGeom>
            <a:solidFill>
              <a:srgbClr val="4E91F0"/>
            </a:solidFill>
          </p:spPr>
        </p:sp>
      </p:grpSp>
      <p:sp>
        <p:nvSpPr>
          <p:cNvPr name="Freeform 13" id="13"/>
          <p:cNvSpPr/>
          <p:nvPr/>
        </p:nvSpPr>
        <p:spPr>
          <a:xfrm flipH="false" flipV="false" rot="0">
            <a:off x="11547231" y="301267"/>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4" id="14"/>
          <p:cNvSpPr txBox="true"/>
          <p:nvPr/>
        </p:nvSpPr>
        <p:spPr>
          <a:xfrm rot="0">
            <a:off x="1764977" y="2755403"/>
            <a:ext cx="14395414" cy="5452110"/>
          </a:xfrm>
          <a:prstGeom prst="rect">
            <a:avLst/>
          </a:prstGeom>
        </p:spPr>
        <p:txBody>
          <a:bodyPr anchor="t" rtlCol="false" tIns="0" lIns="0" bIns="0" rIns="0">
            <a:spAutoFit/>
          </a:bodyPr>
          <a:lstStyle/>
          <a:p>
            <a:pPr algn="just">
              <a:lnSpc>
                <a:spcPts val="4860"/>
              </a:lnSpc>
            </a:pPr>
            <a:r>
              <a:rPr lang="en-US" sz="2700" b="true">
                <a:solidFill>
                  <a:srgbClr val="FF9514"/>
                </a:solidFill>
                <a:latin typeface="Times New Roman Bold"/>
                <a:ea typeface="Times New Roman Bold"/>
                <a:cs typeface="Times New Roman Bold"/>
                <a:sym typeface="Times New Roman Bold"/>
              </a:rPr>
              <a:t>Supervision Active:</a:t>
            </a:r>
          </a:p>
          <a:p>
            <a:pPr algn="just" marL="582930" indent="-291465" lvl="1">
              <a:lnSpc>
                <a:spcPts val="4860"/>
              </a:lnSpc>
              <a:buFont typeface="Arial"/>
              <a:buChar char="•"/>
            </a:pPr>
            <a:r>
              <a:rPr lang="en-US" sz="2700">
                <a:solidFill>
                  <a:srgbClr val="000000"/>
                </a:solidFill>
                <a:latin typeface="Times New Roman"/>
                <a:ea typeface="Times New Roman"/>
                <a:cs typeface="Times New Roman"/>
                <a:sym typeface="Times New Roman"/>
              </a:rPr>
              <a:t>Le serveur interroge régulièrement les équipements</a:t>
            </a:r>
          </a:p>
          <a:p>
            <a:pPr algn="just" marL="582930" indent="-291465" lvl="1">
              <a:lnSpc>
                <a:spcPts val="4860"/>
              </a:lnSpc>
              <a:buFont typeface="Arial"/>
              <a:buChar char="•"/>
            </a:pPr>
            <a:r>
              <a:rPr lang="en-US" sz="2700">
                <a:solidFill>
                  <a:srgbClr val="000000"/>
                </a:solidFill>
                <a:latin typeface="Times New Roman"/>
                <a:ea typeface="Times New Roman"/>
                <a:cs typeface="Times New Roman"/>
                <a:sym typeface="Times New Roman"/>
              </a:rPr>
              <a:t>Vérification périodique de l’état</a:t>
            </a:r>
          </a:p>
          <a:p>
            <a:pPr algn="just" marL="582930" indent="-291465" lvl="1">
              <a:lnSpc>
                <a:spcPts val="4860"/>
              </a:lnSpc>
              <a:buFont typeface="Arial"/>
              <a:buChar char="•"/>
            </a:pPr>
            <a:r>
              <a:rPr lang="en-US" sz="2700">
                <a:solidFill>
                  <a:srgbClr val="000000"/>
                </a:solidFill>
                <a:latin typeface="Times New Roman"/>
                <a:ea typeface="Times New Roman"/>
                <a:cs typeface="Times New Roman"/>
                <a:sym typeface="Times New Roman"/>
              </a:rPr>
              <a:t>Exemple : Ping, SNMP Polling</a:t>
            </a:r>
          </a:p>
          <a:p>
            <a:pPr algn="just">
              <a:lnSpc>
                <a:spcPts val="4860"/>
              </a:lnSpc>
            </a:pPr>
            <a:r>
              <a:rPr lang="en-US" sz="2700" b="true">
                <a:solidFill>
                  <a:srgbClr val="FF9514"/>
                </a:solidFill>
                <a:latin typeface="Times New Roman Bold"/>
                <a:ea typeface="Times New Roman Bold"/>
                <a:cs typeface="Times New Roman Bold"/>
                <a:sym typeface="Times New Roman Bold"/>
              </a:rPr>
              <a:t> </a:t>
            </a:r>
            <a:r>
              <a:rPr lang="en-US" sz="2700" b="true">
                <a:solidFill>
                  <a:srgbClr val="FF9514"/>
                </a:solidFill>
                <a:latin typeface="Times New Roman Bold"/>
                <a:ea typeface="Times New Roman Bold"/>
                <a:cs typeface="Times New Roman Bold"/>
                <a:sym typeface="Times New Roman Bold"/>
              </a:rPr>
              <a:t>Supervision Passive:</a:t>
            </a:r>
          </a:p>
          <a:p>
            <a:pPr algn="just" marL="582930" indent="-291465" lvl="1">
              <a:lnSpc>
                <a:spcPts val="4860"/>
              </a:lnSpc>
              <a:buFont typeface="Arial"/>
              <a:buChar char="•"/>
            </a:pPr>
            <a:r>
              <a:rPr lang="en-US" sz="2700">
                <a:solidFill>
                  <a:srgbClr val="000000"/>
                </a:solidFill>
                <a:latin typeface="Times New Roman"/>
                <a:ea typeface="Times New Roman"/>
                <a:cs typeface="Times New Roman"/>
                <a:sym typeface="Times New Roman"/>
              </a:rPr>
              <a:t>L’équipement envoie une notification en cas d’événement</a:t>
            </a:r>
          </a:p>
          <a:p>
            <a:pPr algn="just" marL="582930" indent="-291465" lvl="1">
              <a:lnSpc>
                <a:spcPts val="4860"/>
              </a:lnSpc>
              <a:buFont typeface="Arial"/>
              <a:buChar char="•"/>
            </a:pPr>
            <a:r>
              <a:rPr lang="en-US" sz="2700">
                <a:solidFill>
                  <a:srgbClr val="000000"/>
                </a:solidFill>
                <a:latin typeface="Times New Roman"/>
                <a:ea typeface="Times New Roman"/>
                <a:cs typeface="Times New Roman"/>
                <a:sym typeface="Times New Roman"/>
              </a:rPr>
              <a:t>Basée sur des alertes automatiques</a:t>
            </a:r>
          </a:p>
          <a:p>
            <a:pPr algn="just" marL="582930" indent="-291465" lvl="1">
              <a:lnSpc>
                <a:spcPts val="4860"/>
              </a:lnSpc>
              <a:buFont typeface="Arial"/>
              <a:buChar char="•"/>
            </a:pPr>
            <a:r>
              <a:rPr lang="en-US" sz="2700">
                <a:solidFill>
                  <a:srgbClr val="000000"/>
                </a:solidFill>
                <a:latin typeface="Times New Roman"/>
                <a:ea typeface="Times New Roman"/>
                <a:cs typeface="Times New Roman"/>
                <a:sym typeface="Times New Roman"/>
              </a:rPr>
              <a:t>Exemple : SNMP Trap</a:t>
            </a:r>
          </a:p>
          <a:p>
            <a:pPr algn="just">
              <a:lnSpc>
                <a:spcPts val="4860"/>
              </a:lnSpc>
            </a:pPr>
          </a:p>
        </p:txBody>
      </p:sp>
      <p:sp>
        <p:nvSpPr>
          <p:cNvPr name="TextBox 15" id="15"/>
          <p:cNvSpPr txBox="true"/>
          <p:nvPr/>
        </p:nvSpPr>
        <p:spPr>
          <a:xfrm rot="0">
            <a:off x="1573062" y="2031503"/>
            <a:ext cx="6598061" cy="571500"/>
          </a:xfrm>
          <a:prstGeom prst="rect">
            <a:avLst/>
          </a:prstGeom>
        </p:spPr>
        <p:txBody>
          <a:bodyPr anchor="t" rtlCol="false" tIns="0" lIns="0" bIns="0" rIns="0">
            <a:spAutoFit/>
          </a:bodyPr>
          <a:lstStyle/>
          <a:p>
            <a:pPr algn="l">
              <a:lnSpc>
                <a:spcPts val="4320"/>
              </a:lnSpc>
            </a:pPr>
            <a:r>
              <a:rPr lang="en-US" b="true" sz="3600">
                <a:solidFill>
                  <a:srgbClr val="0C4493"/>
                </a:solidFill>
                <a:latin typeface="Times New Roman Bold"/>
                <a:ea typeface="Times New Roman Bold"/>
                <a:cs typeface="Times New Roman Bold"/>
                <a:sym typeface="Times New Roman Bold"/>
              </a:rPr>
              <a:t>Supervision active vs passive</a:t>
            </a:r>
          </a:p>
        </p:txBody>
      </p:sp>
      <p:sp>
        <p:nvSpPr>
          <p:cNvPr name="TextBox 16" id="16"/>
          <p:cNvSpPr txBox="true"/>
          <p:nvPr/>
        </p:nvSpPr>
        <p:spPr>
          <a:xfrm rot="0">
            <a:off x="2498531" y="1011190"/>
            <a:ext cx="1714683" cy="514350"/>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Introduction à la supervision</a:t>
            </a:r>
          </a:p>
        </p:txBody>
      </p:sp>
      <p:sp>
        <p:nvSpPr>
          <p:cNvPr name="TextBox 17" id="17"/>
          <p:cNvSpPr txBox="true"/>
          <p:nvPr/>
        </p:nvSpPr>
        <p:spPr>
          <a:xfrm rot="0">
            <a:off x="4339394" y="975042"/>
            <a:ext cx="2563545" cy="514350"/>
          </a:xfrm>
          <a:prstGeom prst="rect">
            <a:avLst/>
          </a:prstGeom>
        </p:spPr>
        <p:txBody>
          <a:bodyPr anchor="t" rtlCol="false" tIns="0" lIns="0" bIns="0" rIns="0">
            <a:spAutoFit/>
          </a:bodyPr>
          <a:lstStyle/>
          <a:p>
            <a:pPr algn="ctr">
              <a:lnSpc>
                <a:spcPts val="1980"/>
              </a:lnSpc>
            </a:pPr>
            <a:r>
              <a:rPr lang="en-US" sz="1650" b="true">
                <a:solidFill>
                  <a:srgbClr val="4E91F0"/>
                </a:solidFill>
                <a:latin typeface="Times New Roman Bold"/>
                <a:ea typeface="Times New Roman Bold"/>
                <a:cs typeface="Times New Roman Bold"/>
                <a:sym typeface="Times New Roman Bold"/>
              </a:rPr>
              <a:t>Architecture et fonctionnement</a:t>
            </a:r>
          </a:p>
        </p:txBody>
      </p:sp>
      <p:sp>
        <p:nvSpPr>
          <p:cNvPr name="TextBox 18" id="18"/>
          <p:cNvSpPr txBox="true"/>
          <p:nvPr/>
        </p:nvSpPr>
        <p:spPr>
          <a:xfrm rot="0">
            <a:off x="11110736" y="1127696"/>
            <a:ext cx="2165112" cy="266700"/>
          </a:xfrm>
          <a:prstGeom prst="rect">
            <a:avLst/>
          </a:prstGeom>
        </p:spPr>
        <p:txBody>
          <a:bodyPr anchor="t" rtlCol="false" tIns="0" lIns="0" bIns="0" rIns="0">
            <a:spAutoFit/>
          </a:bodyPr>
          <a:lstStyle/>
          <a:p>
            <a:pPr algn="l">
              <a:lnSpc>
                <a:spcPts val="1980"/>
              </a:lnSpc>
            </a:pPr>
            <a:r>
              <a:rPr lang="en-US" sz="1650" b="true">
                <a:solidFill>
                  <a:srgbClr val="A6A6A6"/>
                </a:solidFill>
                <a:latin typeface="Times New Roman Bold"/>
                <a:ea typeface="Times New Roman Bold"/>
                <a:cs typeface="Times New Roman Bold"/>
                <a:sym typeface="Times New Roman Bold"/>
              </a:rPr>
              <a:t>Comparaison et analyse</a:t>
            </a:r>
          </a:p>
        </p:txBody>
      </p:sp>
      <p:sp>
        <p:nvSpPr>
          <p:cNvPr name="TextBox 19" id="19"/>
          <p:cNvSpPr txBox="true"/>
          <p:nvPr/>
        </p:nvSpPr>
        <p:spPr>
          <a:xfrm rot="0">
            <a:off x="14041790" y="1068032"/>
            <a:ext cx="1104010" cy="358125"/>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Conclusion</a:t>
            </a:r>
          </a:p>
        </p:txBody>
      </p:sp>
      <p:sp>
        <p:nvSpPr>
          <p:cNvPr name="TextBox 20" id="20"/>
          <p:cNvSpPr txBox="true"/>
          <p:nvPr/>
        </p:nvSpPr>
        <p:spPr>
          <a:xfrm rot="0">
            <a:off x="7623616" y="1088982"/>
            <a:ext cx="2949177" cy="514350"/>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Présentation des outils Open Source</a:t>
            </a:r>
          </a:p>
        </p:txBody>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915900" y="9505949"/>
            <a:ext cx="4114800" cy="576264"/>
            <a:chOff x="0" y="0"/>
            <a:chExt cx="5486400" cy="768351"/>
          </a:xfrm>
        </p:grpSpPr>
        <p:sp>
          <p:nvSpPr>
            <p:cNvPr name="Freeform 3" id="3"/>
            <p:cNvSpPr/>
            <p:nvPr/>
          </p:nvSpPr>
          <p:spPr>
            <a:xfrm flipH="false" flipV="false" rot="0">
              <a:off x="0" y="0"/>
              <a:ext cx="5486400" cy="768351"/>
            </a:xfrm>
            <a:custGeom>
              <a:avLst/>
              <a:gdLst/>
              <a:ahLst/>
              <a:cxnLst/>
              <a:rect r="r" b="b" t="t" l="l"/>
              <a:pathLst>
                <a:path h="768351" w="5486400">
                  <a:moveTo>
                    <a:pt x="0" y="0"/>
                  </a:moveTo>
                  <a:lnTo>
                    <a:pt x="5486400" y="0"/>
                  </a:lnTo>
                  <a:lnTo>
                    <a:pt x="5486400" y="768351"/>
                  </a:lnTo>
                  <a:lnTo>
                    <a:pt x="0" y="768351"/>
                  </a:lnTo>
                  <a:close/>
                </a:path>
              </a:pathLst>
            </a:custGeom>
          </p:spPr>
        </p:sp>
        <p:sp>
          <p:nvSpPr>
            <p:cNvPr name="TextBox 4" id="4"/>
            <p:cNvSpPr txBox="true"/>
            <p:nvPr/>
          </p:nvSpPr>
          <p:spPr>
            <a:xfrm>
              <a:off x="0" y="-19050"/>
              <a:ext cx="5486400" cy="787401"/>
            </a:xfrm>
            <a:prstGeom prst="rect">
              <a:avLst/>
            </a:prstGeom>
          </p:spPr>
          <p:txBody>
            <a:bodyPr anchor="ctr" rtlCol="false" tIns="0" lIns="0" bIns="0" rIns="0"/>
            <a:lstStyle/>
            <a:p>
              <a:pPr algn="r">
                <a:lnSpc>
                  <a:spcPts val="2160"/>
                </a:lnSpc>
              </a:pPr>
              <a:r>
                <a:rPr lang="en-US" sz="1800">
                  <a:solidFill>
                    <a:srgbClr val="898989"/>
                  </a:solidFill>
                  <a:latin typeface="Arimo"/>
                  <a:ea typeface="Arimo"/>
                  <a:cs typeface="Arimo"/>
                  <a:sym typeface="Arimo"/>
                </a:rPr>
                <a:t>6</a:t>
              </a:r>
            </a:p>
          </p:txBody>
        </p:sp>
      </p:grpSp>
      <p:grpSp>
        <p:nvGrpSpPr>
          <p:cNvPr name="Group 5" id="5"/>
          <p:cNvGrpSpPr/>
          <p:nvPr/>
        </p:nvGrpSpPr>
        <p:grpSpPr>
          <a:xfrm rot="0">
            <a:off x="3364640" y="615134"/>
            <a:ext cx="10866025" cy="57150"/>
            <a:chOff x="0" y="0"/>
            <a:chExt cx="14488033" cy="76200"/>
          </a:xfrm>
        </p:grpSpPr>
        <p:sp>
          <p:nvSpPr>
            <p:cNvPr name="Freeform 6" id="6"/>
            <p:cNvSpPr/>
            <p:nvPr/>
          </p:nvSpPr>
          <p:spPr>
            <a:xfrm flipH="false" flipV="false" rot="0">
              <a:off x="0" y="0"/>
              <a:ext cx="14488033" cy="76200"/>
            </a:xfrm>
            <a:custGeom>
              <a:avLst/>
              <a:gdLst/>
              <a:ahLst/>
              <a:cxnLst/>
              <a:rect r="r" b="b" t="t" l="l"/>
              <a:pathLst>
                <a:path h="76200" w="14488033">
                  <a:moveTo>
                    <a:pt x="19050" y="0"/>
                  </a:moveTo>
                  <a:lnTo>
                    <a:pt x="14468983" y="38100"/>
                  </a:lnTo>
                  <a:cubicBezTo>
                    <a:pt x="14479524" y="38100"/>
                    <a:pt x="14488033" y="46736"/>
                    <a:pt x="14488033" y="57150"/>
                  </a:cubicBezTo>
                  <a:cubicBezTo>
                    <a:pt x="14488033" y="67564"/>
                    <a:pt x="14479397" y="76200"/>
                    <a:pt x="14468983" y="76200"/>
                  </a:cubicBezTo>
                  <a:lnTo>
                    <a:pt x="19050" y="38100"/>
                  </a:lnTo>
                  <a:cubicBezTo>
                    <a:pt x="8509" y="38100"/>
                    <a:pt x="0" y="29464"/>
                    <a:pt x="0" y="19050"/>
                  </a:cubicBezTo>
                  <a:cubicBezTo>
                    <a:pt x="0" y="8636"/>
                    <a:pt x="8636" y="0"/>
                    <a:pt x="19050" y="0"/>
                  </a:cubicBezTo>
                  <a:close/>
                </a:path>
              </a:pathLst>
            </a:custGeom>
            <a:solidFill>
              <a:srgbClr val="4E91F0"/>
            </a:solidFill>
          </p:spPr>
        </p:sp>
      </p:grpSp>
      <p:sp>
        <p:nvSpPr>
          <p:cNvPr name="Freeform 7" id="7"/>
          <p:cNvSpPr/>
          <p:nvPr/>
        </p:nvSpPr>
        <p:spPr>
          <a:xfrm flipH="false" flipV="false" rot="0">
            <a:off x="2726322" y="28189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5288206" y="28189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8570764" y="292692"/>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4178066" y="305142"/>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1616970" y="32451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910724" y="2404723"/>
            <a:ext cx="13958197" cy="2415184"/>
          </a:xfrm>
          <a:prstGeom prst="rect">
            <a:avLst/>
          </a:prstGeom>
        </p:spPr>
        <p:txBody>
          <a:bodyPr anchor="t" rtlCol="false" tIns="0" lIns="0" bIns="0" rIns="0">
            <a:spAutoFit/>
          </a:bodyPr>
          <a:lstStyle/>
          <a:p>
            <a:pPr algn="just">
              <a:lnSpc>
                <a:spcPts val="4822"/>
              </a:lnSpc>
            </a:pPr>
            <a:r>
              <a:rPr lang="en-US" sz="2679">
                <a:solidFill>
                  <a:srgbClr val="000000"/>
                </a:solidFill>
                <a:latin typeface="Times New Roman"/>
                <a:ea typeface="Times New Roman"/>
                <a:cs typeface="Times New Roman"/>
                <a:sym typeface="Times New Roman"/>
              </a:rPr>
              <a:t>L</a:t>
            </a:r>
            <a:r>
              <a:rPr lang="en-US" sz="2679">
                <a:solidFill>
                  <a:srgbClr val="000000"/>
                </a:solidFill>
                <a:latin typeface="Times New Roman"/>
                <a:ea typeface="Times New Roman"/>
                <a:cs typeface="Times New Roman"/>
                <a:sym typeface="Times New Roman"/>
              </a:rPr>
              <a:t>es outils de supervision open source permettent de surveiller et gérer les infrastructures informatiques gratuitement. Ils offrent flexibilité, personnalisation et une communauté active. </a:t>
            </a:r>
          </a:p>
          <a:p>
            <a:pPr algn="just">
              <a:lnSpc>
                <a:spcPts val="4823"/>
              </a:lnSpc>
            </a:pPr>
          </a:p>
          <a:p>
            <a:pPr algn="just" marL="731569" indent="-182892" lvl="3">
              <a:lnSpc>
                <a:spcPts val="4823"/>
              </a:lnSpc>
            </a:pPr>
          </a:p>
        </p:txBody>
      </p:sp>
      <p:sp>
        <p:nvSpPr>
          <p:cNvPr name="TextBox 13" id="13"/>
          <p:cNvSpPr txBox="true"/>
          <p:nvPr/>
        </p:nvSpPr>
        <p:spPr>
          <a:xfrm rot="0">
            <a:off x="2475284" y="987944"/>
            <a:ext cx="1607741" cy="514350"/>
          </a:xfrm>
          <a:prstGeom prst="rect">
            <a:avLst/>
          </a:prstGeom>
        </p:spPr>
        <p:txBody>
          <a:bodyPr anchor="t" rtlCol="false" tIns="0" lIns="0" bIns="0" rIns="0">
            <a:spAutoFit/>
          </a:bodyPr>
          <a:lstStyle/>
          <a:p>
            <a:pPr algn="ctr">
              <a:lnSpc>
                <a:spcPts val="1980"/>
              </a:lnSpc>
            </a:pPr>
            <a:r>
              <a:rPr lang="en-US" sz="1650" b="true">
                <a:solidFill>
                  <a:srgbClr val="4E91F0"/>
                </a:solidFill>
                <a:latin typeface="Times New Roman Bold"/>
                <a:ea typeface="Times New Roman Bold"/>
                <a:cs typeface="Times New Roman Bold"/>
                <a:sym typeface="Times New Roman Bold"/>
              </a:rPr>
              <a:t>Introduction à la supervision</a:t>
            </a:r>
          </a:p>
        </p:txBody>
      </p:sp>
      <p:sp>
        <p:nvSpPr>
          <p:cNvPr name="TextBox 14" id="14"/>
          <p:cNvSpPr txBox="true"/>
          <p:nvPr/>
        </p:nvSpPr>
        <p:spPr>
          <a:xfrm rot="0">
            <a:off x="14041790" y="1068032"/>
            <a:ext cx="1104010" cy="358125"/>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Conclusion</a:t>
            </a:r>
          </a:p>
        </p:txBody>
      </p:sp>
      <p:sp>
        <p:nvSpPr>
          <p:cNvPr name="TextBox 15" id="15"/>
          <p:cNvSpPr txBox="true"/>
          <p:nvPr/>
        </p:nvSpPr>
        <p:spPr>
          <a:xfrm rot="0">
            <a:off x="4502125" y="1021536"/>
            <a:ext cx="2563545" cy="514350"/>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Architecture et fonctionnement</a:t>
            </a:r>
          </a:p>
        </p:txBody>
      </p:sp>
      <p:sp>
        <p:nvSpPr>
          <p:cNvPr name="TextBox 16" id="16"/>
          <p:cNvSpPr txBox="true"/>
          <p:nvPr/>
        </p:nvSpPr>
        <p:spPr>
          <a:xfrm rot="0">
            <a:off x="10994499" y="1081200"/>
            <a:ext cx="2165112" cy="266700"/>
          </a:xfrm>
          <a:prstGeom prst="rect">
            <a:avLst/>
          </a:prstGeom>
        </p:spPr>
        <p:txBody>
          <a:bodyPr anchor="t" rtlCol="false" tIns="0" lIns="0" bIns="0" rIns="0">
            <a:spAutoFit/>
          </a:bodyPr>
          <a:lstStyle/>
          <a:p>
            <a:pPr algn="l">
              <a:lnSpc>
                <a:spcPts val="1980"/>
              </a:lnSpc>
            </a:pPr>
            <a:r>
              <a:rPr lang="en-US" sz="1650" b="true">
                <a:solidFill>
                  <a:srgbClr val="A6A6A6"/>
                </a:solidFill>
                <a:latin typeface="Times New Roman Bold"/>
                <a:ea typeface="Times New Roman Bold"/>
                <a:cs typeface="Times New Roman Bold"/>
                <a:sym typeface="Times New Roman Bold"/>
              </a:rPr>
              <a:t>Comparaison et analyse</a:t>
            </a:r>
          </a:p>
        </p:txBody>
      </p:sp>
      <p:sp>
        <p:nvSpPr>
          <p:cNvPr name="TextBox 17" id="17"/>
          <p:cNvSpPr txBox="true"/>
          <p:nvPr/>
        </p:nvSpPr>
        <p:spPr>
          <a:xfrm rot="0">
            <a:off x="7623616" y="1088982"/>
            <a:ext cx="2949177" cy="514350"/>
          </a:xfrm>
          <a:prstGeom prst="rect">
            <a:avLst/>
          </a:prstGeom>
        </p:spPr>
        <p:txBody>
          <a:bodyPr anchor="t" rtlCol="false" tIns="0" lIns="0" bIns="0" rIns="0">
            <a:spAutoFit/>
          </a:bodyPr>
          <a:lstStyle/>
          <a:p>
            <a:pPr algn="ctr">
              <a:lnSpc>
                <a:spcPts val="1980"/>
              </a:lnSpc>
            </a:pPr>
            <a:r>
              <a:rPr lang="en-US" sz="1650" b="true">
                <a:solidFill>
                  <a:srgbClr val="4E91F0"/>
                </a:solidFill>
                <a:latin typeface="Times New Roman Bold"/>
                <a:ea typeface="Times New Roman Bold"/>
                <a:cs typeface="Times New Roman Bold"/>
                <a:sym typeface="Times New Roman Bold"/>
              </a:rPr>
              <a:t>Présentation des outils Open Source</a:t>
            </a:r>
          </a:p>
        </p:txBody>
      </p:sp>
      <p:sp>
        <p:nvSpPr>
          <p:cNvPr name="TextBox 18" id="18"/>
          <p:cNvSpPr txBox="true"/>
          <p:nvPr/>
        </p:nvSpPr>
        <p:spPr>
          <a:xfrm rot="0">
            <a:off x="1573062" y="2031503"/>
            <a:ext cx="6598061" cy="571500"/>
          </a:xfrm>
          <a:prstGeom prst="rect">
            <a:avLst/>
          </a:prstGeom>
        </p:spPr>
        <p:txBody>
          <a:bodyPr anchor="t" rtlCol="false" tIns="0" lIns="0" bIns="0" rIns="0">
            <a:spAutoFit/>
          </a:bodyPr>
          <a:lstStyle/>
          <a:p>
            <a:pPr algn="l">
              <a:lnSpc>
                <a:spcPts val="4320"/>
              </a:lnSpc>
            </a:pPr>
            <a:r>
              <a:rPr lang="en-US" b="true" sz="3600">
                <a:solidFill>
                  <a:srgbClr val="0C4493"/>
                </a:solidFill>
                <a:latin typeface="Times New Roman Bold"/>
                <a:ea typeface="Times New Roman Bold"/>
                <a:cs typeface="Times New Roman Bold"/>
                <a:sym typeface="Times New Roman Bold"/>
              </a:rPr>
              <a:t> </a:t>
            </a:r>
            <a:r>
              <a:rPr lang="en-US" b="true" sz="3600">
                <a:solidFill>
                  <a:srgbClr val="0C4493"/>
                </a:solidFill>
                <a:latin typeface="Times New Roman Bold"/>
                <a:ea typeface="Times New Roman Bold"/>
                <a:cs typeface="Times New Roman Bold"/>
                <a:sym typeface="Times New Roman Bold"/>
              </a:rPr>
              <a:t>Outils Open Source : </a:t>
            </a:r>
          </a:p>
        </p:txBody>
      </p:sp>
      <p:sp>
        <p:nvSpPr>
          <p:cNvPr name="Freeform 19" id="19"/>
          <p:cNvSpPr/>
          <p:nvPr/>
        </p:nvSpPr>
        <p:spPr>
          <a:xfrm flipH="false" flipV="false" rot="0">
            <a:off x="1982603" y="5949643"/>
            <a:ext cx="1400217" cy="723228"/>
          </a:xfrm>
          <a:custGeom>
            <a:avLst/>
            <a:gdLst/>
            <a:ahLst/>
            <a:cxnLst/>
            <a:rect r="r" b="b" t="t" l="l"/>
            <a:pathLst>
              <a:path h="723228" w="1400217">
                <a:moveTo>
                  <a:pt x="0" y="0"/>
                </a:moveTo>
                <a:lnTo>
                  <a:pt x="1400217" y="0"/>
                </a:lnTo>
                <a:lnTo>
                  <a:pt x="1400217" y="723228"/>
                </a:lnTo>
                <a:lnTo>
                  <a:pt x="0" y="723228"/>
                </a:lnTo>
                <a:lnTo>
                  <a:pt x="0" y="0"/>
                </a:lnTo>
                <a:close/>
              </a:path>
            </a:pathLst>
          </a:custGeom>
          <a:blipFill>
            <a:blip r:embed="rId6">
              <a:extLst>
                <a:ext uri="{96DAC541-7B7A-43D3-8B79-37D633B846F1}">
                  <asvg:svgBlip xmlns:asvg="http://schemas.microsoft.com/office/drawing/2016/SVG/main" r:embed="rId7"/>
                </a:ext>
              </a:extLst>
            </a:blip>
            <a:stretch>
              <a:fillRect l="0" t="-430" r="0" b="-430"/>
            </a:stretch>
          </a:blipFill>
        </p:spPr>
      </p:sp>
      <p:grpSp>
        <p:nvGrpSpPr>
          <p:cNvPr name="Group 20" id="20"/>
          <p:cNvGrpSpPr/>
          <p:nvPr/>
        </p:nvGrpSpPr>
        <p:grpSpPr>
          <a:xfrm rot="0">
            <a:off x="3934984" y="5631620"/>
            <a:ext cx="109492" cy="392961"/>
            <a:chOff x="0" y="0"/>
            <a:chExt cx="165608" cy="594360"/>
          </a:xfrm>
        </p:grpSpPr>
        <p:sp>
          <p:nvSpPr>
            <p:cNvPr name="Freeform 21" id="21"/>
            <p:cNvSpPr/>
            <p:nvPr/>
          </p:nvSpPr>
          <p:spPr>
            <a:xfrm flipH="false" flipV="false" rot="0">
              <a:off x="1291" y="1292"/>
              <a:ext cx="163025" cy="591777"/>
            </a:xfrm>
            <a:custGeom>
              <a:avLst/>
              <a:gdLst/>
              <a:ahLst/>
              <a:cxnLst/>
              <a:rect r="r" b="b" t="t" l="l"/>
              <a:pathLst>
                <a:path h="591777" w="163025">
                  <a:moveTo>
                    <a:pt x="24998" y="9630"/>
                  </a:moveTo>
                  <a:lnTo>
                    <a:pt x="162666" y="576050"/>
                  </a:lnTo>
                  <a:cubicBezTo>
                    <a:pt x="164317" y="582908"/>
                    <a:pt x="160126" y="589766"/>
                    <a:pt x="153268" y="591417"/>
                  </a:cubicBezTo>
                  <a:cubicBezTo>
                    <a:pt x="146410" y="593068"/>
                    <a:pt x="139552" y="588877"/>
                    <a:pt x="137901" y="582019"/>
                  </a:cubicBezTo>
                  <a:lnTo>
                    <a:pt x="360" y="15726"/>
                  </a:lnTo>
                  <a:cubicBezTo>
                    <a:pt x="-1291" y="8868"/>
                    <a:pt x="2900" y="2010"/>
                    <a:pt x="9631" y="359"/>
                  </a:cubicBezTo>
                  <a:cubicBezTo>
                    <a:pt x="16362" y="-1292"/>
                    <a:pt x="23347" y="2899"/>
                    <a:pt x="24998" y="9757"/>
                  </a:cubicBezTo>
                  <a:close/>
                </a:path>
              </a:pathLst>
            </a:custGeom>
            <a:solidFill>
              <a:srgbClr val="0091EA"/>
            </a:solidFill>
          </p:spPr>
        </p:sp>
      </p:grpSp>
      <p:sp>
        <p:nvSpPr>
          <p:cNvPr name="Freeform 22" id="22"/>
          <p:cNvSpPr/>
          <p:nvPr/>
        </p:nvSpPr>
        <p:spPr>
          <a:xfrm flipH="false" flipV="false" rot="0">
            <a:off x="3289614" y="5949643"/>
            <a:ext cx="1400197" cy="723228"/>
          </a:xfrm>
          <a:custGeom>
            <a:avLst/>
            <a:gdLst/>
            <a:ahLst/>
            <a:cxnLst/>
            <a:rect r="r" b="b" t="t" l="l"/>
            <a:pathLst>
              <a:path h="723228" w="1400197">
                <a:moveTo>
                  <a:pt x="0" y="0"/>
                </a:moveTo>
                <a:lnTo>
                  <a:pt x="1400197" y="0"/>
                </a:lnTo>
                <a:lnTo>
                  <a:pt x="1400197" y="723228"/>
                </a:lnTo>
                <a:lnTo>
                  <a:pt x="0" y="723228"/>
                </a:lnTo>
                <a:lnTo>
                  <a:pt x="0" y="0"/>
                </a:lnTo>
                <a:close/>
              </a:path>
            </a:pathLst>
          </a:custGeom>
          <a:blipFill>
            <a:blip r:embed="rId8">
              <a:extLst>
                <a:ext uri="{96DAC541-7B7A-43D3-8B79-37D633B846F1}">
                  <asvg:svgBlip xmlns:asvg="http://schemas.microsoft.com/office/drawing/2016/SVG/main" r:embed="rId9"/>
                </a:ext>
              </a:extLst>
            </a:blip>
            <a:stretch>
              <a:fillRect l="0" t="-429" r="0" b="-429"/>
            </a:stretch>
          </a:blipFill>
        </p:spPr>
      </p:sp>
      <p:grpSp>
        <p:nvGrpSpPr>
          <p:cNvPr name="Group 23" id="23"/>
          <p:cNvGrpSpPr/>
          <p:nvPr/>
        </p:nvGrpSpPr>
        <p:grpSpPr>
          <a:xfrm rot="0">
            <a:off x="5256872" y="6583892"/>
            <a:ext cx="109492" cy="392961"/>
            <a:chOff x="0" y="0"/>
            <a:chExt cx="165608" cy="594360"/>
          </a:xfrm>
        </p:grpSpPr>
        <p:sp>
          <p:nvSpPr>
            <p:cNvPr name="Freeform 24" id="24"/>
            <p:cNvSpPr/>
            <p:nvPr/>
          </p:nvSpPr>
          <p:spPr>
            <a:xfrm flipH="false" flipV="false" rot="0">
              <a:off x="1291" y="1292"/>
              <a:ext cx="163025" cy="591777"/>
            </a:xfrm>
            <a:custGeom>
              <a:avLst/>
              <a:gdLst/>
              <a:ahLst/>
              <a:cxnLst/>
              <a:rect r="r" b="b" t="t" l="l"/>
              <a:pathLst>
                <a:path h="591777" w="163025">
                  <a:moveTo>
                    <a:pt x="24998" y="9630"/>
                  </a:moveTo>
                  <a:lnTo>
                    <a:pt x="162666" y="576050"/>
                  </a:lnTo>
                  <a:cubicBezTo>
                    <a:pt x="164317" y="582908"/>
                    <a:pt x="160126" y="589766"/>
                    <a:pt x="153268" y="591417"/>
                  </a:cubicBezTo>
                  <a:cubicBezTo>
                    <a:pt x="146410" y="593068"/>
                    <a:pt x="139552" y="588877"/>
                    <a:pt x="137901" y="582019"/>
                  </a:cubicBezTo>
                  <a:lnTo>
                    <a:pt x="360" y="15726"/>
                  </a:lnTo>
                  <a:cubicBezTo>
                    <a:pt x="-1291" y="8868"/>
                    <a:pt x="2900" y="2010"/>
                    <a:pt x="9631" y="359"/>
                  </a:cubicBezTo>
                  <a:cubicBezTo>
                    <a:pt x="16362" y="-1292"/>
                    <a:pt x="23347" y="2899"/>
                    <a:pt x="24998" y="9757"/>
                  </a:cubicBezTo>
                  <a:close/>
                </a:path>
              </a:pathLst>
            </a:custGeom>
            <a:solidFill>
              <a:srgbClr val="0091EA"/>
            </a:solidFill>
          </p:spPr>
        </p:sp>
      </p:grpSp>
      <p:sp>
        <p:nvSpPr>
          <p:cNvPr name="Freeform 25" id="25"/>
          <p:cNvSpPr/>
          <p:nvPr/>
        </p:nvSpPr>
        <p:spPr>
          <a:xfrm flipH="false" flipV="false" rot="0">
            <a:off x="4610895" y="5949643"/>
            <a:ext cx="1401315" cy="723228"/>
          </a:xfrm>
          <a:custGeom>
            <a:avLst/>
            <a:gdLst/>
            <a:ahLst/>
            <a:cxnLst/>
            <a:rect r="r" b="b" t="t" l="l"/>
            <a:pathLst>
              <a:path h="723228" w="1401315">
                <a:moveTo>
                  <a:pt x="0" y="0"/>
                </a:moveTo>
                <a:lnTo>
                  <a:pt x="1401315" y="0"/>
                </a:lnTo>
                <a:lnTo>
                  <a:pt x="1401315" y="723228"/>
                </a:lnTo>
                <a:lnTo>
                  <a:pt x="0" y="723228"/>
                </a:lnTo>
                <a:lnTo>
                  <a:pt x="0" y="0"/>
                </a:lnTo>
                <a:close/>
              </a:path>
            </a:pathLst>
          </a:custGeom>
          <a:blipFill>
            <a:blip r:embed="rId10">
              <a:extLst>
                <a:ext uri="{96DAC541-7B7A-43D3-8B79-37D633B846F1}">
                  <asvg:svgBlip xmlns:asvg="http://schemas.microsoft.com/office/drawing/2016/SVG/main" r:embed="rId11"/>
                </a:ext>
              </a:extLst>
            </a:blip>
            <a:stretch>
              <a:fillRect l="0" t="-470" r="0" b="-470"/>
            </a:stretch>
          </a:blipFill>
        </p:spPr>
      </p:sp>
      <p:grpSp>
        <p:nvGrpSpPr>
          <p:cNvPr name="Group 26" id="26"/>
          <p:cNvGrpSpPr/>
          <p:nvPr/>
        </p:nvGrpSpPr>
        <p:grpSpPr>
          <a:xfrm rot="0">
            <a:off x="6563275" y="5655400"/>
            <a:ext cx="109492" cy="391282"/>
            <a:chOff x="0" y="0"/>
            <a:chExt cx="165608" cy="591820"/>
          </a:xfrm>
        </p:grpSpPr>
        <p:sp>
          <p:nvSpPr>
            <p:cNvPr name="Freeform 27" id="27"/>
            <p:cNvSpPr/>
            <p:nvPr/>
          </p:nvSpPr>
          <p:spPr>
            <a:xfrm flipH="false" flipV="false" rot="0">
              <a:off x="1291" y="1291"/>
              <a:ext cx="163026" cy="589238"/>
            </a:xfrm>
            <a:custGeom>
              <a:avLst/>
              <a:gdLst/>
              <a:ahLst/>
              <a:cxnLst/>
              <a:rect r="r" b="b" t="t" l="l"/>
              <a:pathLst>
                <a:path h="589238" w="163026">
                  <a:moveTo>
                    <a:pt x="24998" y="9631"/>
                  </a:moveTo>
                  <a:lnTo>
                    <a:pt x="162666" y="573511"/>
                  </a:lnTo>
                  <a:cubicBezTo>
                    <a:pt x="164317" y="580369"/>
                    <a:pt x="160126" y="587227"/>
                    <a:pt x="153395" y="588878"/>
                  </a:cubicBezTo>
                  <a:cubicBezTo>
                    <a:pt x="146664" y="590529"/>
                    <a:pt x="139679" y="586338"/>
                    <a:pt x="138028" y="579607"/>
                  </a:cubicBezTo>
                  <a:lnTo>
                    <a:pt x="360" y="15727"/>
                  </a:lnTo>
                  <a:cubicBezTo>
                    <a:pt x="-1291" y="8869"/>
                    <a:pt x="2900" y="2011"/>
                    <a:pt x="9631" y="360"/>
                  </a:cubicBezTo>
                  <a:cubicBezTo>
                    <a:pt x="16362" y="-1291"/>
                    <a:pt x="23347" y="2900"/>
                    <a:pt x="24998" y="9631"/>
                  </a:cubicBezTo>
                  <a:close/>
                </a:path>
              </a:pathLst>
            </a:custGeom>
            <a:solidFill>
              <a:srgbClr val="0091EA"/>
            </a:solidFill>
          </p:spPr>
        </p:sp>
      </p:grpSp>
      <p:sp>
        <p:nvSpPr>
          <p:cNvPr name="Freeform 28" id="28"/>
          <p:cNvSpPr/>
          <p:nvPr/>
        </p:nvSpPr>
        <p:spPr>
          <a:xfrm flipH="false" flipV="false" rot="0">
            <a:off x="5917905" y="5949643"/>
            <a:ext cx="1400217" cy="723228"/>
          </a:xfrm>
          <a:custGeom>
            <a:avLst/>
            <a:gdLst/>
            <a:ahLst/>
            <a:cxnLst/>
            <a:rect r="r" b="b" t="t" l="l"/>
            <a:pathLst>
              <a:path h="723228" w="1400217">
                <a:moveTo>
                  <a:pt x="0" y="0"/>
                </a:moveTo>
                <a:lnTo>
                  <a:pt x="1400217" y="0"/>
                </a:lnTo>
                <a:lnTo>
                  <a:pt x="1400217" y="723228"/>
                </a:lnTo>
                <a:lnTo>
                  <a:pt x="0" y="723228"/>
                </a:lnTo>
                <a:lnTo>
                  <a:pt x="0" y="0"/>
                </a:lnTo>
                <a:close/>
              </a:path>
            </a:pathLst>
          </a:custGeom>
          <a:blipFill>
            <a:blip r:embed="rId6">
              <a:extLst>
                <a:ext uri="{96DAC541-7B7A-43D3-8B79-37D633B846F1}">
                  <asvg:svgBlip xmlns:asvg="http://schemas.microsoft.com/office/drawing/2016/SVG/main" r:embed="rId7"/>
                </a:ext>
              </a:extLst>
            </a:blip>
            <a:stretch>
              <a:fillRect l="0" t="-430" r="0" b="-430"/>
            </a:stretch>
          </a:blipFill>
        </p:spPr>
      </p:sp>
      <p:grpSp>
        <p:nvGrpSpPr>
          <p:cNvPr name="Group 29" id="29"/>
          <p:cNvGrpSpPr/>
          <p:nvPr/>
        </p:nvGrpSpPr>
        <p:grpSpPr>
          <a:xfrm rot="0">
            <a:off x="7849711" y="6590890"/>
            <a:ext cx="109492" cy="392961"/>
            <a:chOff x="0" y="0"/>
            <a:chExt cx="165608" cy="594360"/>
          </a:xfrm>
        </p:grpSpPr>
        <p:sp>
          <p:nvSpPr>
            <p:cNvPr name="Freeform 30" id="30"/>
            <p:cNvSpPr/>
            <p:nvPr/>
          </p:nvSpPr>
          <p:spPr>
            <a:xfrm flipH="false" flipV="false" rot="0">
              <a:off x="1291" y="1292"/>
              <a:ext cx="163025" cy="591777"/>
            </a:xfrm>
            <a:custGeom>
              <a:avLst/>
              <a:gdLst/>
              <a:ahLst/>
              <a:cxnLst/>
              <a:rect r="r" b="b" t="t" l="l"/>
              <a:pathLst>
                <a:path h="591777" w="163025">
                  <a:moveTo>
                    <a:pt x="24998" y="9630"/>
                  </a:moveTo>
                  <a:lnTo>
                    <a:pt x="162666" y="576050"/>
                  </a:lnTo>
                  <a:cubicBezTo>
                    <a:pt x="164317" y="582908"/>
                    <a:pt x="160126" y="589766"/>
                    <a:pt x="153268" y="591417"/>
                  </a:cubicBezTo>
                  <a:cubicBezTo>
                    <a:pt x="146410" y="593068"/>
                    <a:pt x="139552" y="588877"/>
                    <a:pt x="137901" y="582019"/>
                  </a:cubicBezTo>
                  <a:lnTo>
                    <a:pt x="360" y="15726"/>
                  </a:lnTo>
                  <a:cubicBezTo>
                    <a:pt x="-1291" y="8868"/>
                    <a:pt x="2900" y="2010"/>
                    <a:pt x="9631" y="359"/>
                  </a:cubicBezTo>
                  <a:cubicBezTo>
                    <a:pt x="16362" y="-1292"/>
                    <a:pt x="23347" y="2899"/>
                    <a:pt x="24998" y="9757"/>
                  </a:cubicBezTo>
                  <a:close/>
                </a:path>
              </a:pathLst>
            </a:custGeom>
            <a:solidFill>
              <a:srgbClr val="0091EA"/>
            </a:solidFill>
          </p:spPr>
        </p:sp>
      </p:grpSp>
      <p:sp>
        <p:nvSpPr>
          <p:cNvPr name="Freeform 31" id="31"/>
          <p:cNvSpPr/>
          <p:nvPr/>
        </p:nvSpPr>
        <p:spPr>
          <a:xfrm flipH="false" flipV="false" rot="0">
            <a:off x="7225148" y="5956642"/>
            <a:ext cx="1400217" cy="723228"/>
          </a:xfrm>
          <a:custGeom>
            <a:avLst/>
            <a:gdLst/>
            <a:ahLst/>
            <a:cxnLst/>
            <a:rect r="r" b="b" t="t" l="l"/>
            <a:pathLst>
              <a:path h="723228" w="1400217">
                <a:moveTo>
                  <a:pt x="0" y="0"/>
                </a:moveTo>
                <a:lnTo>
                  <a:pt x="1400217" y="0"/>
                </a:lnTo>
                <a:lnTo>
                  <a:pt x="1400217" y="723227"/>
                </a:lnTo>
                <a:lnTo>
                  <a:pt x="0" y="723227"/>
                </a:lnTo>
                <a:lnTo>
                  <a:pt x="0" y="0"/>
                </a:lnTo>
                <a:close/>
              </a:path>
            </a:pathLst>
          </a:custGeom>
          <a:blipFill>
            <a:blip r:embed="rId12">
              <a:extLst>
                <a:ext uri="{96DAC541-7B7A-43D3-8B79-37D633B846F1}">
                  <asvg:svgBlip xmlns:asvg="http://schemas.microsoft.com/office/drawing/2016/SVG/main" r:embed="rId13"/>
                </a:ext>
              </a:extLst>
            </a:blip>
            <a:stretch>
              <a:fillRect l="0" t="-430" r="0" b="-430"/>
            </a:stretch>
          </a:blipFill>
        </p:spPr>
      </p:sp>
      <p:grpSp>
        <p:nvGrpSpPr>
          <p:cNvPr name="Group 32" id="32"/>
          <p:cNvGrpSpPr/>
          <p:nvPr/>
        </p:nvGrpSpPr>
        <p:grpSpPr>
          <a:xfrm rot="0">
            <a:off x="9177529" y="5638618"/>
            <a:ext cx="109492" cy="392961"/>
            <a:chOff x="0" y="0"/>
            <a:chExt cx="165608" cy="594360"/>
          </a:xfrm>
        </p:grpSpPr>
        <p:sp>
          <p:nvSpPr>
            <p:cNvPr name="Freeform 33" id="33"/>
            <p:cNvSpPr/>
            <p:nvPr/>
          </p:nvSpPr>
          <p:spPr>
            <a:xfrm flipH="false" flipV="false" rot="0">
              <a:off x="1291" y="1292"/>
              <a:ext cx="163025" cy="591777"/>
            </a:xfrm>
            <a:custGeom>
              <a:avLst/>
              <a:gdLst/>
              <a:ahLst/>
              <a:cxnLst/>
              <a:rect r="r" b="b" t="t" l="l"/>
              <a:pathLst>
                <a:path h="591777" w="163025">
                  <a:moveTo>
                    <a:pt x="24998" y="9630"/>
                  </a:moveTo>
                  <a:lnTo>
                    <a:pt x="162666" y="576050"/>
                  </a:lnTo>
                  <a:cubicBezTo>
                    <a:pt x="164317" y="582908"/>
                    <a:pt x="160126" y="589766"/>
                    <a:pt x="153268" y="591417"/>
                  </a:cubicBezTo>
                  <a:cubicBezTo>
                    <a:pt x="146410" y="593068"/>
                    <a:pt x="139552" y="588877"/>
                    <a:pt x="137901" y="582019"/>
                  </a:cubicBezTo>
                  <a:lnTo>
                    <a:pt x="360" y="15726"/>
                  </a:lnTo>
                  <a:cubicBezTo>
                    <a:pt x="-1291" y="8868"/>
                    <a:pt x="2900" y="2010"/>
                    <a:pt x="9631" y="359"/>
                  </a:cubicBezTo>
                  <a:cubicBezTo>
                    <a:pt x="16362" y="-1292"/>
                    <a:pt x="23347" y="2899"/>
                    <a:pt x="24998" y="9757"/>
                  </a:cubicBezTo>
                  <a:close/>
                </a:path>
              </a:pathLst>
            </a:custGeom>
            <a:solidFill>
              <a:srgbClr val="0091EA"/>
            </a:solidFill>
          </p:spPr>
        </p:sp>
      </p:grpSp>
      <p:sp>
        <p:nvSpPr>
          <p:cNvPr name="Freeform 34" id="34"/>
          <p:cNvSpPr/>
          <p:nvPr/>
        </p:nvSpPr>
        <p:spPr>
          <a:xfrm flipH="false" flipV="false" rot="0">
            <a:off x="8532159" y="5956642"/>
            <a:ext cx="1400197" cy="723228"/>
          </a:xfrm>
          <a:custGeom>
            <a:avLst/>
            <a:gdLst/>
            <a:ahLst/>
            <a:cxnLst/>
            <a:rect r="r" b="b" t="t" l="l"/>
            <a:pathLst>
              <a:path h="723228" w="1400197">
                <a:moveTo>
                  <a:pt x="0" y="0"/>
                </a:moveTo>
                <a:lnTo>
                  <a:pt x="1400197" y="0"/>
                </a:lnTo>
                <a:lnTo>
                  <a:pt x="1400197" y="723227"/>
                </a:lnTo>
                <a:lnTo>
                  <a:pt x="0" y="723227"/>
                </a:lnTo>
                <a:lnTo>
                  <a:pt x="0" y="0"/>
                </a:lnTo>
                <a:close/>
              </a:path>
            </a:pathLst>
          </a:custGeom>
          <a:blipFill>
            <a:blip r:embed="rId14">
              <a:extLst>
                <a:ext uri="{96DAC541-7B7A-43D3-8B79-37D633B846F1}">
                  <asvg:svgBlip xmlns:asvg="http://schemas.microsoft.com/office/drawing/2016/SVG/main" r:embed="rId15"/>
                </a:ext>
              </a:extLst>
            </a:blip>
            <a:stretch>
              <a:fillRect l="0" t="-429" r="0" b="-429"/>
            </a:stretch>
          </a:blipFill>
        </p:spPr>
      </p:sp>
      <p:grpSp>
        <p:nvGrpSpPr>
          <p:cNvPr name="Group 35" id="35"/>
          <p:cNvGrpSpPr/>
          <p:nvPr/>
        </p:nvGrpSpPr>
        <p:grpSpPr>
          <a:xfrm rot="0">
            <a:off x="10499417" y="6590890"/>
            <a:ext cx="109492" cy="392961"/>
            <a:chOff x="0" y="0"/>
            <a:chExt cx="165608" cy="594360"/>
          </a:xfrm>
        </p:grpSpPr>
        <p:sp>
          <p:nvSpPr>
            <p:cNvPr name="Freeform 36" id="36"/>
            <p:cNvSpPr/>
            <p:nvPr/>
          </p:nvSpPr>
          <p:spPr>
            <a:xfrm flipH="false" flipV="false" rot="0">
              <a:off x="1291" y="1292"/>
              <a:ext cx="163025" cy="591777"/>
            </a:xfrm>
            <a:custGeom>
              <a:avLst/>
              <a:gdLst/>
              <a:ahLst/>
              <a:cxnLst/>
              <a:rect r="r" b="b" t="t" l="l"/>
              <a:pathLst>
                <a:path h="591777" w="163025">
                  <a:moveTo>
                    <a:pt x="24998" y="9630"/>
                  </a:moveTo>
                  <a:lnTo>
                    <a:pt x="162666" y="576050"/>
                  </a:lnTo>
                  <a:cubicBezTo>
                    <a:pt x="164317" y="582908"/>
                    <a:pt x="160126" y="589766"/>
                    <a:pt x="153268" y="591417"/>
                  </a:cubicBezTo>
                  <a:cubicBezTo>
                    <a:pt x="146410" y="593068"/>
                    <a:pt x="139552" y="588877"/>
                    <a:pt x="137901" y="582019"/>
                  </a:cubicBezTo>
                  <a:lnTo>
                    <a:pt x="360" y="15726"/>
                  </a:lnTo>
                  <a:cubicBezTo>
                    <a:pt x="-1291" y="8868"/>
                    <a:pt x="2900" y="2010"/>
                    <a:pt x="9631" y="359"/>
                  </a:cubicBezTo>
                  <a:cubicBezTo>
                    <a:pt x="16362" y="-1292"/>
                    <a:pt x="23347" y="2899"/>
                    <a:pt x="24998" y="9757"/>
                  </a:cubicBezTo>
                  <a:close/>
                </a:path>
              </a:pathLst>
            </a:custGeom>
            <a:solidFill>
              <a:srgbClr val="0091EA"/>
            </a:solidFill>
          </p:spPr>
        </p:sp>
      </p:grpSp>
      <p:sp>
        <p:nvSpPr>
          <p:cNvPr name="Freeform 37" id="37"/>
          <p:cNvSpPr/>
          <p:nvPr/>
        </p:nvSpPr>
        <p:spPr>
          <a:xfrm flipH="false" flipV="false" rot="0">
            <a:off x="9853440" y="5956642"/>
            <a:ext cx="1401315" cy="723228"/>
          </a:xfrm>
          <a:custGeom>
            <a:avLst/>
            <a:gdLst/>
            <a:ahLst/>
            <a:cxnLst/>
            <a:rect r="r" b="b" t="t" l="l"/>
            <a:pathLst>
              <a:path h="723228" w="1401315">
                <a:moveTo>
                  <a:pt x="0" y="0"/>
                </a:moveTo>
                <a:lnTo>
                  <a:pt x="1401315" y="0"/>
                </a:lnTo>
                <a:lnTo>
                  <a:pt x="1401315" y="723227"/>
                </a:lnTo>
                <a:lnTo>
                  <a:pt x="0" y="723227"/>
                </a:lnTo>
                <a:lnTo>
                  <a:pt x="0" y="0"/>
                </a:lnTo>
                <a:close/>
              </a:path>
            </a:pathLst>
          </a:custGeom>
          <a:blipFill>
            <a:blip r:embed="rId16">
              <a:extLst>
                <a:ext uri="{96DAC541-7B7A-43D3-8B79-37D633B846F1}">
                  <asvg:svgBlip xmlns:asvg="http://schemas.microsoft.com/office/drawing/2016/SVG/main" r:embed="rId17"/>
                </a:ext>
              </a:extLst>
            </a:blip>
            <a:stretch>
              <a:fillRect l="0" t="-470" r="0" b="-470"/>
            </a:stretch>
          </a:blipFill>
        </p:spPr>
      </p:sp>
      <p:grpSp>
        <p:nvGrpSpPr>
          <p:cNvPr name="Group 38" id="38"/>
          <p:cNvGrpSpPr/>
          <p:nvPr/>
        </p:nvGrpSpPr>
        <p:grpSpPr>
          <a:xfrm rot="0">
            <a:off x="11805820" y="5662399"/>
            <a:ext cx="109492" cy="391282"/>
            <a:chOff x="0" y="0"/>
            <a:chExt cx="165608" cy="591820"/>
          </a:xfrm>
        </p:grpSpPr>
        <p:sp>
          <p:nvSpPr>
            <p:cNvPr name="Freeform 39" id="39"/>
            <p:cNvSpPr/>
            <p:nvPr/>
          </p:nvSpPr>
          <p:spPr>
            <a:xfrm flipH="false" flipV="false" rot="0">
              <a:off x="1291" y="1291"/>
              <a:ext cx="163026" cy="589238"/>
            </a:xfrm>
            <a:custGeom>
              <a:avLst/>
              <a:gdLst/>
              <a:ahLst/>
              <a:cxnLst/>
              <a:rect r="r" b="b" t="t" l="l"/>
              <a:pathLst>
                <a:path h="589238" w="163026">
                  <a:moveTo>
                    <a:pt x="24998" y="9631"/>
                  </a:moveTo>
                  <a:lnTo>
                    <a:pt x="162666" y="573511"/>
                  </a:lnTo>
                  <a:cubicBezTo>
                    <a:pt x="164317" y="580369"/>
                    <a:pt x="160126" y="587227"/>
                    <a:pt x="153395" y="588878"/>
                  </a:cubicBezTo>
                  <a:cubicBezTo>
                    <a:pt x="146664" y="590529"/>
                    <a:pt x="139679" y="586338"/>
                    <a:pt x="138028" y="579607"/>
                  </a:cubicBezTo>
                  <a:lnTo>
                    <a:pt x="360" y="15727"/>
                  </a:lnTo>
                  <a:cubicBezTo>
                    <a:pt x="-1291" y="8869"/>
                    <a:pt x="2900" y="2011"/>
                    <a:pt x="9631" y="360"/>
                  </a:cubicBezTo>
                  <a:cubicBezTo>
                    <a:pt x="16362" y="-1291"/>
                    <a:pt x="23347" y="2900"/>
                    <a:pt x="24998" y="9631"/>
                  </a:cubicBezTo>
                  <a:close/>
                </a:path>
              </a:pathLst>
            </a:custGeom>
            <a:solidFill>
              <a:srgbClr val="0091EA"/>
            </a:solidFill>
          </p:spPr>
        </p:sp>
      </p:grpSp>
      <p:sp>
        <p:nvSpPr>
          <p:cNvPr name="Freeform 40" id="40"/>
          <p:cNvSpPr/>
          <p:nvPr/>
        </p:nvSpPr>
        <p:spPr>
          <a:xfrm flipH="false" flipV="false" rot="0">
            <a:off x="11160450" y="5956642"/>
            <a:ext cx="1400217" cy="723228"/>
          </a:xfrm>
          <a:custGeom>
            <a:avLst/>
            <a:gdLst/>
            <a:ahLst/>
            <a:cxnLst/>
            <a:rect r="r" b="b" t="t" l="l"/>
            <a:pathLst>
              <a:path h="723228" w="1400217">
                <a:moveTo>
                  <a:pt x="0" y="0"/>
                </a:moveTo>
                <a:lnTo>
                  <a:pt x="1400217" y="0"/>
                </a:lnTo>
                <a:lnTo>
                  <a:pt x="1400217" y="723227"/>
                </a:lnTo>
                <a:lnTo>
                  <a:pt x="0" y="723227"/>
                </a:lnTo>
                <a:lnTo>
                  <a:pt x="0" y="0"/>
                </a:lnTo>
                <a:close/>
              </a:path>
            </a:pathLst>
          </a:custGeom>
          <a:blipFill>
            <a:blip r:embed="rId12">
              <a:extLst>
                <a:ext uri="{96DAC541-7B7A-43D3-8B79-37D633B846F1}">
                  <asvg:svgBlip xmlns:asvg="http://schemas.microsoft.com/office/drawing/2016/SVG/main" r:embed="rId13"/>
                </a:ext>
              </a:extLst>
            </a:blip>
            <a:stretch>
              <a:fillRect l="0" t="-430" r="0" b="-430"/>
            </a:stretch>
          </a:blipFill>
        </p:spPr>
      </p:sp>
      <p:grpSp>
        <p:nvGrpSpPr>
          <p:cNvPr name="Group 41" id="41"/>
          <p:cNvGrpSpPr/>
          <p:nvPr/>
        </p:nvGrpSpPr>
        <p:grpSpPr>
          <a:xfrm rot="0">
            <a:off x="13164417" y="6635714"/>
            <a:ext cx="61295" cy="455936"/>
            <a:chOff x="0" y="0"/>
            <a:chExt cx="92710" cy="689610"/>
          </a:xfrm>
        </p:grpSpPr>
        <p:sp>
          <p:nvSpPr>
            <p:cNvPr name="Freeform 42" id="42"/>
            <p:cNvSpPr/>
            <p:nvPr/>
          </p:nvSpPr>
          <p:spPr>
            <a:xfrm flipH="false" flipV="false" rot="0">
              <a:off x="581" y="688"/>
              <a:ext cx="91547" cy="688341"/>
            </a:xfrm>
            <a:custGeom>
              <a:avLst/>
              <a:gdLst/>
              <a:ahLst/>
              <a:cxnLst/>
              <a:rect r="r" b="b" t="t" l="l"/>
              <a:pathLst>
                <a:path h="688341" w="91547">
                  <a:moveTo>
                    <a:pt x="25454" y="11504"/>
                  </a:moveTo>
                  <a:lnTo>
                    <a:pt x="91494" y="674444"/>
                  </a:lnTo>
                  <a:cubicBezTo>
                    <a:pt x="92129" y="681429"/>
                    <a:pt x="87049" y="687652"/>
                    <a:pt x="80064" y="688287"/>
                  </a:cubicBezTo>
                  <a:cubicBezTo>
                    <a:pt x="73079" y="688922"/>
                    <a:pt x="66856" y="683842"/>
                    <a:pt x="66221" y="676857"/>
                  </a:cubicBezTo>
                  <a:lnTo>
                    <a:pt x="54" y="14044"/>
                  </a:lnTo>
                  <a:cubicBezTo>
                    <a:pt x="-581" y="7059"/>
                    <a:pt x="4499" y="836"/>
                    <a:pt x="11484" y="74"/>
                  </a:cubicBezTo>
                  <a:cubicBezTo>
                    <a:pt x="18469" y="-688"/>
                    <a:pt x="24692" y="4519"/>
                    <a:pt x="25454" y="11504"/>
                  </a:cubicBezTo>
                  <a:close/>
                </a:path>
              </a:pathLst>
            </a:custGeom>
            <a:solidFill>
              <a:srgbClr val="0091EA"/>
            </a:solidFill>
          </p:spPr>
        </p:sp>
      </p:grpSp>
      <p:grpSp>
        <p:nvGrpSpPr>
          <p:cNvPr name="Group 43" id="43"/>
          <p:cNvGrpSpPr/>
          <p:nvPr/>
        </p:nvGrpSpPr>
        <p:grpSpPr>
          <a:xfrm rot="0">
            <a:off x="14489656" y="5681268"/>
            <a:ext cx="61547" cy="380450"/>
            <a:chOff x="0" y="0"/>
            <a:chExt cx="93091" cy="575437"/>
          </a:xfrm>
        </p:grpSpPr>
        <p:sp>
          <p:nvSpPr>
            <p:cNvPr name="Freeform 44" id="44"/>
            <p:cNvSpPr/>
            <p:nvPr/>
          </p:nvSpPr>
          <p:spPr>
            <a:xfrm flipH="false" flipV="false" rot="0">
              <a:off x="786" y="683"/>
              <a:ext cx="91519" cy="574071"/>
            </a:xfrm>
            <a:custGeom>
              <a:avLst/>
              <a:gdLst/>
              <a:ahLst/>
              <a:cxnLst/>
              <a:rect r="r" b="b" t="t" l="l"/>
              <a:pathLst>
                <a:path h="574071" w="91519">
                  <a:moveTo>
                    <a:pt x="25249" y="11128"/>
                  </a:moveTo>
                  <a:lnTo>
                    <a:pt x="91416" y="559895"/>
                  </a:lnTo>
                  <a:cubicBezTo>
                    <a:pt x="92305" y="566880"/>
                    <a:pt x="87352" y="573230"/>
                    <a:pt x="80367" y="573992"/>
                  </a:cubicBezTo>
                  <a:cubicBezTo>
                    <a:pt x="73382" y="574754"/>
                    <a:pt x="67032" y="569928"/>
                    <a:pt x="66270" y="562943"/>
                  </a:cubicBezTo>
                  <a:lnTo>
                    <a:pt x="103" y="14176"/>
                  </a:lnTo>
                  <a:cubicBezTo>
                    <a:pt x="-786" y="7191"/>
                    <a:pt x="4167" y="841"/>
                    <a:pt x="11152" y="79"/>
                  </a:cubicBezTo>
                  <a:cubicBezTo>
                    <a:pt x="18137" y="-683"/>
                    <a:pt x="24487" y="4143"/>
                    <a:pt x="25249" y="11128"/>
                  </a:cubicBezTo>
                  <a:close/>
                </a:path>
              </a:pathLst>
            </a:custGeom>
            <a:solidFill>
              <a:srgbClr val="0091EA"/>
            </a:solidFill>
          </p:spPr>
        </p:sp>
      </p:grpSp>
      <p:sp>
        <p:nvSpPr>
          <p:cNvPr name="Freeform 45" id="45"/>
          <p:cNvSpPr/>
          <p:nvPr/>
        </p:nvSpPr>
        <p:spPr>
          <a:xfrm flipH="false" flipV="false" rot="0">
            <a:off x="13843951" y="5975091"/>
            <a:ext cx="1352910" cy="713212"/>
          </a:xfrm>
          <a:custGeom>
            <a:avLst/>
            <a:gdLst/>
            <a:ahLst/>
            <a:cxnLst/>
            <a:rect r="r" b="b" t="t" l="l"/>
            <a:pathLst>
              <a:path h="713212" w="1352910">
                <a:moveTo>
                  <a:pt x="0" y="0"/>
                </a:moveTo>
                <a:lnTo>
                  <a:pt x="1352910" y="0"/>
                </a:lnTo>
                <a:lnTo>
                  <a:pt x="1352910" y="713213"/>
                </a:lnTo>
                <a:lnTo>
                  <a:pt x="0" y="713213"/>
                </a:lnTo>
                <a:lnTo>
                  <a:pt x="0" y="0"/>
                </a:lnTo>
                <a:close/>
              </a:path>
            </a:pathLst>
          </a:custGeom>
          <a:blipFill>
            <a:blip r:embed="rId18">
              <a:extLst>
                <a:ext uri="{96DAC541-7B7A-43D3-8B79-37D633B846F1}">
                  <asvg:svgBlip xmlns:asvg="http://schemas.microsoft.com/office/drawing/2016/SVG/main" r:embed="rId19"/>
                </a:ext>
              </a:extLst>
            </a:blip>
            <a:stretch>
              <a:fillRect l="-236" t="0" r="-236" b="0"/>
            </a:stretch>
          </a:blipFill>
        </p:spPr>
      </p:sp>
      <p:sp>
        <p:nvSpPr>
          <p:cNvPr name="Freeform 46" id="46"/>
          <p:cNvSpPr/>
          <p:nvPr/>
        </p:nvSpPr>
        <p:spPr>
          <a:xfrm flipH="false" flipV="false" rot="0">
            <a:off x="12487962" y="5975091"/>
            <a:ext cx="1352910" cy="713212"/>
          </a:xfrm>
          <a:custGeom>
            <a:avLst/>
            <a:gdLst/>
            <a:ahLst/>
            <a:cxnLst/>
            <a:rect r="r" b="b" t="t" l="l"/>
            <a:pathLst>
              <a:path h="713212" w="1352910">
                <a:moveTo>
                  <a:pt x="0" y="0"/>
                </a:moveTo>
                <a:lnTo>
                  <a:pt x="1352910" y="0"/>
                </a:lnTo>
                <a:lnTo>
                  <a:pt x="1352910" y="713213"/>
                </a:lnTo>
                <a:lnTo>
                  <a:pt x="0" y="713213"/>
                </a:lnTo>
                <a:lnTo>
                  <a:pt x="0" y="0"/>
                </a:lnTo>
                <a:close/>
              </a:path>
            </a:pathLst>
          </a:custGeom>
          <a:blipFill>
            <a:blip r:embed="rId18">
              <a:extLst>
                <a:ext uri="{96DAC541-7B7A-43D3-8B79-37D633B846F1}">
                  <asvg:svgBlip xmlns:asvg="http://schemas.microsoft.com/office/drawing/2016/SVG/main" r:embed="rId19"/>
                </a:ext>
              </a:extLst>
            </a:blip>
            <a:stretch>
              <a:fillRect l="-236" t="0" r="-236" b="0"/>
            </a:stretch>
          </a:blipFill>
        </p:spPr>
      </p:sp>
      <p:sp>
        <p:nvSpPr>
          <p:cNvPr name="Freeform 47" id="47"/>
          <p:cNvSpPr/>
          <p:nvPr/>
        </p:nvSpPr>
        <p:spPr>
          <a:xfrm flipH="false" flipV="false" rot="0">
            <a:off x="2216749" y="4740928"/>
            <a:ext cx="3178293" cy="823517"/>
          </a:xfrm>
          <a:custGeom>
            <a:avLst/>
            <a:gdLst/>
            <a:ahLst/>
            <a:cxnLst/>
            <a:rect r="r" b="b" t="t" l="l"/>
            <a:pathLst>
              <a:path h="823517" w="3178293">
                <a:moveTo>
                  <a:pt x="0" y="0"/>
                </a:moveTo>
                <a:lnTo>
                  <a:pt x="3178294" y="0"/>
                </a:lnTo>
                <a:lnTo>
                  <a:pt x="3178294" y="823517"/>
                </a:lnTo>
                <a:lnTo>
                  <a:pt x="0" y="823517"/>
                </a:lnTo>
                <a:lnTo>
                  <a:pt x="0" y="0"/>
                </a:lnTo>
                <a:close/>
              </a:path>
            </a:pathLst>
          </a:custGeom>
          <a:blipFill>
            <a:blip r:embed="rId20"/>
            <a:stretch>
              <a:fillRect l="0" t="-144241" r="0" b="-141699"/>
            </a:stretch>
          </a:blipFill>
        </p:spPr>
      </p:sp>
      <p:sp>
        <p:nvSpPr>
          <p:cNvPr name="Freeform 48" id="48"/>
          <p:cNvSpPr/>
          <p:nvPr/>
        </p:nvSpPr>
        <p:spPr>
          <a:xfrm flipH="false" flipV="false" rot="0">
            <a:off x="7566433" y="4450810"/>
            <a:ext cx="2839582" cy="1180810"/>
          </a:xfrm>
          <a:custGeom>
            <a:avLst/>
            <a:gdLst/>
            <a:ahLst/>
            <a:cxnLst/>
            <a:rect r="r" b="b" t="t" l="l"/>
            <a:pathLst>
              <a:path h="1180810" w="2839582">
                <a:moveTo>
                  <a:pt x="0" y="0"/>
                </a:moveTo>
                <a:lnTo>
                  <a:pt x="2839581" y="0"/>
                </a:lnTo>
                <a:lnTo>
                  <a:pt x="2839581" y="1180810"/>
                </a:lnTo>
                <a:lnTo>
                  <a:pt x="0" y="1180810"/>
                </a:lnTo>
                <a:lnTo>
                  <a:pt x="0" y="0"/>
                </a:lnTo>
                <a:close/>
              </a:path>
            </a:pathLst>
          </a:custGeom>
          <a:blipFill>
            <a:blip r:embed="rId21"/>
            <a:stretch>
              <a:fillRect l="0" t="0" r="-2252" b="-2751"/>
            </a:stretch>
          </a:blipFill>
        </p:spPr>
      </p:sp>
      <p:sp>
        <p:nvSpPr>
          <p:cNvPr name="Freeform 49" id="49"/>
          <p:cNvSpPr/>
          <p:nvPr/>
        </p:nvSpPr>
        <p:spPr>
          <a:xfrm flipH="false" flipV="false" rot="0">
            <a:off x="13225712" y="3993653"/>
            <a:ext cx="2434657" cy="1637967"/>
          </a:xfrm>
          <a:custGeom>
            <a:avLst/>
            <a:gdLst/>
            <a:ahLst/>
            <a:cxnLst/>
            <a:rect r="r" b="b" t="t" l="l"/>
            <a:pathLst>
              <a:path h="1637967" w="2434657">
                <a:moveTo>
                  <a:pt x="0" y="0"/>
                </a:moveTo>
                <a:lnTo>
                  <a:pt x="2434657" y="0"/>
                </a:lnTo>
                <a:lnTo>
                  <a:pt x="2434657" y="1637967"/>
                </a:lnTo>
                <a:lnTo>
                  <a:pt x="0" y="1637967"/>
                </a:lnTo>
                <a:lnTo>
                  <a:pt x="0" y="0"/>
                </a:lnTo>
                <a:close/>
              </a:path>
            </a:pathLst>
          </a:custGeom>
          <a:blipFill>
            <a:blip r:embed="rId22"/>
            <a:stretch>
              <a:fillRect l="-134494" t="-89954" r="-131452" b="-95614"/>
            </a:stretch>
          </a:blipFill>
        </p:spPr>
      </p:sp>
      <p:sp>
        <p:nvSpPr>
          <p:cNvPr name="Freeform 50" id="50"/>
          <p:cNvSpPr/>
          <p:nvPr/>
        </p:nvSpPr>
        <p:spPr>
          <a:xfrm flipH="false" flipV="false" rot="0">
            <a:off x="1982603" y="7044026"/>
            <a:ext cx="2918487" cy="993044"/>
          </a:xfrm>
          <a:custGeom>
            <a:avLst/>
            <a:gdLst/>
            <a:ahLst/>
            <a:cxnLst/>
            <a:rect r="r" b="b" t="t" l="l"/>
            <a:pathLst>
              <a:path h="993044" w="2918487">
                <a:moveTo>
                  <a:pt x="0" y="0"/>
                </a:moveTo>
                <a:lnTo>
                  <a:pt x="2918487" y="0"/>
                </a:lnTo>
                <a:lnTo>
                  <a:pt x="2918487" y="993043"/>
                </a:lnTo>
                <a:lnTo>
                  <a:pt x="0" y="993043"/>
                </a:lnTo>
                <a:lnTo>
                  <a:pt x="0" y="0"/>
                </a:lnTo>
                <a:close/>
              </a:path>
            </a:pathLst>
          </a:custGeom>
          <a:blipFill>
            <a:blip r:embed="rId23"/>
            <a:stretch>
              <a:fillRect l="0" t="0" r="0" b="0"/>
            </a:stretch>
          </a:blipFill>
        </p:spPr>
      </p:sp>
      <p:sp>
        <p:nvSpPr>
          <p:cNvPr name="Freeform 51" id="51"/>
          <p:cNvSpPr/>
          <p:nvPr/>
        </p:nvSpPr>
        <p:spPr>
          <a:xfrm flipH="false" flipV="false" rot="0">
            <a:off x="11391376" y="7184013"/>
            <a:ext cx="4458397" cy="1016508"/>
          </a:xfrm>
          <a:custGeom>
            <a:avLst/>
            <a:gdLst/>
            <a:ahLst/>
            <a:cxnLst/>
            <a:rect r="r" b="b" t="t" l="l"/>
            <a:pathLst>
              <a:path h="1016508" w="4458397">
                <a:moveTo>
                  <a:pt x="0" y="0"/>
                </a:moveTo>
                <a:lnTo>
                  <a:pt x="4458397" y="0"/>
                </a:lnTo>
                <a:lnTo>
                  <a:pt x="4458397" y="1016508"/>
                </a:lnTo>
                <a:lnTo>
                  <a:pt x="0" y="1016508"/>
                </a:lnTo>
                <a:lnTo>
                  <a:pt x="0" y="0"/>
                </a:lnTo>
                <a:close/>
              </a:path>
            </a:pathLst>
          </a:custGeom>
          <a:blipFill>
            <a:blip r:embed="rId24"/>
            <a:stretch>
              <a:fillRect l="0" t="-22724" r="0" b="-22724"/>
            </a:stretch>
          </a:blipFill>
        </p:spPr>
      </p:sp>
      <p:sp>
        <p:nvSpPr>
          <p:cNvPr name="Freeform 52" id="52"/>
          <p:cNvSpPr/>
          <p:nvPr/>
        </p:nvSpPr>
        <p:spPr>
          <a:xfrm flipH="false" flipV="false" rot="0">
            <a:off x="6250276" y="7000645"/>
            <a:ext cx="4358632" cy="822029"/>
          </a:xfrm>
          <a:custGeom>
            <a:avLst/>
            <a:gdLst/>
            <a:ahLst/>
            <a:cxnLst/>
            <a:rect r="r" b="b" t="t" l="l"/>
            <a:pathLst>
              <a:path h="822029" w="4358632">
                <a:moveTo>
                  <a:pt x="0" y="0"/>
                </a:moveTo>
                <a:lnTo>
                  <a:pt x="4358633" y="0"/>
                </a:lnTo>
                <a:lnTo>
                  <a:pt x="4358633" y="822029"/>
                </a:lnTo>
                <a:lnTo>
                  <a:pt x="0" y="822029"/>
                </a:lnTo>
                <a:lnTo>
                  <a:pt x="0" y="0"/>
                </a:lnTo>
                <a:close/>
              </a:path>
            </a:pathLst>
          </a:custGeom>
          <a:blipFill>
            <a:blip r:embed="rId25"/>
            <a:stretch>
              <a:fillRect l="-6152" t="-94229" r="-5087" b="-100684"/>
            </a:stretch>
          </a:blipFill>
        </p:spPr>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915900" y="9505949"/>
            <a:ext cx="4114800" cy="576264"/>
            <a:chOff x="0" y="0"/>
            <a:chExt cx="5486400" cy="768351"/>
          </a:xfrm>
        </p:grpSpPr>
        <p:sp>
          <p:nvSpPr>
            <p:cNvPr name="Freeform 3" id="3"/>
            <p:cNvSpPr/>
            <p:nvPr/>
          </p:nvSpPr>
          <p:spPr>
            <a:xfrm flipH="false" flipV="false" rot="0">
              <a:off x="0" y="0"/>
              <a:ext cx="5486400" cy="768351"/>
            </a:xfrm>
            <a:custGeom>
              <a:avLst/>
              <a:gdLst/>
              <a:ahLst/>
              <a:cxnLst/>
              <a:rect r="r" b="b" t="t" l="l"/>
              <a:pathLst>
                <a:path h="768351" w="5486400">
                  <a:moveTo>
                    <a:pt x="0" y="0"/>
                  </a:moveTo>
                  <a:lnTo>
                    <a:pt x="5486400" y="0"/>
                  </a:lnTo>
                  <a:lnTo>
                    <a:pt x="5486400" y="768351"/>
                  </a:lnTo>
                  <a:lnTo>
                    <a:pt x="0" y="768351"/>
                  </a:lnTo>
                  <a:close/>
                </a:path>
              </a:pathLst>
            </a:custGeom>
          </p:spPr>
        </p:sp>
        <p:sp>
          <p:nvSpPr>
            <p:cNvPr name="TextBox 4" id="4"/>
            <p:cNvSpPr txBox="true"/>
            <p:nvPr/>
          </p:nvSpPr>
          <p:spPr>
            <a:xfrm>
              <a:off x="0" y="-19050"/>
              <a:ext cx="5486400" cy="787401"/>
            </a:xfrm>
            <a:prstGeom prst="rect">
              <a:avLst/>
            </a:prstGeom>
          </p:spPr>
          <p:txBody>
            <a:bodyPr anchor="ctr" rtlCol="false" tIns="0" lIns="0" bIns="0" rIns="0"/>
            <a:lstStyle/>
            <a:p>
              <a:pPr algn="r">
                <a:lnSpc>
                  <a:spcPts val="2160"/>
                </a:lnSpc>
              </a:pPr>
              <a:r>
                <a:rPr lang="en-US" sz="1800">
                  <a:solidFill>
                    <a:srgbClr val="898989"/>
                  </a:solidFill>
                  <a:latin typeface="Arimo"/>
                  <a:ea typeface="Arimo"/>
                  <a:cs typeface="Arimo"/>
                  <a:sym typeface="Arimo"/>
                </a:rPr>
                <a:t>7</a:t>
              </a:r>
            </a:p>
          </p:txBody>
        </p:sp>
      </p:grpSp>
      <p:grpSp>
        <p:nvGrpSpPr>
          <p:cNvPr name="Group 5" id="5"/>
          <p:cNvGrpSpPr/>
          <p:nvPr/>
        </p:nvGrpSpPr>
        <p:grpSpPr>
          <a:xfrm rot="0">
            <a:off x="3364640" y="615134"/>
            <a:ext cx="10866025" cy="57150"/>
            <a:chOff x="0" y="0"/>
            <a:chExt cx="14488033" cy="76200"/>
          </a:xfrm>
        </p:grpSpPr>
        <p:sp>
          <p:nvSpPr>
            <p:cNvPr name="Freeform 6" id="6"/>
            <p:cNvSpPr/>
            <p:nvPr/>
          </p:nvSpPr>
          <p:spPr>
            <a:xfrm flipH="false" flipV="false" rot="0">
              <a:off x="0" y="0"/>
              <a:ext cx="14488033" cy="76200"/>
            </a:xfrm>
            <a:custGeom>
              <a:avLst/>
              <a:gdLst/>
              <a:ahLst/>
              <a:cxnLst/>
              <a:rect r="r" b="b" t="t" l="l"/>
              <a:pathLst>
                <a:path h="76200" w="14488033">
                  <a:moveTo>
                    <a:pt x="19050" y="0"/>
                  </a:moveTo>
                  <a:lnTo>
                    <a:pt x="14468983" y="38100"/>
                  </a:lnTo>
                  <a:cubicBezTo>
                    <a:pt x="14479524" y="38100"/>
                    <a:pt x="14488033" y="46736"/>
                    <a:pt x="14488033" y="57150"/>
                  </a:cubicBezTo>
                  <a:cubicBezTo>
                    <a:pt x="14488033" y="67564"/>
                    <a:pt x="14479397" y="76200"/>
                    <a:pt x="14468983" y="76200"/>
                  </a:cubicBezTo>
                  <a:lnTo>
                    <a:pt x="19050" y="38100"/>
                  </a:lnTo>
                  <a:cubicBezTo>
                    <a:pt x="8509" y="38100"/>
                    <a:pt x="0" y="29464"/>
                    <a:pt x="0" y="19050"/>
                  </a:cubicBezTo>
                  <a:cubicBezTo>
                    <a:pt x="0" y="8636"/>
                    <a:pt x="8636" y="0"/>
                    <a:pt x="19050" y="0"/>
                  </a:cubicBezTo>
                  <a:close/>
                </a:path>
              </a:pathLst>
            </a:custGeom>
            <a:solidFill>
              <a:srgbClr val="4E91F0"/>
            </a:solidFill>
          </p:spPr>
        </p:sp>
      </p:grpSp>
      <p:sp>
        <p:nvSpPr>
          <p:cNvPr name="Freeform 7" id="7"/>
          <p:cNvSpPr/>
          <p:nvPr/>
        </p:nvSpPr>
        <p:spPr>
          <a:xfrm flipH="false" flipV="false" rot="0">
            <a:off x="2726322" y="28189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5288206" y="28189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8570764" y="292692"/>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4178066" y="305142"/>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1616970" y="32451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1573062" y="3575346"/>
            <a:ext cx="14965249" cy="5448300"/>
          </a:xfrm>
          <a:prstGeom prst="rect">
            <a:avLst/>
          </a:prstGeom>
        </p:spPr>
        <p:txBody>
          <a:bodyPr anchor="t" rtlCol="false" tIns="0" lIns="0" bIns="0" rIns="0">
            <a:spAutoFit/>
          </a:bodyPr>
          <a:lstStyle/>
          <a:p>
            <a:pPr algn="l">
              <a:lnSpc>
                <a:spcPts val="4320"/>
              </a:lnSpc>
            </a:pPr>
            <a:r>
              <a:rPr lang="en-US" sz="3600" b="true">
                <a:solidFill>
                  <a:srgbClr val="000000"/>
                </a:solidFill>
                <a:latin typeface="Times New Roman Bold"/>
                <a:ea typeface="Times New Roman Bold"/>
                <a:cs typeface="Times New Roman Bold"/>
                <a:sym typeface="Times New Roman Bold"/>
              </a:rPr>
              <a:t>Nagios :</a:t>
            </a:r>
          </a:p>
          <a:p>
            <a:pPr algn="l">
              <a:lnSpc>
                <a:spcPts val="4320"/>
              </a:lnSpc>
            </a:pPr>
          </a:p>
          <a:p>
            <a:pPr algn="l">
              <a:lnSpc>
                <a:spcPts val="3360"/>
              </a:lnSpc>
            </a:pPr>
            <a:r>
              <a:rPr lang="en-US" sz="2800" b="true">
                <a:solidFill>
                  <a:srgbClr val="000000"/>
                </a:solidFill>
                <a:latin typeface="Times New Roman Bold"/>
                <a:ea typeface="Times New Roman Bold"/>
                <a:cs typeface="Times New Roman Bold"/>
                <a:sym typeface="Times New Roman Bold"/>
              </a:rPr>
              <a:t>N</a:t>
            </a:r>
            <a:r>
              <a:rPr lang="en-US" sz="2800">
                <a:solidFill>
                  <a:srgbClr val="000000"/>
                </a:solidFill>
                <a:latin typeface="Times New Roman"/>
                <a:ea typeface="Times New Roman"/>
                <a:cs typeface="Times New Roman"/>
                <a:sym typeface="Times New Roman"/>
              </a:rPr>
              <a:t>agios est un outil open source historique de supervision, permettant de surveiller l’état des serveurs, réseaux et applications, et d’être alerté en cas de problème.</a:t>
            </a:r>
          </a:p>
          <a:p>
            <a:pPr algn="l">
              <a:lnSpc>
                <a:spcPts val="3360"/>
              </a:lnSpc>
            </a:pPr>
            <a:r>
              <a:rPr lang="en-US" sz="2800" b="true">
                <a:solidFill>
                  <a:srgbClr val="FF9514"/>
                </a:solidFill>
                <a:latin typeface="Times New Roman Bold"/>
                <a:ea typeface="Times New Roman Bold"/>
                <a:cs typeface="Times New Roman Bold"/>
                <a:sym typeface="Times New Roman Bold"/>
              </a:rPr>
              <a:t> Points forts :</a:t>
            </a:r>
          </a:p>
          <a:p>
            <a:pPr algn="l" marL="604524" indent="-302262" lvl="1">
              <a:lnSpc>
                <a:spcPts val="3360"/>
              </a:lnSpc>
              <a:buFont typeface="Arial"/>
              <a:buChar char="•"/>
            </a:pPr>
            <a:r>
              <a:rPr lang="en-US" sz="2800">
                <a:solidFill>
                  <a:srgbClr val="000000"/>
                </a:solidFill>
                <a:latin typeface="Times New Roman"/>
                <a:ea typeface="Times New Roman"/>
                <a:cs typeface="Times New Roman"/>
                <a:sym typeface="Times New Roman"/>
              </a:rPr>
              <a:t>Très stable et fiable</a:t>
            </a:r>
          </a:p>
          <a:p>
            <a:pPr algn="l" marL="604524" indent="-302262" lvl="1">
              <a:lnSpc>
                <a:spcPts val="3360"/>
              </a:lnSpc>
              <a:buFont typeface="Arial"/>
              <a:buChar char="•"/>
            </a:pPr>
            <a:r>
              <a:rPr lang="en-US" sz="2800">
                <a:solidFill>
                  <a:srgbClr val="000000"/>
                </a:solidFill>
                <a:latin typeface="Times New Roman"/>
                <a:ea typeface="Times New Roman"/>
                <a:cs typeface="Times New Roman"/>
                <a:sym typeface="Times New Roman"/>
              </a:rPr>
              <a:t>Grande bibliothèque de plugins (&gt; 4000)</a:t>
            </a:r>
          </a:p>
          <a:p>
            <a:pPr algn="l" marL="604524" indent="-302262" lvl="1">
              <a:lnSpc>
                <a:spcPts val="3360"/>
              </a:lnSpc>
              <a:buFont typeface="Arial"/>
              <a:buChar char="•"/>
            </a:pPr>
            <a:r>
              <a:rPr lang="en-US" sz="2800">
                <a:solidFill>
                  <a:srgbClr val="000000"/>
                </a:solidFill>
                <a:latin typeface="Times New Roman"/>
                <a:ea typeface="Times New Roman"/>
                <a:cs typeface="Times New Roman"/>
                <a:sym typeface="Times New Roman"/>
              </a:rPr>
              <a:t>Surveillance des états (UP / DOWN / WARNING / CRITICAL)</a:t>
            </a:r>
          </a:p>
          <a:p>
            <a:pPr algn="l">
              <a:lnSpc>
                <a:spcPts val="3360"/>
              </a:lnSpc>
            </a:pPr>
            <a:r>
              <a:rPr lang="en-US" sz="2800" b="true">
                <a:solidFill>
                  <a:srgbClr val="FF9514"/>
                </a:solidFill>
                <a:latin typeface="Times New Roman Bold"/>
                <a:ea typeface="Times New Roman Bold"/>
                <a:cs typeface="Times New Roman Bold"/>
                <a:sym typeface="Times New Roman Bold"/>
              </a:rPr>
              <a:t> </a:t>
            </a:r>
            <a:r>
              <a:rPr lang="en-US" sz="2800" b="true">
                <a:solidFill>
                  <a:srgbClr val="FF9514"/>
                </a:solidFill>
                <a:latin typeface="Times New Roman Bold"/>
                <a:ea typeface="Times New Roman Bold"/>
                <a:cs typeface="Times New Roman Bold"/>
                <a:sym typeface="Times New Roman Bold"/>
              </a:rPr>
              <a:t>Points faibles :</a:t>
            </a:r>
          </a:p>
          <a:p>
            <a:pPr algn="l" marL="604524" indent="-302262" lvl="1">
              <a:lnSpc>
                <a:spcPts val="3360"/>
              </a:lnSpc>
              <a:buFont typeface="Arial"/>
              <a:buChar char="•"/>
            </a:pPr>
            <a:r>
              <a:rPr lang="en-US" sz="2800">
                <a:solidFill>
                  <a:srgbClr val="000000"/>
                </a:solidFill>
                <a:latin typeface="Times New Roman"/>
                <a:ea typeface="Times New Roman"/>
                <a:cs typeface="Times New Roman"/>
                <a:sym typeface="Times New Roman"/>
              </a:rPr>
              <a:t>Configuration complexe (fichiers texte)</a:t>
            </a:r>
          </a:p>
          <a:p>
            <a:pPr algn="l" marL="604524" indent="-302262" lvl="1">
              <a:lnSpc>
                <a:spcPts val="3360"/>
              </a:lnSpc>
              <a:buFont typeface="Arial"/>
              <a:buChar char="•"/>
            </a:pPr>
            <a:r>
              <a:rPr lang="en-US" sz="2800">
                <a:solidFill>
                  <a:srgbClr val="000000"/>
                </a:solidFill>
                <a:latin typeface="Times New Roman"/>
                <a:ea typeface="Times New Roman"/>
                <a:cs typeface="Times New Roman"/>
                <a:sym typeface="Times New Roman"/>
              </a:rPr>
              <a:t>Interface visuelle un peu datée</a:t>
            </a:r>
          </a:p>
          <a:p>
            <a:pPr algn="l">
              <a:lnSpc>
                <a:spcPts val="4439"/>
              </a:lnSpc>
            </a:pPr>
          </a:p>
        </p:txBody>
      </p:sp>
      <p:sp>
        <p:nvSpPr>
          <p:cNvPr name="Freeform 13" id="13"/>
          <p:cNvSpPr/>
          <p:nvPr/>
        </p:nvSpPr>
        <p:spPr>
          <a:xfrm flipH="false" flipV="false" rot="0">
            <a:off x="12478184" y="5820909"/>
            <a:ext cx="4231222" cy="1768090"/>
          </a:xfrm>
          <a:custGeom>
            <a:avLst/>
            <a:gdLst/>
            <a:ahLst/>
            <a:cxnLst/>
            <a:rect r="r" b="b" t="t" l="l"/>
            <a:pathLst>
              <a:path h="1768090" w="4231222">
                <a:moveTo>
                  <a:pt x="0" y="0"/>
                </a:moveTo>
                <a:lnTo>
                  <a:pt x="4231222" y="0"/>
                </a:lnTo>
                <a:lnTo>
                  <a:pt x="4231222" y="1768090"/>
                </a:lnTo>
                <a:lnTo>
                  <a:pt x="0" y="1768090"/>
                </a:lnTo>
                <a:lnTo>
                  <a:pt x="0" y="0"/>
                </a:lnTo>
                <a:close/>
              </a:path>
            </a:pathLst>
          </a:custGeom>
          <a:blipFill>
            <a:blip r:embed="rId6"/>
            <a:stretch>
              <a:fillRect l="0" t="0" r="0" b="0"/>
            </a:stretch>
          </a:blipFill>
        </p:spPr>
      </p:sp>
      <p:sp>
        <p:nvSpPr>
          <p:cNvPr name="TextBox 14" id="14"/>
          <p:cNvSpPr txBox="true"/>
          <p:nvPr/>
        </p:nvSpPr>
        <p:spPr>
          <a:xfrm rot="0">
            <a:off x="2475284" y="987944"/>
            <a:ext cx="1607741" cy="514350"/>
          </a:xfrm>
          <a:prstGeom prst="rect">
            <a:avLst/>
          </a:prstGeom>
        </p:spPr>
        <p:txBody>
          <a:bodyPr anchor="t" rtlCol="false" tIns="0" lIns="0" bIns="0" rIns="0">
            <a:spAutoFit/>
          </a:bodyPr>
          <a:lstStyle/>
          <a:p>
            <a:pPr algn="ctr">
              <a:lnSpc>
                <a:spcPts val="1980"/>
              </a:lnSpc>
            </a:pPr>
            <a:r>
              <a:rPr lang="en-US" sz="1650" b="true">
                <a:solidFill>
                  <a:srgbClr val="4E91F0"/>
                </a:solidFill>
                <a:latin typeface="Times New Roman Bold"/>
                <a:ea typeface="Times New Roman Bold"/>
                <a:cs typeface="Times New Roman Bold"/>
                <a:sym typeface="Times New Roman Bold"/>
              </a:rPr>
              <a:t>Introduction à la supervision</a:t>
            </a:r>
          </a:p>
        </p:txBody>
      </p:sp>
      <p:sp>
        <p:nvSpPr>
          <p:cNvPr name="TextBox 15" id="15"/>
          <p:cNvSpPr txBox="true"/>
          <p:nvPr/>
        </p:nvSpPr>
        <p:spPr>
          <a:xfrm rot="0">
            <a:off x="14041790" y="1068032"/>
            <a:ext cx="1104010" cy="358125"/>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Conclusion</a:t>
            </a:r>
          </a:p>
        </p:txBody>
      </p:sp>
      <p:sp>
        <p:nvSpPr>
          <p:cNvPr name="TextBox 16" id="16"/>
          <p:cNvSpPr txBox="true"/>
          <p:nvPr/>
        </p:nvSpPr>
        <p:spPr>
          <a:xfrm rot="0">
            <a:off x="4502125" y="1021536"/>
            <a:ext cx="2563545" cy="514350"/>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Architecture et fonctionnement</a:t>
            </a:r>
          </a:p>
        </p:txBody>
      </p:sp>
      <p:sp>
        <p:nvSpPr>
          <p:cNvPr name="TextBox 17" id="17"/>
          <p:cNvSpPr txBox="true"/>
          <p:nvPr/>
        </p:nvSpPr>
        <p:spPr>
          <a:xfrm rot="0">
            <a:off x="10994499" y="1081200"/>
            <a:ext cx="2165112" cy="266700"/>
          </a:xfrm>
          <a:prstGeom prst="rect">
            <a:avLst/>
          </a:prstGeom>
        </p:spPr>
        <p:txBody>
          <a:bodyPr anchor="t" rtlCol="false" tIns="0" lIns="0" bIns="0" rIns="0">
            <a:spAutoFit/>
          </a:bodyPr>
          <a:lstStyle/>
          <a:p>
            <a:pPr algn="l">
              <a:lnSpc>
                <a:spcPts val="1980"/>
              </a:lnSpc>
            </a:pPr>
            <a:r>
              <a:rPr lang="en-US" sz="1650" b="true">
                <a:solidFill>
                  <a:srgbClr val="A6A6A6"/>
                </a:solidFill>
                <a:latin typeface="Times New Roman Bold"/>
                <a:ea typeface="Times New Roman Bold"/>
                <a:cs typeface="Times New Roman Bold"/>
                <a:sym typeface="Times New Roman Bold"/>
              </a:rPr>
              <a:t>Comparaison et analyse</a:t>
            </a:r>
          </a:p>
        </p:txBody>
      </p:sp>
      <p:sp>
        <p:nvSpPr>
          <p:cNvPr name="TextBox 18" id="18"/>
          <p:cNvSpPr txBox="true"/>
          <p:nvPr/>
        </p:nvSpPr>
        <p:spPr>
          <a:xfrm rot="0">
            <a:off x="7623616" y="1088982"/>
            <a:ext cx="2949177" cy="514350"/>
          </a:xfrm>
          <a:prstGeom prst="rect">
            <a:avLst/>
          </a:prstGeom>
        </p:spPr>
        <p:txBody>
          <a:bodyPr anchor="t" rtlCol="false" tIns="0" lIns="0" bIns="0" rIns="0">
            <a:spAutoFit/>
          </a:bodyPr>
          <a:lstStyle/>
          <a:p>
            <a:pPr algn="ctr">
              <a:lnSpc>
                <a:spcPts val="1980"/>
              </a:lnSpc>
            </a:pPr>
            <a:r>
              <a:rPr lang="en-US" sz="1650" b="true">
                <a:solidFill>
                  <a:srgbClr val="4E91F0"/>
                </a:solidFill>
                <a:latin typeface="Times New Roman Bold"/>
                <a:ea typeface="Times New Roman Bold"/>
                <a:cs typeface="Times New Roman Bold"/>
                <a:sym typeface="Times New Roman Bold"/>
              </a:rPr>
              <a:t>Présentation des outils Open Source</a:t>
            </a:r>
          </a:p>
        </p:txBody>
      </p:sp>
      <p:sp>
        <p:nvSpPr>
          <p:cNvPr name="TextBox 19" id="19"/>
          <p:cNvSpPr txBox="true"/>
          <p:nvPr/>
        </p:nvSpPr>
        <p:spPr>
          <a:xfrm rot="0">
            <a:off x="1028700" y="2109448"/>
            <a:ext cx="15267218" cy="1794510"/>
          </a:xfrm>
          <a:prstGeom prst="rect">
            <a:avLst/>
          </a:prstGeom>
        </p:spPr>
        <p:txBody>
          <a:bodyPr anchor="t" rtlCol="false" tIns="0" lIns="0" bIns="0" rIns="0">
            <a:spAutoFit/>
          </a:bodyPr>
          <a:lstStyle/>
          <a:p>
            <a:pPr algn="just">
              <a:lnSpc>
                <a:spcPts val="4860"/>
              </a:lnSpc>
            </a:pPr>
            <a:r>
              <a:rPr lang="en-US" sz="2700">
                <a:solidFill>
                  <a:srgbClr val="000000"/>
                </a:solidFill>
                <a:latin typeface="Times New Roman"/>
                <a:ea typeface="Times New Roman"/>
                <a:cs typeface="Times New Roman"/>
                <a:sym typeface="Times New Roman"/>
              </a:rPr>
              <a:t>Aujourd’hui, nous allons parler de trois outils open source importants : Nagios, Cacti et Zabbix. Ces outils sont largement utilisés dans les entreprises pour surveiller les serveurs, réseaux et applications.</a:t>
            </a:r>
          </a:p>
          <a:p>
            <a:pPr algn="just" marL="737235" indent="-184309" lvl="3">
              <a:lnSpc>
                <a:spcPts val="4860"/>
              </a:lnSpc>
            </a:pPr>
          </a:p>
        </p:txBody>
      </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915900" y="9505949"/>
            <a:ext cx="4114800" cy="576264"/>
            <a:chOff x="0" y="0"/>
            <a:chExt cx="5486400" cy="768351"/>
          </a:xfrm>
        </p:grpSpPr>
        <p:sp>
          <p:nvSpPr>
            <p:cNvPr name="Freeform 3" id="3"/>
            <p:cNvSpPr/>
            <p:nvPr/>
          </p:nvSpPr>
          <p:spPr>
            <a:xfrm flipH="false" flipV="false" rot="0">
              <a:off x="0" y="0"/>
              <a:ext cx="5486400" cy="768351"/>
            </a:xfrm>
            <a:custGeom>
              <a:avLst/>
              <a:gdLst/>
              <a:ahLst/>
              <a:cxnLst/>
              <a:rect r="r" b="b" t="t" l="l"/>
              <a:pathLst>
                <a:path h="768351" w="5486400">
                  <a:moveTo>
                    <a:pt x="0" y="0"/>
                  </a:moveTo>
                  <a:lnTo>
                    <a:pt x="5486400" y="0"/>
                  </a:lnTo>
                  <a:lnTo>
                    <a:pt x="5486400" y="768351"/>
                  </a:lnTo>
                  <a:lnTo>
                    <a:pt x="0" y="768351"/>
                  </a:lnTo>
                  <a:close/>
                </a:path>
              </a:pathLst>
            </a:custGeom>
          </p:spPr>
        </p:sp>
        <p:sp>
          <p:nvSpPr>
            <p:cNvPr name="TextBox 4" id="4"/>
            <p:cNvSpPr txBox="true"/>
            <p:nvPr/>
          </p:nvSpPr>
          <p:spPr>
            <a:xfrm>
              <a:off x="0" y="-19050"/>
              <a:ext cx="5486400" cy="787401"/>
            </a:xfrm>
            <a:prstGeom prst="rect">
              <a:avLst/>
            </a:prstGeom>
          </p:spPr>
          <p:txBody>
            <a:bodyPr anchor="ctr" rtlCol="false" tIns="0" lIns="0" bIns="0" rIns="0"/>
            <a:lstStyle/>
            <a:p>
              <a:pPr algn="r">
                <a:lnSpc>
                  <a:spcPts val="2160"/>
                </a:lnSpc>
              </a:pPr>
              <a:r>
                <a:rPr lang="en-US" sz="1800">
                  <a:solidFill>
                    <a:srgbClr val="898989"/>
                  </a:solidFill>
                  <a:latin typeface="Arimo"/>
                  <a:ea typeface="Arimo"/>
                  <a:cs typeface="Arimo"/>
                  <a:sym typeface="Arimo"/>
                </a:rPr>
                <a:t>8</a:t>
              </a:r>
            </a:p>
          </p:txBody>
        </p:sp>
      </p:grpSp>
      <p:grpSp>
        <p:nvGrpSpPr>
          <p:cNvPr name="Group 5" id="5"/>
          <p:cNvGrpSpPr/>
          <p:nvPr/>
        </p:nvGrpSpPr>
        <p:grpSpPr>
          <a:xfrm rot="0">
            <a:off x="3364640" y="615134"/>
            <a:ext cx="10866025" cy="57150"/>
            <a:chOff x="0" y="0"/>
            <a:chExt cx="14488033" cy="76200"/>
          </a:xfrm>
        </p:grpSpPr>
        <p:sp>
          <p:nvSpPr>
            <p:cNvPr name="Freeform 6" id="6"/>
            <p:cNvSpPr/>
            <p:nvPr/>
          </p:nvSpPr>
          <p:spPr>
            <a:xfrm flipH="false" flipV="false" rot="0">
              <a:off x="0" y="0"/>
              <a:ext cx="14488033" cy="76200"/>
            </a:xfrm>
            <a:custGeom>
              <a:avLst/>
              <a:gdLst/>
              <a:ahLst/>
              <a:cxnLst/>
              <a:rect r="r" b="b" t="t" l="l"/>
              <a:pathLst>
                <a:path h="76200" w="14488033">
                  <a:moveTo>
                    <a:pt x="19050" y="0"/>
                  </a:moveTo>
                  <a:lnTo>
                    <a:pt x="14468983" y="38100"/>
                  </a:lnTo>
                  <a:cubicBezTo>
                    <a:pt x="14479524" y="38100"/>
                    <a:pt x="14488033" y="46736"/>
                    <a:pt x="14488033" y="57150"/>
                  </a:cubicBezTo>
                  <a:cubicBezTo>
                    <a:pt x="14488033" y="67564"/>
                    <a:pt x="14479397" y="76200"/>
                    <a:pt x="14468983" y="76200"/>
                  </a:cubicBezTo>
                  <a:lnTo>
                    <a:pt x="19050" y="38100"/>
                  </a:lnTo>
                  <a:cubicBezTo>
                    <a:pt x="8509" y="38100"/>
                    <a:pt x="0" y="29464"/>
                    <a:pt x="0" y="19050"/>
                  </a:cubicBezTo>
                  <a:cubicBezTo>
                    <a:pt x="0" y="8636"/>
                    <a:pt x="8636" y="0"/>
                    <a:pt x="19050" y="0"/>
                  </a:cubicBezTo>
                  <a:close/>
                </a:path>
              </a:pathLst>
            </a:custGeom>
            <a:solidFill>
              <a:srgbClr val="4E91F0"/>
            </a:solidFill>
          </p:spPr>
        </p:sp>
      </p:grpSp>
      <p:sp>
        <p:nvSpPr>
          <p:cNvPr name="Freeform 7" id="7"/>
          <p:cNvSpPr/>
          <p:nvPr/>
        </p:nvSpPr>
        <p:spPr>
          <a:xfrm flipH="false" flipV="false" rot="0">
            <a:off x="2726322" y="28189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5288206" y="28189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8570764" y="292692"/>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4178066" y="305142"/>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1616970" y="32451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1661376" y="2228573"/>
            <a:ext cx="14965249" cy="6143625"/>
          </a:xfrm>
          <a:prstGeom prst="rect">
            <a:avLst/>
          </a:prstGeom>
        </p:spPr>
        <p:txBody>
          <a:bodyPr anchor="t" rtlCol="false" tIns="0" lIns="0" bIns="0" rIns="0">
            <a:spAutoFit/>
          </a:bodyPr>
          <a:lstStyle/>
          <a:p>
            <a:pPr algn="l">
              <a:lnSpc>
                <a:spcPts val="4320"/>
              </a:lnSpc>
            </a:pPr>
            <a:r>
              <a:rPr lang="en-US" sz="3600" b="true">
                <a:solidFill>
                  <a:srgbClr val="000000"/>
                </a:solidFill>
                <a:latin typeface="Times New Roman Bold"/>
                <a:ea typeface="Times New Roman Bold"/>
                <a:cs typeface="Times New Roman Bold"/>
                <a:sym typeface="Times New Roman Bold"/>
              </a:rPr>
              <a:t>Zabbix :</a:t>
            </a:r>
          </a:p>
          <a:p>
            <a:pPr algn="l">
              <a:lnSpc>
                <a:spcPts val="4320"/>
              </a:lnSpc>
            </a:pPr>
          </a:p>
          <a:p>
            <a:pPr algn="l">
              <a:lnSpc>
                <a:spcPts val="3360"/>
              </a:lnSpc>
            </a:pPr>
            <a:r>
              <a:rPr lang="en-US" sz="2800" b="true">
                <a:solidFill>
                  <a:srgbClr val="000000"/>
                </a:solidFill>
                <a:latin typeface="Times New Roman Bold"/>
                <a:ea typeface="Times New Roman Bold"/>
                <a:cs typeface="Times New Roman Bold"/>
                <a:sym typeface="Times New Roman Bold"/>
              </a:rPr>
              <a:t>Z</a:t>
            </a:r>
            <a:r>
              <a:rPr lang="en-US" sz="2800">
                <a:solidFill>
                  <a:srgbClr val="000000"/>
                </a:solidFill>
                <a:latin typeface="Times New Roman"/>
                <a:ea typeface="Times New Roman"/>
                <a:cs typeface="Times New Roman"/>
                <a:sym typeface="Times New Roman"/>
              </a:rPr>
              <a:t>abbix est une plateforme open source complète de supervision d’entreprise, qui combine la surveillance des équipements, des applications et des performances système dans une interface Web moderne.</a:t>
            </a:r>
          </a:p>
          <a:p>
            <a:pPr algn="l">
              <a:lnSpc>
                <a:spcPts val="3360"/>
              </a:lnSpc>
            </a:pPr>
            <a:r>
              <a:rPr lang="en-US" sz="2800" b="true">
                <a:solidFill>
                  <a:srgbClr val="FF9514"/>
                </a:solidFill>
                <a:latin typeface="Times New Roman Bold"/>
                <a:ea typeface="Times New Roman Bold"/>
                <a:cs typeface="Times New Roman Bold"/>
                <a:sym typeface="Times New Roman Bold"/>
              </a:rPr>
              <a:t> </a:t>
            </a:r>
            <a:r>
              <a:rPr lang="en-US" sz="2800" b="true">
                <a:solidFill>
                  <a:srgbClr val="FF9514"/>
                </a:solidFill>
                <a:latin typeface="Times New Roman Bold"/>
                <a:ea typeface="Times New Roman Bold"/>
                <a:cs typeface="Times New Roman Bold"/>
                <a:sym typeface="Times New Roman Bold"/>
              </a:rPr>
              <a:t>Points forts :</a:t>
            </a:r>
          </a:p>
          <a:p>
            <a:pPr algn="l" marL="604524" indent="-302262" lvl="1">
              <a:lnSpc>
                <a:spcPts val="3360"/>
              </a:lnSpc>
              <a:buFont typeface="Arial"/>
              <a:buChar char="•"/>
            </a:pPr>
            <a:r>
              <a:rPr lang="en-US" sz="2800">
                <a:solidFill>
                  <a:srgbClr val="000000"/>
                </a:solidFill>
                <a:latin typeface="Times New Roman"/>
                <a:ea typeface="Times New Roman"/>
                <a:cs typeface="Times New Roman"/>
                <a:sym typeface="Times New Roman"/>
              </a:rPr>
              <a:t>Interface Web moderne et facile à utiliser</a:t>
            </a:r>
          </a:p>
          <a:p>
            <a:pPr algn="l" marL="604524" indent="-302262" lvl="1">
              <a:lnSpc>
                <a:spcPts val="3360"/>
              </a:lnSpc>
              <a:buFont typeface="Arial"/>
              <a:buChar char="•"/>
            </a:pPr>
            <a:r>
              <a:rPr lang="en-US" sz="2800">
                <a:solidFill>
                  <a:srgbClr val="000000"/>
                </a:solidFill>
                <a:latin typeface="Times New Roman"/>
                <a:ea typeface="Times New Roman"/>
                <a:cs typeface="Times New Roman"/>
                <a:sym typeface="Times New Roman"/>
              </a:rPr>
              <a:t>Auto-découverte des équipements</a:t>
            </a:r>
          </a:p>
          <a:p>
            <a:pPr algn="l" marL="604524" indent="-302262" lvl="1">
              <a:lnSpc>
                <a:spcPts val="3360"/>
              </a:lnSpc>
              <a:buFont typeface="Arial"/>
              <a:buChar char="•"/>
            </a:pPr>
            <a:r>
              <a:rPr lang="en-US" sz="2800">
                <a:solidFill>
                  <a:srgbClr val="000000"/>
                </a:solidFill>
                <a:latin typeface="Times New Roman"/>
                <a:ea typeface="Times New Roman"/>
                <a:cs typeface="Times New Roman"/>
                <a:sym typeface="Times New Roman"/>
              </a:rPr>
              <a:t>Alertes avancées, graphiques intégrés et inventaire centralisé</a:t>
            </a:r>
          </a:p>
          <a:p>
            <a:pPr algn="l" marL="604524" indent="-302262" lvl="1">
              <a:lnSpc>
                <a:spcPts val="3360"/>
              </a:lnSpc>
              <a:buFont typeface="Arial"/>
              <a:buChar char="•"/>
            </a:pPr>
            <a:r>
              <a:rPr lang="en-US" sz="2800">
                <a:solidFill>
                  <a:srgbClr val="000000"/>
                </a:solidFill>
                <a:latin typeface="Times New Roman"/>
                <a:ea typeface="Times New Roman"/>
                <a:cs typeface="Times New Roman"/>
                <a:sym typeface="Times New Roman"/>
              </a:rPr>
              <a:t>Polyvalent pour réseaux, serveurs et applications</a:t>
            </a:r>
          </a:p>
          <a:p>
            <a:pPr algn="l">
              <a:lnSpc>
                <a:spcPts val="3360"/>
              </a:lnSpc>
            </a:pPr>
            <a:r>
              <a:rPr lang="en-US" sz="2800" b="true">
                <a:solidFill>
                  <a:srgbClr val="FF9514"/>
                </a:solidFill>
                <a:latin typeface="Times New Roman Bold"/>
                <a:ea typeface="Times New Roman Bold"/>
                <a:cs typeface="Times New Roman Bold"/>
                <a:sym typeface="Times New Roman Bold"/>
              </a:rPr>
              <a:t> </a:t>
            </a:r>
            <a:r>
              <a:rPr lang="en-US" sz="2800" b="true">
                <a:solidFill>
                  <a:srgbClr val="FF9514"/>
                </a:solidFill>
                <a:latin typeface="Times New Roman Bold"/>
                <a:ea typeface="Times New Roman Bold"/>
                <a:cs typeface="Times New Roman Bold"/>
                <a:sym typeface="Times New Roman Bold"/>
              </a:rPr>
              <a:t>Points faibles :</a:t>
            </a:r>
          </a:p>
          <a:p>
            <a:pPr algn="l" marL="604524" indent="-302262" lvl="1">
              <a:lnSpc>
                <a:spcPts val="3360"/>
              </a:lnSpc>
              <a:buFont typeface="Arial"/>
              <a:buChar char="•"/>
            </a:pPr>
            <a:r>
              <a:rPr lang="en-US" sz="2800">
                <a:solidFill>
                  <a:srgbClr val="000000"/>
                </a:solidFill>
                <a:latin typeface="Times New Roman"/>
                <a:ea typeface="Times New Roman"/>
                <a:cs typeface="Times New Roman"/>
                <a:sym typeface="Times New Roman"/>
              </a:rPr>
              <a:t>Peut prendre du temps à configurer parfaitement</a:t>
            </a:r>
          </a:p>
          <a:p>
            <a:pPr algn="l" marL="604524" indent="-302262" lvl="1">
              <a:lnSpc>
                <a:spcPts val="3360"/>
              </a:lnSpc>
              <a:buFont typeface="Arial"/>
              <a:buChar char="•"/>
            </a:pPr>
            <a:r>
              <a:rPr lang="en-US" sz="2800">
                <a:solidFill>
                  <a:srgbClr val="000000"/>
                </a:solidFill>
                <a:latin typeface="Times New Roman"/>
                <a:ea typeface="Times New Roman"/>
                <a:cs typeface="Times New Roman"/>
                <a:sym typeface="Times New Roman"/>
              </a:rPr>
              <a:t>Demande un minimum de connaissances techniques</a:t>
            </a:r>
          </a:p>
          <a:p>
            <a:pPr algn="l">
              <a:lnSpc>
                <a:spcPts val="3360"/>
              </a:lnSpc>
            </a:pPr>
          </a:p>
        </p:txBody>
      </p:sp>
      <p:sp>
        <p:nvSpPr>
          <p:cNvPr name="Freeform 13" id="13"/>
          <p:cNvSpPr/>
          <p:nvPr/>
        </p:nvSpPr>
        <p:spPr>
          <a:xfrm flipH="false" flipV="false" rot="0">
            <a:off x="12712951" y="5802559"/>
            <a:ext cx="3452365" cy="1500547"/>
          </a:xfrm>
          <a:custGeom>
            <a:avLst/>
            <a:gdLst/>
            <a:ahLst/>
            <a:cxnLst/>
            <a:rect r="r" b="b" t="t" l="l"/>
            <a:pathLst>
              <a:path h="1500547" w="3452365">
                <a:moveTo>
                  <a:pt x="0" y="0"/>
                </a:moveTo>
                <a:lnTo>
                  <a:pt x="3452364" y="0"/>
                </a:lnTo>
                <a:lnTo>
                  <a:pt x="3452364" y="1500547"/>
                </a:lnTo>
                <a:lnTo>
                  <a:pt x="0" y="1500547"/>
                </a:lnTo>
                <a:lnTo>
                  <a:pt x="0" y="0"/>
                </a:lnTo>
                <a:close/>
              </a:path>
            </a:pathLst>
          </a:custGeom>
          <a:blipFill>
            <a:blip r:embed="rId6"/>
            <a:stretch>
              <a:fillRect l="0" t="-62327" r="0" b="-67746"/>
            </a:stretch>
          </a:blipFill>
        </p:spPr>
      </p:sp>
      <p:sp>
        <p:nvSpPr>
          <p:cNvPr name="TextBox 14" id="14"/>
          <p:cNvSpPr txBox="true"/>
          <p:nvPr/>
        </p:nvSpPr>
        <p:spPr>
          <a:xfrm rot="0">
            <a:off x="2475284" y="987944"/>
            <a:ext cx="1607741" cy="514350"/>
          </a:xfrm>
          <a:prstGeom prst="rect">
            <a:avLst/>
          </a:prstGeom>
        </p:spPr>
        <p:txBody>
          <a:bodyPr anchor="t" rtlCol="false" tIns="0" lIns="0" bIns="0" rIns="0">
            <a:spAutoFit/>
          </a:bodyPr>
          <a:lstStyle/>
          <a:p>
            <a:pPr algn="ctr">
              <a:lnSpc>
                <a:spcPts val="1980"/>
              </a:lnSpc>
            </a:pPr>
            <a:r>
              <a:rPr lang="en-US" sz="1650" b="true">
                <a:solidFill>
                  <a:srgbClr val="4E91F0"/>
                </a:solidFill>
                <a:latin typeface="Times New Roman Bold"/>
                <a:ea typeface="Times New Roman Bold"/>
                <a:cs typeface="Times New Roman Bold"/>
                <a:sym typeface="Times New Roman Bold"/>
              </a:rPr>
              <a:t>Introduction à la supervision</a:t>
            </a:r>
          </a:p>
        </p:txBody>
      </p:sp>
      <p:sp>
        <p:nvSpPr>
          <p:cNvPr name="TextBox 15" id="15"/>
          <p:cNvSpPr txBox="true"/>
          <p:nvPr/>
        </p:nvSpPr>
        <p:spPr>
          <a:xfrm rot="0">
            <a:off x="14041790" y="1068032"/>
            <a:ext cx="1104010" cy="358125"/>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Conclusion</a:t>
            </a:r>
          </a:p>
        </p:txBody>
      </p:sp>
      <p:sp>
        <p:nvSpPr>
          <p:cNvPr name="TextBox 16" id="16"/>
          <p:cNvSpPr txBox="true"/>
          <p:nvPr/>
        </p:nvSpPr>
        <p:spPr>
          <a:xfrm rot="0">
            <a:off x="4502125" y="1021536"/>
            <a:ext cx="2563545" cy="514350"/>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Architecture et fonctionnement</a:t>
            </a:r>
          </a:p>
        </p:txBody>
      </p:sp>
      <p:sp>
        <p:nvSpPr>
          <p:cNvPr name="TextBox 17" id="17"/>
          <p:cNvSpPr txBox="true"/>
          <p:nvPr/>
        </p:nvSpPr>
        <p:spPr>
          <a:xfrm rot="0">
            <a:off x="10994499" y="1081200"/>
            <a:ext cx="2165112" cy="266700"/>
          </a:xfrm>
          <a:prstGeom prst="rect">
            <a:avLst/>
          </a:prstGeom>
        </p:spPr>
        <p:txBody>
          <a:bodyPr anchor="t" rtlCol="false" tIns="0" lIns="0" bIns="0" rIns="0">
            <a:spAutoFit/>
          </a:bodyPr>
          <a:lstStyle/>
          <a:p>
            <a:pPr algn="l">
              <a:lnSpc>
                <a:spcPts val="1980"/>
              </a:lnSpc>
            </a:pPr>
            <a:r>
              <a:rPr lang="en-US" sz="1650" b="true">
                <a:solidFill>
                  <a:srgbClr val="A6A6A6"/>
                </a:solidFill>
                <a:latin typeface="Times New Roman Bold"/>
                <a:ea typeface="Times New Roman Bold"/>
                <a:cs typeface="Times New Roman Bold"/>
                <a:sym typeface="Times New Roman Bold"/>
              </a:rPr>
              <a:t>Comparaison et analyse</a:t>
            </a:r>
          </a:p>
        </p:txBody>
      </p:sp>
      <p:sp>
        <p:nvSpPr>
          <p:cNvPr name="TextBox 18" id="18"/>
          <p:cNvSpPr txBox="true"/>
          <p:nvPr/>
        </p:nvSpPr>
        <p:spPr>
          <a:xfrm rot="0">
            <a:off x="7623616" y="1088982"/>
            <a:ext cx="2949177" cy="514350"/>
          </a:xfrm>
          <a:prstGeom prst="rect">
            <a:avLst/>
          </a:prstGeom>
        </p:spPr>
        <p:txBody>
          <a:bodyPr anchor="t" rtlCol="false" tIns="0" lIns="0" bIns="0" rIns="0">
            <a:spAutoFit/>
          </a:bodyPr>
          <a:lstStyle/>
          <a:p>
            <a:pPr algn="ctr">
              <a:lnSpc>
                <a:spcPts val="1980"/>
              </a:lnSpc>
            </a:pPr>
            <a:r>
              <a:rPr lang="en-US" sz="1650" b="true">
                <a:solidFill>
                  <a:srgbClr val="4E91F0"/>
                </a:solidFill>
                <a:latin typeface="Times New Roman Bold"/>
                <a:ea typeface="Times New Roman Bold"/>
                <a:cs typeface="Times New Roman Bold"/>
                <a:sym typeface="Times New Roman Bold"/>
              </a:rPr>
              <a:t>Présentation des outils Open Source</a:t>
            </a:r>
          </a:p>
        </p:txBody>
      </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915900" y="9505949"/>
            <a:ext cx="4114800" cy="576264"/>
            <a:chOff x="0" y="0"/>
            <a:chExt cx="5486400" cy="768351"/>
          </a:xfrm>
        </p:grpSpPr>
        <p:sp>
          <p:nvSpPr>
            <p:cNvPr name="Freeform 3" id="3"/>
            <p:cNvSpPr/>
            <p:nvPr/>
          </p:nvSpPr>
          <p:spPr>
            <a:xfrm flipH="false" flipV="false" rot="0">
              <a:off x="0" y="0"/>
              <a:ext cx="5486400" cy="768351"/>
            </a:xfrm>
            <a:custGeom>
              <a:avLst/>
              <a:gdLst/>
              <a:ahLst/>
              <a:cxnLst/>
              <a:rect r="r" b="b" t="t" l="l"/>
              <a:pathLst>
                <a:path h="768351" w="5486400">
                  <a:moveTo>
                    <a:pt x="0" y="0"/>
                  </a:moveTo>
                  <a:lnTo>
                    <a:pt x="5486400" y="0"/>
                  </a:lnTo>
                  <a:lnTo>
                    <a:pt x="5486400" y="768351"/>
                  </a:lnTo>
                  <a:lnTo>
                    <a:pt x="0" y="768351"/>
                  </a:lnTo>
                  <a:close/>
                </a:path>
              </a:pathLst>
            </a:custGeom>
          </p:spPr>
        </p:sp>
        <p:sp>
          <p:nvSpPr>
            <p:cNvPr name="TextBox 4" id="4"/>
            <p:cNvSpPr txBox="true"/>
            <p:nvPr/>
          </p:nvSpPr>
          <p:spPr>
            <a:xfrm>
              <a:off x="0" y="-19050"/>
              <a:ext cx="5486400" cy="787401"/>
            </a:xfrm>
            <a:prstGeom prst="rect">
              <a:avLst/>
            </a:prstGeom>
          </p:spPr>
          <p:txBody>
            <a:bodyPr anchor="ctr" rtlCol="false" tIns="0" lIns="0" bIns="0" rIns="0"/>
            <a:lstStyle/>
            <a:p>
              <a:pPr algn="r">
                <a:lnSpc>
                  <a:spcPts val="2160"/>
                </a:lnSpc>
              </a:pPr>
              <a:r>
                <a:rPr lang="en-US" sz="1800">
                  <a:solidFill>
                    <a:srgbClr val="898989"/>
                  </a:solidFill>
                  <a:latin typeface="Arimo"/>
                  <a:ea typeface="Arimo"/>
                  <a:cs typeface="Arimo"/>
                  <a:sym typeface="Arimo"/>
                </a:rPr>
                <a:t>9</a:t>
              </a:r>
            </a:p>
          </p:txBody>
        </p:sp>
      </p:grpSp>
      <p:grpSp>
        <p:nvGrpSpPr>
          <p:cNvPr name="Group 5" id="5"/>
          <p:cNvGrpSpPr/>
          <p:nvPr/>
        </p:nvGrpSpPr>
        <p:grpSpPr>
          <a:xfrm rot="0">
            <a:off x="3364640" y="615134"/>
            <a:ext cx="10866025" cy="57150"/>
            <a:chOff x="0" y="0"/>
            <a:chExt cx="14488033" cy="76200"/>
          </a:xfrm>
        </p:grpSpPr>
        <p:sp>
          <p:nvSpPr>
            <p:cNvPr name="Freeform 6" id="6"/>
            <p:cNvSpPr/>
            <p:nvPr/>
          </p:nvSpPr>
          <p:spPr>
            <a:xfrm flipH="false" flipV="false" rot="0">
              <a:off x="0" y="0"/>
              <a:ext cx="14488033" cy="76200"/>
            </a:xfrm>
            <a:custGeom>
              <a:avLst/>
              <a:gdLst/>
              <a:ahLst/>
              <a:cxnLst/>
              <a:rect r="r" b="b" t="t" l="l"/>
              <a:pathLst>
                <a:path h="76200" w="14488033">
                  <a:moveTo>
                    <a:pt x="19050" y="0"/>
                  </a:moveTo>
                  <a:lnTo>
                    <a:pt x="14468983" y="38100"/>
                  </a:lnTo>
                  <a:cubicBezTo>
                    <a:pt x="14479524" y="38100"/>
                    <a:pt x="14488033" y="46736"/>
                    <a:pt x="14488033" y="57150"/>
                  </a:cubicBezTo>
                  <a:cubicBezTo>
                    <a:pt x="14488033" y="67564"/>
                    <a:pt x="14479397" y="76200"/>
                    <a:pt x="14468983" y="76200"/>
                  </a:cubicBezTo>
                  <a:lnTo>
                    <a:pt x="19050" y="38100"/>
                  </a:lnTo>
                  <a:cubicBezTo>
                    <a:pt x="8509" y="38100"/>
                    <a:pt x="0" y="29464"/>
                    <a:pt x="0" y="19050"/>
                  </a:cubicBezTo>
                  <a:cubicBezTo>
                    <a:pt x="0" y="8636"/>
                    <a:pt x="8636" y="0"/>
                    <a:pt x="19050" y="0"/>
                  </a:cubicBezTo>
                  <a:close/>
                </a:path>
              </a:pathLst>
            </a:custGeom>
            <a:solidFill>
              <a:srgbClr val="4E91F0"/>
            </a:solidFill>
          </p:spPr>
        </p:sp>
      </p:grpSp>
      <p:sp>
        <p:nvSpPr>
          <p:cNvPr name="Freeform 7" id="7"/>
          <p:cNvSpPr/>
          <p:nvPr/>
        </p:nvSpPr>
        <p:spPr>
          <a:xfrm flipH="false" flipV="false" rot="0">
            <a:off x="2726322" y="28189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5288206" y="28189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8570764" y="292692"/>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4178066" y="305142"/>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1616970" y="32451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1661376" y="2228573"/>
            <a:ext cx="14965249" cy="5305425"/>
          </a:xfrm>
          <a:prstGeom prst="rect">
            <a:avLst/>
          </a:prstGeom>
        </p:spPr>
        <p:txBody>
          <a:bodyPr anchor="t" rtlCol="false" tIns="0" lIns="0" bIns="0" rIns="0">
            <a:spAutoFit/>
          </a:bodyPr>
          <a:lstStyle/>
          <a:p>
            <a:pPr algn="l">
              <a:lnSpc>
                <a:spcPts val="4320"/>
              </a:lnSpc>
            </a:pPr>
            <a:r>
              <a:rPr lang="en-US" sz="3600" b="true">
                <a:solidFill>
                  <a:srgbClr val="000000"/>
                </a:solidFill>
                <a:latin typeface="Times New Roman Bold"/>
                <a:ea typeface="Times New Roman Bold"/>
                <a:cs typeface="Times New Roman Bold"/>
                <a:sym typeface="Times New Roman Bold"/>
              </a:rPr>
              <a:t>Cacti :</a:t>
            </a:r>
          </a:p>
          <a:p>
            <a:pPr algn="l">
              <a:lnSpc>
                <a:spcPts val="4320"/>
              </a:lnSpc>
            </a:pPr>
          </a:p>
          <a:p>
            <a:pPr algn="l">
              <a:lnSpc>
                <a:spcPts val="3360"/>
              </a:lnSpc>
            </a:pPr>
            <a:r>
              <a:rPr lang="en-US" sz="2800" b="true">
                <a:solidFill>
                  <a:srgbClr val="000000"/>
                </a:solidFill>
                <a:latin typeface="Times New Roman Bold"/>
                <a:ea typeface="Times New Roman Bold"/>
                <a:cs typeface="Times New Roman Bold"/>
                <a:sym typeface="Times New Roman Bold"/>
              </a:rPr>
              <a:t>C</a:t>
            </a:r>
            <a:r>
              <a:rPr lang="en-US" sz="2800">
                <a:solidFill>
                  <a:srgbClr val="000000"/>
                </a:solidFill>
                <a:latin typeface="Times New Roman"/>
                <a:ea typeface="Times New Roman"/>
                <a:cs typeface="Times New Roman"/>
                <a:sym typeface="Times New Roman"/>
              </a:rPr>
              <a:t>acti est un outil open source spécialisé dans la métrologie réseau et la génération de graphiques détaillés, basé sur le protocole SNMP.</a:t>
            </a:r>
          </a:p>
          <a:p>
            <a:pPr algn="l">
              <a:lnSpc>
                <a:spcPts val="3360"/>
              </a:lnSpc>
            </a:pPr>
            <a:r>
              <a:rPr lang="en-US" sz="2800" b="true">
                <a:solidFill>
                  <a:srgbClr val="FF9514"/>
                </a:solidFill>
                <a:latin typeface="Times New Roman Bold"/>
                <a:ea typeface="Times New Roman Bold"/>
                <a:cs typeface="Times New Roman Bold"/>
                <a:sym typeface="Times New Roman Bold"/>
              </a:rPr>
              <a:t> </a:t>
            </a:r>
            <a:r>
              <a:rPr lang="en-US" sz="2800" b="true">
                <a:solidFill>
                  <a:srgbClr val="FF9514"/>
                </a:solidFill>
                <a:latin typeface="Times New Roman Bold"/>
                <a:ea typeface="Times New Roman Bold"/>
                <a:cs typeface="Times New Roman Bold"/>
                <a:sym typeface="Times New Roman Bold"/>
              </a:rPr>
              <a:t>Points forts :</a:t>
            </a:r>
          </a:p>
          <a:p>
            <a:pPr algn="l" marL="604524" indent="-302262" lvl="1">
              <a:lnSpc>
                <a:spcPts val="3360"/>
              </a:lnSpc>
              <a:buFont typeface="Arial"/>
              <a:buChar char="•"/>
            </a:pPr>
            <a:r>
              <a:rPr lang="en-US" sz="2800">
                <a:solidFill>
                  <a:srgbClr val="000000"/>
                </a:solidFill>
                <a:latin typeface="Times New Roman"/>
                <a:ea typeface="Times New Roman"/>
                <a:cs typeface="Times New Roman"/>
                <a:sym typeface="Times New Roman"/>
              </a:rPr>
              <a:t>Idéal pour surveiller la bande passante et le trafic réseau</a:t>
            </a:r>
          </a:p>
          <a:p>
            <a:pPr algn="l" marL="604524" indent="-302262" lvl="1">
              <a:lnSpc>
                <a:spcPts val="3360"/>
              </a:lnSpc>
              <a:buFont typeface="Arial"/>
              <a:buChar char="•"/>
            </a:pPr>
            <a:r>
              <a:rPr lang="en-US" sz="2800">
                <a:solidFill>
                  <a:srgbClr val="000000"/>
                </a:solidFill>
                <a:latin typeface="Times New Roman"/>
                <a:ea typeface="Times New Roman"/>
                <a:cs typeface="Times New Roman"/>
                <a:sym typeface="Times New Roman"/>
              </a:rPr>
              <a:t>Graphiques détaillés et personnalisables</a:t>
            </a:r>
          </a:p>
          <a:p>
            <a:pPr algn="l" marL="604524" indent="-302262" lvl="1">
              <a:lnSpc>
                <a:spcPts val="3360"/>
              </a:lnSpc>
              <a:buFont typeface="Arial"/>
              <a:buChar char="•"/>
            </a:pPr>
            <a:r>
              <a:rPr lang="en-US" sz="2800">
                <a:solidFill>
                  <a:srgbClr val="000000"/>
                </a:solidFill>
                <a:latin typeface="Times New Roman"/>
                <a:ea typeface="Times New Roman"/>
                <a:cs typeface="Times New Roman"/>
                <a:sym typeface="Times New Roman"/>
              </a:rPr>
              <a:t>Basé sur SNMP, facile à connecter aux équipements</a:t>
            </a:r>
          </a:p>
          <a:p>
            <a:pPr algn="l">
              <a:lnSpc>
                <a:spcPts val="3360"/>
              </a:lnSpc>
            </a:pPr>
            <a:r>
              <a:rPr lang="en-US" sz="2800" b="true">
                <a:solidFill>
                  <a:srgbClr val="FF9514"/>
                </a:solidFill>
                <a:latin typeface="Times New Roman Bold"/>
                <a:ea typeface="Times New Roman Bold"/>
                <a:cs typeface="Times New Roman Bold"/>
                <a:sym typeface="Times New Roman Bold"/>
              </a:rPr>
              <a:t> </a:t>
            </a:r>
            <a:r>
              <a:rPr lang="en-US" sz="2800" b="true">
                <a:solidFill>
                  <a:srgbClr val="FF9514"/>
                </a:solidFill>
                <a:latin typeface="Times New Roman Bold"/>
                <a:ea typeface="Times New Roman Bold"/>
                <a:cs typeface="Times New Roman Bold"/>
                <a:sym typeface="Times New Roman Bold"/>
              </a:rPr>
              <a:t>Points faibles :</a:t>
            </a:r>
          </a:p>
          <a:p>
            <a:pPr algn="l" marL="604524" indent="-302262" lvl="1">
              <a:lnSpc>
                <a:spcPts val="3360"/>
              </a:lnSpc>
              <a:buFont typeface="Arial"/>
              <a:buChar char="•"/>
            </a:pPr>
            <a:r>
              <a:rPr lang="en-US" sz="2800">
                <a:solidFill>
                  <a:srgbClr val="000000"/>
                </a:solidFill>
                <a:latin typeface="Times New Roman"/>
                <a:ea typeface="Times New Roman"/>
                <a:cs typeface="Times New Roman"/>
                <a:sym typeface="Times New Roman"/>
              </a:rPr>
              <a:t>Gestion des alertes limitée (nécessite des extensions)</a:t>
            </a:r>
          </a:p>
          <a:p>
            <a:pPr algn="l" marL="604524" indent="-302262" lvl="1">
              <a:lnSpc>
                <a:spcPts val="3360"/>
              </a:lnSpc>
              <a:buFont typeface="Arial"/>
              <a:buChar char="•"/>
            </a:pPr>
            <a:r>
              <a:rPr lang="en-US" sz="2800">
                <a:solidFill>
                  <a:srgbClr val="000000"/>
                </a:solidFill>
                <a:latin typeface="Times New Roman"/>
                <a:ea typeface="Times New Roman"/>
                <a:cs typeface="Times New Roman"/>
                <a:sym typeface="Times New Roman"/>
              </a:rPr>
              <a:t>Moins complet que Zabbix pour le monitoring des serveurs et applications</a:t>
            </a:r>
          </a:p>
          <a:p>
            <a:pPr algn="l">
              <a:lnSpc>
                <a:spcPts val="3360"/>
              </a:lnSpc>
            </a:pPr>
          </a:p>
        </p:txBody>
      </p:sp>
      <p:sp>
        <p:nvSpPr>
          <p:cNvPr name="TextBox 13" id="13"/>
          <p:cNvSpPr txBox="true"/>
          <p:nvPr/>
        </p:nvSpPr>
        <p:spPr>
          <a:xfrm rot="0">
            <a:off x="2475284" y="987944"/>
            <a:ext cx="1607741" cy="514350"/>
          </a:xfrm>
          <a:prstGeom prst="rect">
            <a:avLst/>
          </a:prstGeom>
        </p:spPr>
        <p:txBody>
          <a:bodyPr anchor="t" rtlCol="false" tIns="0" lIns="0" bIns="0" rIns="0">
            <a:spAutoFit/>
          </a:bodyPr>
          <a:lstStyle/>
          <a:p>
            <a:pPr algn="ctr">
              <a:lnSpc>
                <a:spcPts val="1980"/>
              </a:lnSpc>
            </a:pPr>
            <a:r>
              <a:rPr lang="en-US" sz="1650" b="true">
                <a:solidFill>
                  <a:srgbClr val="4E91F0"/>
                </a:solidFill>
                <a:latin typeface="Times New Roman Bold"/>
                <a:ea typeface="Times New Roman Bold"/>
                <a:cs typeface="Times New Roman Bold"/>
                <a:sym typeface="Times New Roman Bold"/>
              </a:rPr>
              <a:t>Introduction à la supervision</a:t>
            </a:r>
          </a:p>
        </p:txBody>
      </p:sp>
      <p:sp>
        <p:nvSpPr>
          <p:cNvPr name="TextBox 14" id="14"/>
          <p:cNvSpPr txBox="true"/>
          <p:nvPr/>
        </p:nvSpPr>
        <p:spPr>
          <a:xfrm rot="0">
            <a:off x="14041790" y="1068032"/>
            <a:ext cx="1104010" cy="358125"/>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Conclusion</a:t>
            </a:r>
          </a:p>
        </p:txBody>
      </p:sp>
      <p:sp>
        <p:nvSpPr>
          <p:cNvPr name="TextBox 15" id="15"/>
          <p:cNvSpPr txBox="true"/>
          <p:nvPr/>
        </p:nvSpPr>
        <p:spPr>
          <a:xfrm rot="0">
            <a:off x="4502125" y="1021536"/>
            <a:ext cx="2563545" cy="514350"/>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Architecture et fonctionnement</a:t>
            </a:r>
          </a:p>
        </p:txBody>
      </p:sp>
      <p:sp>
        <p:nvSpPr>
          <p:cNvPr name="TextBox 16" id="16"/>
          <p:cNvSpPr txBox="true"/>
          <p:nvPr/>
        </p:nvSpPr>
        <p:spPr>
          <a:xfrm rot="0">
            <a:off x="10994499" y="1081200"/>
            <a:ext cx="2165112" cy="266700"/>
          </a:xfrm>
          <a:prstGeom prst="rect">
            <a:avLst/>
          </a:prstGeom>
        </p:spPr>
        <p:txBody>
          <a:bodyPr anchor="t" rtlCol="false" tIns="0" lIns="0" bIns="0" rIns="0">
            <a:spAutoFit/>
          </a:bodyPr>
          <a:lstStyle/>
          <a:p>
            <a:pPr algn="l">
              <a:lnSpc>
                <a:spcPts val="1980"/>
              </a:lnSpc>
            </a:pPr>
            <a:r>
              <a:rPr lang="en-US" sz="1650" b="true">
                <a:solidFill>
                  <a:srgbClr val="A6A6A6"/>
                </a:solidFill>
                <a:latin typeface="Times New Roman Bold"/>
                <a:ea typeface="Times New Roman Bold"/>
                <a:cs typeface="Times New Roman Bold"/>
                <a:sym typeface="Times New Roman Bold"/>
              </a:rPr>
              <a:t>Comparaison et analyse</a:t>
            </a:r>
          </a:p>
        </p:txBody>
      </p:sp>
      <p:sp>
        <p:nvSpPr>
          <p:cNvPr name="TextBox 17" id="17"/>
          <p:cNvSpPr txBox="true"/>
          <p:nvPr/>
        </p:nvSpPr>
        <p:spPr>
          <a:xfrm rot="0">
            <a:off x="7623616" y="1088982"/>
            <a:ext cx="2949177" cy="514350"/>
          </a:xfrm>
          <a:prstGeom prst="rect">
            <a:avLst/>
          </a:prstGeom>
        </p:spPr>
        <p:txBody>
          <a:bodyPr anchor="t" rtlCol="false" tIns="0" lIns="0" bIns="0" rIns="0">
            <a:spAutoFit/>
          </a:bodyPr>
          <a:lstStyle/>
          <a:p>
            <a:pPr algn="ctr">
              <a:lnSpc>
                <a:spcPts val="1980"/>
              </a:lnSpc>
            </a:pPr>
            <a:r>
              <a:rPr lang="en-US" sz="1650" b="true">
                <a:solidFill>
                  <a:srgbClr val="4E91F0"/>
                </a:solidFill>
                <a:latin typeface="Times New Roman Bold"/>
                <a:ea typeface="Times New Roman Bold"/>
                <a:cs typeface="Times New Roman Bold"/>
                <a:sym typeface="Times New Roman Bold"/>
              </a:rPr>
              <a:t>Présentation des outils Open Source</a:t>
            </a:r>
          </a:p>
        </p:txBody>
      </p:sp>
      <p:sp>
        <p:nvSpPr>
          <p:cNvPr name="Freeform 18" id="18"/>
          <p:cNvSpPr/>
          <p:nvPr/>
        </p:nvSpPr>
        <p:spPr>
          <a:xfrm flipH="false" flipV="false" rot="0">
            <a:off x="13782738" y="4910036"/>
            <a:ext cx="3476562" cy="2338930"/>
          </a:xfrm>
          <a:custGeom>
            <a:avLst/>
            <a:gdLst/>
            <a:ahLst/>
            <a:cxnLst/>
            <a:rect r="r" b="b" t="t" l="l"/>
            <a:pathLst>
              <a:path h="2338930" w="3476562">
                <a:moveTo>
                  <a:pt x="0" y="0"/>
                </a:moveTo>
                <a:lnTo>
                  <a:pt x="3476562" y="0"/>
                </a:lnTo>
                <a:lnTo>
                  <a:pt x="3476562" y="2338929"/>
                </a:lnTo>
                <a:lnTo>
                  <a:pt x="0" y="2338929"/>
                </a:lnTo>
                <a:lnTo>
                  <a:pt x="0" y="0"/>
                </a:lnTo>
                <a:close/>
              </a:path>
            </a:pathLst>
          </a:custGeom>
          <a:blipFill>
            <a:blip r:embed="rId6"/>
            <a:stretch>
              <a:fillRect l="-134494" t="-89954" r="-131452" b="-95614"/>
            </a:stretch>
          </a:blipFill>
        </p:spPr>
      </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915900" y="9505949"/>
            <a:ext cx="4114800" cy="576264"/>
            <a:chOff x="0" y="0"/>
            <a:chExt cx="5486400" cy="768351"/>
          </a:xfrm>
        </p:grpSpPr>
        <p:sp>
          <p:nvSpPr>
            <p:cNvPr name="Freeform 3" id="3"/>
            <p:cNvSpPr/>
            <p:nvPr/>
          </p:nvSpPr>
          <p:spPr>
            <a:xfrm flipH="false" flipV="false" rot="0">
              <a:off x="0" y="0"/>
              <a:ext cx="5486400" cy="768351"/>
            </a:xfrm>
            <a:custGeom>
              <a:avLst/>
              <a:gdLst/>
              <a:ahLst/>
              <a:cxnLst/>
              <a:rect r="r" b="b" t="t" l="l"/>
              <a:pathLst>
                <a:path h="768351" w="5486400">
                  <a:moveTo>
                    <a:pt x="0" y="0"/>
                  </a:moveTo>
                  <a:lnTo>
                    <a:pt x="5486400" y="0"/>
                  </a:lnTo>
                  <a:lnTo>
                    <a:pt x="5486400" y="768351"/>
                  </a:lnTo>
                  <a:lnTo>
                    <a:pt x="0" y="768351"/>
                  </a:lnTo>
                  <a:close/>
                </a:path>
              </a:pathLst>
            </a:custGeom>
          </p:spPr>
        </p:sp>
        <p:sp>
          <p:nvSpPr>
            <p:cNvPr name="TextBox 4" id="4"/>
            <p:cNvSpPr txBox="true"/>
            <p:nvPr/>
          </p:nvSpPr>
          <p:spPr>
            <a:xfrm>
              <a:off x="0" y="-19050"/>
              <a:ext cx="5486400" cy="787401"/>
            </a:xfrm>
            <a:prstGeom prst="rect">
              <a:avLst/>
            </a:prstGeom>
          </p:spPr>
          <p:txBody>
            <a:bodyPr anchor="ctr" rtlCol="false" tIns="0" lIns="0" bIns="0" rIns="0"/>
            <a:lstStyle/>
            <a:p>
              <a:pPr algn="r">
                <a:lnSpc>
                  <a:spcPts val="2160"/>
                </a:lnSpc>
              </a:pPr>
              <a:r>
                <a:rPr lang="en-US" sz="1800">
                  <a:solidFill>
                    <a:srgbClr val="898989"/>
                  </a:solidFill>
                  <a:latin typeface="Arimo"/>
                  <a:ea typeface="Arimo"/>
                  <a:cs typeface="Arimo"/>
                  <a:sym typeface="Arimo"/>
                </a:rPr>
                <a:t>10</a:t>
              </a:r>
            </a:p>
          </p:txBody>
        </p:sp>
      </p:grpSp>
      <p:grpSp>
        <p:nvGrpSpPr>
          <p:cNvPr name="Group 5" id="5"/>
          <p:cNvGrpSpPr/>
          <p:nvPr/>
        </p:nvGrpSpPr>
        <p:grpSpPr>
          <a:xfrm rot="0">
            <a:off x="3364640" y="615134"/>
            <a:ext cx="10866025" cy="57150"/>
            <a:chOff x="0" y="0"/>
            <a:chExt cx="14488033" cy="76200"/>
          </a:xfrm>
        </p:grpSpPr>
        <p:sp>
          <p:nvSpPr>
            <p:cNvPr name="Freeform 6" id="6"/>
            <p:cNvSpPr/>
            <p:nvPr/>
          </p:nvSpPr>
          <p:spPr>
            <a:xfrm flipH="false" flipV="false" rot="0">
              <a:off x="0" y="0"/>
              <a:ext cx="14488033" cy="76200"/>
            </a:xfrm>
            <a:custGeom>
              <a:avLst/>
              <a:gdLst/>
              <a:ahLst/>
              <a:cxnLst/>
              <a:rect r="r" b="b" t="t" l="l"/>
              <a:pathLst>
                <a:path h="76200" w="14488033">
                  <a:moveTo>
                    <a:pt x="19050" y="0"/>
                  </a:moveTo>
                  <a:lnTo>
                    <a:pt x="14468983" y="38100"/>
                  </a:lnTo>
                  <a:cubicBezTo>
                    <a:pt x="14479524" y="38100"/>
                    <a:pt x="14488033" y="46736"/>
                    <a:pt x="14488033" y="57150"/>
                  </a:cubicBezTo>
                  <a:cubicBezTo>
                    <a:pt x="14488033" y="67564"/>
                    <a:pt x="14479397" y="76200"/>
                    <a:pt x="14468983" y="76200"/>
                  </a:cubicBezTo>
                  <a:lnTo>
                    <a:pt x="19050" y="38100"/>
                  </a:lnTo>
                  <a:cubicBezTo>
                    <a:pt x="8509" y="38100"/>
                    <a:pt x="0" y="29464"/>
                    <a:pt x="0" y="19050"/>
                  </a:cubicBezTo>
                  <a:cubicBezTo>
                    <a:pt x="0" y="8636"/>
                    <a:pt x="8636" y="0"/>
                    <a:pt x="19050" y="0"/>
                  </a:cubicBezTo>
                  <a:close/>
                </a:path>
              </a:pathLst>
            </a:custGeom>
            <a:solidFill>
              <a:srgbClr val="4E91F0"/>
            </a:solidFill>
          </p:spPr>
        </p:sp>
      </p:grpSp>
      <p:sp>
        <p:nvSpPr>
          <p:cNvPr name="Freeform 7" id="7"/>
          <p:cNvSpPr/>
          <p:nvPr/>
        </p:nvSpPr>
        <p:spPr>
          <a:xfrm flipH="false" flipV="false" rot="0">
            <a:off x="2726322" y="28189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5288206" y="28189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8570764" y="292692"/>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4178066" y="305142"/>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1616970" y="32451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972987" y="3026271"/>
            <a:ext cx="12895927" cy="5932127"/>
          </a:xfrm>
          <a:custGeom>
            <a:avLst/>
            <a:gdLst/>
            <a:ahLst/>
            <a:cxnLst/>
            <a:rect r="r" b="b" t="t" l="l"/>
            <a:pathLst>
              <a:path h="5932127" w="12895927">
                <a:moveTo>
                  <a:pt x="0" y="0"/>
                </a:moveTo>
                <a:lnTo>
                  <a:pt x="12895927" y="0"/>
                </a:lnTo>
                <a:lnTo>
                  <a:pt x="12895927" y="5932127"/>
                </a:lnTo>
                <a:lnTo>
                  <a:pt x="0" y="5932127"/>
                </a:lnTo>
                <a:lnTo>
                  <a:pt x="0" y="0"/>
                </a:lnTo>
                <a:close/>
              </a:path>
            </a:pathLst>
          </a:custGeom>
          <a:blipFill>
            <a:blip r:embed="rId6"/>
            <a:stretch>
              <a:fillRect l="0" t="0" r="0" b="0"/>
            </a:stretch>
          </a:blipFill>
        </p:spPr>
      </p:sp>
      <p:sp>
        <p:nvSpPr>
          <p:cNvPr name="TextBox 13" id="13"/>
          <p:cNvSpPr txBox="true"/>
          <p:nvPr/>
        </p:nvSpPr>
        <p:spPr>
          <a:xfrm rot="0">
            <a:off x="2475284" y="987944"/>
            <a:ext cx="1885713" cy="514350"/>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Introduction à la supervision</a:t>
            </a:r>
          </a:p>
        </p:txBody>
      </p:sp>
      <p:sp>
        <p:nvSpPr>
          <p:cNvPr name="TextBox 14" id="14"/>
          <p:cNvSpPr txBox="true"/>
          <p:nvPr/>
        </p:nvSpPr>
        <p:spPr>
          <a:xfrm rot="0">
            <a:off x="14041790" y="1068032"/>
            <a:ext cx="1104010" cy="358125"/>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Conclusion</a:t>
            </a:r>
          </a:p>
        </p:txBody>
      </p:sp>
      <p:sp>
        <p:nvSpPr>
          <p:cNvPr name="TextBox 15" id="15"/>
          <p:cNvSpPr txBox="true"/>
          <p:nvPr/>
        </p:nvSpPr>
        <p:spPr>
          <a:xfrm rot="0">
            <a:off x="4502125" y="1021536"/>
            <a:ext cx="2563545" cy="514350"/>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Architecture et fonctionnement</a:t>
            </a:r>
          </a:p>
        </p:txBody>
      </p:sp>
      <p:sp>
        <p:nvSpPr>
          <p:cNvPr name="TextBox 16" id="16"/>
          <p:cNvSpPr txBox="true"/>
          <p:nvPr/>
        </p:nvSpPr>
        <p:spPr>
          <a:xfrm rot="0">
            <a:off x="10994499" y="1081200"/>
            <a:ext cx="2165112" cy="266700"/>
          </a:xfrm>
          <a:prstGeom prst="rect">
            <a:avLst/>
          </a:prstGeom>
        </p:spPr>
        <p:txBody>
          <a:bodyPr anchor="t" rtlCol="false" tIns="0" lIns="0" bIns="0" rIns="0">
            <a:spAutoFit/>
          </a:bodyPr>
          <a:lstStyle/>
          <a:p>
            <a:pPr algn="l">
              <a:lnSpc>
                <a:spcPts val="1980"/>
              </a:lnSpc>
            </a:pPr>
            <a:r>
              <a:rPr lang="en-US" sz="1650" b="true">
                <a:solidFill>
                  <a:srgbClr val="A6A6A6"/>
                </a:solidFill>
                <a:latin typeface="Times New Roman Bold"/>
                <a:ea typeface="Times New Roman Bold"/>
                <a:cs typeface="Times New Roman Bold"/>
                <a:sym typeface="Times New Roman Bold"/>
              </a:rPr>
              <a:t>Comparaison et analyse</a:t>
            </a:r>
          </a:p>
        </p:txBody>
      </p:sp>
      <p:sp>
        <p:nvSpPr>
          <p:cNvPr name="TextBox 17" id="17"/>
          <p:cNvSpPr txBox="true"/>
          <p:nvPr/>
        </p:nvSpPr>
        <p:spPr>
          <a:xfrm rot="0">
            <a:off x="1656324" y="2083296"/>
            <a:ext cx="5409346" cy="571500"/>
          </a:xfrm>
          <a:prstGeom prst="rect">
            <a:avLst/>
          </a:prstGeom>
        </p:spPr>
        <p:txBody>
          <a:bodyPr anchor="t" rtlCol="false" tIns="0" lIns="0" bIns="0" rIns="0">
            <a:spAutoFit/>
          </a:bodyPr>
          <a:lstStyle/>
          <a:p>
            <a:pPr algn="l">
              <a:lnSpc>
                <a:spcPts val="4320"/>
              </a:lnSpc>
            </a:pPr>
            <a:r>
              <a:rPr lang="en-US" sz="3600" b="true">
                <a:solidFill>
                  <a:srgbClr val="0C4493"/>
                </a:solidFill>
                <a:latin typeface="Times New Roman Bold"/>
                <a:ea typeface="Times New Roman Bold"/>
                <a:cs typeface="Times New Roman Bold"/>
                <a:sym typeface="Times New Roman Bold"/>
              </a:rPr>
              <a:t> Comparaison des outils :</a:t>
            </a:r>
          </a:p>
        </p:txBody>
      </p:sp>
      <p:sp>
        <p:nvSpPr>
          <p:cNvPr name="TextBox 18" id="18"/>
          <p:cNvSpPr txBox="true"/>
          <p:nvPr/>
        </p:nvSpPr>
        <p:spPr>
          <a:xfrm rot="0">
            <a:off x="7623616" y="1088982"/>
            <a:ext cx="2949177" cy="514350"/>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Présentation des outils Open Source</a:t>
            </a:r>
          </a:p>
        </p:txBody>
      </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915900" y="9505949"/>
            <a:ext cx="4114800" cy="576264"/>
            <a:chOff x="0" y="0"/>
            <a:chExt cx="5486400" cy="768351"/>
          </a:xfrm>
        </p:grpSpPr>
        <p:sp>
          <p:nvSpPr>
            <p:cNvPr name="Freeform 3" id="3"/>
            <p:cNvSpPr/>
            <p:nvPr/>
          </p:nvSpPr>
          <p:spPr>
            <a:xfrm flipH="false" flipV="false" rot="0">
              <a:off x="0" y="0"/>
              <a:ext cx="5486400" cy="768351"/>
            </a:xfrm>
            <a:custGeom>
              <a:avLst/>
              <a:gdLst/>
              <a:ahLst/>
              <a:cxnLst/>
              <a:rect r="r" b="b" t="t" l="l"/>
              <a:pathLst>
                <a:path h="768351" w="5486400">
                  <a:moveTo>
                    <a:pt x="0" y="0"/>
                  </a:moveTo>
                  <a:lnTo>
                    <a:pt x="5486400" y="0"/>
                  </a:lnTo>
                  <a:lnTo>
                    <a:pt x="5486400" y="768351"/>
                  </a:lnTo>
                  <a:lnTo>
                    <a:pt x="0" y="768351"/>
                  </a:lnTo>
                  <a:close/>
                </a:path>
              </a:pathLst>
            </a:custGeom>
          </p:spPr>
        </p:sp>
        <p:sp>
          <p:nvSpPr>
            <p:cNvPr name="TextBox 4" id="4"/>
            <p:cNvSpPr txBox="true"/>
            <p:nvPr/>
          </p:nvSpPr>
          <p:spPr>
            <a:xfrm>
              <a:off x="0" y="-19050"/>
              <a:ext cx="5486400" cy="787401"/>
            </a:xfrm>
            <a:prstGeom prst="rect">
              <a:avLst/>
            </a:prstGeom>
          </p:spPr>
          <p:txBody>
            <a:bodyPr anchor="ctr" rtlCol="false" tIns="0" lIns="0" bIns="0" rIns="0"/>
            <a:lstStyle/>
            <a:p>
              <a:pPr algn="r">
                <a:lnSpc>
                  <a:spcPts val="2160"/>
                </a:lnSpc>
              </a:pPr>
              <a:r>
                <a:rPr lang="en-US" sz="1800">
                  <a:solidFill>
                    <a:srgbClr val="898989"/>
                  </a:solidFill>
                  <a:latin typeface="Arimo"/>
                  <a:ea typeface="Arimo"/>
                  <a:cs typeface="Arimo"/>
                  <a:sym typeface="Arimo"/>
                </a:rPr>
                <a:t>11</a:t>
              </a:r>
            </a:p>
          </p:txBody>
        </p:sp>
      </p:grpSp>
      <p:grpSp>
        <p:nvGrpSpPr>
          <p:cNvPr name="Group 5" id="5"/>
          <p:cNvGrpSpPr/>
          <p:nvPr/>
        </p:nvGrpSpPr>
        <p:grpSpPr>
          <a:xfrm rot="0">
            <a:off x="3364640" y="615134"/>
            <a:ext cx="10866025" cy="57150"/>
            <a:chOff x="0" y="0"/>
            <a:chExt cx="14488033" cy="76200"/>
          </a:xfrm>
        </p:grpSpPr>
        <p:sp>
          <p:nvSpPr>
            <p:cNvPr name="Freeform 6" id="6"/>
            <p:cNvSpPr/>
            <p:nvPr/>
          </p:nvSpPr>
          <p:spPr>
            <a:xfrm flipH="false" flipV="false" rot="0">
              <a:off x="0" y="0"/>
              <a:ext cx="14488033" cy="76200"/>
            </a:xfrm>
            <a:custGeom>
              <a:avLst/>
              <a:gdLst/>
              <a:ahLst/>
              <a:cxnLst/>
              <a:rect r="r" b="b" t="t" l="l"/>
              <a:pathLst>
                <a:path h="76200" w="14488033">
                  <a:moveTo>
                    <a:pt x="19050" y="0"/>
                  </a:moveTo>
                  <a:lnTo>
                    <a:pt x="14468983" y="38100"/>
                  </a:lnTo>
                  <a:cubicBezTo>
                    <a:pt x="14479524" y="38100"/>
                    <a:pt x="14488033" y="46736"/>
                    <a:pt x="14488033" y="57150"/>
                  </a:cubicBezTo>
                  <a:cubicBezTo>
                    <a:pt x="14488033" y="67564"/>
                    <a:pt x="14479397" y="76200"/>
                    <a:pt x="14468983" y="76200"/>
                  </a:cubicBezTo>
                  <a:lnTo>
                    <a:pt x="19050" y="38100"/>
                  </a:lnTo>
                  <a:cubicBezTo>
                    <a:pt x="8509" y="38100"/>
                    <a:pt x="0" y="29464"/>
                    <a:pt x="0" y="19050"/>
                  </a:cubicBezTo>
                  <a:cubicBezTo>
                    <a:pt x="0" y="8636"/>
                    <a:pt x="8636" y="0"/>
                    <a:pt x="19050" y="0"/>
                  </a:cubicBezTo>
                  <a:close/>
                </a:path>
              </a:pathLst>
            </a:custGeom>
            <a:solidFill>
              <a:srgbClr val="4E91F0"/>
            </a:solidFill>
          </p:spPr>
        </p:sp>
      </p:grpSp>
      <p:sp>
        <p:nvSpPr>
          <p:cNvPr name="Freeform 7" id="7"/>
          <p:cNvSpPr/>
          <p:nvPr/>
        </p:nvSpPr>
        <p:spPr>
          <a:xfrm flipH="false" flipV="false" rot="0">
            <a:off x="2726322" y="28189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5288206" y="28189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8570764" y="292692"/>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4178066" y="305142"/>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1616970" y="32451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2475284" y="987944"/>
            <a:ext cx="1885713" cy="514350"/>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Introduction à la supervision</a:t>
            </a:r>
          </a:p>
        </p:txBody>
      </p:sp>
      <p:sp>
        <p:nvSpPr>
          <p:cNvPr name="TextBox 13" id="13"/>
          <p:cNvSpPr txBox="true"/>
          <p:nvPr/>
        </p:nvSpPr>
        <p:spPr>
          <a:xfrm rot="0">
            <a:off x="14041790" y="1068032"/>
            <a:ext cx="1104010" cy="358125"/>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Conclusion</a:t>
            </a:r>
          </a:p>
        </p:txBody>
      </p:sp>
      <p:sp>
        <p:nvSpPr>
          <p:cNvPr name="TextBox 14" id="14"/>
          <p:cNvSpPr txBox="true"/>
          <p:nvPr/>
        </p:nvSpPr>
        <p:spPr>
          <a:xfrm rot="0">
            <a:off x="4502125" y="1021536"/>
            <a:ext cx="2563545" cy="514350"/>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Architecture et fonctionnement</a:t>
            </a:r>
          </a:p>
        </p:txBody>
      </p:sp>
      <p:sp>
        <p:nvSpPr>
          <p:cNvPr name="TextBox 15" id="15"/>
          <p:cNvSpPr txBox="true"/>
          <p:nvPr/>
        </p:nvSpPr>
        <p:spPr>
          <a:xfrm rot="0">
            <a:off x="10994499" y="1081200"/>
            <a:ext cx="2165112" cy="266700"/>
          </a:xfrm>
          <a:prstGeom prst="rect">
            <a:avLst/>
          </a:prstGeom>
        </p:spPr>
        <p:txBody>
          <a:bodyPr anchor="t" rtlCol="false" tIns="0" lIns="0" bIns="0" rIns="0">
            <a:spAutoFit/>
          </a:bodyPr>
          <a:lstStyle/>
          <a:p>
            <a:pPr algn="l">
              <a:lnSpc>
                <a:spcPts val="1980"/>
              </a:lnSpc>
            </a:pPr>
            <a:r>
              <a:rPr lang="en-US" sz="1650" b="true">
                <a:solidFill>
                  <a:srgbClr val="A6A6A6"/>
                </a:solidFill>
                <a:latin typeface="Times New Roman Bold"/>
                <a:ea typeface="Times New Roman Bold"/>
                <a:cs typeface="Times New Roman Bold"/>
                <a:sym typeface="Times New Roman Bold"/>
              </a:rPr>
              <a:t>Comparaison et analyse</a:t>
            </a:r>
          </a:p>
        </p:txBody>
      </p:sp>
      <p:sp>
        <p:nvSpPr>
          <p:cNvPr name="TextBox 16" id="16"/>
          <p:cNvSpPr txBox="true"/>
          <p:nvPr/>
        </p:nvSpPr>
        <p:spPr>
          <a:xfrm rot="0">
            <a:off x="1656324" y="2083296"/>
            <a:ext cx="5409346" cy="571500"/>
          </a:xfrm>
          <a:prstGeom prst="rect">
            <a:avLst/>
          </a:prstGeom>
        </p:spPr>
        <p:txBody>
          <a:bodyPr anchor="t" rtlCol="false" tIns="0" lIns="0" bIns="0" rIns="0">
            <a:spAutoFit/>
          </a:bodyPr>
          <a:lstStyle/>
          <a:p>
            <a:pPr algn="l">
              <a:lnSpc>
                <a:spcPts val="4320"/>
              </a:lnSpc>
            </a:pPr>
            <a:r>
              <a:rPr lang="en-US" b="true" sz="3600">
                <a:solidFill>
                  <a:srgbClr val="0C4493"/>
                </a:solidFill>
                <a:latin typeface="Times New Roman Bold"/>
                <a:ea typeface="Times New Roman Bold"/>
                <a:cs typeface="Times New Roman Bold"/>
                <a:sym typeface="Times New Roman Bold"/>
              </a:rPr>
              <a:t> Comparaison des outils</a:t>
            </a:r>
          </a:p>
        </p:txBody>
      </p:sp>
      <p:sp>
        <p:nvSpPr>
          <p:cNvPr name="TextBox 17" id="17"/>
          <p:cNvSpPr txBox="true"/>
          <p:nvPr/>
        </p:nvSpPr>
        <p:spPr>
          <a:xfrm rot="0">
            <a:off x="7623616" y="1088982"/>
            <a:ext cx="2949177" cy="514350"/>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Présentation des outils Open Source</a:t>
            </a:r>
          </a:p>
        </p:txBody>
      </p:sp>
      <p:sp>
        <p:nvSpPr>
          <p:cNvPr name="TextBox 18" id="18"/>
          <p:cNvSpPr txBox="true"/>
          <p:nvPr/>
        </p:nvSpPr>
        <p:spPr>
          <a:xfrm rot="0">
            <a:off x="1433564" y="2692896"/>
            <a:ext cx="14965249" cy="5886450"/>
          </a:xfrm>
          <a:prstGeom prst="rect">
            <a:avLst/>
          </a:prstGeom>
        </p:spPr>
        <p:txBody>
          <a:bodyPr anchor="t" rtlCol="false" tIns="0" lIns="0" bIns="0" rIns="0">
            <a:spAutoFit/>
          </a:bodyPr>
          <a:lstStyle/>
          <a:p>
            <a:pPr algn="l">
              <a:lnSpc>
                <a:spcPts val="3360"/>
              </a:lnSpc>
            </a:pPr>
          </a:p>
          <a:p>
            <a:pPr algn="l">
              <a:lnSpc>
                <a:spcPts val="3360"/>
              </a:lnSpc>
            </a:pPr>
            <a:r>
              <a:rPr lang="en-US" sz="2800" b="true">
                <a:solidFill>
                  <a:srgbClr val="000000"/>
                </a:solidFill>
                <a:latin typeface="Times New Roman Bold"/>
                <a:ea typeface="Times New Roman Bold"/>
                <a:cs typeface="Times New Roman Bold"/>
                <a:sym typeface="Times New Roman Bold"/>
              </a:rPr>
              <a:t>Prometheus :</a:t>
            </a:r>
          </a:p>
          <a:p>
            <a:pPr algn="l" marL="604524" indent="-302262" lvl="1">
              <a:lnSpc>
                <a:spcPts val="3360"/>
              </a:lnSpc>
              <a:buFont typeface="Arial"/>
              <a:buChar char="•"/>
            </a:pPr>
            <a:r>
              <a:rPr lang="en-US" sz="2800">
                <a:solidFill>
                  <a:srgbClr val="000000"/>
                </a:solidFill>
                <a:latin typeface="Times New Roman"/>
                <a:ea typeface="Times New Roman"/>
                <a:cs typeface="Times New Roman"/>
                <a:sym typeface="Times New Roman"/>
              </a:rPr>
              <a:t>Prometheus est une plateforme open source conçue pour le monitoring des environnements modernes, notamment Cloud et Kubernetes.</a:t>
            </a:r>
          </a:p>
          <a:p>
            <a:pPr algn="l" marL="604524" indent="-302262" lvl="1">
              <a:lnSpc>
                <a:spcPts val="3360"/>
              </a:lnSpc>
              <a:buFont typeface="Arial"/>
              <a:buChar char="•"/>
            </a:pPr>
            <a:r>
              <a:rPr lang="en-US" sz="2800">
                <a:solidFill>
                  <a:srgbClr val="000000"/>
                </a:solidFill>
                <a:latin typeface="Times New Roman"/>
                <a:ea typeface="Times New Roman"/>
                <a:cs typeface="Times New Roman"/>
                <a:sym typeface="Times New Roman"/>
              </a:rPr>
              <a:t>Il collecte des métriques en temps réel depuis les serveurs, applications et microservices.</a:t>
            </a:r>
          </a:p>
          <a:p>
            <a:pPr algn="l" marL="604524" indent="-302262" lvl="1">
              <a:lnSpc>
                <a:spcPts val="3360"/>
              </a:lnSpc>
              <a:buFont typeface="Arial"/>
              <a:buChar char="•"/>
            </a:pPr>
            <a:r>
              <a:rPr lang="en-US" sz="2800">
                <a:solidFill>
                  <a:srgbClr val="000000"/>
                </a:solidFill>
                <a:latin typeface="Times New Roman"/>
                <a:ea typeface="Times New Roman"/>
                <a:cs typeface="Times New Roman"/>
                <a:sym typeface="Times New Roman"/>
              </a:rPr>
              <a:t>Permet d’analyser l’évolution des performances et de détecter rapidement les anomalies.</a:t>
            </a:r>
          </a:p>
          <a:p>
            <a:pPr algn="l" marL="604524" indent="-302262" lvl="1">
              <a:lnSpc>
                <a:spcPts val="3360"/>
              </a:lnSpc>
              <a:buFont typeface="Arial"/>
              <a:buChar char="•"/>
            </a:pPr>
            <a:r>
              <a:rPr lang="en-US" sz="2800">
                <a:solidFill>
                  <a:srgbClr val="000000"/>
                </a:solidFill>
                <a:latin typeface="Times New Roman"/>
                <a:ea typeface="Times New Roman"/>
                <a:cs typeface="Times New Roman"/>
                <a:sym typeface="Times New Roman"/>
              </a:rPr>
              <a:t>Très utilisé dans les infrastructures DevOps et Cloud-native.</a:t>
            </a:r>
          </a:p>
          <a:p>
            <a:pPr algn="l">
              <a:lnSpc>
                <a:spcPts val="3360"/>
              </a:lnSpc>
            </a:pPr>
            <a:r>
              <a:rPr lang="en-US" sz="2800" b="true">
                <a:solidFill>
                  <a:srgbClr val="000000"/>
                </a:solidFill>
                <a:latin typeface="Times New Roman Bold"/>
                <a:ea typeface="Times New Roman Bold"/>
                <a:cs typeface="Times New Roman Bold"/>
                <a:sym typeface="Times New Roman Bold"/>
              </a:rPr>
              <a:t>Grafana :</a:t>
            </a:r>
          </a:p>
          <a:p>
            <a:pPr algn="l" marL="604524" indent="-302262" lvl="1">
              <a:lnSpc>
                <a:spcPts val="3360"/>
              </a:lnSpc>
              <a:buFont typeface="Arial"/>
              <a:buChar char="•"/>
            </a:pPr>
            <a:r>
              <a:rPr lang="en-US" sz="2800">
                <a:solidFill>
                  <a:srgbClr val="000000"/>
                </a:solidFill>
                <a:latin typeface="Times New Roman"/>
                <a:ea typeface="Times New Roman"/>
                <a:cs typeface="Times New Roman"/>
                <a:sym typeface="Times New Roman"/>
              </a:rPr>
              <a:t>Grafana est un outil open source de visualisation et création de dashboards.</a:t>
            </a:r>
          </a:p>
          <a:p>
            <a:pPr algn="l" marL="604524" indent="-302262" lvl="1">
              <a:lnSpc>
                <a:spcPts val="3360"/>
              </a:lnSpc>
              <a:buFont typeface="Arial"/>
              <a:buChar char="•"/>
            </a:pPr>
            <a:r>
              <a:rPr lang="en-US" sz="2800">
                <a:solidFill>
                  <a:srgbClr val="000000"/>
                </a:solidFill>
                <a:latin typeface="Times New Roman"/>
                <a:ea typeface="Times New Roman"/>
                <a:cs typeface="Times New Roman"/>
                <a:sym typeface="Times New Roman"/>
              </a:rPr>
              <a:t>Il permet de présenter les données collectées par Prometheus, Zabbix, ou d’autres sources de manière graphique et professionnelle.</a:t>
            </a:r>
          </a:p>
          <a:p>
            <a:pPr algn="l" marL="604524" indent="-302262" lvl="1">
              <a:lnSpc>
                <a:spcPts val="3360"/>
              </a:lnSpc>
              <a:buFont typeface="Arial"/>
              <a:buChar char="•"/>
            </a:pPr>
            <a:r>
              <a:rPr lang="en-US" sz="2800">
                <a:solidFill>
                  <a:srgbClr val="000000"/>
                </a:solidFill>
                <a:latin typeface="Times New Roman"/>
                <a:ea typeface="Times New Roman"/>
                <a:cs typeface="Times New Roman"/>
                <a:sym typeface="Times New Roman"/>
              </a:rPr>
              <a:t>Offre des tableaux de bord interactifs, personnalisables et esthétiques.</a:t>
            </a:r>
          </a:p>
          <a:p>
            <a:pPr algn="l" marL="604524" indent="-302262" lvl="1">
              <a:lnSpc>
                <a:spcPts val="3360"/>
              </a:lnSpc>
              <a:buFont typeface="Arial"/>
              <a:buChar char="•"/>
            </a:pPr>
            <a:r>
              <a:rPr lang="en-US" sz="2800">
                <a:solidFill>
                  <a:srgbClr val="000000"/>
                </a:solidFill>
                <a:latin typeface="Times New Roman"/>
                <a:ea typeface="Times New Roman"/>
                <a:cs typeface="Times New Roman"/>
                <a:sym typeface="Times New Roman"/>
              </a:rPr>
              <a:t>Idéal pour le suivi en temps réel et la prise de décision rapide.</a:t>
            </a:r>
          </a:p>
          <a:p>
            <a:pPr algn="l">
              <a:lnSpc>
                <a:spcPts val="3360"/>
              </a:lnSpc>
            </a:pPr>
          </a:p>
        </p:txBody>
      </p:sp>
    </p:spTree>
  </p:cSld>
  <p:clrMapOvr>
    <a:masterClrMapping/>
  </p:clrMapOvr>
  <p:transition spd="fast">
    <p:fade/>
  </p:transition>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915900" y="9505949"/>
            <a:ext cx="4114800" cy="576264"/>
            <a:chOff x="0" y="0"/>
            <a:chExt cx="5486400" cy="768351"/>
          </a:xfrm>
        </p:grpSpPr>
        <p:sp>
          <p:nvSpPr>
            <p:cNvPr name="Freeform 3" id="3"/>
            <p:cNvSpPr/>
            <p:nvPr/>
          </p:nvSpPr>
          <p:spPr>
            <a:xfrm flipH="false" flipV="false" rot="0">
              <a:off x="0" y="0"/>
              <a:ext cx="5486400" cy="768351"/>
            </a:xfrm>
            <a:custGeom>
              <a:avLst/>
              <a:gdLst/>
              <a:ahLst/>
              <a:cxnLst/>
              <a:rect r="r" b="b" t="t" l="l"/>
              <a:pathLst>
                <a:path h="768351" w="5486400">
                  <a:moveTo>
                    <a:pt x="0" y="0"/>
                  </a:moveTo>
                  <a:lnTo>
                    <a:pt x="5486400" y="0"/>
                  </a:lnTo>
                  <a:lnTo>
                    <a:pt x="5486400" y="768351"/>
                  </a:lnTo>
                  <a:lnTo>
                    <a:pt x="0" y="768351"/>
                  </a:lnTo>
                  <a:close/>
                </a:path>
              </a:pathLst>
            </a:custGeom>
          </p:spPr>
        </p:sp>
        <p:sp>
          <p:nvSpPr>
            <p:cNvPr name="TextBox 4" id="4"/>
            <p:cNvSpPr txBox="true"/>
            <p:nvPr/>
          </p:nvSpPr>
          <p:spPr>
            <a:xfrm>
              <a:off x="0" y="-19050"/>
              <a:ext cx="5486400" cy="787401"/>
            </a:xfrm>
            <a:prstGeom prst="rect">
              <a:avLst/>
            </a:prstGeom>
          </p:spPr>
          <p:txBody>
            <a:bodyPr anchor="ctr" rtlCol="false" tIns="0" lIns="0" bIns="0" rIns="0"/>
            <a:lstStyle/>
            <a:p>
              <a:pPr algn="r">
                <a:lnSpc>
                  <a:spcPts val="2160"/>
                </a:lnSpc>
              </a:pPr>
              <a:r>
                <a:rPr lang="en-US" sz="1800">
                  <a:solidFill>
                    <a:srgbClr val="898989"/>
                  </a:solidFill>
                  <a:latin typeface="Arimo"/>
                  <a:ea typeface="Arimo"/>
                  <a:cs typeface="Arimo"/>
                  <a:sym typeface="Arimo"/>
                </a:rPr>
                <a:t>12</a:t>
              </a:r>
            </a:p>
          </p:txBody>
        </p:sp>
      </p:grpSp>
      <p:grpSp>
        <p:nvGrpSpPr>
          <p:cNvPr name="Group 5" id="5"/>
          <p:cNvGrpSpPr/>
          <p:nvPr/>
        </p:nvGrpSpPr>
        <p:grpSpPr>
          <a:xfrm rot="0">
            <a:off x="3364640" y="615134"/>
            <a:ext cx="10866025" cy="57150"/>
            <a:chOff x="0" y="0"/>
            <a:chExt cx="14488033" cy="76200"/>
          </a:xfrm>
        </p:grpSpPr>
        <p:sp>
          <p:nvSpPr>
            <p:cNvPr name="Freeform 6" id="6"/>
            <p:cNvSpPr/>
            <p:nvPr/>
          </p:nvSpPr>
          <p:spPr>
            <a:xfrm flipH="false" flipV="false" rot="0">
              <a:off x="0" y="0"/>
              <a:ext cx="14488033" cy="76200"/>
            </a:xfrm>
            <a:custGeom>
              <a:avLst/>
              <a:gdLst/>
              <a:ahLst/>
              <a:cxnLst/>
              <a:rect r="r" b="b" t="t" l="l"/>
              <a:pathLst>
                <a:path h="76200" w="14488033">
                  <a:moveTo>
                    <a:pt x="19050" y="0"/>
                  </a:moveTo>
                  <a:lnTo>
                    <a:pt x="14468983" y="38100"/>
                  </a:lnTo>
                  <a:cubicBezTo>
                    <a:pt x="14479524" y="38100"/>
                    <a:pt x="14488033" y="46736"/>
                    <a:pt x="14488033" y="57150"/>
                  </a:cubicBezTo>
                  <a:cubicBezTo>
                    <a:pt x="14488033" y="67564"/>
                    <a:pt x="14479397" y="76200"/>
                    <a:pt x="14468983" y="76200"/>
                  </a:cubicBezTo>
                  <a:lnTo>
                    <a:pt x="19050" y="38100"/>
                  </a:lnTo>
                  <a:cubicBezTo>
                    <a:pt x="8509" y="38100"/>
                    <a:pt x="0" y="29464"/>
                    <a:pt x="0" y="19050"/>
                  </a:cubicBezTo>
                  <a:cubicBezTo>
                    <a:pt x="0" y="8636"/>
                    <a:pt x="8636" y="0"/>
                    <a:pt x="19050" y="0"/>
                  </a:cubicBezTo>
                  <a:close/>
                </a:path>
              </a:pathLst>
            </a:custGeom>
            <a:solidFill>
              <a:srgbClr val="4E91F0"/>
            </a:solidFill>
          </p:spPr>
        </p:sp>
      </p:grpSp>
      <p:sp>
        <p:nvSpPr>
          <p:cNvPr name="Freeform 7" id="7"/>
          <p:cNvSpPr/>
          <p:nvPr/>
        </p:nvSpPr>
        <p:spPr>
          <a:xfrm flipH="false" flipV="false" rot="0">
            <a:off x="2726322" y="28189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5288206" y="28189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8570764" y="292692"/>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4178066" y="305142"/>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1616970" y="32451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1414317" y="2900846"/>
            <a:ext cx="14766672" cy="3623310"/>
          </a:xfrm>
          <a:prstGeom prst="rect">
            <a:avLst/>
          </a:prstGeom>
        </p:spPr>
        <p:txBody>
          <a:bodyPr anchor="t" rtlCol="false" tIns="0" lIns="0" bIns="0" rIns="0">
            <a:spAutoFit/>
          </a:bodyPr>
          <a:lstStyle/>
          <a:p>
            <a:pPr algn="just">
              <a:lnSpc>
                <a:spcPts val="4860"/>
              </a:lnSpc>
            </a:pPr>
            <a:r>
              <a:rPr lang="en-US" sz="2700">
                <a:solidFill>
                  <a:srgbClr val="000000"/>
                </a:solidFill>
                <a:latin typeface="Times New Roman"/>
                <a:ea typeface="Times New Roman"/>
                <a:cs typeface="Times New Roman"/>
                <a:sym typeface="Times New Roman"/>
              </a:rPr>
              <a:t>La supervision constitue la pierre angulaire d’une infrastructure informatique performante et sécurisée.</a:t>
            </a:r>
          </a:p>
          <a:p>
            <a:pPr algn="just">
              <a:lnSpc>
                <a:spcPts val="4860"/>
              </a:lnSpc>
            </a:pPr>
            <a:r>
              <a:rPr lang="en-US" sz="2700">
                <a:solidFill>
                  <a:srgbClr val="000000"/>
                </a:solidFill>
                <a:latin typeface="Times New Roman"/>
                <a:ea typeface="Times New Roman"/>
                <a:cs typeface="Times New Roman"/>
                <a:sym typeface="Times New Roman"/>
              </a:rPr>
              <a:t> Les solutions open source, telles que Nagios, Cacti et Zabbix, offrent une flexibilité, une fiabilité et une visibilité accrues sur les serveurs, réseaux et applications.</a:t>
            </a:r>
          </a:p>
          <a:p>
            <a:pPr algn="just">
              <a:lnSpc>
                <a:spcPts val="4860"/>
              </a:lnSpc>
            </a:pPr>
            <a:r>
              <a:rPr lang="en-US" sz="2700">
                <a:solidFill>
                  <a:srgbClr val="000000"/>
                </a:solidFill>
                <a:latin typeface="Times New Roman"/>
                <a:ea typeface="Times New Roman"/>
                <a:cs typeface="Times New Roman"/>
                <a:sym typeface="Times New Roman"/>
              </a:rPr>
              <a:t> En adoptant une stratégie de supervision adaptée, les entreprises peuvent anticiper les pannes, optimiser les performances et renforcer la sécurité de leurs systèmes.</a:t>
            </a:r>
          </a:p>
          <a:p>
            <a:pPr algn="just">
              <a:lnSpc>
                <a:spcPts val="4860"/>
              </a:lnSpc>
            </a:pPr>
          </a:p>
        </p:txBody>
      </p:sp>
      <p:sp>
        <p:nvSpPr>
          <p:cNvPr name="Freeform 13" id="13"/>
          <p:cNvSpPr/>
          <p:nvPr/>
        </p:nvSpPr>
        <p:spPr>
          <a:xfrm flipH="false" flipV="false" rot="0">
            <a:off x="9612550" y="5629203"/>
            <a:ext cx="7646750" cy="2854509"/>
          </a:xfrm>
          <a:custGeom>
            <a:avLst/>
            <a:gdLst/>
            <a:ahLst/>
            <a:cxnLst/>
            <a:rect r="r" b="b" t="t" l="l"/>
            <a:pathLst>
              <a:path h="2854509" w="7646750">
                <a:moveTo>
                  <a:pt x="0" y="0"/>
                </a:moveTo>
                <a:lnTo>
                  <a:pt x="7646750" y="0"/>
                </a:lnTo>
                <a:lnTo>
                  <a:pt x="7646750" y="2854508"/>
                </a:lnTo>
                <a:lnTo>
                  <a:pt x="0" y="2854508"/>
                </a:lnTo>
                <a:lnTo>
                  <a:pt x="0" y="0"/>
                </a:lnTo>
                <a:close/>
              </a:path>
            </a:pathLst>
          </a:custGeom>
          <a:blipFill>
            <a:blip r:embed="rId6"/>
            <a:stretch>
              <a:fillRect l="0" t="0" r="0" b="0"/>
            </a:stretch>
          </a:blipFill>
        </p:spPr>
      </p:sp>
      <p:sp>
        <p:nvSpPr>
          <p:cNvPr name="TextBox 14" id="14"/>
          <p:cNvSpPr txBox="true"/>
          <p:nvPr/>
        </p:nvSpPr>
        <p:spPr>
          <a:xfrm rot="0">
            <a:off x="2475284" y="987944"/>
            <a:ext cx="1701948" cy="514350"/>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Introduction à la supervision</a:t>
            </a:r>
          </a:p>
        </p:txBody>
      </p:sp>
      <p:sp>
        <p:nvSpPr>
          <p:cNvPr name="TextBox 15" id="15"/>
          <p:cNvSpPr txBox="true"/>
          <p:nvPr/>
        </p:nvSpPr>
        <p:spPr>
          <a:xfrm rot="0">
            <a:off x="14041790" y="1068032"/>
            <a:ext cx="1104010" cy="358125"/>
          </a:xfrm>
          <a:prstGeom prst="rect">
            <a:avLst/>
          </a:prstGeom>
        </p:spPr>
        <p:txBody>
          <a:bodyPr anchor="t" rtlCol="false" tIns="0" lIns="0" bIns="0" rIns="0">
            <a:spAutoFit/>
          </a:bodyPr>
          <a:lstStyle/>
          <a:p>
            <a:pPr algn="ctr">
              <a:lnSpc>
                <a:spcPts val="1980"/>
              </a:lnSpc>
            </a:pPr>
            <a:r>
              <a:rPr lang="en-US" sz="1650" b="true">
                <a:solidFill>
                  <a:srgbClr val="4E91F0"/>
                </a:solidFill>
                <a:latin typeface="Times New Roman Bold"/>
                <a:ea typeface="Times New Roman Bold"/>
                <a:cs typeface="Times New Roman Bold"/>
                <a:sym typeface="Times New Roman Bold"/>
              </a:rPr>
              <a:t>Conclusion</a:t>
            </a:r>
          </a:p>
        </p:txBody>
      </p:sp>
      <p:sp>
        <p:nvSpPr>
          <p:cNvPr name="TextBox 16" id="16"/>
          <p:cNvSpPr txBox="true"/>
          <p:nvPr/>
        </p:nvSpPr>
        <p:spPr>
          <a:xfrm rot="0">
            <a:off x="4502125" y="1021536"/>
            <a:ext cx="2563545" cy="514350"/>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Architecture et fonctionnement</a:t>
            </a:r>
          </a:p>
        </p:txBody>
      </p:sp>
      <p:sp>
        <p:nvSpPr>
          <p:cNvPr name="TextBox 17" id="17"/>
          <p:cNvSpPr txBox="true"/>
          <p:nvPr/>
        </p:nvSpPr>
        <p:spPr>
          <a:xfrm rot="0">
            <a:off x="7693361" y="1011190"/>
            <a:ext cx="2606814" cy="514350"/>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Présentation des outils Open Source</a:t>
            </a:r>
          </a:p>
        </p:txBody>
      </p:sp>
      <p:sp>
        <p:nvSpPr>
          <p:cNvPr name="TextBox 18" id="18"/>
          <p:cNvSpPr txBox="true"/>
          <p:nvPr/>
        </p:nvSpPr>
        <p:spPr>
          <a:xfrm rot="0">
            <a:off x="10994499" y="1081200"/>
            <a:ext cx="2165112" cy="266700"/>
          </a:xfrm>
          <a:prstGeom prst="rect">
            <a:avLst/>
          </a:prstGeom>
        </p:spPr>
        <p:txBody>
          <a:bodyPr anchor="t" rtlCol="false" tIns="0" lIns="0" bIns="0" rIns="0">
            <a:spAutoFit/>
          </a:bodyPr>
          <a:lstStyle/>
          <a:p>
            <a:pPr algn="l">
              <a:lnSpc>
                <a:spcPts val="1980"/>
              </a:lnSpc>
            </a:pPr>
            <a:r>
              <a:rPr lang="en-US" sz="1650" b="true">
                <a:solidFill>
                  <a:srgbClr val="A6A6A6"/>
                </a:solidFill>
                <a:latin typeface="Times New Roman Bold"/>
                <a:ea typeface="Times New Roman Bold"/>
                <a:cs typeface="Times New Roman Bold"/>
                <a:sym typeface="Times New Roman Bold"/>
              </a:rPr>
              <a:t>Comparaison et analyse</a:t>
            </a:r>
          </a:p>
        </p:txBody>
      </p:sp>
      <p:sp>
        <p:nvSpPr>
          <p:cNvPr name="TextBox 19" id="19"/>
          <p:cNvSpPr txBox="true"/>
          <p:nvPr/>
        </p:nvSpPr>
        <p:spPr>
          <a:xfrm rot="0">
            <a:off x="1667512" y="2385513"/>
            <a:ext cx="2301455" cy="686783"/>
          </a:xfrm>
          <a:prstGeom prst="rect">
            <a:avLst/>
          </a:prstGeom>
        </p:spPr>
        <p:txBody>
          <a:bodyPr anchor="t" rtlCol="false" tIns="0" lIns="0" bIns="0" rIns="0">
            <a:spAutoFit/>
          </a:bodyPr>
          <a:lstStyle/>
          <a:p>
            <a:pPr algn="ctr">
              <a:lnSpc>
                <a:spcPts val="4320"/>
              </a:lnSpc>
            </a:pPr>
            <a:r>
              <a:rPr lang="en-US" b="true" sz="3600">
                <a:solidFill>
                  <a:srgbClr val="0C4493"/>
                </a:solidFill>
                <a:latin typeface="Times New Roman Bold"/>
                <a:ea typeface="Times New Roman Bold"/>
                <a:cs typeface="Times New Roman Bold"/>
                <a:sym typeface="Times New Roman Bold"/>
              </a:rPr>
              <a:t>Conclusion</a:t>
            </a:r>
          </a:p>
        </p:txBody>
      </p:sp>
    </p:spTree>
  </p:cSld>
  <p:clrMapOvr>
    <a:masterClrMapping/>
  </p:clrMapOvr>
  <p:transition spd="fast">
    <p:fade/>
  </p:transition>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723796"/>
            <a:ext cx="11843192" cy="5330682"/>
            <a:chOff x="0" y="0"/>
            <a:chExt cx="15790923" cy="7107576"/>
          </a:xfrm>
        </p:grpSpPr>
        <p:sp>
          <p:nvSpPr>
            <p:cNvPr name="Freeform 3" id="3"/>
            <p:cNvSpPr/>
            <p:nvPr/>
          </p:nvSpPr>
          <p:spPr>
            <a:xfrm flipH="false" flipV="false" rot="0">
              <a:off x="0" y="0"/>
              <a:ext cx="15790923" cy="7107575"/>
            </a:xfrm>
            <a:custGeom>
              <a:avLst/>
              <a:gdLst/>
              <a:ahLst/>
              <a:cxnLst/>
              <a:rect r="r" b="b" t="t" l="l"/>
              <a:pathLst>
                <a:path h="7107575" w="15790923">
                  <a:moveTo>
                    <a:pt x="0" y="0"/>
                  </a:moveTo>
                  <a:lnTo>
                    <a:pt x="15790923" y="0"/>
                  </a:lnTo>
                  <a:lnTo>
                    <a:pt x="15790923" y="7107575"/>
                  </a:lnTo>
                  <a:lnTo>
                    <a:pt x="0" y="7107575"/>
                  </a:lnTo>
                  <a:close/>
                </a:path>
              </a:pathLst>
            </a:custGeom>
          </p:spPr>
        </p:sp>
        <p:sp>
          <p:nvSpPr>
            <p:cNvPr name="TextBox 4" id="4"/>
            <p:cNvSpPr txBox="true"/>
            <p:nvPr/>
          </p:nvSpPr>
          <p:spPr>
            <a:xfrm>
              <a:off x="0" y="-9525"/>
              <a:ext cx="15790923" cy="7117101"/>
            </a:xfrm>
            <a:prstGeom prst="rect">
              <a:avLst/>
            </a:prstGeom>
          </p:spPr>
          <p:txBody>
            <a:bodyPr anchor="b" rtlCol="false" tIns="0" lIns="0" bIns="0" rIns="0"/>
            <a:lstStyle/>
            <a:p>
              <a:pPr algn="l">
                <a:lnSpc>
                  <a:spcPts val="11880"/>
                </a:lnSpc>
              </a:pPr>
              <a:r>
                <a:rPr lang="en-US" sz="9900" b="true">
                  <a:solidFill>
                    <a:srgbClr val="0091EA"/>
                  </a:solidFill>
                  <a:latin typeface="Roboto Bold"/>
                  <a:ea typeface="Roboto Bold"/>
                  <a:cs typeface="Roboto Bold"/>
                  <a:sym typeface="Roboto Bold"/>
                </a:rPr>
                <a:t>Merci pour votre</a:t>
              </a:r>
              <a:r>
                <a:rPr lang="en-US" sz="9900" b="true">
                  <a:solidFill>
                    <a:srgbClr val="0091EA"/>
                  </a:solidFill>
                  <a:latin typeface="Roboto Bold"/>
                  <a:ea typeface="Roboto Bold"/>
                  <a:cs typeface="Roboto Bold"/>
                  <a:sym typeface="Roboto Bold"/>
                </a:rPr>
                <a:t> attention !</a:t>
              </a:r>
            </a:p>
            <a:p>
              <a:pPr algn="l">
                <a:lnSpc>
                  <a:spcPts val="14400"/>
                </a:lnSpc>
              </a:pPr>
            </a:p>
          </p:txBody>
        </p:sp>
      </p:grpSp>
      <p:grpSp>
        <p:nvGrpSpPr>
          <p:cNvPr name="Group 5" id="5"/>
          <p:cNvGrpSpPr/>
          <p:nvPr/>
        </p:nvGrpSpPr>
        <p:grpSpPr>
          <a:xfrm rot="0">
            <a:off x="10902315" y="2539099"/>
            <a:ext cx="6356985" cy="6356985"/>
            <a:chOff x="0" y="0"/>
            <a:chExt cx="8475980" cy="8475980"/>
          </a:xfrm>
        </p:grpSpPr>
        <p:sp>
          <p:nvSpPr>
            <p:cNvPr name="Freeform 6" id="6"/>
            <p:cNvSpPr/>
            <p:nvPr/>
          </p:nvSpPr>
          <p:spPr>
            <a:xfrm flipH="false" flipV="false" rot="0">
              <a:off x="0" y="0"/>
              <a:ext cx="8475980" cy="8475980"/>
            </a:xfrm>
            <a:custGeom>
              <a:avLst/>
              <a:gdLst/>
              <a:ahLst/>
              <a:cxnLst/>
              <a:rect r="r" b="b" t="t" l="l"/>
              <a:pathLst>
                <a:path h="8475980" w="8475980">
                  <a:moveTo>
                    <a:pt x="0" y="0"/>
                  </a:moveTo>
                  <a:lnTo>
                    <a:pt x="8475980" y="0"/>
                  </a:lnTo>
                  <a:lnTo>
                    <a:pt x="8475980" y="8475980"/>
                  </a:lnTo>
                  <a:lnTo>
                    <a:pt x="0" y="8475980"/>
                  </a:lnTo>
                  <a:lnTo>
                    <a:pt x="0" y="0"/>
                  </a:lnTo>
                  <a:close/>
                </a:path>
              </a:pathLst>
            </a:custGeom>
            <a:blipFill>
              <a:blip r:embed="rId2"/>
              <a:stretch>
                <a:fillRect l="0" t="0" r="0" b="0"/>
              </a:stretch>
            </a:blipFill>
          </p:spPr>
        </p:sp>
      </p:grpSp>
      <p:sp>
        <p:nvSpPr>
          <p:cNvPr name="TextBox 7" id="7"/>
          <p:cNvSpPr txBox="true"/>
          <p:nvPr/>
        </p:nvSpPr>
        <p:spPr>
          <a:xfrm rot="0">
            <a:off x="1463025" y="4912276"/>
            <a:ext cx="9544950" cy="2724150"/>
          </a:xfrm>
          <a:prstGeom prst="rect">
            <a:avLst/>
          </a:prstGeom>
        </p:spPr>
        <p:txBody>
          <a:bodyPr anchor="t" rtlCol="false" tIns="0" lIns="0" bIns="0" rIns="0">
            <a:spAutoFit/>
          </a:bodyPr>
          <a:lstStyle/>
          <a:p>
            <a:pPr algn="l">
              <a:lnSpc>
                <a:spcPts val="4320"/>
              </a:lnSpc>
            </a:pPr>
            <a:r>
              <a:rPr lang="en-US" sz="3600">
                <a:solidFill>
                  <a:srgbClr val="263238"/>
                </a:solidFill>
                <a:latin typeface="Source Sans Pro"/>
                <a:ea typeface="Source Sans Pro"/>
                <a:cs typeface="Source Sans Pro"/>
                <a:sym typeface="Source Sans Pro"/>
              </a:rPr>
              <a:t>Hajar Rachid,Imane Rajif,Salma Fadili</a:t>
            </a:r>
          </a:p>
          <a:p>
            <a:pPr algn="l">
              <a:lnSpc>
                <a:spcPts val="4320"/>
              </a:lnSpc>
            </a:pPr>
            <a:r>
              <a:rPr lang="en-US" sz="3600">
                <a:solidFill>
                  <a:srgbClr val="263238"/>
                </a:solidFill>
                <a:latin typeface="Source Sans Pro"/>
                <a:ea typeface="Source Sans Pro"/>
                <a:cs typeface="Source Sans Pro"/>
                <a:sym typeface="Source Sans Pro"/>
              </a:rPr>
              <a:t>EST Beni Mellal</a:t>
            </a:r>
          </a:p>
          <a:p>
            <a:pPr algn="l">
              <a:lnSpc>
                <a:spcPts val="4320"/>
              </a:lnSpc>
            </a:pPr>
            <a:r>
              <a:rPr lang="en-US" sz="3600">
                <a:solidFill>
                  <a:srgbClr val="263238"/>
                </a:solidFill>
                <a:latin typeface="Source Sans Pro"/>
                <a:ea typeface="Source Sans Pro"/>
                <a:cs typeface="Source Sans Pro"/>
                <a:sym typeface="Source Sans Pro"/>
              </a:rPr>
              <a:t>Administration des réseaux </a:t>
            </a:r>
          </a:p>
          <a:p>
            <a:pPr algn="l">
              <a:lnSpc>
                <a:spcPts val="4320"/>
              </a:lnSpc>
            </a:pPr>
            <a:r>
              <a:rPr lang="en-US" sz="3600">
                <a:solidFill>
                  <a:srgbClr val="263238"/>
                </a:solidFill>
                <a:latin typeface="Source Sans Pro"/>
                <a:ea typeface="Source Sans Pro"/>
                <a:cs typeface="Source Sans Pro"/>
                <a:sym typeface="Source Sans Pro"/>
              </a:rPr>
              <a:t>2025/2026</a:t>
            </a:r>
          </a:p>
          <a:p>
            <a:pPr algn="l">
              <a:lnSpc>
                <a:spcPts val="4320"/>
              </a:lnSpc>
            </a:pPr>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DAG384EwU6A</dc:identifier>
  <dcterms:modified xsi:type="dcterms:W3CDTF">2011-08-01T06:04:30Z</dcterms:modified>
  <cp:revision>1</cp:revision>
  <dc:title>Stage-initiation-présentation.pptx</dc:title>
</cp:coreProperties>
</file>
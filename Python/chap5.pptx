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tags/tag20.xml" ContentType="application/vnd.openxmlformats-officedocument.presentationml.tags+xml"/>
  <Override PartName="/ppt/notesSlides/notesSlide20.xml" ContentType="application/vnd.openxmlformats-officedocument.presentationml.notesSlide+xml"/>
  <Override PartName="/ppt/tags/tag21.xml" ContentType="application/vnd.openxmlformats-officedocument.presentationml.tags+xml"/>
  <Override PartName="/ppt/notesSlides/notesSlide21.xml" ContentType="application/vnd.openxmlformats-officedocument.presentationml.notesSlide+xml"/>
  <Override PartName="/ppt/tags/tag22.xml" ContentType="application/vnd.openxmlformats-officedocument.presentationml.tags+xml"/>
  <Override PartName="/ppt/notesSlides/notesSlide22.xml" ContentType="application/vnd.openxmlformats-officedocument.presentationml.notesSlide+xml"/>
  <Override PartName="/ppt/tags/tag23.xml" ContentType="application/vnd.openxmlformats-officedocument.presentationml.tags+xml"/>
  <Override PartName="/ppt/notesSlides/notesSlide23.xml" ContentType="application/vnd.openxmlformats-officedocument.presentationml.notesSlide+xml"/>
  <Override PartName="/ppt/tags/tag24.xml" ContentType="application/vnd.openxmlformats-officedocument.presentationml.tags+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399" r:id="rId2"/>
    <p:sldId id="319" r:id="rId3"/>
    <p:sldId id="320" r:id="rId4"/>
    <p:sldId id="321" r:id="rId5"/>
    <p:sldId id="322" r:id="rId6"/>
    <p:sldId id="323" r:id="rId7"/>
    <p:sldId id="324" r:id="rId8"/>
    <p:sldId id="325" r:id="rId9"/>
    <p:sldId id="326" r:id="rId10"/>
    <p:sldId id="327" r:id="rId11"/>
    <p:sldId id="328" r:id="rId12"/>
    <p:sldId id="329" r:id="rId13"/>
    <p:sldId id="330" r:id="rId14"/>
    <p:sldId id="331" r:id="rId15"/>
    <p:sldId id="332" r:id="rId16"/>
    <p:sldId id="406" r:id="rId17"/>
    <p:sldId id="407" r:id="rId18"/>
    <p:sldId id="341" r:id="rId19"/>
    <p:sldId id="342" r:id="rId20"/>
    <p:sldId id="343" r:id="rId21"/>
    <p:sldId id="344" r:id="rId22"/>
    <p:sldId id="345" r:id="rId23"/>
    <p:sldId id="405" r:id="rId24"/>
    <p:sldId id="400" r:id="rId25"/>
    <p:sldId id="401" r:id="rId26"/>
    <p:sldId id="402" r:id="rId27"/>
    <p:sldId id="403" r:id="rId28"/>
    <p:sldId id="404"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1324" y="-6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669E855-B4FF-4ADF-8948-D7E287C048DF}" type="datetimeFigureOut">
              <a:rPr lang="en-US" smtClean="0"/>
              <a:t>10/12/2025</a:t>
            </a:fld>
            <a:endParaRPr lang="en-US"/>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0C72D6-15A0-441E-9825-759E26EAFB66}" type="slidenum">
              <a:rPr lang="en-US" smtClean="0"/>
              <a:t>‹N°›</a:t>
            </a:fld>
            <a:endParaRPr lang="en-US"/>
          </a:p>
        </p:txBody>
      </p:sp>
    </p:spTree>
    <p:extLst>
      <p:ext uri="{BB962C8B-B14F-4D97-AF65-F5344CB8AC3E}">
        <p14:creationId xmlns:p14="http://schemas.microsoft.com/office/powerpoint/2010/main" val="2920466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Rectangle 7"/>
          <p:cNvSpPr>
            <a:spLocks noGrp="1" noChangeArrowheads="1"/>
          </p:cNvSpPr>
          <p:nvPr>
            <p:ph type="sldNum" sz="quarter" idx="5"/>
          </p:nvPr>
        </p:nvSpPr>
        <p:spPr>
          <a:noFill/>
        </p:spPr>
        <p:txBody>
          <a:bodyPr/>
          <a:lstStyle/>
          <a:p>
            <a:fld id="{182638D6-9039-4A52-8056-A13FBE0A1CE9}" type="slidenum">
              <a:rPr lang="fr-FR" smtClean="0"/>
              <a:pPr/>
              <a:t>2</a:t>
            </a:fld>
            <a:endParaRPr lang="fr-FR" smtClean="0"/>
          </a:p>
        </p:txBody>
      </p:sp>
      <p:sp>
        <p:nvSpPr>
          <p:cNvPr id="366595"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3E43A9D4-62F0-4837-ACBC-6CA0F6A3F90F}" type="datetime5">
              <a:rPr lang="en-US" sz="900">
                <a:solidFill>
                  <a:srgbClr val="5F5F5F"/>
                </a:solidFill>
                <a:latin typeface="Arial" pitchFamily="34" charset="0"/>
              </a:rPr>
              <a:pPr eaLnBrk="1" hangingPunct="1"/>
              <a:t>12-Oct-25</a:t>
            </a:fld>
            <a:endParaRPr lang="en-US" sz="900">
              <a:solidFill>
                <a:srgbClr val="5F5F5F"/>
              </a:solidFill>
              <a:latin typeface="Arial" pitchFamily="34" charset="0"/>
            </a:endParaRPr>
          </a:p>
        </p:txBody>
      </p:sp>
      <p:sp>
        <p:nvSpPr>
          <p:cNvPr id="366596"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3D939C60-71E8-4123-A13B-79A06A0A0A41}" type="slidenum">
              <a:rPr lang="fr-FR" sz="900">
                <a:solidFill>
                  <a:srgbClr val="5F5F5F"/>
                </a:solidFill>
                <a:latin typeface="Arial" pitchFamily="34" charset="0"/>
              </a:rPr>
              <a:pPr algn="r" eaLnBrk="1" hangingPunct="1"/>
              <a:t>2</a:t>
            </a:fld>
            <a:endParaRPr lang="en-US" sz="900">
              <a:solidFill>
                <a:srgbClr val="5F5F5F"/>
              </a:solidFill>
              <a:latin typeface="Arial" pitchFamily="34" charset="0"/>
            </a:endParaRPr>
          </a:p>
        </p:txBody>
      </p:sp>
      <p:sp>
        <p:nvSpPr>
          <p:cNvPr id="366597"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66598"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66599" name="Rectangle 69633"/>
          <p:cNvSpPr>
            <a:spLocks noGrp="1" noRot="1" noChangeAspect="1" noChangeArrowheads="1" noTextEdit="1"/>
          </p:cNvSpPr>
          <p:nvPr>
            <p:ph type="sldImg"/>
          </p:nvPr>
        </p:nvSpPr>
        <p:spPr>
          <a:ln cap="flat" algn="ctr">
            <a:headEnd type="none" w="med" len="med"/>
            <a:tailEnd type="none" w="med" len="med"/>
          </a:ln>
        </p:spPr>
      </p:sp>
      <p:sp>
        <p:nvSpPr>
          <p:cNvPr id="366600"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7"/>
          <p:cNvSpPr>
            <a:spLocks noGrp="1" noChangeArrowheads="1"/>
          </p:cNvSpPr>
          <p:nvPr>
            <p:ph type="sldNum" sz="quarter" idx="5"/>
          </p:nvPr>
        </p:nvSpPr>
        <p:spPr>
          <a:noFill/>
        </p:spPr>
        <p:txBody>
          <a:bodyPr/>
          <a:lstStyle/>
          <a:p>
            <a:fld id="{22818755-2CCD-47B0-B91E-F39873E87EB4}" type="slidenum">
              <a:rPr lang="fr-FR" smtClean="0"/>
              <a:pPr/>
              <a:t>3</a:t>
            </a:fld>
            <a:endParaRPr lang="fr-FR" smtClean="0"/>
          </a:p>
        </p:txBody>
      </p:sp>
      <p:sp>
        <p:nvSpPr>
          <p:cNvPr id="367619"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32C07EFC-FBEC-4EA1-8869-8F64C72C78EC}" type="datetime5">
              <a:rPr lang="en-US" sz="900">
                <a:solidFill>
                  <a:srgbClr val="5F5F5F"/>
                </a:solidFill>
                <a:latin typeface="Arial" pitchFamily="34" charset="0"/>
              </a:rPr>
              <a:pPr eaLnBrk="1" hangingPunct="1"/>
              <a:t>12-Oct-25</a:t>
            </a:fld>
            <a:endParaRPr lang="en-US" sz="900">
              <a:solidFill>
                <a:srgbClr val="5F5F5F"/>
              </a:solidFill>
              <a:latin typeface="Arial" pitchFamily="34" charset="0"/>
            </a:endParaRPr>
          </a:p>
        </p:txBody>
      </p:sp>
      <p:sp>
        <p:nvSpPr>
          <p:cNvPr id="367620"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0A06037D-A5F2-4607-8F2E-D6F4876F5AE9}" type="slidenum">
              <a:rPr lang="fr-FR" sz="900">
                <a:solidFill>
                  <a:srgbClr val="5F5F5F"/>
                </a:solidFill>
                <a:latin typeface="Arial" pitchFamily="34" charset="0"/>
              </a:rPr>
              <a:pPr algn="r" eaLnBrk="1" hangingPunct="1"/>
              <a:t>3</a:t>
            </a:fld>
            <a:endParaRPr lang="en-US" sz="900">
              <a:solidFill>
                <a:srgbClr val="5F5F5F"/>
              </a:solidFill>
              <a:latin typeface="Arial" pitchFamily="34" charset="0"/>
            </a:endParaRPr>
          </a:p>
        </p:txBody>
      </p:sp>
      <p:sp>
        <p:nvSpPr>
          <p:cNvPr id="367621"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67622"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67623" name="Rectangle 69633"/>
          <p:cNvSpPr>
            <a:spLocks noGrp="1" noRot="1" noChangeAspect="1" noChangeArrowheads="1" noTextEdit="1"/>
          </p:cNvSpPr>
          <p:nvPr>
            <p:ph type="sldImg"/>
          </p:nvPr>
        </p:nvSpPr>
        <p:spPr>
          <a:ln cap="flat" algn="ctr">
            <a:headEnd type="none" w="med" len="med"/>
            <a:tailEnd type="none" w="med" len="med"/>
          </a:ln>
        </p:spPr>
      </p:sp>
      <p:sp>
        <p:nvSpPr>
          <p:cNvPr id="367624"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7"/>
          <p:cNvSpPr>
            <a:spLocks noGrp="1" noChangeArrowheads="1"/>
          </p:cNvSpPr>
          <p:nvPr>
            <p:ph type="sldNum" sz="quarter" idx="5"/>
          </p:nvPr>
        </p:nvSpPr>
        <p:spPr>
          <a:noFill/>
        </p:spPr>
        <p:txBody>
          <a:bodyPr/>
          <a:lstStyle/>
          <a:p>
            <a:fld id="{D14DAFDD-65D7-450C-BE83-2ED21E5DC3EB}" type="slidenum">
              <a:rPr lang="fr-FR" smtClean="0"/>
              <a:pPr/>
              <a:t>4</a:t>
            </a:fld>
            <a:endParaRPr lang="fr-FR" smtClean="0"/>
          </a:p>
        </p:txBody>
      </p:sp>
      <p:sp>
        <p:nvSpPr>
          <p:cNvPr id="368643"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C36BFDBF-9DAD-47DE-8B78-9E9CCF706A75}" type="datetime5">
              <a:rPr lang="en-US" sz="900">
                <a:solidFill>
                  <a:srgbClr val="5F5F5F"/>
                </a:solidFill>
                <a:latin typeface="Arial" pitchFamily="34" charset="0"/>
              </a:rPr>
              <a:pPr eaLnBrk="1" hangingPunct="1"/>
              <a:t>12-Oct-25</a:t>
            </a:fld>
            <a:endParaRPr lang="en-US" sz="900">
              <a:solidFill>
                <a:srgbClr val="5F5F5F"/>
              </a:solidFill>
              <a:latin typeface="Arial" pitchFamily="34" charset="0"/>
            </a:endParaRPr>
          </a:p>
        </p:txBody>
      </p:sp>
      <p:sp>
        <p:nvSpPr>
          <p:cNvPr id="368644"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5565FDCE-5B63-4954-BE1C-C6B4ABF706E3}" type="slidenum">
              <a:rPr lang="fr-FR" sz="900">
                <a:solidFill>
                  <a:srgbClr val="5F5F5F"/>
                </a:solidFill>
                <a:latin typeface="Arial" pitchFamily="34" charset="0"/>
              </a:rPr>
              <a:pPr algn="r" eaLnBrk="1" hangingPunct="1"/>
              <a:t>4</a:t>
            </a:fld>
            <a:endParaRPr lang="en-US" sz="900">
              <a:solidFill>
                <a:srgbClr val="5F5F5F"/>
              </a:solidFill>
              <a:latin typeface="Arial" pitchFamily="34" charset="0"/>
            </a:endParaRPr>
          </a:p>
        </p:txBody>
      </p:sp>
      <p:sp>
        <p:nvSpPr>
          <p:cNvPr id="368645"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68646"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68647" name="Rectangle 69633"/>
          <p:cNvSpPr>
            <a:spLocks noGrp="1" noRot="1" noChangeAspect="1" noChangeArrowheads="1" noTextEdit="1"/>
          </p:cNvSpPr>
          <p:nvPr>
            <p:ph type="sldImg"/>
          </p:nvPr>
        </p:nvSpPr>
        <p:spPr>
          <a:ln cap="flat" algn="ctr">
            <a:headEnd type="none" w="med" len="med"/>
            <a:tailEnd type="none" w="med" len="med"/>
          </a:ln>
        </p:spPr>
      </p:sp>
      <p:sp>
        <p:nvSpPr>
          <p:cNvPr id="368648"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7"/>
          <p:cNvSpPr>
            <a:spLocks noGrp="1" noChangeArrowheads="1"/>
          </p:cNvSpPr>
          <p:nvPr>
            <p:ph type="sldNum" sz="quarter" idx="5"/>
          </p:nvPr>
        </p:nvSpPr>
        <p:spPr>
          <a:noFill/>
        </p:spPr>
        <p:txBody>
          <a:bodyPr/>
          <a:lstStyle/>
          <a:p>
            <a:fld id="{554963E1-38E7-4CE3-845C-B812817C6452}" type="slidenum">
              <a:rPr lang="fr-FR" smtClean="0"/>
              <a:pPr/>
              <a:t>5</a:t>
            </a:fld>
            <a:endParaRPr lang="fr-FR" smtClean="0"/>
          </a:p>
        </p:txBody>
      </p:sp>
      <p:sp>
        <p:nvSpPr>
          <p:cNvPr id="369667"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77FC2BD3-DC4C-47B8-AF1E-552BCFABB497}" type="datetime5">
              <a:rPr lang="en-US" sz="900">
                <a:solidFill>
                  <a:srgbClr val="5F5F5F"/>
                </a:solidFill>
                <a:latin typeface="Arial" pitchFamily="34" charset="0"/>
              </a:rPr>
              <a:pPr eaLnBrk="1" hangingPunct="1"/>
              <a:t>12-Oct-25</a:t>
            </a:fld>
            <a:endParaRPr lang="en-US" sz="900">
              <a:solidFill>
                <a:srgbClr val="5F5F5F"/>
              </a:solidFill>
              <a:latin typeface="Arial" pitchFamily="34" charset="0"/>
            </a:endParaRPr>
          </a:p>
        </p:txBody>
      </p:sp>
      <p:sp>
        <p:nvSpPr>
          <p:cNvPr id="369668"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7C6235F0-3CF3-42F6-A5A3-65175D69B72F}" type="slidenum">
              <a:rPr lang="fr-FR" sz="900">
                <a:solidFill>
                  <a:srgbClr val="5F5F5F"/>
                </a:solidFill>
                <a:latin typeface="Arial" pitchFamily="34" charset="0"/>
              </a:rPr>
              <a:pPr algn="r" eaLnBrk="1" hangingPunct="1"/>
              <a:t>5</a:t>
            </a:fld>
            <a:endParaRPr lang="en-US" sz="900">
              <a:solidFill>
                <a:srgbClr val="5F5F5F"/>
              </a:solidFill>
              <a:latin typeface="Arial" pitchFamily="34" charset="0"/>
            </a:endParaRPr>
          </a:p>
        </p:txBody>
      </p:sp>
      <p:sp>
        <p:nvSpPr>
          <p:cNvPr id="369669"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69670"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69671" name="Rectangle 69633"/>
          <p:cNvSpPr>
            <a:spLocks noGrp="1" noRot="1" noChangeAspect="1" noChangeArrowheads="1" noTextEdit="1"/>
          </p:cNvSpPr>
          <p:nvPr>
            <p:ph type="sldImg"/>
          </p:nvPr>
        </p:nvSpPr>
        <p:spPr>
          <a:ln cap="flat" algn="ctr">
            <a:headEnd type="none" w="med" len="med"/>
            <a:tailEnd type="none" w="med" len="med"/>
          </a:ln>
        </p:spPr>
      </p:sp>
      <p:sp>
        <p:nvSpPr>
          <p:cNvPr id="369672"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7"/>
          <p:cNvSpPr>
            <a:spLocks noGrp="1" noChangeArrowheads="1"/>
          </p:cNvSpPr>
          <p:nvPr>
            <p:ph type="sldNum" sz="quarter" idx="5"/>
          </p:nvPr>
        </p:nvSpPr>
        <p:spPr>
          <a:noFill/>
        </p:spPr>
        <p:txBody>
          <a:bodyPr/>
          <a:lstStyle/>
          <a:p>
            <a:fld id="{AF0D3D8C-6129-477C-8AE2-69ABDEA961F9}" type="slidenum">
              <a:rPr lang="fr-FR" smtClean="0"/>
              <a:pPr/>
              <a:t>6</a:t>
            </a:fld>
            <a:endParaRPr lang="fr-FR" smtClean="0"/>
          </a:p>
        </p:txBody>
      </p:sp>
      <p:sp>
        <p:nvSpPr>
          <p:cNvPr id="370691"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4FA6C2C2-96B5-4019-ADFA-69EF5B9763A3}" type="datetime5">
              <a:rPr lang="en-US" sz="900">
                <a:solidFill>
                  <a:srgbClr val="5F5F5F"/>
                </a:solidFill>
                <a:latin typeface="Arial" pitchFamily="34" charset="0"/>
              </a:rPr>
              <a:pPr eaLnBrk="1" hangingPunct="1"/>
              <a:t>12-Oct-25</a:t>
            </a:fld>
            <a:endParaRPr lang="en-US" sz="900">
              <a:solidFill>
                <a:srgbClr val="5F5F5F"/>
              </a:solidFill>
              <a:latin typeface="Arial" pitchFamily="34" charset="0"/>
            </a:endParaRPr>
          </a:p>
        </p:txBody>
      </p:sp>
      <p:sp>
        <p:nvSpPr>
          <p:cNvPr id="370692"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C266568A-CA22-4C44-94DE-9385DF4B9190}" type="slidenum">
              <a:rPr lang="fr-FR" sz="900">
                <a:solidFill>
                  <a:srgbClr val="5F5F5F"/>
                </a:solidFill>
                <a:latin typeface="Arial" pitchFamily="34" charset="0"/>
              </a:rPr>
              <a:pPr algn="r" eaLnBrk="1" hangingPunct="1"/>
              <a:t>6</a:t>
            </a:fld>
            <a:endParaRPr lang="en-US" sz="900">
              <a:solidFill>
                <a:srgbClr val="5F5F5F"/>
              </a:solidFill>
              <a:latin typeface="Arial" pitchFamily="34" charset="0"/>
            </a:endParaRPr>
          </a:p>
        </p:txBody>
      </p:sp>
      <p:sp>
        <p:nvSpPr>
          <p:cNvPr id="370693"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70694"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70695" name="Rectangle 69633"/>
          <p:cNvSpPr>
            <a:spLocks noGrp="1" noRot="1" noChangeAspect="1" noChangeArrowheads="1" noTextEdit="1"/>
          </p:cNvSpPr>
          <p:nvPr>
            <p:ph type="sldImg"/>
          </p:nvPr>
        </p:nvSpPr>
        <p:spPr>
          <a:ln cap="flat" algn="ctr">
            <a:headEnd type="none" w="med" len="med"/>
            <a:tailEnd type="none" w="med" len="med"/>
          </a:ln>
        </p:spPr>
      </p:sp>
      <p:sp>
        <p:nvSpPr>
          <p:cNvPr id="370696"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7"/>
          <p:cNvSpPr>
            <a:spLocks noGrp="1" noChangeArrowheads="1"/>
          </p:cNvSpPr>
          <p:nvPr>
            <p:ph type="sldNum" sz="quarter" idx="5"/>
          </p:nvPr>
        </p:nvSpPr>
        <p:spPr>
          <a:noFill/>
        </p:spPr>
        <p:txBody>
          <a:bodyPr/>
          <a:lstStyle/>
          <a:p>
            <a:fld id="{AF0D3D8C-6129-477C-8AE2-69ABDEA961F9}" type="slidenum">
              <a:rPr lang="fr-FR" smtClean="0"/>
              <a:pPr/>
              <a:t>7</a:t>
            </a:fld>
            <a:endParaRPr lang="fr-FR" smtClean="0"/>
          </a:p>
        </p:txBody>
      </p:sp>
      <p:sp>
        <p:nvSpPr>
          <p:cNvPr id="370691"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4FA6C2C2-96B5-4019-ADFA-69EF5B9763A3}" type="datetime5">
              <a:rPr lang="en-US" sz="900">
                <a:solidFill>
                  <a:srgbClr val="5F5F5F"/>
                </a:solidFill>
                <a:latin typeface="Arial" pitchFamily="34" charset="0"/>
              </a:rPr>
              <a:pPr eaLnBrk="1" hangingPunct="1"/>
              <a:t>12-Oct-25</a:t>
            </a:fld>
            <a:endParaRPr lang="en-US" sz="900">
              <a:solidFill>
                <a:srgbClr val="5F5F5F"/>
              </a:solidFill>
              <a:latin typeface="Arial" pitchFamily="34" charset="0"/>
            </a:endParaRPr>
          </a:p>
        </p:txBody>
      </p:sp>
      <p:sp>
        <p:nvSpPr>
          <p:cNvPr id="370692"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C266568A-CA22-4C44-94DE-9385DF4B9190}" type="slidenum">
              <a:rPr lang="fr-FR" sz="900">
                <a:solidFill>
                  <a:srgbClr val="5F5F5F"/>
                </a:solidFill>
                <a:latin typeface="Arial" pitchFamily="34" charset="0"/>
              </a:rPr>
              <a:pPr algn="r" eaLnBrk="1" hangingPunct="1"/>
              <a:t>7</a:t>
            </a:fld>
            <a:endParaRPr lang="en-US" sz="900">
              <a:solidFill>
                <a:srgbClr val="5F5F5F"/>
              </a:solidFill>
              <a:latin typeface="Arial" pitchFamily="34" charset="0"/>
            </a:endParaRPr>
          </a:p>
        </p:txBody>
      </p:sp>
      <p:sp>
        <p:nvSpPr>
          <p:cNvPr id="370693"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70694"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70695" name="Rectangle 69633"/>
          <p:cNvSpPr>
            <a:spLocks noGrp="1" noRot="1" noChangeAspect="1" noChangeArrowheads="1" noTextEdit="1"/>
          </p:cNvSpPr>
          <p:nvPr>
            <p:ph type="sldImg"/>
          </p:nvPr>
        </p:nvSpPr>
        <p:spPr>
          <a:ln cap="flat" algn="ctr">
            <a:headEnd type="none" w="med" len="med"/>
            <a:tailEnd type="none" w="med" len="med"/>
          </a:ln>
        </p:spPr>
      </p:sp>
      <p:sp>
        <p:nvSpPr>
          <p:cNvPr id="370696"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7"/>
          <p:cNvSpPr>
            <a:spLocks noGrp="1" noChangeArrowheads="1"/>
          </p:cNvSpPr>
          <p:nvPr>
            <p:ph type="sldNum" sz="quarter" idx="5"/>
          </p:nvPr>
        </p:nvSpPr>
        <p:spPr>
          <a:noFill/>
        </p:spPr>
        <p:txBody>
          <a:bodyPr/>
          <a:lstStyle/>
          <a:p>
            <a:fld id="{2B298493-DCFF-4F5A-82FD-6B876E925570}" type="slidenum">
              <a:rPr lang="fr-FR" smtClean="0"/>
              <a:pPr/>
              <a:t>8</a:t>
            </a:fld>
            <a:endParaRPr lang="fr-FR" smtClean="0"/>
          </a:p>
        </p:txBody>
      </p:sp>
      <p:sp>
        <p:nvSpPr>
          <p:cNvPr id="379907"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6EB0E1BE-3CD7-4CDD-94B5-23D225124F79}" type="datetime5">
              <a:rPr lang="en-US" sz="900">
                <a:solidFill>
                  <a:srgbClr val="5F5F5F"/>
                </a:solidFill>
                <a:latin typeface="Arial" pitchFamily="34" charset="0"/>
              </a:rPr>
              <a:pPr eaLnBrk="1" hangingPunct="1"/>
              <a:t>12-Oct-25</a:t>
            </a:fld>
            <a:endParaRPr lang="en-US" sz="900">
              <a:solidFill>
                <a:srgbClr val="5F5F5F"/>
              </a:solidFill>
              <a:latin typeface="Arial" pitchFamily="34" charset="0"/>
            </a:endParaRPr>
          </a:p>
        </p:txBody>
      </p:sp>
      <p:sp>
        <p:nvSpPr>
          <p:cNvPr id="379908"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9F1B2719-7CB6-4887-A84E-25AE0DE68ED6}" type="slidenum">
              <a:rPr lang="fr-FR" sz="900">
                <a:solidFill>
                  <a:srgbClr val="5F5F5F"/>
                </a:solidFill>
                <a:latin typeface="Arial" pitchFamily="34" charset="0"/>
              </a:rPr>
              <a:pPr algn="r" eaLnBrk="1" hangingPunct="1"/>
              <a:t>8</a:t>
            </a:fld>
            <a:endParaRPr lang="en-US" sz="900">
              <a:solidFill>
                <a:srgbClr val="5F5F5F"/>
              </a:solidFill>
              <a:latin typeface="Arial" pitchFamily="34" charset="0"/>
            </a:endParaRPr>
          </a:p>
        </p:txBody>
      </p:sp>
      <p:sp>
        <p:nvSpPr>
          <p:cNvPr id="379909"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79910"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79911" name="Rectangle 69633"/>
          <p:cNvSpPr>
            <a:spLocks noGrp="1" noRot="1" noChangeAspect="1" noChangeArrowheads="1" noTextEdit="1"/>
          </p:cNvSpPr>
          <p:nvPr>
            <p:ph type="sldImg"/>
          </p:nvPr>
        </p:nvSpPr>
        <p:spPr>
          <a:ln cap="flat" algn="ctr">
            <a:headEnd type="none" w="med" len="med"/>
            <a:tailEnd type="none" w="med" len="med"/>
          </a:ln>
        </p:spPr>
      </p:sp>
      <p:sp>
        <p:nvSpPr>
          <p:cNvPr id="379912"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7"/>
          <p:cNvSpPr>
            <a:spLocks noGrp="1" noChangeArrowheads="1"/>
          </p:cNvSpPr>
          <p:nvPr>
            <p:ph type="sldNum" sz="quarter" idx="5"/>
          </p:nvPr>
        </p:nvSpPr>
        <p:spPr>
          <a:noFill/>
        </p:spPr>
        <p:txBody>
          <a:bodyPr/>
          <a:lstStyle/>
          <a:p>
            <a:fld id="{2B298493-DCFF-4F5A-82FD-6B876E925570}" type="slidenum">
              <a:rPr lang="fr-FR" smtClean="0"/>
              <a:pPr/>
              <a:t>9</a:t>
            </a:fld>
            <a:endParaRPr lang="fr-FR" smtClean="0"/>
          </a:p>
        </p:txBody>
      </p:sp>
      <p:sp>
        <p:nvSpPr>
          <p:cNvPr id="379907"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6EB0E1BE-3CD7-4CDD-94B5-23D225124F79}" type="datetime5">
              <a:rPr lang="en-US" sz="900">
                <a:solidFill>
                  <a:srgbClr val="5F5F5F"/>
                </a:solidFill>
                <a:latin typeface="Arial" pitchFamily="34" charset="0"/>
              </a:rPr>
              <a:pPr eaLnBrk="1" hangingPunct="1"/>
              <a:t>12-Oct-25</a:t>
            </a:fld>
            <a:endParaRPr lang="en-US" sz="900">
              <a:solidFill>
                <a:srgbClr val="5F5F5F"/>
              </a:solidFill>
              <a:latin typeface="Arial" pitchFamily="34" charset="0"/>
            </a:endParaRPr>
          </a:p>
        </p:txBody>
      </p:sp>
      <p:sp>
        <p:nvSpPr>
          <p:cNvPr id="379908"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9F1B2719-7CB6-4887-A84E-25AE0DE68ED6}" type="slidenum">
              <a:rPr lang="fr-FR" sz="900">
                <a:solidFill>
                  <a:srgbClr val="5F5F5F"/>
                </a:solidFill>
                <a:latin typeface="Arial" pitchFamily="34" charset="0"/>
              </a:rPr>
              <a:pPr algn="r" eaLnBrk="1" hangingPunct="1"/>
              <a:t>9</a:t>
            </a:fld>
            <a:endParaRPr lang="en-US" sz="900">
              <a:solidFill>
                <a:srgbClr val="5F5F5F"/>
              </a:solidFill>
              <a:latin typeface="Arial" pitchFamily="34" charset="0"/>
            </a:endParaRPr>
          </a:p>
        </p:txBody>
      </p:sp>
      <p:sp>
        <p:nvSpPr>
          <p:cNvPr id="379909"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79910"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79911" name="Rectangle 69633"/>
          <p:cNvSpPr>
            <a:spLocks noGrp="1" noRot="1" noChangeAspect="1" noChangeArrowheads="1" noTextEdit="1"/>
          </p:cNvSpPr>
          <p:nvPr>
            <p:ph type="sldImg"/>
          </p:nvPr>
        </p:nvSpPr>
        <p:spPr>
          <a:ln cap="flat" algn="ctr">
            <a:headEnd type="none" w="med" len="med"/>
            <a:tailEnd type="none" w="med" len="med"/>
          </a:ln>
        </p:spPr>
      </p:sp>
      <p:sp>
        <p:nvSpPr>
          <p:cNvPr id="379912"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7"/>
          <p:cNvSpPr>
            <a:spLocks noGrp="1" noChangeArrowheads="1"/>
          </p:cNvSpPr>
          <p:nvPr>
            <p:ph type="sldNum" sz="quarter" idx="5"/>
          </p:nvPr>
        </p:nvSpPr>
        <p:spPr>
          <a:noFill/>
        </p:spPr>
        <p:txBody>
          <a:bodyPr/>
          <a:lstStyle/>
          <a:p>
            <a:fld id="{2B298493-DCFF-4F5A-82FD-6B876E925570}" type="slidenum">
              <a:rPr lang="fr-FR" smtClean="0"/>
              <a:pPr/>
              <a:t>10</a:t>
            </a:fld>
            <a:endParaRPr lang="fr-FR" smtClean="0"/>
          </a:p>
        </p:txBody>
      </p:sp>
      <p:sp>
        <p:nvSpPr>
          <p:cNvPr id="379907"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6EB0E1BE-3CD7-4CDD-94B5-23D225124F79}" type="datetime5">
              <a:rPr lang="en-US" sz="900">
                <a:solidFill>
                  <a:srgbClr val="5F5F5F"/>
                </a:solidFill>
                <a:latin typeface="Arial" pitchFamily="34" charset="0"/>
              </a:rPr>
              <a:pPr eaLnBrk="1" hangingPunct="1"/>
              <a:t>12-Oct-25</a:t>
            </a:fld>
            <a:endParaRPr lang="en-US" sz="900">
              <a:solidFill>
                <a:srgbClr val="5F5F5F"/>
              </a:solidFill>
              <a:latin typeface="Arial" pitchFamily="34" charset="0"/>
            </a:endParaRPr>
          </a:p>
        </p:txBody>
      </p:sp>
      <p:sp>
        <p:nvSpPr>
          <p:cNvPr id="379908"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9F1B2719-7CB6-4887-A84E-25AE0DE68ED6}" type="slidenum">
              <a:rPr lang="fr-FR" sz="900">
                <a:solidFill>
                  <a:srgbClr val="5F5F5F"/>
                </a:solidFill>
                <a:latin typeface="Arial" pitchFamily="34" charset="0"/>
              </a:rPr>
              <a:pPr algn="r" eaLnBrk="1" hangingPunct="1"/>
              <a:t>10</a:t>
            </a:fld>
            <a:endParaRPr lang="en-US" sz="900">
              <a:solidFill>
                <a:srgbClr val="5F5F5F"/>
              </a:solidFill>
              <a:latin typeface="Arial" pitchFamily="34" charset="0"/>
            </a:endParaRPr>
          </a:p>
        </p:txBody>
      </p:sp>
      <p:sp>
        <p:nvSpPr>
          <p:cNvPr id="379909"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79910"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79911" name="Rectangle 69633"/>
          <p:cNvSpPr>
            <a:spLocks noGrp="1" noRot="1" noChangeAspect="1" noChangeArrowheads="1" noTextEdit="1"/>
          </p:cNvSpPr>
          <p:nvPr>
            <p:ph type="sldImg"/>
          </p:nvPr>
        </p:nvSpPr>
        <p:spPr>
          <a:ln cap="flat" algn="ctr">
            <a:headEnd type="none" w="med" len="med"/>
            <a:tailEnd type="none" w="med" len="med"/>
          </a:ln>
        </p:spPr>
      </p:sp>
      <p:sp>
        <p:nvSpPr>
          <p:cNvPr id="379912"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7"/>
          <p:cNvSpPr>
            <a:spLocks noGrp="1" noChangeArrowheads="1"/>
          </p:cNvSpPr>
          <p:nvPr>
            <p:ph type="sldNum" sz="quarter" idx="5"/>
          </p:nvPr>
        </p:nvSpPr>
        <p:spPr>
          <a:noFill/>
        </p:spPr>
        <p:txBody>
          <a:bodyPr/>
          <a:lstStyle/>
          <a:p>
            <a:fld id="{2B298493-DCFF-4F5A-82FD-6B876E925570}" type="slidenum">
              <a:rPr lang="fr-FR" smtClean="0"/>
              <a:pPr/>
              <a:t>11</a:t>
            </a:fld>
            <a:endParaRPr lang="fr-FR" smtClean="0"/>
          </a:p>
        </p:txBody>
      </p:sp>
      <p:sp>
        <p:nvSpPr>
          <p:cNvPr id="379907"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6EB0E1BE-3CD7-4CDD-94B5-23D225124F79}" type="datetime5">
              <a:rPr lang="en-US" sz="900">
                <a:solidFill>
                  <a:srgbClr val="5F5F5F"/>
                </a:solidFill>
                <a:latin typeface="Arial" pitchFamily="34" charset="0"/>
              </a:rPr>
              <a:pPr eaLnBrk="1" hangingPunct="1"/>
              <a:t>12-Oct-25</a:t>
            </a:fld>
            <a:endParaRPr lang="en-US" sz="900">
              <a:solidFill>
                <a:srgbClr val="5F5F5F"/>
              </a:solidFill>
              <a:latin typeface="Arial" pitchFamily="34" charset="0"/>
            </a:endParaRPr>
          </a:p>
        </p:txBody>
      </p:sp>
      <p:sp>
        <p:nvSpPr>
          <p:cNvPr id="379908"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9F1B2719-7CB6-4887-A84E-25AE0DE68ED6}" type="slidenum">
              <a:rPr lang="fr-FR" sz="900">
                <a:solidFill>
                  <a:srgbClr val="5F5F5F"/>
                </a:solidFill>
                <a:latin typeface="Arial" pitchFamily="34" charset="0"/>
              </a:rPr>
              <a:pPr algn="r" eaLnBrk="1" hangingPunct="1"/>
              <a:t>11</a:t>
            </a:fld>
            <a:endParaRPr lang="en-US" sz="900">
              <a:solidFill>
                <a:srgbClr val="5F5F5F"/>
              </a:solidFill>
              <a:latin typeface="Arial" pitchFamily="34" charset="0"/>
            </a:endParaRPr>
          </a:p>
        </p:txBody>
      </p:sp>
      <p:sp>
        <p:nvSpPr>
          <p:cNvPr id="379909"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79910"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79911" name="Rectangle 69633"/>
          <p:cNvSpPr>
            <a:spLocks noGrp="1" noRot="1" noChangeAspect="1" noChangeArrowheads="1" noTextEdit="1"/>
          </p:cNvSpPr>
          <p:nvPr>
            <p:ph type="sldImg"/>
          </p:nvPr>
        </p:nvSpPr>
        <p:spPr>
          <a:ln cap="flat" algn="ctr">
            <a:headEnd type="none" w="med" len="med"/>
            <a:tailEnd type="none" w="med" len="med"/>
          </a:ln>
        </p:spPr>
      </p:sp>
      <p:sp>
        <p:nvSpPr>
          <p:cNvPr id="379912"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7"/>
          <p:cNvSpPr>
            <a:spLocks noGrp="1" noChangeArrowheads="1"/>
          </p:cNvSpPr>
          <p:nvPr>
            <p:ph type="sldNum" sz="quarter" idx="5"/>
          </p:nvPr>
        </p:nvSpPr>
        <p:spPr>
          <a:noFill/>
        </p:spPr>
        <p:txBody>
          <a:bodyPr/>
          <a:lstStyle/>
          <a:p>
            <a:fld id="{2B298493-DCFF-4F5A-82FD-6B876E925570}" type="slidenum">
              <a:rPr lang="fr-FR" smtClean="0"/>
              <a:pPr/>
              <a:t>12</a:t>
            </a:fld>
            <a:endParaRPr lang="fr-FR" smtClean="0"/>
          </a:p>
        </p:txBody>
      </p:sp>
      <p:sp>
        <p:nvSpPr>
          <p:cNvPr id="379907"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6EB0E1BE-3CD7-4CDD-94B5-23D225124F79}" type="datetime5">
              <a:rPr lang="en-US" sz="900">
                <a:solidFill>
                  <a:srgbClr val="5F5F5F"/>
                </a:solidFill>
                <a:latin typeface="Arial" pitchFamily="34" charset="0"/>
              </a:rPr>
              <a:pPr eaLnBrk="1" hangingPunct="1"/>
              <a:t>12-Oct-25</a:t>
            </a:fld>
            <a:endParaRPr lang="en-US" sz="900">
              <a:solidFill>
                <a:srgbClr val="5F5F5F"/>
              </a:solidFill>
              <a:latin typeface="Arial" pitchFamily="34" charset="0"/>
            </a:endParaRPr>
          </a:p>
        </p:txBody>
      </p:sp>
      <p:sp>
        <p:nvSpPr>
          <p:cNvPr id="379908"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9F1B2719-7CB6-4887-A84E-25AE0DE68ED6}" type="slidenum">
              <a:rPr lang="fr-FR" sz="900">
                <a:solidFill>
                  <a:srgbClr val="5F5F5F"/>
                </a:solidFill>
                <a:latin typeface="Arial" pitchFamily="34" charset="0"/>
              </a:rPr>
              <a:pPr algn="r" eaLnBrk="1" hangingPunct="1"/>
              <a:t>12</a:t>
            </a:fld>
            <a:endParaRPr lang="en-US" sz="900">
              <a:solidFill>
                <a:srgbClr val="5F5F5F"/>
              </a:solidFill>
              <a:latin typeface="Arial" pitchFamily="34" charset="0"/>
            </a:endParaRPr>
          </a:p>
        </p:txBody>
      </p:sp>
      <p:sp>
        <p:nvSpPr>
          <p:cNvPr id="379909"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79910"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79911" name="Rectangle 69633"/>
          <p:cNvSpPr>
            <a:spLocks noGrp="1" noRot="1" noChangeAspect="1" noChangeArrowheads="1" noTextEdit="1"/>
          </p:cNvSpPr>
          <p:nvPr>
            <p:ph type="sldImg"/>
          </p:nvPr>
        </p:nvSpPr>
        <p:spPr>
          <a:ln cap="flat" algn="ctr">
            <a:headEnd type="none" w="med" len="med"/>
            <a:tailEnd type="none" w="med" len="med"/>
          </a:ln>
        </p:spPr>
      </p:sp>
      <p:sp>
        <p:nvSpPr>
          <p:cNvPr id="379912"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7"/>
          <p:cNvSpPr>
            <a:spLocks noGrp="1" noChangeArrowheads="1"/>
          </p:cNvSpPr>
          <p:nvPr>
            <p:ph type="sldNum" sz="quarter" idx="5"/>
          </p:nvPr>
        </p:nvSpPr>
        <p:spPr>
          <a:noFill/>
        </p:spPr>
        <p:txBody>
          <a:bodyPr/>
          <a:lstStyle/>
          <a:p>
            <a:fld id="{2B298493-DCFF-4F5A-82FD-6B876E925570}" type="slidenum">
              <a:rPr lang="fr-FR" smtClean="0"/>
              <a:pPr/>
              <a:t>13</a:t>
            </a:fld>
            <a:endParaRPr lang="fr-FR" smtClean="0"/>
          </a:p>
        </p:txBody>
      </p:sp>
      <p:sp>
        <p:nvSpPr>
          <p:cNvPr id="379907"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6EB0E1BE-3CD7-4CDD-94B5-23D225124F79}" type="datetime5">
              <a:rPr lang="en-US" sz="900">
                <a:solidFill>
                  <a:srgbClr val="5F5F5F"/>
                </a:solidFill>
                <a:latin typeface="Arial" pitchFamily="34" charset="0"/>
              </a:rPr>
              <a:pPr eaLnBrk="1" hangingPunct="1"/>
              <a:t>12-Oct-25</a:t>
            </a:fld>
            <a:endParaRPr lang="en-US" sz="900">
              <a:solidFill>
                <a:srgbClr val="5F5F5F"/>
              </a:solidFill>
              <a:latin typeface="Arial" pitchFamily="34" charset="0"/>
            </a:endParaRPr>
          </a:p>
        </p:txBody>
      </p:sp>
      <p:sp>
        <p:nvSpPr>
          <p:cNvPr id="379908"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9F1B2719-7CB6-4887-A84E-25AE0DE68ED6}" type="slidenum">
              <a:rPr lang="fr-FR" sz="900">
                <a:solidFill>
                  <a:srgbClr val="5F5F5F"/>
                </a:solidFill>
                <a:latin typeface="Arial" pitchFamily="34" charset="0"/>
              </a:rPr>
              <a:pPr algn="r" eaLnBrk="1" hangingPunct="1"/>
              <a:t>13</a:t>
            </a:fld>
            <a:endParaRPr lang="en-US" sz="900">
              <a:solidFill>
                <a:srgbClr val="5F5F5F"/>
              </a:solidFill>
              <a:latin typeface="Arial" pitchFamily="34" charset="0"/>
            </a:endParaRPr>
          </a:p>
        </p:txBody>
      </p:sp>
      <p:sp>
        <p:nvSpPr>
          <p:cNvPr id="379909"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79910"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79911" name="Rectangle 69633"/>
          <p:cNvSpPr>
            <a:spLocks noGrp="1" noRot="1" noChangeAspect="1" noChangeArrowheads="1" noTextEdit="1"/>
          </p:cNvSpPr>
          <p:nvPr>
            <p:ph type="sldImg"/>
          </p:nvPr>
        </p:nvSpPr>
        <p:spPr>
          <a:ln cap="flat" algn="ctr">
            <a:headEnd type="none" w="med" len="med"/>
            <a:tailEnd type="none" w="med" len="med"/>
          </a:ln>
        </p:spPr>
      </p:sp>
      <p:sp>
        <p:nvSpPr>
          <p:cNvPr id="379912"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7"/>
          <p:cNvSpPr>
            <a:spLocks noGrp="1" noChangeArrowheads="1"/>
          </p:cNvSpPr>
          <p:nvPr>
            <p:ph type="sldNum" sz="quarter" idx="5"/>
          </p:nvPr>
        </p:nvSpPr>
        <p:spPr>
          <a:noFill/>
        </p:spPr>
        <p:txBody>
          <a:bodyPr/>
          <a:lstStyle/>
          <a:p>
            <a:fld id="{2B298493-DCFF-4F5A-82FD-6B876E925570}" type="slidenum">
              <a:rPr lang="fr-FR" smtClean="0"/>
              <a:pPr/>
              <a:t>14</a:t>
            </a:fld>
            <a:endParaRPr lang="fr-FR" smtClean="0"/>
          </a:p>
        </p:txBody>
      </p:sp>
      <p:sp>
        <p:nvSpPr>
          <p:cNvPr id="379907"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6EB0E1BE-3CD7-4CDD-94B5-23D225124F79}" type="datetime5">
              <a:rPr lang="en-US" sz="900">
                <a:solidFill>
                  <a:srgbClr val="5F5F5F"/>
                </a:solidFill>
                <a:latin typeface="Arial" pitchFamily="34" charset="0"/>
              </a:rPr>
              <a:pPr eaLnBrk="1" hangingPunct="1"/>
              <a:t>12-Oct-25</a:t>
            </a:fld>
            <a:endParaRPr lang="en-US" sz="900">
              <a:solidFill>
                <a:srgbClr val="5F5F5F"/>
              </a:solidFill>
              <a:latin typeface="Arial" pitchFamily="34" charset="0"/>
            </a:endParaRPr>
          </a:p>
        </p:txBody>
      </p:sp>
      <p:sp>
        <p:nvSpPr>
          <p:cNvPr id="379908"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9F1B2719-7CB6-4887-A84E-25AE0DE68ED6}" type="slidenum">
              <a:rPr lang="fr-FR" sz="900">
                <a:solidFill>
                  <a:srgbClr val="5F5F5F"/>
                </a:solidFill>
                <a:latin typeface="Arial" pitchFamily="34" charset="0"/>
              </a:rPr>
              <a:pPr algn="r" eaLnBrk="1" hangingPunct="1"/>
              <a:t>14</a:t>
            </a:fld>
            <a:endParaRPr lang="en-US" sz="900">
              <a:solidFill>
                <a:srgbClr val="5F5F5F"/>
              </a:solidFill>
              <a:latin typeface="Arial" pitchFamily="34" charset="0"/>
            </a:endParaRPr>
          </a:p>
        </p:txBody>
      </p:sp>
      <p:sp>
        <p:nvSpPr>
          <p:cNvPr id="379909"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79910"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79911" name="Rectangle 69633"/>
          <p:cNvSpPr>
            <a:spLocks noGrp="1" noRot="1" noChangeAspect="1" noChangeArrowheads="1" noTextEdit="1"/>
          </p:cNvSpPr>
          <p:nvPr>
            <p:ph type="sldImg"/>
          </p:nvPr>
        </p:nvSpPr>
        <p:spPr>
          <a:ln cap="flat" algn="ctr">
            <a:headEnd type="none" w="med" len="med"/>
            <a:tailEnd type="none" w="med" len="med"/>
          </a:ln>
        </p:spPr>
      </p:sp>
      <p:sp>
        <p:nvSpPr>
          <p:cNvPr id="379912"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7"/>
          <p:cNvSpPr>
            <a:spLocks noGrp="1" noChangeArrowheads="1"/>
          </p:cNvSpPr>
          <p:nvPr>
            <p:ph type="sldNum" sz="quarter" idx="5"/>
          </p:nvPr>
        </p:nvSpPr>
        <p:spPr>
          <a:noFill/>
        </p:spPr>
        <p:txBody>
          <a:bodyPr/>
          <a:lstStyle/>
          <a:p>
            <a:fld id="{2B298493-DCFF-4F5A-82FD-6B876E925570}" type="slidenum">
              <a:rPr lang="fr-FR" smtClean="0"/>
              <a:pPr/>
              <a:t>15</a:t>
            </a:fld>
            <a:endParaRPr lang="fr-FR" smtClean="0"/>
          </a:p>
        </p:txBody>
      </p:sp>
      <p:sp>
        <p:nvSpPr>
          <p:cNvPr id="379907"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6EB0E1BE-3CD7-4CDD-94B5-23D225124F79}" type="datetime5">
              <a:rPr lang="en-US" sz="900">
                <a:solidFill>
                  <a:srgbClr val="5F5F5F"/>
                </a:solidFill>
                <a:latin typeface="Arial" pitchFamily="34" charset="0"/>
              </a:rPr>
              <a:pPr eaLnBrk="1" hangingPunct="1"/>
              <a:t>12-Oct-25</a:t>
            </a:fld>
            <a:endParaRPr lang="en-US" sz="900">
              <a:solidFill>
                <a:srgbClr val="5F5F5F"/>
              </a:solidFill>
              <a:latin typeface="Arial" pitchFamily="34" charset="0"/>
            </a:endParaRPr>
          </a:p>
        </p:txBody>
      </p:sp>
      <p:sp>
        <p:nvSpPr>
          <p:cNvPr id="379908"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9F1B2719-7CB6-4887-A84E-25AE0DE68ED6}" type="slidenum">
              <a:rPr lang="fr-FR" sz="900">
                <a:solidFill>
                  <a:srgbClr val="5F5F5F"/>
                </a:solidFill>
                <a:latin typeface="Arial" pitchFamily="34" charset="0"/>
              </a:rPr>
              <a:pPr algn="r" eaLnBrk="1" hangingPunct="1"/>
              <a:t>15</a:t>
            </a:fld>
            <a:endParaRPr lang="en-US" sz="900">
              <a:solidFill>
                <a:srgbClr val="5F5F5F"/>
              </a:solidFill>
              <a:latin typeface="Arial" pitchFamily="34" charset="0"/>
            </a:endParaRPr>
          </a:p>
        </p:txBody>
      </p:sp>
      <p:sp>
        <p:nvSpPr>
          <p:cNvPr id="379909"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79910"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79911" name="Rectangle 69633"/>
          <p:cNvSpPr>
            <a:spLocks noGrp="1" noRot="1" noChangeAspect="1" noChangeArrowheads="1" noTextEdit="1"/>
          </p:cNvSpPr>
          <p:nvPr>
            <p:ph type="sldImg"/>
          </p:nvPr>
        </p:nvSpPr>
        <p:spPr>
          <a:ln cap="flat" algn="ctr">
            <a:headEnd type="none" w="med" len="med"/>
            <a:tailEnd type="none" w="med" len="med"/>
          </a:ln>
        </p:spPr>
      </p:sp>
      <p:sp>
        <p:nvSpPr>
          <p:cNvPr id="379912"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7"/>
          <p:cNvSpPr>
            <a:spLocks noGrp="1" noChangeArrowheads="1"/>
          </p:cNvSpPr>
          <p:nvPr>
            <p:ph type="sldNum" sz="quarter" idx="5"/>
          </p:nvPr>
        </p:nvSpPr>
        <p:spPr>
          <a:noFill/>
        </p:spPr>
        <p:txBody>
          <a:bodyPr/>
          <a:lstStyle/>
          <a:p>
            <a:fld id="{2B298493-DCFF-4F5A-82FD-6B876E925570}" type="slidenum">
              <a:rPr lang="fr-FR" smtClean="0"/>
              <a:pPr/>
              <a:t>18</a:t>
            </a:fld>
            <a:endParaRPr lang="fr-FR" smtClean="0"/>
          </a:p>
        </p:txBody>
      </p:sp>
      <p:sp>
        <p:nvSpPr>
          <p:cNvPr id="379907"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6EB0E1BE-3CD7-4CDD-94B5-23D225124F79}" type="datetime5">
              <a:rPr lang="en-US" sz="900">
                <a:solidFill>
                  <a:srgbClr val="5F5F5F"/>
                </a:solidFill>
                <a:latin typeface="Arial" pitchFamily="34" charset="0"/>
              </a:rPr>
              <a:pPr eaLnBrk="1" hangingPunct="1"/>
              <a:t>12-Oct-25</a:t>
            </a:fld>
            <a:endParaRPr lang="en-US" sz="900">
              <a:solidFill>
                <a:srgbClr val="5F5F5F"/>
              </a:solidFill>
              <a:latin typeface="Arial" pitchFamily="34" charset="0"/>
            </a:endParaRPr>
          </a:p>
        </p:txBody>
      </p:sp>
      <p:sp>
        <p:nvSpPr>
          <p:cNvPr id="379908"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9F1B2719-7CB6-4887-A84E-25AE0DE68ED6}" type="slidenum">
              <a:rPr lang="fr-FR" sz="900">
                <a:solidFill>
                  <a:srgbClr val="5F5F5F"/>
                </a:solidFill>
                <a:latin typeface="Arial" pitchFamily="34" charset="0"/>
              </a:rPr>
              <a:pPr algn="r" eaLnBrk="1" hangingPunct="1"/>
              <a:t>18</a:t>
            </a:fld>
            <a:endParaRPr lang="en-US" sz="900">
              <a:solidFill>
                <a:srgbClr val="5F5F5F"/>
              </a:solidFill>
              <a:latin typeface="Arial" pitchFamily="34" charset="0"/>
            </a:endParaRPr>
          </a:p>
        </p:txBody>
      </p:sp>
      <p:sp>
        <p:nvSpPr>
          <p:cNvPr id="379909"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79910"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79911" name="Rectangle 69633"/>
          <p:cNvSpPr>
            <a:spLocks noGrp="1" noRot="1" noChangeAspect="1" noChangeArrowheads="1" noTextEdit="1"/>
          </p:cNvSpPr>
          <p:nvPr>
            <p:ph type="sldImg"/>
          </p:nvPr>
        </p:nvSpPr>
        <p:spPr>
          <a:ln cap="flat" algn="ctr">
            <a:headEnd type="none" w="med" len="med"/>
            <a:tailEnd type="none" w="med" len="med"/>
          </a:ln>
        </p:spPr>
      </p:sp>
      <p:sp>
        <p:nvSpPr>
          <p:cNvPr id="379912"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dirty="0" smtClean="0">
              <a:latin typeface="Arial"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7"/>
          <p:cNvSpPr>
            <a:spLocks noGrp="1" noChangeArrowheads="1"/>
          </p:cNvSpPr>
          <p:nvPr>
            <p:ph type="sldNum" sz="quarter" idx="5"/>
          </p:nvPr>
        </p:nvSpPr>
        <p:spPr>
          <a:noFill/>
        </p:spPr>
        <p:txBody>
          <a:bodyPr/>
          <a:lstStyle/>
          <a:p>
            <a:fld id="{2B298493-DCFF-4F5A-82FD-6B876E925570}" type="slidenum">
              <a:rPr lang="fr-FR" smtClean="0"/>
              <a:pPr/>
              <a:t>19</a:t>
            </a:fld>
            <a:endParaRPr lang="fr-FR" smtClean="0"/>
          </a:p>
        </p:txBody>
      </p:sp>
      <p:sp>
        <p:nvSpPr>
          <p:cNvPr id="379907"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6EB0E1BE-3CD7-4CDD-94B5-23D225124F79}" type="datetime5">
              <a:rPr lang="en-US" sz="900">
                <a:solidFill>
                  <a:srgbClr val="5F5F5F"/>
                </a:solidFill>
                <a:latin typeface="Arial" pitchFamily="34" charset="0"/>
              </a:rPr>
              <a:pPr eaLnBrk="1" hangingPunct="1"/>
              <a:t>12-Oct-25</a:t>
            </a:fld>
            <a:endParaRPr lang="en-US" sz="900">
              <a:solidFill>
                <a:srgbClr val="5F5F5F"/>
              </a:solidFill>
              <a:latin typeface="Arial" pitchFamily="34" charset="0"/>
            </a:endParaRPr>
          </a:p>
        </p:txBody>
      </p:sp>
      <p:sp>
        <p:nvSpPr>
          <p:cNvPr id="379908"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9F1B2719-7CB6-4887-A84E-25AE0DE68ED6}" type="slidenum">
              <a:rPr lang="fr-FR" sz="900">
                <a:solidFill>
                  <a:srgbClr val="5F5F5F"/>
                </a:solidFill>
                <a:latin typeface="Arial" pitchFamily="34" charset="0"/>
              </a:rPr>
              <a:pPr algn="r" eaLnBrk="1" hangingPunct="1"/>
              <a:t>19</a:t>
            </a:fld>
            <a:endParaRPr lang="en-US" sz="900">
              <a:solidFill>
                <a:srgbClr val="5F5F5F"/>
              </a:solidFill>
              <a:latin typeface="Arial" pitchFamily="34" charset="0"/>
            </a:endParaRPr>
          </a:p>
        </p:txBody>
      </p:sp>
      <p:sp>
        <p:nvSpPr>
          <p:cNvPr id="379909"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79910"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79911" name="Rectangle 69633"/>
          <p:cNvSpPr>
            <a:spLocks noGrp="1" noRot="1" noChangeAspect="1" noChangeArrowheads="1" noTextEdit="1"/>
          </p:cNvSpPr>
          <p:nvPr>
            <p:ph type="sldImg"/>
          </p:nvPr>
        </p:nvSpPr>
        <p:spPr>
          <a:ln cap="flat" algn="ctr">
            <a:headEnd type="none" w="med" len="med"/>
            <a:tailEnd type="none" w="med" len="med"/>
          </a:ln>
        </p:spPr>
      </p:sp>
      <p:sp>
        <p:nvSpPr>
          <p:cNvPr id="379912"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7"/>
          <p:cNvSpPr>
            <a:spLocks noGrp="1" noChangeArrowheads="1"/>
          </p:cNvSpPr>
          <p:nvPr>
            <p:ph type="sldNum" sz="quarter" idx="5"/>
          </p:nvPr>
        </p:nvSpPr>
        <p:spPr>
          <a:noFill/>
        </p:spPr>
        <p:txBody>
          <a:bodyPr/>
          <a:lstStyle/>
          <a:p>
            <a:fld id="{2B298493-DCFF-4F5A-82FD-6B876E925570}" type="slidenum">
              <a:rPr lang="fr-FR" smtClean="0"/>
              <a:pPr/>
              <a:t>20</a:t>
            </a:fld>
            <a:endParaRPr lang="fr-FR" smtClean="0"/>
          </a:p>
        </p:txBody>
      </p:sp>
      <p:sp>
        <p:nvSpPr>
          <p:cNvPr id="379907"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6EB0E1BE-3CD7-4CDD-94B5-23D225124F79}" type="datetime5">
              <a:rPr lang="en-US" sz="900">
                <a:solidFill>
                  <a:srgbClr val="5F5F5F"/>
                </a:solidFill>
                <a:latin typeface="Arial" pitchFamily="34" charset="0"/>
              </a:rPr>
              <a:pPr eaLnBrk="1" hangingPunct="1"/>
              <a:t>12-Oct-25</a:t>
            </a:fld>
            <a:endParaRPr lang="en-US" sz="900">
              <a:solidFill>
                <a:srgbClr val="5F5F5F"/>
              </a:solidFill>
              <a:latin typeface="Arial" pitchFamily="34" charset="0"/>
            </a:endParaRPr>
          </a:p>
        </p:txBody>
      </p:sp>
      <p:sp>
        <p:nvSpPr>
          <p:cNvPr id="379908"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9F1B2719-7CB6-4887-A84E-25AE0DE68ED6}" type="slidenum">
              <a:rPr lang="fr-FR" sz="900">
                <a:solidFill>
                  <a:srgbClr val="5F5F5F"/>
                </a:solidFill>
                <a:latin typeface="Arial" pitchFamily="34" charset="0"/>
              </a:rPr>
              <a:pPr algn="r" eaLnBrk="1" hangingPunct="1"/>
              <a:t>20</a:t>
            </a:fld>
            <a:endParaRPr lang="en-US" sz="900">
              <a:solidFill>
                <a:srgbClr val="5F5F5F"/>
              </a:solidFill>
              <a:latin typeface="Arial" pitchFamily="34" charset="0"/>
            </a:endParaRPr>
          </a:p>
        </p:txBody>
      </p:sp>
      <p:sp>
        <p:nvSpPr>
          <p:cNvPr id="379909"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79910"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79911" name="Rectangle 69633"/>
          <p:cNvSpPr>
            <a:spLocks noGrp="1" noRot="1" noChangeAspect="1" noChangeArrowheads="1" noTextEdit="1"/>
          </p:cNvSpPr>
          <p:nvPr>
            <p:ph type="sldImg"/>
          </p:nvPr>
        </p:nvSpPr>
        <p:spPr>
          <a:ln cap="flat" algn="ctr">
            <a:headEnd type="none" w="med" len="med"/>
            <a:tailEnd type="none" w="med" len="med"/>
          </a:ln>
        </p:spPr>
      </p:sp>
      <p:sp>
        <p:nvSpPr>
          <p:cNvPr id="379912"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7"/>
          <p:cNvSpPr>
            <a:spLocks noGrp="1" noChangeArrowheads="1"/>
          </p:cNvSpPr>
          <p:nvPr>
            <p:ph type="sldNum" sz="quarter" idx="5"/>
          </p:nvPr>
        </p:nvSpPr>
        <p:spPr>
          <a:noFill/>
        </p:spPr>
        <p:txBody>
          <a:bodyPr/>
          <a:lstStyle/>
          <a:p>
            <a:fld id="{2B298493-DCFF-4F5A-82FD-6B876E925570}" type="slidenum">
              <a:rPr lang="fr-FR" smtClean="0"/>
              <a:pPr/>
              <a:t>21</a:t>
            </a:fld>
            <a:endParaRPr lang="fr-FR" smtClean="0"/>
          </a:p>
        </p:txBody>
      </p:sp>
      <p:sp>
        <p:nvSpPr>
          <p:cNvPr id="379907"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6EB0E1BE-3CD7-4CDD-94B5-23D225124F79}" type="datetime5">
              <a:rPr lang="en-US" sz="900">
                <a:solidFill>
                  <a:srgbClr val="5F5F5F"/>
                </a:solidFill>
                <a:latin typeface="Arial" pitchFamily="34" charset="0"/>
              </a:rPr>
              <a:pPr eaLnBrk="1" hangingPunct="1"/>
              <a:t>12-Oct-25</a:t>
            </a:fld>
            <a:endParaRPr lang="en-US" sz="900">
              <a:solidFill>
                <a:srgbClr val="5F5F5F"/>
              </a:solidFill>
              <a:latin typeface="Arial" pitchFamily="34" charset="0"/>
            </a:endParaRPr>
          </a:p>
        </p:txBody>
      </p:sp>
      <p:sp>
        <p:nvSpPr>
          <p:cNvPr id="379908"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9F1B2719-7CB6-4887-A84E-25AE0DE68ED6}" type="slidenum">
              <a:rPr lang="fr-FR" sz="900">
                <a:solidFill>
                  <a:srgbClr val="5F5F5F"/>
                </a:solidFill>
                <a:latin typeface="Arial" pitchFamily="34" charset="0"/>
              </a:rPr>
              <a:pPr algn="r" eaLnBrk="1" hangingPunct="1"/>
              <a:t>21</a:t>
            </a:fld>
            <a:endParaRPr lang="en-US" sz="900">
              <a:solidFill>
                <a:srgbClr val="5F5F5F"/>
              </a:solidFill>
              <a:latin typeface="Arial" pitchFamily="34" charset="0"/>
            </a:endParaRPr>
          </a:p>
        </p:txBody>
      </p:sp>
      <p:sp>
        <p:nvSpPr>
          <p:cNvPr id="379909"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79910"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79911" name="Rectangle 69633"/>
          <p:cNvSpPr>
            <a:spLocks noGrp="1" noRot="1" noChangeAspect="1" noChangeArrowheads="1" noTextEdit="1"/>
          </p:cNvSpPr>
          <p:nvPr>
            <p:ph type="sldImg"/>
          </p:nvPr>
        </p:nvSpPr>
        <p:spPr>
          <a:ln cap="flat" algn="ctr">
            <a:headEnd type="none" w="med" len="med"/>
            <a:tailEnd type="none" w="med" len="med"/>
          </a:ln>
        </p:spPr>
      </p:sp>
      <p:sp>
        <p:nvSpPr>
          <p:cNvPr id="379912"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7"/>
          <p:cNvSpPr>
            <a:spLocks noGrp="1" noChangeArrowheads="1"/>
          </p:cNvSpPr>
          <p:nvPr>
            <p:ph type="sldNum" sz="quarter" idx="5"/>
          </p:nvPr>
        </p:nvSpPr>
        <p:spPr>
          <a:noFill/>
        </p:spPr>
        <p:txBody>
          <a:bodyPr/>
          <a:lstStyle/>
          <a:p>
            <a:fld id="{2B298493-DCFF-4F5A-82FD-6B876E925570}" type="slidenum">
              <a:rPr lang="fr-FR" smtClean="0"/>
              <a:pPr/>
              <a:t>22</a:t>
            </a:fld>
            <a:endParaRPr lang="fr-FR" smtClean="0"/>
          </a:p>
        </p:txBody>
      </p:sp>
      <p:sp>
        <p:nvSpPr>
          <p:cNvPr id="379907"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6EB0E1BE-3CD7-4CDD-94B5-23D225124F79}" type="datetime5">
              <a:rPr lang="en-US" sz="900">
                <a:solidFill>
                  <a:srgbClr val="5F5F5F"/>
                </a:solidFill>
                <a:latin typeface="Arial" pitchFamily="34" charset="0"/>
              </a:rPr>
              <a:pPr eaLnBrk="1" hangingPunct="1"/>
              <a:t>12-Oct-25</a:t>
            </a:fld>
            <a:endParaRPr lang="en-US" sz="900">
              <a:solidFill>
                <a:srgbClr val="5F5F5F"/>
              </a:solidFill>
              <a:latin typeface="Arial" pitchFamily="34" charset="0"/>
            </a:endParaRPr>
          </a:p>
        </p:txBody>
      </p:sp>
      <p:sp>
        <p:nvSpPr>
          <p:cNvPr id="379908"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9F1B2719-7CB6-4887-A84E-25AE0DE68ED6}" type="slidenum">
              <a:rPr lang="fr-FR" sz="900">
                <a:solidFill>
                  <a:srgbClr val="5F5F5F"/>
                </a:solidFill>
                <a:latin typeface="Arial" pitchFamily="34" charset="0"/>
              </a:rPr>
              <a:pPr algn="r" eaLnBrk="1" hangingPunct="1"/>
              <a:t>22</a:t>
            </a:fld>
            <a:endParaRPr lang="en-US" sz="900">
              <a:solidFill>
                <a:srgbClr val="5F5F5F"/>
              </a:solidFill>
              <a:latin typeface="Arial" pitchFamily="34" charset="0"/>
            </a:endParaRPr>
          </a:p>
        </p:txBody>
      </p:sp>
      <p:sp>
        <p:nvSpPr>
          <p:cNvPr id="379909"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79910"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79911" name="Rectangle 69633"/>
          <p:cNvSpPr>
            <a:spLocks noGrp="1" noRot="1" noChangeAspect="1" noChangeArrowheads="1" noTextEdit="1"/>
          </p:cNvSpPr>
          <p:nvPr>
            <p:ph type="sldImg"/>
          </p:nvPr>
        </p:nvSpPr>
        <p:spPr>
          <a:ln cap="flat" algn="ctr">
            <a:headEnd type="none" w="med" len="med"/>
            <a:tailEnd type="none" w="med" len="med"/>
          </a:ln>
        </p:spPr>
      </p:sp>
      <p:sp>
        <p:nvSpPr>
          <p:cNvPr id="379912"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7"/>
          <p:cNvSpPr>
            <a:spLocks noGrp="1" noChangeArrowheads="1"/>
          </p:cNvSpPr>
          <p:nvPr>
            <p:ph type="sldNum" sz="quarter" idx="5"/>
          </p:nvPr>
        </p:nvSpPr>
        <p:spPr>
          <a:noFill/>
        </p:spPr>
        <p:txBody>
          <a:bodyPr/>
          <a:lstStyle/>
          <a:p>
            <a:fld id="{3CCBFEC3-9359-40A7-B4A5-9377CD385D63}" type="slidenum">
              <a:rPr lang="fr-FR" smtClean="0"/>
              <a:pPr/>
              <a:t>24</a:t>
            </a:fld>
            <a:endParaRPr lang="fr-FR" smtClean="0"/>
          </a:p>
        </p:txBody>
      </p:sp>
      <p:sp>
        <p:nvSpPr>
          <p:cNvPr id="326659"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83C64B48-7B1A-4488-9351-5F6415FDD75C}" type="datetime5">
              <a:rPr lang="en-US" sz="900">
                <a:solidFill>
                  <a:srgbClr val="5F5F5F"/>
                </a:solidFill>
                <a:latin typeface="Arial" pitchFamily="34" charset="0"/>
              </a:rPr>
              <a:pPr eaLnBrk="1" hangingPunct="1"/>
              <a:t>12-Oct-25</a:t>
            </a:fld>
            <a:endParaRPr lang="en-US" sz="900">
              <a:solidFill>
                <a:srgbClr val="5F5F5F"/>
              </a:solidFill>
              <a:latin typeface="Arial" pitchFamily="34" charset="0"/>
            </a:endParaRPr>
          </a:p>
        </p:txBody>
      </p:sp>
      <p:sp>
        <p:nvSpPr>
          <p:cNvPr id="326660"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1CDE88F9-7F97-49CF-8389-21F94D766B93}" type="slidenum">
              <a:rPr lang="fr-FR" sz="900">
                <a:solidFill>
                  <a:srgbClr val="5F5F5F"/>
                </a:solidFill>
                <a:latin typeface="Arial" pitchFamily="34" charset="0"/>
              </a:rPr>
              <a:pPr algn="r" eaLnBrk="1" hangingPunct="1"/>
              <a:t>24</a:t>
            </a:fld>
            <a:endParaRPr lang="en-US" sz="900">
              <a:solidFill>
                <a:srgbClr val="5F5F5F"/>
              </a:solidFill>
              <a:latin typeface="Arial" pitchFamily="34" charset="0"/>
            </a:endParaRPr>
          </a:p>
        </p:txBody>
      </p:sp>
      <p:sp>
        <p:nvSpPr>
          <p:cNvPr id="326661"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26662"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26663" name="Rectangle 69633"/>
          <p:cNvSpPr>
            <a:spLocks noGrp="1" noRot="1" noChangeAspect="1" noChangeArrowheads="1" noTextEdit="1"/>
          </p:cNvSpPr>
          <p:nvPr>
            <p:ph type="sldImg"/>
          </p:nvPr>
        </p:nvSpPr>
        <p:spPr>
          <a:ln cap="flat" algn="ctr">
            <a:headEnd type="none" w="med" len="med"/>
            <a:tailEnd type="none" w="med" len="med"/>
          </a:ln>
        </p:spPr>
      </p:sp>
      <p:sp>
        <p:nvSpPr>
          <p:cNvPr id="326664"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7"/>
          <p:cNvSpPr>
            <a:spLocks noGrp="1" noChangeArrowheads="1"/>
          </p:cNvSpPr>
          <p:nvPr>
            <p:ph type="sldNum" sz="quarter" idx="5"/>
          </p:nvPr>
        </p:nvSpPr>
        <p:spPr>
          <a:noFill/>
        </p:spPr>
        <p:txBody>
          <a:bodyPr/>
          <a:lstStyle/>
          <a:p>
            <a:fld id="{D3412CAC-1F88-4161-9A1E-E4A1FEECC4DF}" type="slidenum">
              <a:rPr lang="fr-FR" smtClean="0"/>
              <a:pPr/>
              <a:t>25</a:t>
            </a:fld>
            <a:endParaRPr lang="fr-FR" smtClean="0"/>
          </a:p>
        </p:txBody>
      </p:sp>
      <p:sp>
        <p:nvSpPr>
          <p:cNvPr id="327683"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A5EC21CB-1AC8-4582-8C0A-1B7C3C171868}" type="datetime5">
              <a:rPr lang="en-US" sz="900">
                <a:solidFill>
                  <a:srgbClr val="5F5F5F"/>
                </a:solidFill>
                <a:latin typeface="Arial" pitchFamily="34" charset="0"/>
              </a:rPr>
              <a:pPr eaLnBrk="1" hangingPunct="1"/>
              <a:t>12-Oct-25</a:t>
            </a:fld>
            <a:endParaRPr lang="en-US" sz="900">
              <a:solidFill>
                <a:srgbClr val="5F5F5F"/>
              </a:solidFill>
              <a:latin typeface="Arial" pitchFamily="34" charset="0"/>
            </a:endParaRPr>
          </a:p>
        </p:txBody>
      </p:sp>
      <p:sp>
        <p:nvSpPr>
          <p:cNvPr id="327684"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5FA64118-BA4E-482F-B85D-193D450BACBF}" type="slidenum">
              <a:rPr lang="fr-FR" sz="900">
                <a:solidFill>
                  <a:srgbClr val="5F5F5F"/>
                </a:solidFill>
                <a:latin typeface="Arial" pitchFamily="34" charset="0"/>
              </a:rPr>
              <a:pPr algn="r" eaLnBrk="1" hangingPunct="1"/>
              <a:t>25</a:t>
            </a:fld>
            <a:endParaRPr lang="en-US" sz="900">
              <a:solidFill>
                <a:srgbClr val="5F5F5F"/>
              </a:solidFill>
              <a:latin typeface="Arial" pitchFamily="34" charset="0"/>
            </a:endParaRPr>
          </a:p>
        </p:txBody>
      </p:sp>
      <p:sp>
        <p:nvSpPr>
          <p:cNvPr id="327685"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27686"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27687" name="Rectangle 69633"/>
          <p:cNvSpPr>
            <a:spLocks noGrp="1" noRot="1" noChangeAspect="1" noChangeArrowheads="1" noTextEdit="1"/>
          </p:cNvSpPr>
          <p:nvPr>
            <p:ph type="sldImg"/>
          </p:nvPr>
        </p:nvSpPr>
        <p:spPr>
          <a:ln cap="flat" algn="ctr">
            <a:headEnd type="none" w="med" len="med"/>
            <a:tailEnd type="none" w="med" len="med"/>
          </a:ln>
        </p:spPr>
      </p:sp>
      <p:sp>
        <p:nvSpPr>
          <p:cNvPr id="327688"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dirty="0" smtClean="0">
              <a:latin typeface="Arial"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7"/>
          <p:cNvSpPr>
            <a:spLocks noGrp="1" noChangeArrowheads="1"/>
          </p:cNvSpPr>
          <p:nvPr>
            <p:ph type="sldNum" sz="quarter" idx="5"/>
          </p:nvPr>
        </p:nvSpPr>
        <p:spPr>
          <a:noFill/>
        </p:spPr>
        <p:txBody>
          <a:bodyPr/>
          <a:lstStyle/>
          <a:p>
            <a:fld id="{670DD343-F356-4454-8B96-D297091E8304}" type="slidenum">
              <a:rPr lang="fr-FR" smtClean="0"/>
              <a:pPr/>
              <a:t>26</a:t>
            </a:fld>
            <a:endParaRPr lang="fr-FR" smtClean="0"/>
          </a:p>
        </p:txBody>
      </p:sp>
      <p:sp>
        <p:nvSpPr>
          <p:cNvPr id="328707"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61008C21-3409-4154-9675-D8F3CA6B752A}" type="datetime5">
              <a:rPr lang="en-US" sz="900">
                <a:solidFill>
                  <a:srgbClr val="5F5F5F"/>
                </a:solidFill>
                <a:latin typeface="Arial" pitchFamily="34" charset="0"/>
              </a:rPr>
              <a:pPr eaLnBrk="1" hangingPunct="1"/>
              <a:t>12-Oct-25</a:t>
            </a:fld>
            <a:endParaRPr lang="en-US" sz="900">
              <a:solidFill>
                <a:srgbClr val="5F5F5F"/>
              </a:solidFill>
              <a:latin typeface="Arial" pitchFamily="34" charset="0"/>
            </a:endParaRPr>
          </a:p>
        </p:txBody>
      </p:sp>
      <p:sp>
        <p:nvSpPr>
          <p:cNvPr id="328708"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38A8768D-1E13-4992-8261-1A3B17B87A8E}" type="slidenum">
              <a:rPr lang="fr-FR" sz="900">
                <a:solidFill>
                  <a:srgbClr val="5F5F5F"/>
                </a:solidFill>
                <a:latin typeface="Arial" pitchFamily="34" charset="0"/>
              </a:rPr>
              <a:pPr algn="r" eaLnBrk="1" hangingPunct="1"/>
              <a:t>26</a:t>
            </a:fld>
            <a:endParaRPr lang="en-US" sz="900">
              <a:solidFill>
                <a:srgbClr val="5F5F5F"/>
              </a:solidFill>
              <a:latin typeface="Arial" pitchFamily="34" charset="0"/>
            </a:endParaRPr>
          </a:p>
        </p:txBody>
      </p:sp>
      <p:sp>
        <p:nvSpPr>
          <p:cNvPr id="328709"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28710"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28711" name="Rectangle 69633"/>
          <p:cNvSpPr>
            <a:spLocks noGrp="1" noRot="1" noChangeAspect="1" noChangeArrowheads="1" noTextEdit="1"/>
          </p:cNvSpPr>
          <p:nvPr>
            <p:ph type="sldImg"/>
          </p:nvPr>
        </p:nvSpPr>
        <p:spPr>
          <a:ln cap="flat" algn="ctr">
            <a:headEnd type="none" w="med" len="med"/>
            <a:tailEnd type="none" w="med" len="med"/>
          </a:ln>
        </p:spPr>
      </p:sp>
      <p:sp>
        <p:nvSpPr>
          <p:cNvPr id="328712"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7"/>
          <p:cNvSpPr>
            <a:spLocks noGrp="1" noChangeArrowheads="1"/>
          </p:cNvSpPr>
          <p:nvPr>
            <p:ph type="sldNum" sz="quarter" idx="5"/>
          </p:nvPr>
        </p:nvSpPr>
        <p:spPr>
          <a:noFill/>
        </p:spPr>
        <p:txBody>
          <a:bodyPr/>
          <a:lstStyle/>
          <a:p>
            <a:fld id="{BD138AFF-FA87-43AF-BF68-31A23703856A}" type="slidenum">
              <a:rPr lang="fr-FR" smtClean="0"/>
              <a:pPr/>
              <a:t>27</a:t>
            </a:fld>
            <a:endParaRPr lang="fr-FR" smtClean="0"/>
          </a:p>
        </p:txBody>
      </p:sp>
      <p:sp>
        <p:nvSpPr>
          <p:cNvPr id="329731"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B0411827-68C6-4AE5-A309-45903122A933}" type="datetime5">
              <a:rPr lang="en-US" sz="900">
                <a:solidFill>
                  <a:srgbClr val="5F5F5F"/>
                </a:solidFill>
                <a:latin typeface="Arial" pitchFamily="34" charset="0"/>
              </a:rPr>
              <a:pPr eaLnBrk="1" hangingPunct="1"/>
              <a:t>12-Oct-25</a:t>
            </a:fld>
            <a:endParaRPr lang="en-US" sz="900">
              <a:solidFill>
                <a:srgbClr val="5F5F5F"/>
              </a:solidFill>
              <a:latin typeface="Arial" pitchFamily="34" charset="0"/>
            </a:endParaRPr>
          </a:p>
        </p:txBody>
      </p:sp>
      <p:sp>
        <p:nvSpPr>
          <p:cNvPr id="329732"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02004FB6-4766-49F4-A87C-5DAB2371F933}" type="slidenum">
              <a:rPr lang="fr-FR" sz="900">
                <a:solidFill>
                  <a:srgbClr val="5F5F5F"/>
                </a:solidFill>
                <a:latin typeface="Arial" pitchFamily="34" charset="0"/>
              </a:rPr>
              <a:pPr algn="r" eaLnBrk="1" hangingPunct="1"/>
              <a:t>27</a:t>
            </a:fld>
            <a:endParaRPr lang="en-US" sz="900">
              <a:solidFill>
                <a:srgbClr val="5F5F5F"/>
              </a:solidFill>
              <a:latin typeface="Arial" pitchFamily="34" charset="0"/>
            </a:endParaRPr>
          </a:p>
        </p:txBody>
      </p:sp>
      <p:sp>
        <p:nvSpPr>
          <p:cNvPr id="329733"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29734"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29735" name="Rectangle 69633"/>
          <p:cNvSpPr>
            <a:spLocks noGrp="1" noRot="1" noChangeAspect="1" noChangeArrowheads="1" noTextEdit="1"/>
          </p:cNvSpPr>
          <p:nvPr>
            <p:ph type="sldImg"/>
          </p:nvPr>
        </p:nvSpPr>
        <p:spPr>
          <a:ln cap="flat" algn="ctr">
            <a:headEnd type="none" w="med" len="med"/>
            <a:tailEnd type="none" w="med" len="med"/>
          </a:ln>
        </p:spPr>
      </p:sp>
      <p:sp>
        <p:nvSpPr>
          <p:cNvPr id="329736"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7"/>
          <p:cNvSpPr>
            <a:spLocks noGrp="1" noChangeArrowheads="1"/>
          </p:cNvSpPr>
          <p:nvPr>
            <p:ph type="sldNum" sz="quarter" idx="5"/>
          </p:nvPr>
        </p:nvSpPr>
        <p:spPr>
          <a:noFill/>
        </p:spPr>
        <p:txBody>
          <a:bodyPr/>
          <a:lstStyle/>
          <a:p>
            <a:fld id="{CAC02982-AC59-4799-90F5-2D73DDFF2FC2}" type="slidenum">
              <a:rPr lang="fr-FR" smtClean="0"/>
              <a:pPr/>
              <a:t>28</a:t>
            </a:fld>
            <a:endParaRPr lang="fr-FR" smtClean="0"/>
          </a:p>
        </p:txBody>
      </p:sp>
      <p:sp>
        <p:nvSpPr>
          <p:cNvPr id="330755" name="Forme 3"/>
          <p:cNvSpPr txBox="1">
            <a:spLocks noGrp="1" noChangeArrowheads="1"/>
          </p:cNvSpPr>
          <p:nvPr/>
        </p:nvSpPr>
        <p:spPr bwMode="auto">
          <a:xfrm>
            <a:off x="0" y="0"/>
            <a:ext cx="2057400" cy="457200"/>
          </a:xfrm>
          <a:prstGeom prst="rect">
            <a:avLst/>
          </a:prstGeom>
          <a:noFill/>
          <a:ln w="9525">
            <a:noFill/>
            <a:miter lim="800000"/>
            <a:headEnd/>
            <a:tailEnd/>
          </a:ln>
        </p:spPr>
        <p:txBody>
          <a:bodyPr lIns="91438" tIns="45719" rIns="91438" bIns="45719"/>
          <a:lstStyle/>
          <a:p>
            <a:pPr eaLnBrk="1" hangingPunct="1"/>
            <a:fld id="{5E677A4E-B383-4A1A-9798-8E3941BDE3F3}" type="datetime5">
              <a:rPr lang="en-US" sz="900">
                <a:solidFill>
                  <a:srgbClr val="5F5F5F"/>
                </a:solidFill>
                <a:latin typeface="Arial" pitchFamily="34" charset="0"/>
              </a:rPr>
              <a:pPr eaLnBrk="1" hangingPunct="1"/>
              <a:t>12-Oct-25</a:t>
            </a:fld>
            <a:endParaRPr lang="en-US" sz="900">
              <a:solidFill>
                <a:srgbClr val="5F5F5F"/>
              </a:solidFill>
              <a:latin typeface="Arial" pitchFamily="34" charset="0"/>
            </a:endParaRPr>
          </a:p>
        </p:txBody>
      </p:sp>
      <p:sp>
        <p:nvSpPr>
          <p:cNvPr id="330756" name="Forme 4"/>
          <p:cNvSpPr txBox="1">
            <a:spLocks noGrp="1" noChangeArrowheads="1"/>
          </p:cNvSpPr>
          <p:nvPr/>
        </p:nvSpPr>
        <p:spPr bwMode="auto">
          <a:xfrm>
            <a:off x="6400800" y="8685213"/>
            <a:ext cx="455613" cy="457200"/>
          </a:xfrm>
          <a:prstGeom prst="rect">
            <a:avLst/>
          </a:prstGeom>
          <a:noFill/>
          <a:ln w="9525">
            <a:noFill/>
            <a:miter lim="800000"/>
            <a:headEnd/>
            <a:tailEnd/>
          </a:ln>
        </p:spPr>
        <p:txBody>
          <a:bodyPr lIns="91438" tIns="45719" rIns="91438" bIns="45719" anchor="b"/>
          <a:lstStyle/>
          <a:p>
            <a:pPr algn="r" eaLnBrk="1" hangingPunct="1"/>
            <a:fld id="{32125CB5-D010-4844-B859-FA79A15EEC7A}" type="slidenum">
              <a:rPr lang="fr-FR" sz="900">
                <a:solidFill>
                  <a:srgbClr val="5F5F5F"/>
                </a:solidFill>
                <a:latin typeface="Arial" pitchFamily="34" charset="0"/>
              </a:rPr>
              <a:pPr algn="r" eaLnBrk="1" hangingPunct="1"/>
              <a:t>28</a:t>
            </a:fld>
            <a:endParaRPr lang="en-US" sz="900">
              <a:solidFill>
                <a:srgbClr val="5F5F5F"/>
              </a:solidFill>
              <a:latin typeface="Arial" pitchFamily="34" charset="0"/>
            </a:endParaRPr>
          </a:p>
        </p:txBody>
      </p:sp>
      <p:sp>
        <p:nvSpPr>
          <p:cNvPr id="330757" name="Forme 5"/>
          <p:cNvSpPr txBox="1">
            <a:spLocks noGrp="1" noChangeArrowheads="1"/>
          </p:cNvSpPr>
          <p:nvPr/>
        </p:nvSpPr>
        <p:spPr bwMode="auto">
          <a:xfrm>
            <a:off x="0" y="8685213"/>
            <a:ext cx="5638800" cy="457200"/>
          </a:xfrm>
          <a:prstGeom prst="rect">
            <a:avLst/>
          </a:prstGeom>
          <a:noFill/>
          <a:ln w="9525">
            <a:noFill/>
            <a:miter lim="800000"/>
            <a:headEnd/>
            <a:tailEnd/>
          </a:ln>
        </p:spPr>
        <p:txBody>
          <a:bodyPr lIns="91438" tIns="45719" rIns="91438" bIns="45719" anchor="b"/>
          <a:lstStyle/>
          <a:p>
            <a:pPr eaLnBrk="1" hangingPunct="1"/>
            <a:r>
              <a:rPr lang="en-US" sz="900">
                <a:solidFill>
                  <a:srgbClr val="5F5F5F"/>
                </a:solidFill>
                <a:latin typeface="Arial" pitchFamily="34" charset="0"/>
              </a:rPr>
              <a:t>Copyright © 2004-2005 NameOfTheOrganization. All rights reserved.</a:t>
            </a:r>
          </a:p>
        </p:txBody>
      </p:sp>
      <p:sp>
        <p:nvSpPr>
          <p:cNvPr id="330758" name="Forme 6"/>
          <p:cNvSpPr txBox="1">
            <a:spLocks noGrp="1" noChangeArrowheads="1"/>
          </p:cNvSpPr>
          <p:nvPr/>
        </p:nvSpPr>
        <p:spPr bwMode="auto">
          <a:xfrm>
            <a:off x="2286000" y="0"/>
            <a:ext cx="4572000" cy="457200"/>
          </a:xfrm>
          <a:prstGeom prst="rect">
            <a:avLst/>
          </a:prstGeom>
          <a:noFill/>
          <a:ln w="9525">
            <a:noFill/>
            <a:miter lim="800000"/>
            <a:headEnd/>
            <a:tailEnd/>
          </a:ln>
        </p:spPr>
        <p:txBody>
          <a:bodyPr lIns="91438" tIns="45719" rIns="91438" bIns="45719"/>
          <a:lstStyle/>
          <a:p>
            <a:pPr algn="r" eaLnBrk="1" hangingPunct="1"/>
            <a:r>
              <a:rPr lang="en-US" sz="900">
                <a:solidFill>
                  <a:srgbClr val="5F5F5F"/>
                </a:solidFill>
                <a:latin typeface="Arial" pitchFamily="34" charset="0"/>
              </a:rPr>
              <a:t>[Title of the course]</a:t>
            </a:r>
          </a:p>
        </p:txBody>
      </p:sp>
      <p:sp>
        <p:nvSpPr>
          <p:cNvPr id="330759" name="Rectangle 69633"/>
          <p:cNvSpPr>
            <a:spLocks noGrp="1" noRot="1" noChangeAspect="1" noChangeArrowheads="1" noTextEdit="1"/>
          </p:cNvSpPr>
          <p:nvPr>
            <p:ph type="sldImg"/>
          </p:nvPr>
        </p:nvSpPr>
        <p:spPr>
          <a:ln cap="flat" algn="ctr">
            <a:headEnd type="none" w="med" len="med"/>
            <a:tailEnd type="none" w="med" len="med"/>
          </a:ln>
        </p:spPr>
      </p:sp>
      <p:sp>
        <p:nvSpPr>
          <p:cNvPr id="330760" name="Rectangle 69634"/>
          <p:cNvSpPr>
            <a:spLocks noGrp="1" noChangeArrowheads="1"/>
          </p:cNvSpPr>
          <p:nvPr>
            <p:ph type="body" idx="1"/>
          </p:nvPr>
        </p:nvSpPr>
        <p:spPr>
          <a:xfrm>
            <a:off x="990600" y="4343400"/>
            <a:ext cx="5181600" cy="4114800"/>
          </a:xfrm>
          <a:noFill/>
          <a:ln/>
        </p:spPr>
        <p:txBody>
          <a:bodyPr lIns="91438" tIns="45719" rIns="91438" bIns="45719"/>
          <a:lstStyle/>
          <a:p>
            <a:pPr eaLnBrk="1" hangingPunct="1"/>
            <a:endParaRPr lang="en-US" smtClean="0">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Modifiez le style du titre</a:t>
            </a:r>
            <a:endParaRPr lang="en-US"/>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en-US"/>
          </a:p>
        </p:txBody>
      </p:sp>
      <p:sp>
        <p:nvSpPr>
          <p:cNvPr id="4" name="Espace réservé de la date 3"/>
          <p:cNvSpPr>
            <a:spLocks noGrp="1"/>
          </p:cNvSpPr>
          <p:nvPr>
            <p:ph type="dt" sz="half" idx="10"/>
          </p:nvPr>
        </p:nvSpPr>
        <p:spPr/>
        <p:txBody>
          <a:bodyPr/>
          <a:lstStyle/>
          <a:p>
            <a:fld id="{E57723F0-F836-4657-9944-B3EC01AFF6A5}" type="datetimeFigureOut">
              <a:rPr lang="en-US" smtClean="0"/>
              <a:t>10/12/2025</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F8600A02-871E-403C-BFD6-9F031F5FDFB5}" type="slidenum">
              <a:rPr lang="en-US" smtClean="0"/>
              <a:t>‹N°›</a:t>
            </a:fld>
            <a:endParaRPr lang="en-US"/>
          </a:p>
        </p:txBody>
      </p:sp>
    </p:spTree>
    <p:extLst>
      <p:ext uri="{BB962C8B-B14F-4D97-AF65-F5344CB8AC3E}">
        <p14:creationId xmlns:p14="http://schemas.microsoft.com/office/powerpoint/2010/main" val="1693290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en-US"/>
          </a:p>
        </p:txBody>
      </p:sp>
      <p:sp>
        <p:nvSpPr>
          <p:cNvPr id="3" name="Espace réservé du contenu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3"/>
          <p:cNvSpPr>
            <a:spLocks noGrp="1"/>
          </p:cNvSpPr>
          <p:nvPr>
            <p:ph type="dt" sz="half" idx="10"/>
          </p:nvPr>
        </p:nvSpPr>
        <p:spPr/>
        <p:txBody>
          <a:bodyPr/>
          <a:lstStyle/>
          <a:p>
            <a:fld id="{E57723F0-F836-4657-9944-B3EC01AFF6A5}" type="datetimeFigureOut">
              <a:rPr lang="en-US" smtClean="0"/>
              <a:t>10/12/2025</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F8600A02-871E-403C-BFD6-9F031F5FDFB5}" type="slidenum">
              <a:rPr lang="en-US" smtClean="0"/>
              <a:t>‹N°›</a:t>
            </a:fld>
            <a:endParaRPr lang="en-US"/>
          </a:p>
        </p:txBody>
      </p:sp>
    </p:spTree>
    <p:extLst>
      <p:ext uri="{BB962C8B-B14F-4D97-AF65-F5344CB8AC3E}">
        <p14:creationId xmlns:p14="http://schemas.microsoft.com/office/powerpoint/2010/main" val="22133095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Modifiez le style du titre</a:t>
            </a:r>
            <a:endParaRPr lang="en-US"/>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Espace réservé de la date 3"/>
          <p:cNvSpPr>
            <a:spLocks noGrp="1"/>
          </p:cNvSpPr>
          <p:nvPr>
            <p:ph type="dt" sz="half" idx="10"/>
          </p:nvPr>
        </p:nvSpPr>
        <p:spPr/>
        <p:txBody>
          <a:bodyPr/>
          <a:lstStyle/>
          <a:p>
            <a:fld id="{E57723F0-F836-4657-9944-B3EC01AFF6A5}" type="datetimeFigureOut">
              <a:rPr lang="en-US" smtClean="0"/>
              <a:t>10/12/2025</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F8600A02-871E-403C-BFD6-9F031F5FDFB5}" type="slidenum">
              <a:rPr lang="en-US" smtClean="0"/>
              <a:t>‹N°›</a:t>
            </a:fld>
            <a:endParaRPr lang="en-US"/>
          </a:p>
        </p:txBody>
      </p:sp>
    </p:spTree>
    <p:extLst>
      <p:ext uri="{BB962C8B-B14F-4D97-AF65-F5344CB8AC3E}">
        <p14:creationId xmlns:p14="http://schemas.microsoft.com/office/powerpoint/2010/main" val="155124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en-US"/>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5" name="Espace réservé de la date 4"/>
          <p:cNvSpPr>
            <a:spLocks noGrp="1"/>
          </p:cNvSpPr>
          <p:nvPr>
            <p:ph type="dt" sz="half" idx="10"/>
          </p:nvPr>
        </p:nvSpPr>
        <p:spPr/>
        <p:txBody>
          <a:bodyPr/>
          <a:lstStyle/>
          <a:p>
            <a:fld id="{E57723F0-F836-4657-9944-B3EC01AFF6A5}" type="datetimeFigureOut">
              <a:rPr lang="en-US" smtClean="0"/>
              <a:t>10/12/2025</a:t>
            </a:fld>
            <a:endParaRPr lang="en-US"/>
          </a:p>
        </p:txBody>
      </p:sp>
      <p:sp>
        <p:nvSpPr>
          <p:cNvPr id="6" name="Espace réservé du pied de page 5"/>
          <p:cNvSpPr>
            <a:spLocks noGrp="1"/>
          </p:cNvSpPr>
          <p:nvPr>
            <p:ph type="ftr" sz="quarter" idx="11"/>
          </p:nvPr>
        </p:nvSpPr>
        <p:spPr/>
        <p:txBody>
          <a:bodyPr/>
          <a:lstStyle/>
          <a:p>
            <a:endParaRPr lang="en-US"/>
          </a:p>
        </p:txBody>
      </p:sp>
      <p:sp>
        <p:nvSpPr>
          <p:cNvPr id="7" name="Espace réservé du numéro de diapositive 6"/>
          <p:cNvSpPr>
            <a:spLocks noGrp="1"/>
          </p:cNvSpPr>
          <p:nvPr>
            <p:ph type="sldNum" sz="quarter" idx="12"/>
          </p:nvPr>
        </p:nvSpPr>
        <p:spPr/>
        <p:txBody>
          <a:bodyPr/>
          <a:lstStyle/>
          <a:p>
            <a:fld id="{F8600A02-871E-403C-BFD6-9F031F5FDFB5}" type="slidenum">
              <a:rPr lang="en-US" smtClean="0"/>
              <a:t>‹N°›</a:t>
            </a:fld>
            <a:endParaRPr lang="en-US"/>
          </a:p>
        </p:txBody>
      </p:sp>
    </p:spTree>
    <p:extLst>
      <p:ext uri="{BB962C8B-B14F-4D97-AF65-F5344CB8AC3E}">
        <p14:creationId xmlns:p14="http://schemas.microsoft.com/office/powerpoint/2010/main" val="38449897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Modifiez le style du titre</a:t>
            </a:r>
            <a:endParaRPr lang="en-US"/>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7" name="Espace réservé de la date 6"/>
          <p:cNvSpPr>
            <a:spLocks noGrp="1"/>
          </p:cNvSpPr>
          <p:nvPr>
            <p:ph type="dt" sz="half" idx="10"/>
          </p:nvPr>
        </p:nvSpPr>
        <p:spPr/>
        <p:txBody>
          <a:bodyPr/>
          <a:lstStyle/>
          <a:p>
            <a:fld id="{E57723F0-F836-4657-9944-B3EC01AFF6A5}" type="datetimeFigureOut">
              <a:rPr lang="en-US" smtClean="0"/>
              <a:t>10/12/2025</a:t>
            </a:fld>
            <a:endParaRPr lang="en-US"/>
          </a:p>
        </p:txBody>
      </p:sp>
      <p:sp>
        <p:nvSpPr>
          <p:cNvPr id="8" name="Espace réservé du pied de page 7"/>
          <p:cNvSpPr>
            <a:spLocks noGrp="1"/>
          </p:cNvSpPr>
          <p:nvPr>
            <p:ph type="ftr" sz="quarter" idx="11"/>
          </p:nvPr>
        </p:nvSpPr>
        <p:spPr/>
        <p:txBody>
          <a:bodyPr/>
          <a:lstStyle/>
          <a:p>
            <a:endParaRPr lang="en-US"/>
          </a:p>
        </p:txBody>
      </p:sp>
      <p:sp>
        <p:nvSpPr>
          <p:cNvPr id="9" name="Espace réservé du numéro de diapositive 8"/>
          <p:cNvSpPr>
            <a:spLocks noGrp="1"/>
          </p:cNvSpPr>
          <p:nvPr>
            <p:ph type="sldNum" sz="quarter" idx="12"/>
          </p:nvPr>
        </p:nvSpPr>
        <p:spPr/>
        <p:txBody>
          <a:bodyPr/>
          <a:lstStyle/>
          <a:p>
            <a:fld id="{F8600A02-871E-403C-BFD6-9F031F5FDFB5}" type="slidenum">
              <a:rPr lang="en-US" smtClean="0"/>
              <a:t>‹N°›</a:t>
            </a:fld>
            <a:endParaRPr lang="en-US"/>
          </a:p>
        </p:txBody>
      </p:sp>
    </p:spTree>
    <p:extLst>
      <p:ext uri="{BB962C8B-B14F-4D97-AF65-F5344CB8AC3E}">
        <p14:creationId xmlns:p14="http://schemas.microsoft.com/office/powerpoint/2010/main" val="1158109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en-US"/>
          </a:p>
        </p:txBody>
      </p:sp>
      <p:sp>
        <p:nvSpPr>
          <p:cNvPr id="3" name="Espace réservé de la date 2"/>
          <p:cNvSpPr>
            <a:spLocks noGrp="1"/>
          </p:cNvSpPr>
          <p:nvPr>
            <p:ph type="dt" sz="half" idx="10"/>
          </p:nvPr>
        </p:nvSpPr>
        <p:spPr/>
        <p:txBody>
          <a:bodyPr/>
          <a:lstStyle/>
          <a:p>
            <a:fld id="{E57723F0-F836-4657-9944-B3EC01AFF6A5}" type="datetimeFigureOut">
              <a:rPr lang="en-US" smtClean="0"/>
              <a:t>10/12/2025</a:t>
            </a:fld>
            <a:endParaRPr lang="en-US"/>
          </a:p>
        </p:txBody>
      </p:sp>
      <p:sp>
        <p:nvSpPr>
          <p:cNvPr id="4" name="Espace réservé du pied de page 3"/>
          <p:cNvSpPr>
            <a:spLocks noGrp="1"/>
          </p:cNvSpPr>
          <p:nvPr>
            <p:ph type="ftr" sz="quarter" idx="11"/>
          </p:nvPr>
        </p:nvSpPr>
        <p:spPr/>
        <p:txBody>
          <a:bodyPr/>
          <a:lstStyle/>
          <a:p>
            <a:endParaRPr lang="en-US"/>
          </a:p>
        </p:txBody>
      </p:sp>
      <p:sp>
        <p:nvSpPr>
          <p:cNvPr id="5" name="Espace réservé du numéro de diapositive 4"/>
          <p:cNvSpPr>
            <a:spLocks noGrp="1"/>
          </p:cNvSpPr>
          <p:nvPr>
            <p:ph type="sldNum" sz="quarter" idx="12"/>
          </p:nvPr>
        </p:nvSpPr>
        <p:spPr/>
        <p:txBody>
          <a:bodyPr/>
          <a:lstStyle/>
          <a:p>
            <a:fld id="{F8600A02-871E-403C-BFD6-9F031F5FDFB5}" type="slidenum">
              <a:rPr lang="en-US" smtClean="0"/>
              <a:t>‹N°›</a:t>
            </a:fld>
            <a:endParaRPr lang="en-US"/>
          </a:p>
        </p:txBody>
      </p:sp>
    </p:spTree>
    <p:extLst>
      <p:ext uri="{BB962C8B-B14F-4D97-AF65-F5344CB8AC3E}">
        <p14:creationId xmlns:p14="http://schemas.microsoft.com/office/powerpoint/2010/main" val="3093213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E57723F0-F836-4657-9944-B3EC01AFF6A5}" type="datetimeFigureOut">
              <a:rPr lang="en-US" smtClean="0"/>
              <a:t>10/12/2025</a:t>
            </a:fld>
            <a:endParaRPr lang="en-US"/>
          </a:p>
        </p:txBody>
      </p:sp>
      <p:sp>
        <p:nvSpPr>
          <p:cNvPr id="3" name="Espace réservé du pied de page 2"/>
          <p:cNvSpPr>
            <a:spLocks noGrp="1"/>
          </p:cNvSpPr>
          <p:nvPr>
            <p:ph type="ftr" sz="quarter" idx="11"/>
          </p:nvPr>
        </p:nvSpPr>
        <p:spPr/>
        <p:txBody>
          <a:bodyPr/>
          <a:lstStyle/>
          <a:p>
            <a:endParaRPr lang="en-US"/>
          </a:p>
        </p:txBody>
      </p:sp>
      <p:sp>
        <p:nvSpPr>
          <p:cNvPr id="4" name="Espace réservé du numéro de diapositive 3"/>
          <p:cNvSpPr>
            <a:spLocks noGrp="1"/>
          </p:cNvSpPr>
          <p:nvPr>
            <p:ph type="sldNum" sz="quarter" idx="12"/>
          </p:nvPr>
        </p:nvSpPr>
        <p:spPr/>
        <p:txBody>
          <a:bodyPr/>
          <a:lstStyle/>
          <a:p>
            <a:fld id="{F8600A02-871E-403C-BFD6-9F031F5FDFB5}" type="slidenum">
              <a:rPr lang="en-US" smtClean="0"/>
              <a:t>‹N°›</a:t>
            </a:fld>
            <a:endParaRPr lang="en-US"/>
          </a:p>
        </p:txBody>
      </p:sp>
    </p:spTree>
    <p:extLst>
      <p:ext uri="{BB962C8B-B14F-4D97-AF65-F5344CB8AC3E}">
        <p14:creationId xmlns:p14="http://schemas.microsoft.com/office/powerpoint/2010/main" val="13031400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Modifiez le style du titre</a:t>
            </a:r>
            <a:endParaRPr lang="en-US"/>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E57723F0-F836-4657-9944-B3EC01AFF6A5}" type="datetimeFigureOut">
              <a:rPr lang="en-US" smtClean="0"/>
              <a:t>10/12/2025</a:t>
            </a:fld>
            <a:endParaRPr lang="en-US"/>
          </a:p>
        </p:txBody>
      </p:sp>
      <p:sp>
        <p:nvSpPr>
          <p:cNvPr id="6" name="Espace réservé du pied de page 5"/>
          <p:cNvSpPr>
            <a:spLocks noGrp="1"/>
          </p:cNvSpPr>
          <p:nvPr>
            <p:ph type="ftr" sz="quarter" idx="11"/>
          </p:nvPr>
        </p:nvSpPr>
        <p:spPr/>
        <p:txBody>
          <a:bodyPr/>
          <a:lstStyle/>
          <a:p>
            <a:endParaRPr lang="en-US"/>
          </a:p>
        </p:txBody>
      </p:sp>
      <p:sp>
        <p:nvSpPr>
          <p:cNvPr id="7" name="Espace réservé du numéro de diapositive 6"/>
          <p:cNvSpPr>
            <a:spLocks noGrp="1"/>
          </p:cNvSpPr>
          <p:nvPr>
            <p:ph type="sldNum" sz="quarter" idx="12"/>
          </p:nvPr>
        </p:nvSpPr>
        <p:spPr/>
        <p:txBody>
          <a:bodyPr/>
          <a:lstStyle/>
          <a:p>
            <a:fld id="{F8600A02-871E-403C-BFD6-9F031F5FDFB5}" type="slidenum">
              <a:rPr lang="en-US" smtClean="0"/>
              <a:t>‹N°›</a:t>
            </a:fld>
            <a:endParaRPr lang="en-US"/>
          </a:p>
        </p:txBody>
      </p:sp>
    </p:spTree>
    <p:extLst>
      <p:ext uri="{BB962C8B-B14F-4D97-AF65-F5344CB8AC3E}">
        <p14:creationId xmlns:p14="http://schemas.microsoft.com/office/powerpoint/2010/main" val="3506353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Modifiez le style du titre</a:t>
            </a:r>
            <a:endParaRPr lang="en-US"/>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E57723F0-F836-4657-9944-B3EC01AFF6A5}" type="datetimeFigureOut">
              <a:rPr lang="en-US" smtClean="0"/>
              <a:t>10/12/2025</a:t>
            </a:fld>
            <a:endParaRPr lang="en-US"/>
          </a:p>
        </p:txBody>
      </p:sp>
      <p:sp>
        <p:nvSpPr>
          <p:cNvPr id="6" name="Espace réservé du pied de page 5"/>
          <p:cNvSpPr>
            <a:spLocks noGrp="1"/>
          </p:cNvSpPr>
          <p:nvPr>
            <p:ph type="ftr" sz="quarter" idx="11"/>
          </p:nvPr>
        </p:nvSpPr>
        <p:spPr/>
        <p:txBody>
          <a:bodyPr/>
          <a:lstStyle/>
          <a:p>
            <a:endParaRPr lang="en-US"/>
          </a:p>
        </p:txBody>
      </p:sp>
      <p:sp>
        <p:nvSpPr>
          <p:cNvPr id="7" name="Espace réservé du numéro de diapositive 6"/>
          <p:cNvSpPr>
            <a:spLocks noGrp="1"/>
          </p:cNvSpPr>
          <p:nvPr>
            <p:ph type="sldNum" sz="quarter" idx="12"/>
          </p:nvPr>
        </p:nvSpPr>
        <p:spPr/>
        <p:txBody>
          <a:bodyPr/>
          <a:lstStyle/>
          <a:p>
            <a:fld id="{F8600A02-871E-403C-BFD6-9F031F5FDFB5}" type="slidenum">
              <a:rPr lang="en-US" smtClean="0"/>
              <a:t>‹N°›</a:t>
            </a:fld>
            <a:endParaRPr lang="en-US"/>
          </a:p>
        </p:txBody>
      </p:sp>
    </p:spTree>
    <p:extLst>
      <p:ext uri="{BB962C8B-B14F-4D97-AF65-F5344CB8AC3E}">
        <p14:creationId xmlns:p14="http://schemas.microsoft.com/office/powerpoint/2010/main" val="1133289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en-US"/>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3"/>
          <p:cNvSpPr>
            <a:spLocks noGrp="1"/>
          </p:cNvSpPr>
          <p:nvPr>
            <p:ph type="dt" sz="half" idx="10"/>
          </p:nvPr>
        </p:nvSpPr>
        <p:spPr/>
        <p:txBody>
          <a:bodyPr/>
          <a:lstStyle/>
          <a:p>
            <a:fld id="{E57723F0-F836-4657-9944-B3EC01AFF6A5}" type="datetimeFigureOut">
              <a:rPr lang="en-US" smtClean="0"/>
              <a:t>10/12/2025</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F8600A02-871E-403C-BFD6-9F031F5FDFB5}" type="slidenum">
              <a:rPr lang="en-US" smtClean="0"/>
              <a:t>‹N°›</a:t>
            </a:fld>
            <a:endParaRPr lang="en-US"/>
          </a:p>
        </p:txBody>
      </p:sp>
    </p:spTree>
    <p:extLst>
      <p:ext uri="{BB962C8B-B14F-4D97-AF65-F5344CB8AC3E}">
        <p14:creationId xmlns:p14="http://schemas.microsoft.com/office/powerpoint/2010/main" val="16745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Modifiez le style du titre</a:t>
            </a:r>
            <a:endParaRPr lang="en-US"/>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3"/>
          <p:cNvSpPr>
            <a:spLocks noGrp="1"/>
          </p:cNvSpPr>
          <p:nvPr>
            <p:ph type="dt" sz="half" idx="10"/>
          </p:nvPr>
        </p:nvSpPr>
        <p:spPr/>
        <p:txBody>
          <a:bodyPr/>
          <a:lstStyle/>
          <a:p>
            <a:fld id="{E57723F0-F836-4657-9944-B3EC01AFF6A5}" type="datetimeFigureOut">
              <a:rPr lang="en-US" smtClean="0"/>
              <a:t>10/12/2025</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F8600A02-871E-403C-BFD6-9F031F5FDFB5}" type="slidenum">
              <a:rPr lang="en-US" smtClean="0"/>
              <a:t>‹N°›</a:t>
            </a:fld>
            <a:endParaRPr lang="en-US"/>
          </a:p>
        </p:txBody>
      </p:sp>
    </p:spTree>
    <p:extLst>
      <p:ext uri="{BB962C8B-B14F-4D97-AF65-F5344CB8AC3E}">
        <p14:creationId xmlns:p14="http://schemas.microsoft.com/office/powerpoint/2010/main" val="28685668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Diapositive de titre">
    <p:spTree>
      <p:nvGrpSpPr>
        <p:cNvPr id="1" name=""/>
        <p:cNvGrpSpPr/>
        <p:nvPr/>
      </p:nvGrpSpPr>
      <p:grpSpPr>
        <a:xfrm>
          <a:off x="0" y="0"/>
          <a:ext cx="0" cy="0"/>
          <a:chOff x="0" y="0"/>
          <a:chExt cx="0" cy="0"/>
        </a:xfrm>
      </p:grpSpPr>
      <p:sp>
        <p:nvSpPr>
          <p:cNvPr id="3" name="Rectangle 2"/>
          <p:cNvSpPr>
            <a:spLocks noChangeArrowheads="1"/>
          </p:cNvSpPr>
          <p:nvPr/>
        </p:nvSpPr>
        <p:spPr bwMode="auto">
          <a:xfrm>
            <a:off x="0" y="1622425"/>
            <a:ext cx="9144000" cy="2263775"/>
          </a:xfrm>
          <a:prstGeom prst="rect">
            <a:avLst/>
          </a:prstGeom>
          <a:gradFill rotWithShape="1">
            <a:gsLst>
              <a:gs pos="0">
                <a:schemeClr val="accent2">
                  <a:alpha val="75000"/>
                </a:schemeClr>
              </a:gs>
              <a:gs pos="100000">
                <a:schemeClr val="bg1"/>
              </a:gs>
            </a:gsLst>
            <a:lin ang="0" scaled="1"/>
          </a:gradFill>
          <a:ln>
            <a:noFill/>
          </a:ln>
          <a:extLst/>
        </p:spPr>
        <p:txBody>
          <a:bodyPr wrap="none" anchor="ctr"/>
          <a:lstStyle>
            <a:lvl1pPr>
              <a:defRPr sz="2000">
                <a:solidFill>
                  <a:schemeClr val="tx1"/>
                </a:solidFill>
                <a:latin typeface="Verdana" panose="020B0604030504040204" pitchFamily="34" charset="0"/>
                <a:cs typeface="Arial" panose="020B0604020202020204" pitchFamily="34" charset="0"/>
              </a:defRPr>
            </a:lvl1pPr>
            <a:lvl2pPr marL="742950" indent="-285750">
              <a:defRPr sz="2000">
                <a:solidFill>
                  <a:schemeClr val="tx1"/>
                </a:solidFill>
                <a:latin typeface="Verdana" panose="020B0604030504040204" pitchFamily="34" charset="0"/>
                <a:cs typeface="Arial" panose="020B0604020202020204" pitchFamily="34" charset="0"/>
              </a:defRPr>
            </a:lvl2pPr>
            <a:lvl3pPr marL="1143000" indent="-228600">
              <a:defRPr sz="2000">
                <a:solidFill>
                  <a:schemeClr val="tx1"/>
                </a:solidFill>
                <a:latin typeface="Verdana" panose="020B0604030504040204" pitchFamily="34" charset="0"/>
                <a:cs typeface="Arial" panose="020B0604020202020204" pitchFamily="34" charset="0"/>
              </a:defRPr>
            </a:lvl3pPr>
            <a:lvl4pPr marL="1600200" indent="-228600">
              <a:defRPr sz="2000">
                <a:solidFill>
                  <a:schemeClr val="tx1"/>
                </a:solidFill>
                <a:latin typeface="Verdana" panose="020B0604030504040204" pitchFamily="34" charset="0"/>
                <a:cs typeface="Arial" panose="020B0604020202020204" pitchFamily="34" charset="0"/>
              </a:defRPr>
            </a:lvl4pPr>
            <a:lvl5pPr marL="2057400" indent="-228600">
              <a:defRPr sz="20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Verdana" panose="020B0604030504040204" pitchFamily="34" charset="0"/>
                <a:cs typeface="Arial" panose="020B0604020202020204" pitchFamily="34" charset="0"/>
              </a:defRPr>
            </a:lvl9pPr>
          </a:lstStyle>
          <a:p>
            <a:pPr eaLnBrk="1" hangingPunct="1">
              <a:spcBef>
                <a:spcPct val="50000"/>
              </a:spcBef>
              <a:buClr>
                <a:srgbClr val="336666"/>
              </a:buClr>
              <a:buFont typeface="Wingdings" panose="05000000000000000000" pitchFamily="2" charset="2"/>
              <a:buNone/>
              <a:defRPr/>
            </a:pPr>
            <a:endParaRPr lang="fr-FR" smtClean="0"/>
          </a:p>
        </p:txBody>
      </p:sp>
      <p:sp>
        <p:nvSpPr>
          <p:cNvPr id="340995" name="Rectangle 3"/>
          <p:cNvSpPr>
            <a:spLocks noGrp="1" noChangeArrowheads="1"/>
          </p:cNvSpPr>
          <p:nvPr>
            <p:ph type="subTitle" idx="1"/>
          </p:nvPr>
        </p:nvSpPr>
        <p:spPr>
          <a:xfrm>
            <a:off x="2514600" y="3962400"/>
            <a:ext cx="6248400" cy="1447800"/>
          </a:xfrm>
        </p:spPr>
        <p:txBody>
          <a:bodyPr/>
          <a:lstStyle>
            <a:lvl1pPr marL="0" indent="0">
              <a:buFont typeface="Wingdings" pitchFamily="2" charset="2"/>
              <a:buNone/>
              <a:defRPr/>
            </a:lvl1pPr>
          </a:lstStyle>
          <a:p>
            <a:r>
              <a:rPr lang="en-US"/>
              <a:t>Click to edit Master subtitle</a:t>
            </a:r>
          </a:p>
        </p:txBody>
      </p:sp>
      <p:sp>
        <p:nvSpPr>
          <p:cNvPr id="4" name="Rectangle 4"/>
          <p:cNvSpPr>
            <a:spLocks noGrp="1" noChangeArrowheads="1"/>
          </p:cNvSpPr>
          <p:nvPr>
            <p:ph type="ftr" sz="quarter" idx="10"/>
          </p:nvPr>
        </p:nvSpPr>
        <p:spPr>
          <a:xfrm>
            <a:off x="2928938" y="6500813"/>
            <a:ext cx="6357937" cy="357187"/>
          </a:xfrm>
        </p:spPr>
        <p:txBody>
          <a:bodyPr/>
          <a:lstStyle>
            <a:lvl1pPr algn="ctr">
              <a:defRPr sz="900">
                <a:solidFill>
                  <a:schemeClr val="bg2"/>
                </a:solidFill>
              </a:defRPr>
            </a:lvl1pPr>
          </a:lstStyle>
          <a:p>
            <a:pPr>
              <a:defRPr/>
            </a:pPr>
            <a:r>
              <a:rPr lang="it-IT"/>
              <a:t>A.DARIF            SUPMTI / ISI                      2015 / 2016   </a:t>
            </a:r>
            <a:endParaRPr lang="en-US" dirty="0"/>
          </a:p>
        </p:txBody>
      </p:sp>
    </p:spTree>
    <p:extLst>
      <p:ext uri="{BB962C8B-B14F-4D97-AF65-F5344CB8AC3E}">
        <p14:creationId xmlns:p14="http://schemas.microsoft.com/office/powerpoint/2010/main" val="1579074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Modifiez le style du titre</a:t>
            </a:r>
            <a:endParaRPr lang="en-US"/>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7723F0-F836-4657-9944-B3EC01AFF6A5}" type="datetimeFigureOut">
              <a:rPr lang="en-US" smtClean="0"/>
              <a:t>10/12/2025</a:t>
            </a:fld>
            <a:endParaRPr lang="en-US"/>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600A02-871E-403C-BFD6-9F031F5FDFB5}" type="slidenum">
              <a:rPr lang="en-US" smtClean="0"/>
              <a:t>‹N°›</a:t>
            </a:fld>
            <a:endParaRPr lang="en-US"/>
          </a:p>
        </p:txBody>
      </p:sp>
    </p:spTree>
    <p:extLst>
      <p:ext uri="{BB962C8B-B14F-4D97-AF65-F5344CB8AC3E}">
        <p14:creationId xmlns:p14="http://schemas.microsoft.com/office/powerpoint/2010/main" val="4200372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5.xml"/><Relationship Id="rId5" Type="http://schemas.openxmlformats.org/officeDocument/2006/relationships/image" Target="../media/image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ags" Target="../tags/tag1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tags" Target="../tags/tag15.xml"/><Relationship Id="rId5" Type="http://schemas.openxmlformats.org/officeDocument/2006/relationships/image" Target="../media/image7.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tags" Target="../tags/tag16.xml"/><Relationship Id="rId5" Type="http://schemas.openxmlformats.org/officeDocument/2006/relationships/image" Target="../media/image9.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tags" Target="../tags/tag17.xml"/><Relationship Id="rId5" Type="http://schemas.openxmlformats.org/officeDocument/2006/relationships/image" Target="../media/image11.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tags" Target="../tags/tag1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tags" Target="../tags/tag1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tags" Target="../tags/tag20.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tags" Target="../tags/tag21.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tags" Target="../tags/tag2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tags" Target="../tags/tag23.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tags" Target="../tags/tag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ous-titre 1"/>
          <p:cNvSpPr>
            <a:spLocks noGrp="1"/>
          </p:cNvSpPr>
          <p:nvPr>
            <p:ph type="subTitle" idx="1"/>
          </p:nvPr>
        </p:nvSpPr>
        <p:spPr>
          <a:xfrm>
            <a:off x="1259632" y="1772816"/>
            <a:ext cx="6248400" cy="1447800"/>
          </a:xfrm>
        </p:spPr>
        <p:txBody>
          <a:bodyPr>
            <a:noAutofit/>
          </a:bodyPr>
          <a:lstStyle/>
          <a:p>
            <a:pPr algn="ctr"/>
            <a:r>
              <a:rPr lang="fr-FR" sz="4000" dirty="0">
                <a:ea typeface="+mj-ea"/>
                <a:cs typeface="+mj-cs"/>
              </a:rPr>
              <a:t>Chapitre 5</a:t>
            </a:r>
            <a:r>
              <a:rPr lang="fr-FR" sz="4000" dirty="0" smtClean="0">
                <a:ea typeface="+mj-ea"/>
                <a:cs typeface="+mj-cs"/>
              </a:rPr>
              <a:t> :</a:t>
            </a:r>
          </a:p>
          <a:p>
            <a:pPr algn="ctr"/>
            <a:r>
              <a:rPr lang="fr-FR" sz="4000" dirty="0" smtClean="0">
                <a:solidFill>
                  <a:srgbClr val="C00000"/>
                </a:solidFill>
                <a:ea typeface="+mj-ea"/>
                <a:cs typeface="+mj-cs"/>
              </a:rPr>
              <a:t> </a:t>
            </a:r>
            <a:r>
              <a:rPr lang="fr-FR" sz="4000" dirty="0">
                <a:solidFill>
                  <a:schemeClr val="accent2"/>
                </a:solidFill>
              </a:rPr>
              <a:t>Introductions aux modules et bibliothèques courantes</a:t>
            </a:r>
          </a:p>
        </p:txBody>
      </p:sp>
    </p:spTree>
    <p:extLst>
      <p:ext uri="{BB962C8B-B14F-4D97-AF65-F5344CB8AC3E}">
        <p14:creationId xmlns:p14="http://schemas.microsoft.com/office/powerpoint/2010/main" val="28459162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Les modules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Introduction</a:t>
            </a:r>
          </a:p>
        </p:txBody>
      </p:sp>
      <p:cxnSp>
        <p:nvCxnSpPr>
          <p:cNvPr id="190469"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90470"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12" name="Rectangle 11"/>
          <p:cNvSpPr/>
          <p:nvPr/>
        </p:nvSpPr>
        <p:spPr>
          <a:xfrm>
            <a:off x="571500" y="920750"/>
            <a:ext cx="8429625" cy="4170372"/>
          </a:xfrm>
          <a:prstGeom prst="rect">
            <a:avLst/>
          </a:prstGeom>
        </p:spPr>
        <p:txBody>
          <a:bodyPr>
            <a:spAutoFit/>
          </a:bodyPr>
          <a:lstStyle/>
          <a:p>
            <a:pPr eaLnBrk="1" hangingPunct="1">
              <a:spcBef>
                <a:spcPct val="50000"/>
              </a:spcBef>
              <a:buClr>
                <a:srgbClr val="336666"/>
              </a:buClr>
              <a:buFont typeface="Wingdings" pitchFamily="2" charset="2"/>
              <a:buNone/>
              <a:defRPr/>
            </a:pPr>
            <a:r>
              <a:rPr lang="fr-FR" dirty="0">
                <a:latin typeface="+mn-lt"/>
              </a:rPr>
              <a:t> </a:t>
            </a:r>
            <a:r>
              <a:rPr lang="fr-FR" b="1" dirty="0">
                <a:solidFill>
                  <a:srgbClr val="FF0000"/>
                </a:solidFill>
                <a:latin typeface="+mn-lt"/>
              </a:rPr>
              <a:t>Définition :</a:t>
            </a:r>
          </a:p>
          <a:p>
            <a:pPr marL="630238" lvl="1" indent="-173038" eaLnBrk="1" hangingPunct="1">
              <a:spcBef>
                <a:spcPts val="600"/>
              </a:spcBef>
              <a:buClr>
                <a:srgbClr val="336666"/>
              </a:buClr>
              <a:buFont typeface="Wingdings" pitchFamily="2" charset="2"/>
              <a:buChar char="§"/>
              <a:defRPr/>
            </a:pPr>
            <a:r>
              <a:rPr lang="fr-FR" dirty="0">
                <a:latin typeface="+mn-lt"/>
              </a:rPr>
              <a:t> Un module est un fichier </a:t>
            </a:r>
            <a:r>
              <a:rPr lang="en-US" altLang="ja-JP" dirty="0" err="1">
                <a:latin typeface="+mn-lt"/>
              </a:rPr>
              <a:t>contenant</a:t>
            </a:r>
            <a:r>
              <a:rPr lang="en-US" altLang="ja-JP" dirty="0">
                <a:latin typeface="+mn-lt"/>
              </a:rPr>
              <a:t> des </a:t>
            </a:r>
            <a:r>
              <a:rPr lang="en-US" altLang="ja-JP" dirty="0" err="1">
                <a:latin typeface="+mn-lt"/>
              </a:rPr>
              <a:t>sous-programmes</a:t>
            </a:r>
            <a:r>
              <a:rPr lang="en-US" altLang="ja-JP" dirty="0">
                <a:latin typeface="+mn-lt"/>
              </a:rPr>
              <a:t> </a:t>
            </a:r>
            <a:r>
              <a:rPr lang="en-US" altLang="ja-JP" dirty="0" err="1">
                <a:latin typeface="+mn-lt"/>
              </a:rPr>
              <a:t>regroupés</a:t>
            </a:r>
            <a:r>
              <a:rPr lang="en-US" altLang="ja-JP" dirty="0">
                <a:latin typeface="+mn-lt"/>
              </a:rPr>
              <a:t> de </a:t>
            </a:r>
            <a:r>
              <a:rPr lang="en-US" altLang="ja-JP" dirty="0" err="1">
                <a:latin typeface="+mn-lt"/>
              </a:rPr>
              <a:t>façon</a:t>
            </a:r>
            <a:r>
              <a:rPr lang="en-US" altLang="ja-JP" dirty="0">
                <a:latin typeface="+mn-lt"/>
              </a:rPr>
              <a:t> </a:t>
            </a:r>
            <a:r>
              <a:rPr lang="en-US" altLang="ja-JP" dirty="0" err="1">
                <a:latin typeface="+mn-lt"/>
              </a:rPr>
              <a:t>cohérente</a:t>
            </a:r>
            <a:endParaRPr lang="fr-FR" dirty="0">
              <a:latin typeface="+mn-lt"/>
            </a:endParaRPr>
          </a:p>
          <a:p>
            <a:pPr lvl="1" eaLnBrk="1" hangingPunct="1">
              <a:spcBef>
                <a:spcPts val="600"/>
              </a:spcBef>
              <a:buClr>
                <a:srgbClr val="336666"/>
              </a:buClr>
              <a:buFont typeface="Wingdings" pitchFamily="2" charset="2"/>
              <a:buChar char="§"/>
              <a:defRPr/>
            </a:pPr>
            <a:r>
              <a:rPr lang="fr-FR" dirty="0">
                <a:latin typeface="+mn-lt"/>
              </a:rPr>
              <a:t> Le nom du fichier aura comme suffixe </a:t>
            </a:r>
            <a:r>
              <a:rPr lang="fr-FR" b="1" dirty="0">
                <a:latin typeface="+mn-lt"/>
              </a:rPr>
              <a:t>.</a:t>
            </a:r>
            <a:r>
              <a:rPr lang="fr-FR" b="1" dirty="0" err="1">
                <a:latin typeface="+mn-lt"/>
              </a:rPr>
              <a:t>py</a:t>
            </a:r>
            <a:endParaRPr lang="fr-FR" b="1" dirty="0">
              <a:latin typeface="+mn-lt"/>
            </a:endParaRPr>
          </a:p>
          <a:p>
            <a:pPr marL="92075" lvl="1" eaLnBrk="1" hangingPunct="1">
              <a:spcBef>
                <a:spcPts val="600"/>
              </a:spcBef>
              <a:buClr>
                <a:srgbClr val="336666"/>
              </a:buClr>
              <a:buFont typeface="Wingdings" pitchFamily="2" charset="2"/>
              <a:buNone/>
              <a:defRPr/>
            </a:pPr>
            <a:r>
              <a:rPr lang="en-US" b="1" dirty="0">
                <a:solidFill>
                  <a:srgbClr val="FF0000"/>
                </a:solidFill>
                <a:latin typeface="+mn-lt"/>
              </a:rPr>
              <a:t>Structure d</a:t>
            </a:r>
            <a:r>
              <a:rPr lang="en-US" altLang="fr-FR" b="1" dirty="0">
                <a:solidFill>
                  <a:srgbClr val="FF0000"/>
                </a:solidFill>
                <a:latin typeface="+mn-lt"/>
              </a:rPr>
              <a:t>’</a:t>
            </a:r>
            <a:r>
              <a:rPr lang="en-US" b="1" dirty="0">
                <a:solidFill>
                  <a:srgbClr val="FF0000"/>
                </a:solidFill>
                <a:latin typeface="+mn-lt"/>
              </a:rPr>
              <a:t>un </a:t>
            </a:r>
            <a:r>
              <a:rPr lang="en-US" b="1" dirty="0" err="1">
                <a:solidFill>
                  <a:srgbClr val="FF0000"/>
                </a:solidFill>
                <a:latin typeface="+mn-lt"/>
              </a:rPr>
              <a:t>projet</a:t>
            </a:r>
            <a:r>
              <a:rPr lang="en-US" b="1" dirty="0">
                <a:solidFill>
                  <a:srgbClr val="FF0000"/>
                </a:solidFill>
                <a:latin typeface="+mn-lt"/>
              </a:rPr>
              <a:t>: </a:t>
            </a:r>
          </a:p>
          <a:p>
            <a:pPr lvl="1" eaLnBrk="1" hangingPunct="1">
              <a:spcBef>
                <a:spcPts val="600"/>
              </a:spcBef>
              <a:spcAft>
                <a:spcPts val="1800"/>
              </a:spcAft>
              <a:buClr>
                <a:srgbClr val="336666"/>
              </a:buClr>
              <a:buFont typeface="Wingdings" pitchFamily="2" charset="2"/>
              <a:buNone/>
              <a:defRPr/>
            </a:pPr>
            <a:r>
              <a:rPr lang="en-US" dirty="0" err="1">
                <a:latin typeface="+mn-lt"/>
              </a:rPr>
              <a:t>Plusieurs</a:t>
            </a:r>
            <a:r>
              <a:rPr lang="en-US" dirty="0">
                <a:latin typeface="+mn-lt"/>
              </a:rPr>
              <a:t> modules de </a:t>
            </a:r>
            <a:r>
              <a:rPr lang="en-US" dirty="0" err="1">
                <a:latin typeface="+mn-lt"/>
              </a:rPr>
              <a:t>fonctions</a:t>
            </a:r>
            <a:r>
              <a:rPr lang="en-US" dirty="0">
                <a:latin typeface="+mn-lt"/>
              </a:rPr>
              <a:t> et un module </a:t>
            </a:r>
            <a:r>
              <a:rPr lang="en-US" dirty="0" err="1">
                <a:latin typeface="+mn-lt"/>
              </a:rPr>
              <a:t>particulier</a:t>
            </a:r>
            <a:r>
              <a:rPr lang="en-US" dirty="0">
                <a:latin typeface="+mn-lt"/>
              </a:rPr>
              <a:t>, </a:t>
            </a:r>
            <a:r>
              <a:rPr lang="en-US" dirty="0" err="1">
                <a:latin typeface="+mn-lt"/>
              </a:rPr>
              <a:t>dit</a:t>
            </a:r>
            <a:r>
              <a:rPr lang="en-US" dirty="0">
                <a:latin typeface="+mn-lt"/>
              </a:rPr>
              <a:t> </a:t>
            </a:r>
            <a:r>
              <a:rPr lang="en-US" altLang="fr-FR" dirty="0">
                <a:latin typeface="+mn-lt"/>
              </a:rPr>
              <a:t>“</a:t>
            </a:r>
            <a:r>
              <a:rPr lang="en-US" altLang="ja-JP" b="1" dirty="0">
                <a:solidFill>
                  <a:srgbClr val="0000FF"/>
                </a:solidFill>
                <a:latin typeface="+mn-lt"/>
              </a:rPr>
              <a:t>main</a:t>
            </a:r>
            <a:r>
              <a:rPr lang="en-US" altLang="fr-FR" dirty="0">
                <a:latin typeface="+mn-lt"/>
              </a:rPr>
              <a:t>”</a:t>
            </a:r>
            <a:r>
              <a:rPr lang="en-US" altLang="ja-JP" dirty="0">
                <a:latin typeface="+mn-lt"/>
              </a:rPr>
              <a:t>, </a:t>
            </a:r>
            <a:r>
              <a:rPr lang="en-US" altLang="ja-JP" dirty="0" err="1">
                <a:latin typeface="+mn-lt"/>
              </a:rPr>
              <a:t>où</a:t>
            </a:r>
            <a:r>
              <a:rPr lang="en-US" altLang="ja-JP" dirty="0">
                <a:latin typeface="+mn-lt"/>
              </a:rPr>
              <a:t> </a:t>
            </a:r>
            <a:r>
              <a:rPr lang="en-US" altLang="ja-JP" dirty="0" err="1">
                <a:latin typeface="+mn-lt"/>
              </a:rPr>
              <a:t>l</a:t>
            </a:r>
            <a:r>
              <a:rPr lang="en-US" altLang="fr-FR" dirty="0" err="1">
                <a:latin typeface="+mn-lt"/>
              </a:rPr>
              <a:t>’</a:t>
            </a:r>
            <a:r>
              <a:rPr lang="en-US" altLang="ja-JP" dirty="0" err="1">
                <a:latin typeface="+mn-lt"/>
              </a:rPr>
              <a:t>on</a:t>
            </a:r>
            <a:r>
              <a:rPr lang="en-US" altLang="ja-JP" dirty="0">
                <a:latin typeface="+mn-lt"/>
              </a:rPr>
              <a:t> </a:t>
            </a:r>
            <a:r>
              <a:rPr lang="en-US" altLang="ja-JP" dirty="0" err="1">
                <a:latin typeface="+mn-lt"/>
              </a:rPr>
              <a:t>définit</a:t>
            </a:r>
            <a:r>
              <a:rPr lang="en-US" altLang="ja-JP" dirty="0">
                <a:latin typeface="+mn-lt"/>
              </a:rPr>
              <a:t> les variables du </a:t>
            </a:r>
            <a:r>
              <a:rPr lang="en-US" altLang="ja-JP" dirty="0" err="1">
                <a:latin typeface="+mn-lt"/>
              </a:rPr>
              <a:t>projet</a:t>
            </a:r>
            <a:r>
              <a:rPr lang="en-US" altLang="ja-JP" dirty="0">
                <a:latin typeface="+mn-lt"/>
              </a:rPr>
              <a:t> et </a:t>
            </a:r>
            <a:r>
              <a:rPr lang="en-US" altLang="ja-JP" dirty="0" err="1">
                <a:latin typeface="+mn-lt"/>
              </a:rPr>
              <a:t>où</a:t>
            </a:r>
            <a:r>
              <a:rPr lang="en-US" altLang="ja-JP" dirty="0">
                <a:latin typeface="+mn-lt"/>
              </a:rPr>
              <a:t> </a:t>
            </a:r>
            <a:r>
              <a:rPr lang="en-US" altLang="ja-JP" dirty="0" err="1">
                <a:latin typeface="+mn-lt"/>
              </a:rPr>
              <a:t>l</a:t>
            </a:r>
            <a:r>
              <a:rPr lang="en-US" altLang="fr-FR" dirty="0" err="1">
                <a:latin typeface="+mn-lt"/>
              </a:rPr>
              <a:t>’</a:t>
            </a:r>
            <a:r>
              <a:rPr lang="en-US" altLang="ja-JP" dirty="0" err="1">
                <a:latin typeface="+mn-lt"/>
              </a:rPr>
              <a:t>on</a:t>
            </a:r>
            <a:r>
              <a:rPr lang="en-US" altLang="ja-JP" dirty="0">
                <a:latin typeface="+mn-lt"/>
              </a:rPr>
              <a:t> </a:t>
            </a:r>
            <a:r>
              <a:rPr lang="en-US" altLang="ja-JP" dirty="0" err="1">
                <a:latin typeface="+mn-lt"/>
              </a:rPr>
              <a:t>utilise</a:t>
            </a:r>
            <a:r>
              <a:rPr lang="en-US" altLang="ja-JP" dirty="0">
                <a:latin typeface="+mn-lt"/>
              </a:rPr>
              <a:t> les </a:t>
            </a:r>
            <a:r>
              <a:rPr lang="en-US" altLang="ja-JP" dirty="0" err="1" smtClean="0">
                <a:latin typeface="+mn-lt"/>
              </a:rPr>
              <a:t>fonctions</a:t>
            </a:r>
            <a:r>
              <a:rPr lang="fr-MA" altLang="ja-JP" dirty="0" smtClean="0"/>
              <a:t> </a:t>
            </a:r>
            <a:r>
              <a:rPr lang="en-US" altLang="ja-JP" dirty="0" smtClean="0">
                <a:latin typeface="+mn-lt"/>
              </a:rPr>
              <a:t>des </a:t>
            </a:r>
            <a:r>
              <a:rPr lang="en-US" altLang="ja-JP" dirty="0" err="1">
                <a:latin typeface="+mn-lt"/>
              </a:rPr>
              <a:t>différents</a:t>
            </a:r>
            <a:r>
              <a:rPr lang="en-US" altLang="ja-JP" dirty="0">
                <a:latin typeface="+mn-lt"/>
              </a:rPr>
              <a:t> modules. </a:t>
            </a:r>
            <a:endParaRPr lang="en-US" dirty="0">
              <a:latin typeface="+mn-lt"/>
            </a:endParaRPr>
          </a:p>
          <a:p>
            <a:pPr eaLnBrk="1" hangingPunct="1">
              <a:spcBef>
                <a:spcPts val="600"/>
              </a:spcBef>
              <a:buClr>
                <a:srgbClr val="336666"/>
              </a:buClr>
              <a:buFont typeface="Wingdings" pitchFamily="2" charset="2"/>
              <a:buNone/>
              <a:defRPr/>
            </a:pPr>
            <a:r>
              <a:rPr lang="fr-FR" b="1" dirty="0">
                <a:solidFill>
                  <a:srgbClr val="FF0000"/>
                </a:solidFill>
                <a:latin typeface="+mn-lt"/>
              </a:rPr>
              <a:t> Trois formats pour importer</a:t>
            </a:r>
          </a:p>
          <a:p>
            <a:pPr marL="720725" lvl="1" indent="-263525" eaLnBrk="1" hangingPunct="1">
              <a:spcBef>
                <a:spcPct val="50000"/>
              </a:spcBef>
              <a:buClr>
                <a:srgbClr val="336666"/>
              </a:buClr>
              <a:buFont typeface="Wingdings" pitchFamily="2" charset="2"/>
              <a:buChar char="§"/>
              <a:defRPr/>
            </a:pPr>
            <a:r>
              <a:rPr lang="ro-RO" b="1" dirty="0">
                <a:solidFill>
                  <a:srgbClr val="0000FF"/>
                </a:solidFill>
                <a:latin typeface="Courier New"/>
                <a:cs typeface="Courier New"/>
              </a:rPr>
              <a:t>from </a:t>
            </a:r>
            <a:r>
              <a:rPr lang="ro-RO" b="1" dirty="0">
                <a:solidFill>
                  <a:schemeClr val="bg1">
                    <a:lumMod val="50000"/>
                  </a:schemeClr>
                </a:solidFill>
                <a:latin typeface="Courier New"/>
                <a:cs typeface="Courier New"/>
              </a:rPr>
              <a:t>NomDuModule</a:t>
            </a:r>
            <a:r>
              <a:rPr lang="ro-RO" b="1" dirty="0">
                <a:solidFill>
                  <a:srgbClr val="0000FF"/>
                </a:solidFill>
                <a:latin typeface="Courier New"/>
                <a:cs typeface="Courier New"/>
              </a:rPr>
              <a:t> import </a:t>
            </a:r>
            <a:r>
              <a:rPr lang="ro-RO" b="1" dirty="0">
                <a:latin typeface="Courier New"/>
                <a:cs typeface="Courier New"/>
              </a:rPr>
              <a:t>*</a:t>
            </a:r>
          </a:p>
          <a:p>
            <a:pPr marL="720725" lvl="1" indent="-263525" eaLnBrk="1" hangingPunct="1">
              <a:spcBef>
                <a:spcPct val="50000"/>
              </a:spcBef>
              <a:buClr>
                <a:srgbClr val="336666"/>
              </a:buClr>
              <a:buFont typeface="Wingdings" pitchFamily="2" charset="2"/>
              <a:buChar char="§"/>
              <a:defRPr/>
            </a:pPr>
            <a:r>
              <a:rPr lang="ro-RO" b="1" dirty="0">
                <a:solidFill>
                  <a:srgbClr val="0000FF"/>
                </a:solidFill>
                <a:latin typeface="Courier New"/>
                <a:cs typeface="Courier New"/>
              </a:rPr>
              <a:t>from </a:t>
            </a:r>
            <a:r>
              <a:rPr lang="ro-RO" b="1" dirty="0">
                <a:solidFill>
                  <a:srgbClr val="7F7F7F"/>
                </a:solidFill>
                <a:latin typeface="Courier New"/>
                <a:cs typeface="Courier New"/>
              </a:rPr>
              <a:t>NomDuModule</a:t>
            </a:r>
            <a:r>
              <a:rPr lang="ro-RO" b="1" dirty="0">
                <a:solidFill>
                  <a:srgbClr val="0000FF"/>
                </a:solidFill>
                <a:latin typeface="Courier New"/>
                <a:cs typeface="Courier New"/>
              </a:rPr>
              <a:t> import </a:t>
            </a:r>
            <a:r>
              <a:rPr lang="ro-RO" b="1" dirty="0">
                <a:solidFill>
                  <a:srgbClr val="7F7F7F"/>
                </a:solidFill>
                <a:latin typeface="Courier New"/>
                <a:cs typeface="Courier New"/>
              </a:rPr>
              <a:t>uneFonction</a:t>
            </a:r>
          </a:p>
          <a:p>
            <a:pPr marL="720725" lvl="1" indent="-263525" eaLnBrk="1" hangingPunct="1">
              <a:spcBef>
                <a:spcPct val="50000"/>
              </a:spcBef>
              <a:buClr>
                <a:srgbClr val="336666"/>
              </a:buClr>
              <a:buFont typeface="Wingdings" pitchFamily="2" charset="2"/>
              <a:buChar char="§"/>
              <a:defRPr/>
            </a:pPr>
            <a:r>
              <a:rPr lang="ro-RO" b="1" dirty="0">
                <a:solidFill>
                  <a:srgbClr val="0000FF"/>
                </a:solidFill>
                <a:latin typeface="Courier New"/>
                <a:cs typeface="Courier New"/>
              </a:rPr>
              <a:t>import </a:t>
            </a:r>
            <a:r>
              <a:rPr lang="ro-RO" b="1" dirty="0">
                <a:solidFill>
                  <a:srgbClr val="7F7F7F"/>
                </a:solidFill>
                <a:latin typeface="Courier New"/>
                <a:cs typeface="Courier New"/>
              </a:rPr>
              <a:t>NomDuModule</a:t>
            </a:r>
            <a:endParaRPr lang="fr-FR" b="1" dirty="0">
              <a:solidFill>
                <a:srgbClr val="7F7F7F"/>
              </a:solidFill>
              <a:latin typeface="Courier New"/>
              <a:cs typeface="Courier New"/>
            </a:endParaRPr>
          </a:p>
        </p:txBody>
      </p:sp>
    </p:spTree>
    <p:custDataLst>
      <p:tags r:id="rId1"/>
    </p:custDataLst>
    <p:extLst>
      <p:ext uri="{BB962C8B-B14F-4D97-AF65-F5344CB8AC3E}">
        <p14:creationId xmlns:p14="http://schemas.microsoft.com/office/powerpoint/2010/main" val="2332388525"/>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2">
                                            <p:txEl>
                                              <p:pRg st="3" end="3"/>
                                            </p:txEl>
                                          </p:spTgt>
                                        </p:tgtEl>
                                        <p:attrNameLst>
                                          <p:attrName>style.visibility</p:attrName>
                                        </p:attrNameLst>
                                      </p:cBhvr>
                                      <p:to>
                                        <p:strVal val="visible"/>
                                      </p:to>
                                    </p:set>
                                    <p:animEffect transition="in" filter="checkerboard(across)">
                                      <p:cBhvr>
                                        <p:cTn id="7" dur="500"/>
                                        <p:tgtEl>
                                          <p:spTgt spid="12">
                                            <p:txEl>
                                              <p:pRg st="3" end="3"/>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12">
                                            <p:txEl>
                                              <p:pRg st="4" end="4"/>
                                            </p:txEl>
                                          </p:spTgt>
                                        </p:tgtEl>
                                        <p:attrNameLst>
                                          <p:attrName>style.visibility</p:attrName>
                                        </p:attrNameLst>
                                      </p:cBhvr>
                                      <p:to>
                                        <p:strVal val="visible"/>
                                      </p:to>
                                    </p:set>
                                    <p:animEffect transition="in" filter="checkerboard(across)">
                                      <p:cBhvr>
                                        <p:cTn id="10" dur="500"/>
                                        <p:tgtEl>
                                          <p:spTgt spid="12">
                                            <p:txEl>
                                              <p:pRg st="4" end="4"/>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10" fill="hold" nodeType="clickEffect">
                                  <p:stCondLst>
                                    <p:cond delay="0"/>
                                  </p:stCondLst>
                                  <p:childTnLst>
                                    <p:set>
                                      <p:cBhvr>
                                        <p:cTn id="14" dur="1" fill="hold">
                                          <p:stCondLst>
                                            <p:cond delay="0"/>
                                          </p:stCondLst>
                                        </p:cTn>
                                        <p:tgtEl>
                                          <p:spTgt spid="12">
                                            <p:txEl>
                                              <p:pRg st="5" end="5"/>
                                            </p:txEl>
                                          </p:spTgt>
                                        </p:tgtEl>
                                        <p:attrNameLst>
                                          <p:attrName>style.visibility</p:attrName>
                                        </p:attrNameLst>
                                      </p:cBhvr>
                                      <p:to>
                                        <p:strVal val="visible"/>
                                      </p:to>
                                    </p:set>
                                    <p:animEffect transition="in" filter="checkerboard(across)">
                                      <p:cBhvr>
                                        <p:cTn id="15" dur="500"/>
                                        <p:tgtEl>
                                          <p:spTgt spid="12">
                                            <p:txEl>
                                              <p:pRg st="5" end="5"/>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12">
                                            <p:txEl>
                                              <p:pRg st="6" end="6"/>
                                            </p:txEl>
                                          </p:spTgt>
                                        </p:tgtEl>
                                        <p:attrNameLst>
                                          <p:attrName>style.visibility</p:attrName>
                                        </p:attrNameLst>
                                      </p:cBhvr>
                                      <p:to>
                                        <p:strVal val="visible"/>
                                      </p:to>
                                    </p:set>
                                    <p:animEffect transition="in" filter="checkerboard(across)">
                                      <p:cBhvr>
                                        <p:cTn id="18" dur="500"/>
                                        <p:tgtEl>
                                          <p:spTgt spid="12">
                                            <p:txEl>
                                              <p:pRg st="6" end="6"/>
                                            </p:txEl>
                                          </p:spTgt>
                                        </p:tgtEl>
                                      </p:cBhvr>
                                    </p:animEffect>
                                  </p:childTnLst>
                                </p:cTn>
                              </p:par>
                              <p:par>
                                <p:cTn id="19" presetID="5" presetClass="entr" presetSubtype="10" fill="hold" nodeType="withEffect">
                                  <p:stCondLst>
                                    <p:cond delay="0"/>
                                  </p:stCondLst>
                                  <p:childTnLst>
                                    <p:set>
                                      <p:cBhvr>
                                        <p:cTn id="20" dur="1" fill="hold">
                                          <p:stCondLst>
                                            <p:cond delay="0"/>
                                          </p:stCondLst>
                                        </p:cTn>
                                        <p:tgtEl>
                                          <p:spTgt spid="12">
                                            <p:txEl>
                                              <p:pRg st="7" end="7"/>
                                            </p:txEl>
                                          </p:spTgt>
                                        </p:tgtEl>
                                        <p:attrNameLst>
                                          <p:attrName>style.visibility</p:attrName>
                                        </p:attrNameLst>
                                      </p:cBhvr>
                                      <p:to>
                                        <p:strVal val="visible"/>
                                      </p:to>
                                    </p:set>
                                    <p:animEffect transition="in" filter="checkerboard(across)">
                                      <p:cBhvr>
                                        <p:cTn id="21" dur="500"/>
                                        <p:tgtEl>
                                          <p:spTgt spid="12">
                                            <p:txEl>
                                              <p:pRg st="7" end="7"/>
                                            </p:txEl>
                                          </p:spTgt>
                                        </p:tgtEl>
                                      </p:cBhvr>
                                    </p:animEffect>
                                  </p:childTnLst>
                                </p:cTn>
                              </p:par>
                              <p:par>
                                <p:cTn id="22" presetID="5" presetClass="entr" presetSubtype="10" fill="hold" nodeType="withEffect">
                                  <p:stCondLst>
                                    <p:cond delay="0"/>
                                  </p:stCondLst>
                                  <p:childTnLst>
                                    <p:set>
                                      <p:cBhvr>
                                        <p:cTn id="23" dur="1" fill="hold">
                                          <p:stCondLst>
                                            <p:cond delay="0"/>
                                          </p:stCondLst>
                                        </p:cTn>
                                        <p:tgtEl>
                                          <p:spTgt spid="12">
                                            <p:txEl>
                                              <p:pRg st="8" end="8"/>
                                            </p:txEl>
                                          </p:spTgt>
                                        </p:tgtEl>
                                        <p:attrNameLst>
                                          <p:attrName>style.visibility</p:attrName>
                                        </p:attrNameLst>
                                      </p:cBhvr>
                                      <p:to>
                                        <p:strVal val="visible"/>
                                      </p:to>
                                    </p:set>
                                    <p:animEffect transition="in" filter="checkerboard(across)">
                                      <p:cBhvr>
                                        <p:cTn id="24" dur="500"/>
                                        <p:tgtEl>
                                          <p:spTgt spid="1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Les modules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import …</a:t>
            </a:r>
          </a:p>
        </p:txBody>
      </p:sp>
      <p:cxnSp>
        <p:nvCxnSpPr>
          <p:cNvPr id="191493"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91494"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7" name="Rectangle 6"/>
          <p:cNvSpPr/>
          <p:nvPr/>
        </p:nvSpPr>
        <p:spPr>
          <a:xfrm>
            <a:off x="642938" y="1049338"/>
            <a:ext cx="8001000" cy="4094162"/>
          </a:xfrm>
          <a:prstGeom prst="rect">
            <a:avLst/>
          </a:prstGeom>
        </p:spPr>
        <p:txBody>
          <a:bodyPr>
            <a:spAutoFit/>
          </a:bodyPr>
          <a:lstStyle/>
          <a:p>
            <a:pPr eaLnBrk="1" hangingPunct="1">
              <a:spcBef>
                <a:spcPts val="0"/>
              </a:spcBef>
              <a:buClr>
                <a:srgbClr val="336666"/>
              </a:buClr>
              <a:buFont typeface="Wingdings" pitchFamily="2" charset="2"/>
              <a:buNone/>
              <a:defRPr/>
            </a:pPr>
            <a:r>
              <a:rPr lang="fr-FR" b="1" dirty="0">
                <a:solidFill>
                  <a:srgbClr val="FF0000"/>
                </a:solidFill>
                <a:latin typeface="+mn-lt"/>
              </a:rPr>
              <a:t>import </a:t>
            </a:r>
            <a:r>
              <a:rPr lang="fr-FR" b="1" dirty="0" err="1">
                <a:solidFill>
                  <a:srgbClr val="FF0000"/>
                </a:solidFill>
                <a:latin typeface="+mn-lt"/>
              </a:rPr>
              <a:t>nomModule</a:t>
            </a:r>
            <a:endParaRPr lang="fr-FR" b="1" dirty="0">
              <a:solidFill>
                <a:srgbClr val="FF0000"/>
              </a:solidFill>
              <a:latin typeface="+mn-lt"/>
            </a:endParaRPr>
          </a:p>
          <a:p>
            <a:pPr lvl="1" eaLnBrk="1" hangingPunct="1">
              <a:spcBef>
                <a:spcPts val="600"/>
              </a:spcBef>
              <a:buClr>
                <a:srgbClr val="336666"/>
              </a:buClr>
              <a:buFont typeface="Wingdings" pitchFamily="2" charset="2"/>
              <a:buChar char="§"/>
              <a:defRPr/>
            </a:pPr>
            <a:r>
              <a:rPr lang="fr-FR" dirty="0">
                <a:latin typeface="+mn-lt"/>
              </a:rPr>
              <a:t> Importe tout le contenu du fichier </a:t>
            </a:r>
            <a:r>
              <a:rPr lang="fr-FR" dirty="0">
                <a:solidFill>
                  <a:srgbClr val="0000FF"/>
                </a:solidFill>
                <a:latin typeface="+mn-lt"/>
              </a:rPr>
              <a:t>nomModule.py</a:t>
            </a:r>
          </a:p>
          <a:p>
            <a:pPr lvl="1" eaLnBrk="1" hangingPunct="1">
              <a:spcBef>
                <a:spcPts val="600"/>
              </a:spcBef>
              <a:buClr>
                <a:srgbClr val="336666"/>
              </a:buClr>
              <a:buFont typeface="Wingdings" pitchFamily="2" charset="2"/>
              <a:buChar char="§"/>
              <a:defRPr/>
            </a:pPr>
            <a:r>
              <a:rPr lang="fr-FR" dirty="0">
                <a:latin typeface="+mn-lt"/>
              </a:rPr>
              <a:t> Pour faire référence à quelque chose dans le fichier il faut ajouter le nom du module avant le nom de l'entité utilisée.</a:t>
            </a:r>
          </a:p>
          <a:p>
            <a:pPr lvl="1" eaLnBrk="1" hangingPunct="1">
              <a:spcBef>
                <a:spcPts val="1800"/>
              </a:spcBef>
              <a:buClr>
                <a:srgbClr val="336666"/>
              </a:buClr>
              <a:buFont typeface="Wingdings" pitchFamily="2" charset="2"/>
              <a:buNone/>
              <a:defRPr/>
            </a:pPr>
            <a:r>
              <a:rPr lang="fr-FR" dirty="0">
                <a:latin typeface="+mn-lt"/>
              </a:rPr>
              <a:t> </a:t>
            </a:r>
            <a:r>
              <a:rPr lang="fr-FR" b="1" dirty="0">
                <a:latin typeface="+mn-lt"/>
              </a:rPr>
              <a:t>Exemple :</a:t>
            </a:r>
          </a:p>
          <a:p>
            <a:pPr lvl="2" eaLnBrk="1" hangingPunct="1">
              <a:spcBef>
                <a:spcPts val="600"/>
              </a:spcBef>
              <a:buClr>
                <a:srgbClr val="336666"/>
              </a:buClr>
              <a:buFont typeface="Wingdings" pitchFamily="2" charset="2"/>
              <a:buNone/>
              <a:defRPr/>
            </a:pPr>
            <a:r>
              <a:rPr lang="fr-FR" b="1" dirty="0">
                <a:latin typeface="Courier New" pitchFamily="49" charset="0"/>
                <a:cs typeface="Courier New" pitchFamily="49" charset="0"/>
              </a:rPr>
              <a:t> import </a:t>
            </a:r>
            <a:r>
              <a:rPr lang="fr-FR" b="1" dirty="0" err="1">
                <a:latin typeface="Courier New" pitchFamily="49" charset="0"/>
                <a:cs typeface="Courier New" pitchFamily="49" charset="0"/>
              </a:rPr>
              <a:t>fib</a:t>
            </a:r>
            <a:endParaRPr lang="fr-FR" b="1" dirty="0">
              <a:latin typeface="Courier New" pitchFamily="49" charset="0"/>
              <a:cs typeface="Courier New" pitchFamily="49" charset="0"/>
            </a:endParaRPr>
          </a:p>
          <a:p>
            <a:pPr lvl="2" eaLnBrk="1" hangingPunct="1">
              <a:spcBef>
                <a:spcPts val="600"/>
              </a:spcBef>
              <a:buClr>
                <a:srgbClr val="336666"/>
              </a:buClr>
              <a:buFont typeface="Wingdings" pitchFamily="2" charset="2"/>
              <a:buNone/>
              <a:defRPr/>
            </a:pPr>
            <a:r>
              <a:rPr lang="fr-FR" b="1" dirty="0">
                <a:latin typeface="Courier New" pitchFamily="49" charset="0"/>
                <a:cs typeface="Courier New" pitchFamily="49" charset="0"/>
              </a:rPr>
              <a:t> fib.fib(n)</a:t>
            </a:r>
          </a:p>
          <a:p>
            <a:pPr lvl="2" eaLnBrk="1" hangingPunct="1">
              <a:spcBef>
                <a:spcPts val="600"/>
              </a:spcBef>
              <a:buClr>
                <a:srgbClr val="336666"/>
              </a:buClr>
              <a:buFont typeface="Wingdings" pitchFamily="2" charset="2"/>
              <a:buNone/>
              <a:defRPr/>
            </a:pPr>
            <a:r>
              <a:rPr lang="fr-FR" b="1" dirty="0">
                <a:latin typeface="Courier New" pitchFamily="49" charset="0"/>
                <a:cs typeface="Courier New" pitchFamily="49" charset="0"/>
              </a:rPr>
              <a:t> </a:t>
            </a:r>
            <a:r>
              <a:rPr lang="fr-FR" b="1" dirty="0" err="1">
                <a:latin typeface="Courier New" pitchFamily="49" charset="0"/>
                <a:cs typeface="Courier New" pitchFamily="49" charset="0"/>
              </a:rPr>
              <a:t>fib.fib_rec</a:t>
            </a:r>
            <a:r>
              <a:rPr lang="fr-FR" b="1" dirty="0">
                <a:latin typeface="Courier New" pitchFamily="49" charset="0"/>
                <a:cs typeface="Courier New" pitchFamily="49" charset="0"/>
              </a:rPr>
              <a:t>(n)</a:t>
            </a:r>
          </a:p>
          <a:p>
            <a:pPr lvl="2" eaLnBrk="1" hangingPunct="1">
              <a:spcBef>
                <a:spcPts val="600"/>
              </a:spcBef>
              <a:buClr>
                <a:srgbClr val="336666"/>
              </a:buClr>
              <a:buFont typeface="Wingdings" pitchFamily="2" charset="2"/>
              <a:buNone/>
              <a:defRPr/>
            </a:pPr>
            <a:r>
              <a:rPr lang="fr-FR" b="1" dirty="0">
                <a:latin typeface="Courier New" pitchFamily="49" charset="0"/>
                <a:cs typeface="Courier New" pitchFamily="49" charset="0"/>
              </a:rPr>
              <a:t> </a:t>
            </a:r>
            <a:r>
              <a:rPr lang="fr-FR" b="1" dirty="0" err="1">
                <a:latin typeface="Courier New" pitchFamily="49" charset="0"/>
                <a:cs typeface="Courier New" pitchFamily="49" charset="0"/>
              </a:rPr>
              <a:t>print</a:t>
            </a:r>
            <a:r>
              <a:rPr lang="fr-FR" b="1" dirty="0">
                <a:latin typeface="Courier New" pitchFamily="49" charset="0"/>
                <a:cs typeface="Courier New" pitchFamily="49" charset="0"/>
              </a:rPr>
              <a:t>(</a:t>
            </a:r>
            <a:r>
              <a:rPr lang="fr-FR" b="1" dirty="0" err="1">
                <a:latin typeface="Courier New" pitchFamily="49" charset="0"/>
                <a:cs typeface="Courier New" pitchFamily="49" charset="0"/>
              </a:rPr>
              <a:t>fib.iter</a:t>
            </a:r>
            <a:r>
              <a:rPr lang="fr-FR" b="1" dirty="0">
                <a:latin typeface="Courier New" pitchFamily="49" charset="0"/>
                <a:cs typeface="Courier New" pitchFamily="49" charset="0"/>
              </a:rPr>
              <a:t>(n))</a:t>
            </a:r>
          </a:p>
          <a:p>
            <a:pPr lvl="1" eaLnBrk="1" hangingPunct="1">
              <a:spcBef>
                <a:spcPts val="1800"/>
              </a:spcBef>
              <a:buClr>
                <a:srgbClr val="336666"/>
              </a:buClr>
              <a:buFont typeface="Wingdings" pitchFamily="2" charset="2"/>
              <a:buNone/>
              <a:defRPr/>
            </a:pPr>
            <a:r>
              <a:rPr lang="fr-FR" dirty="0">
                <a:solidFill>
                  <a:srgbClr val="00B050"/>
                </a:solidFill>
                <a:latin typeface="+mn-lt"/>
              </a:rPr>
              <a:t> </a:t>
            </a:r>
            <a:r>
              <a:rPr lang="fr-FR" dirty="0">
                <a:solidFill>
                  <a:srgbClr val="008E40"/>
                </a:solidFill>
                <a:latin typeface="+mn-lt"/>
              </a:rPr>
              <a:t>Attention tout le contenu du module sera chargé en mémoire.</a:t>
            </a:r>
          </a:p>
        </p:txBody>
      </p:sp>
    </p:spTree>
    <p:custDataLst>
      <p:tags r:id="rId1"/>
    </p:custDataLst>
    <p:extLst>
      <p:ext uri="{BB962C8B-B14F-4D97-AF65-F5344CB8AC3E}">
        <p14:creationId xmlns:p14="http://schemas.microsoft.com/office/powerpoint/2010/main" val="604884659"/>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checkerboard(across)">
                                      <p:cBhvr>
                                        <p:cTn id="7" dur="500"/>
                                        <p:tgtEl>
                                          <p:spTgt spid="7">
                                            <p:txEl>
                                              <p:pRg st="3" end="3"/>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7">
                                            <p:txEl>
                                              <p:pRg st="4" end="4"/>
                                            </p:txEl>
                                          </p:spTgt>
                                        </p:tgtEl>
                                        <p:attrNameLst>
                                          <p:attrName>style.visibility</p:attrName>
                                        </p:attrNameLst>
                                      </p:cBhvr>
                                      <p:to>
                                        <p:strVal val="visible"/>
                                      </p:to>
                                    </p:set>
                                    <p:animEffect transition="in" filter="checkerboard(across)">
                                      <p:cBhvr>
                                        <p:cTn id="10" dur="500"/>
                                        <p:tgtEl>
                                          <p:spTgt spid="7">
                                            <p:txEl>
                                              <p:pRg st="4" end="4"/>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7">
                                            <p:txEl>
                                              <p:pRg st="5" end="5"/>
                                            </p:txEl>
                                          </p:spTgt>
                                        </p:tgtEl>
                                        <p:attrNameLst>
                                          <p:attrName>style.visibility</p:attrName>
                                        </p:attrNameLst>
                                      </p:cBhvr>
                                      <p:to>
                                        <p:strVal val="visible"/>
                                      </p:to>
                                    </p:set>
                                    <p:animEffect transition="in" filter="checkerboard(across)">
                                      <p:cBhvr>
                                        <p:cTn id="13" dur="500"/>
                                        <p:tgtEl>
                                          <p:spTgt spid="7">
                                            <p:txEl>
                                              <p:pRg st="5" end="5"/>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7">
                                            <p:txEl>
                                              <p:pRg st="6" end="6"/>
                                            </p:txEl>
                                          </p:spTgt>
                                        </p:tgtEl>
                                        <p:attrNameLst>
                                          <p:attrName>style.visibility</p:attrName>
                                        </p:attrNameLst>
                                      </p:cBhvr>
                                      <p:to>
                                        <p:strVal val="visible"/>
                                      </p:to>
                                    </p:set>
                                    <p:animEffect transition="in" filter="checkerboard(across)">
                                      <p:cBhvr>
                                        <p:cTn id="16" dur="500"/>
                                        <p:tgtEl>
                                          <p:spTgt spid="7">
                                            <p:txEl>
                                              <p:pRg st="6" end="6"/>
                                            </p:txEl>
                                          </p:spTgt>
                                        </p:tgtEl>
                                      </p:cBhvr>
                                    </p:animEffect>
                                  </p:childTnLst>
                                </p:cTn>
                              </p:par>
                              <p:par>
                                <p:cTn id="17" presetID="5" presetClass="entr" presetSubtype="10" fill="hold" nodeType="with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animEffect transition="in" filter="checkerboard(across)">
                                      <p:cBhvr>
                                        <p:cTn id="19" dur="500"/>
                                        <p:tgtEl>
                                          <p:spTgt spid="7">
                                            <p:txEl>
                                              <p:pRg st="7" end="7"/>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 presetClass="entr" presetSubtype="10" fill="hold" nodeType="clickEffect">
                                  <p:stCondLst>
                                    <p:cond delay="0"/>
                                  </p:stCondLst>
                                  <p:childTnLst>
                                    <p:set>
                                      <p:cBhvr>
                                        <p:cTn id="23" dur="1" fill="hold">
                                          <p:stCondLst>
                                            <p:cond delay="0"/>
                                          </p:stCondLst>
                                        </p:cTn>
                                        <p:tgtEl>
                                          <p:spTgt spid="7">
                                            <p:txEl>
                                              <p:pRg st="8" end="8"/>
                                            </p:txEl>
                                          </p:spTgt>
                                        </p:tgtEl>
                                        <p:attrNameLst>
                                          <p:attrName>style.visibility</p:attrName>
                                        </p:attrNameLst>
                                      </p:cBhvr>
                                      <p:to>
                                        <p:strVal val="visible"/>
                                      </p:to>
                                    </p:set>
                                    <p:animEffect transition="in" filter="checkerboard(across)">
                                      <p:cBhvr>
                                        <p:cTn id="24"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Les modules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err="1">
                <a:latin typeface="+mj-lt"/>
              </a:rPr>
              <a:t>from</a:t>
            </a:r>
            <a:r>
              <a:rPr lang="fr-FR" sz="2400" b="1" dirty="0">
                <a:latin typeface="+mj-lt"/>
              </a:rPr>
              <a:t> … import *</a:t>
            </a:r>
          </a:p>
        </p:txBody>
      </p:sp>
      <p:cxnSp>
        <p:nvCxnSpPr>
          <p:cNvPr id="192517"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92518"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7" name="Rectangle 6"/>
          <p:cNvSpPr/>
          <p:nvPr/>
        </p:nvSpPr>
        <p:spPr>
          <a:xfrm>
            <a:off x="642938" y="928688"/>
            <a:ext cx="8072437" cy="4216539"/>
          </a:xfrm>
          <a:prstGeom prst="rect">
            <a:avLst/>
          </a:prstGeom>
        </p:spPr>
        <p:txBody>
          <a:bodyPr>
            <a:spAutoFit/>
          </a:bodyPr>
          <a:lstStyle/>
          <a:p>
            <a:pPr eaLnBrk="1" hangingPunct="1">
              <a:spcBef>
                <a:spcPts val="600"/>
              </a:spcBef>
              <a:buClr>
                <a:srgbClr val="336666"/>
              </a:buClr>
              <a:buFont typeface="Wingdings" pitchFamily="2" charset="2"/>
              <a:buNone/>
              <a:defRPr/>
            </a:pPr>
            <a:r>
              <a:rPr lang="fr-FR" b="1" dirty="0" err="1">
                <a:solidFill>
                  <a:srgbClr val="FF0000"/>
                </a:solidFill>
                <a:latin typeface="+mn-lt"/>
              </a:rPr>
              <a:t>from</a:t>
            </a:r>
            <a:r>
              <a:rPr lang="fr-FR" b="1" dirty="0">
                <a:solidFill>
                  <a:srgbClr val="FF0000"/>
                </a:solidFill>
                <a:latin typeface="+mn-lt"/>
              </a:rPr>
              <a:t> </a:t>
            </a:r>
            <a:r>
              <a:rPr lang="fr-FR" b="1" dirty="0" err="1">
                <a:solidFill>
                  <a:srgbClr val="FF0000"/>
                </a:solidFill>
                <a:latin typeface="+mn-lt"/>
              </a:rPr>
              <a:t>nomModule</a:t>
            </a:r>
            <a:r>
              <a:rPr lang="fr-FR" b="1" dirty="0">
                <a:solidFill>
                  <a:srgbClr val="FF0000"/>
                </a:solidFill>
                <a:latin typeface="+mn-lt"/>
              </a:rPr>
              <a:t> import *</a:t>
            </a:r>
          </a:p>
          <a:p>
            <a:pPr lvl="1" algn="just" eaLnBrk="1" hangingPunct="1">
              <a:spcBef>
                <a:spcPts val="600"/>
              </a:spcBef>
              <a:buClr>
                <a:srgbClr val="336666"/>
              </a:buClr>
              <a:buFont typeface="Wingdings" pitchFamily="2" charset="2"/>
              <a:buChar char="§"/>
              <a:defRPr/>
            </a:pPr>
            <a:r>
              <a:rPr lang="fr-FR" dirty="0">
                <a:latin typeface="+mn-lt"/>
              </a:rPr>
              <a:t>Tout le contenu du fichier nomModule.py est importé et chargé en mémoire</a:t>
            </a:r>
          </a:p>
          <a:p>
            <a:pPr lvl="1" algn="just" eaLnBrk="1" hangingPunct="1">
              <a:spcBef>
                <a:spcPts val="600"/>
              </a:spcBef>
              <a:buClr>
                <a:srgbClr val="336666"/>
              </a:buClr>
              <a:buFont typeface="Wingdings" pitchFamily="2" charset="2"/>
              <a:buChar char="§"/>
              <a:defRPr/>
            </a:pPr>
            <a:r>
              <a:rPr lang="fr-FR" dirty="0">
                <a:latin typeface="+mn-lt"/>
              </a:rPr>
              <a:t>Tout le module est dans le </a:t>
            </a:r>
            <a:r>
              <a:rPr lang="fr-FR" dirty="0" err="1">
                <a:latin typeface="+mn-lt"/>
              </a:rPr>
              <a:t>namespace</a:t>
            </a:r>
            <a:r>
              <a:rPr lang="fr-FR" dirty="0">
                <a:latin typeface="+mn-lt"/>
              </a:rPr>
              <a:t> courant, il est donc inutile de faire préfixé toutes les entités présentes dans le fichier par le nom du module</a:t>
            </a:r>
          </a:p>
          <a:p>
            <a:pPr lvl="1" algn="just" eaLnBrk="1" hangingPunct="1">
              <a:spcBef>
                <a:spcPts val="1800"/>
              </a:spcBef>
              <a:buClr>
                <a:srgbClr val="336666"/>
              </a:buClr>
              <a:buFont typeface="Wingdings" pitchFamily="2" charset="2"/>
              <a:buNone/>
              <a:defRPr/>
            </a:pPr>
            <a:r>
              <a:rPr lang="fr-FR" sz="800" dirty="0">
                <a:latin typeface="+mn-lt"/>
              </a:rPr>
              <a:t> </a:t>
            </a:r>
            <a:r>
              <a:rPr lang="fr-FR" b="1" dirty="0">
                <a:latin typeface="+mn-lt"/>
              </a:rPr>
              <a:t>Exemple:</a:t>
            </a:r>
          </a:p>
          <a:p>
            <a:pPr lvl="2" algn="just" eaLnBrk="1" hangingPunct="1">
              <a:spcBef>
                <a:spcPts val="600"/>
              </a:spcBef>
              <a:buClr>
                <a:srgbClr val="336666"/>
              </a:buClr>
              <a:buFont typeface="Wingdings" pitchFamily="2" charset="2"/>
              <a:buNone/>
              <a:defRPr/>
            </a:pPr>
            <a:r>
              <a:rPr lang="fr-FR" sz="800" dirty="0">
                <a:latin typeface="+mn-lt"/>
              </a:rPr>
              <a:t> </a:t>
            </a:r>
            <a:r>
              <a:rPr lang="fr-FR" b="1" dirty="0" err="1">
                <a:latin typeface="Courier New" pitchFamily="49" charset="0"/>
                <a:cs typeface="Courier New" pitchFamily="49" charset="0"/>
              </a:rPr>
              <a:t>from</a:t>
            </a:r>
            <a:r>
              <a:rPr lang="fr-FR" b="1" dirty="0">
                <a:latin typeface="Courier New" pitchFamily="49" charset="0"/>
                <a:cs typeface="Courier New" pitchFamily="49" charset="0"/>
              </a:rPr>
              <a:t> </a:t>
            </a:r>
            <a:r>
              <a:rPr lang="fr-FR" b="1" dirty="0" err="1">
                <a:latin typeface="Courier New" pitchFamily="49" charset="0"/>
                <a:cs typeface="Courier New" pitchFamily="49" charset="0"/>
              </a:rPr>
              <a:t>fib</a:t>
            </a:r>
            <a:r>
              <a:rPr lang="fr-FR" b="1" dirty="0">
                <a:latin typeface="Courier New" pitchFamily="49" charset="0"/>
                <a:cs typeface="Courier New" pitchFamily="49" charset="0"/>
              </a:rPr>
              <a:t> import *</a:t>
            </a:r>
          </a:p>
          <a:p>
            <a:pPr lvl="2" algn="just" eaLnBrk="1" hangingPunct="1">
              <a:spcBef>
                <a:spcPts val="600"/>
              </a:spcBef>
              <a:buClr>
                <a:srgbClr val="336666"/>
              </a:buClr>
              <a:buFont typeface="Wingdings" pitchFamily="2" charset="2"/>
              <a:buNone/>
              <a:defRPr/>
            </a:pPr>
            <a:r>
              <a:rPr lang="fr-FR" sz="800" b="1" dirty="0">
                <a:latin typeface="Courier New" pitchFamily="49" charset="0"/>
                <a:cs typeface="Courier New" pitchFamily="49" charset="0"/>
              </a:rPr>
              <a:t> </a:t>
            </a:r>
            <a:r>
              <a:rPr lang="fr-FR" b="1" dirty="0" err="1">
                <a:latin typeface="Courier New" pitchFamily="49" charset="0"/>
                <a:cs typeface="Courier New" pitchFamily="49" charset="0"/>
              </a:rPr>
              <a:t>fib</a:t>
            </a:r>
            <a:r>
              <a:rPr lang="fr-FR" b="1" dirty="0">
                <a:latin typeface="Courier New" pitchFamily="49" charset="0"/>
                <a:cs typeface="Courier New" pitchFamily="49" charset="0"/>
              </a:rPr>
              <a:t>(n)</a:t>
            </a:r>
          </a:p>
          <a:p>
            <a:pPr lvl="2" algn="just" eaLnBrk="1" hangingPunct="1">
              <a:spcBef>
                <a:spcPts val="600"/>
              </a:spcBef>
              <a:spcAft>
                <a:spcPts val="1800"/>
              </a:spcAft>
              <a:buClr>
                <a:srgbClr val="336666"/>
              </a:buClr>
              <a:buFont typeface="Wingdings" pitchFamily="2" charset="2"/>
              <a:buNone/>
              <a:defRPr/>
            </a:pPr>
            <a:r>
              <a:rPr lang="fr-FR" sz="800" b="1" dirty="0">
                <a:latin typeface="Courier New" pitchFamily="49" charset="0"/>
                <a:cs typeface="Courier New" pitchFamily="49" charset="0"/>
              </a:rPr>
              <a:t> </a:t>
            </a:r>
            <a:r>
              <a:rPr lang="fr-FR" b="1" dirty="0" err="1">
                <a:latin typeface="Courier New" pitchFamily="49" charset="0"/>
                <a:cs typeface="Courier New" pitchFamily="49" charset="0"/>
              </a:rPr>
              <a:t>fib_rec</a:t>
            </a:r>
            <a:r>
              <a:rPr lang="fr-FR" b="1" dirty="0">
                <a:latin typeface="Courier New" pitchFamily="49" charset="0"/>
                <a:cs typeface="Courier New" pitchFamily="49" charset="0"/>
              </a:rPr>
              <a:t>(n)</a:t>
            </a:r>
          </a:p>
          <a:p>
            <a:pPr lvl="1" algn="just" eaLnBrk="1" hangingPunct="1">
              <a:spcBef>
                <a:spcPts val="600"/>
              </a:spcBef>
              <a:buClr>
                <a:srgbClr val="336666"/>
              </a:buClr>
              <a:buFont typeface="Wingdings" pitchFamily="2" charset="2"/>
              <a:buNone/>
              <a:defRPr/>
            </a:pPr>
            <a:r>
              <a:rPr lang="fr-FR" sz="800" dirty="0">
                <a:solidFill>
                  <a:srgbClr val="008E40"/>
                </a:solidFill>
                <a:latin typeface="+mn-lt"/>
              </a:rPr>
              <a:t> </a:t>
            </a:r>
            <a:endParaRPr lang="fr-FR" dirty="0">
              <a:solidFill>
                <a:srgbClr val="008E40"/>
              </a:solidFill>
              <a:latin typeface="+mn-lt"/>
            </a:endParaRPr>
          </a:p>
        </p:txBody>
      </p:sp>
    </p:spTree>
    <p:custDataLst>
      <p:tags r:id="rId1"/>
    </p:custDataLst>
    <p:extLst>
      <p:ext uri="{BB962C8B-B14F-4D97-AF65-F5344CB8AC3E}">
        <p14:creationId xmlns:p14="http://schemas.microsoft.com/office/powerpoint/2010/main" val="1620973214"/>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checkerboard(across)">
                                      <p:cBhvr>
                                        <p:cTn id="7" dur="500"/>
                                        <p:tgtEl>
                                          <p:spTgt spid="7">
                                            <p:txEl>
                                              <p:pRg st="3" end="3"/>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7">
                                            <p:txEl>
                                              <p:pRg st="4" end="4"/>
                                            </p:txEl>
                                          </p:spTgt>
                                        </p:tgtEl>
                                        <p:attrNameLst>
                                          <p:attrName>style.visibility</p:attrName>
                                        </p:attrNameLst>
                                      </p:cBhvr>
                                      <p:to>
                                        <p:strVal val="visible"/>
                                      </p:to>
                                    </p:set>
                                    <p:animEffect transition="in" filter="checkerboard(across)">
                                      <p:cBhvr>
                                        <p:cTn id="10" dur="500"/>
                                        <p:tgtEl>
                                          <p:spTgt spid="7">
                                            <p:txEl>
                                              <p:pRg st="4" end="4"/>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7">
                                            <p:txEl>
                                              <p:pRg st="5" end="5"/>
                                            </p:txEl>
                                          </p:spTgt>
                                        </p:tgtEl>
                                        <p:attrNameLst>
                                          <p:attrName>style.visibility</p:attrName>
                                        </p:attrNameLst>
                                      </p:cBhvr>
                                      <p:to>
                                        <p:strVal val="visible"/>
                                      </p:to>
                                    </p:set>
                                    <p:animEffect transition="in" filter="checkerboard(across)">
                                      <p:cBhvr>
                                        <p:cTn id="13" dur="500"/>
                                        <p:tgtEl>
                                          <p:spTgt spid="7">
                                            <p:txEl>
                                              <p:pRg st="5" end="5"/>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7">
                                            <p:txEl>
                                              <p:pRg st="6" end="6"/>
                                            </p:txEl>
                                          </p:spTgt>
                                        </p:tgtEl>
                                        <p:attrNameLst>
                                          <p:attrName>style.visibility</p:attrName>
                                        </p:attrNameLst>
                                      </p:cBhvr>
                                      <p:to>
                                        <p:strVal val="visible"/>
                                      </p:to>
                                    </p:set>
                                    <p:animEffect transition="in" filter="checkerboard(across)">
                                      <p:cBhvr>
                                        <p:cTn id="16" dur="500"/>
                                        <p:tgtEl>
                                          <p:spTgt spid="7">
                                            <p:txEl>
                                              <p:pRg st="6" end="6"/>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 presetClass="entr" presetSubtype="10" fill="hold" nodeType="clickEffect">
                                  <p:stCondLst>
                                    <p:cond delay="0"/>
                                  </p:stCondLst>
                                  <p:childTnLst>
                                    <p:set>
                                      <p:cBhvr>
                                        <p:cTn id="20" dur="1" fill="hold">
                                          <p:stCondLst>
                                            <p:cond delay="0"/>
                                          </p:stCondLst>
                                        </p:cTn>
                                        <p:tgtEl>
                                          <p:spTgt spid="7">
                                            <p:txEl>
                                              <p:pRg st="7" end="7"/>
                                            </p:txEl>
                                          </p:spTgt>
                                        </p:tgtEl>
                                        <p:attrNameLst>
                                          <p:attrName>style.visibility</p:attrName>
                                        </p:attrNameLst>
                                      </p:cBhvr>
                                      <p:to>
                                        <p:strVal val="visible"/>
                                      </p:to>
                                    </p:set>
                                    <p:animEffect transition="in" filter="checkerboard(across)">
                                      <p:cBhvr>
                                        <p:cTn id="21"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Les modules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err="1">
                <a:latin typeface="+mj-lt"/>
              </a:rPr>
              <a:t>from</a:t>
            </a:r>
            <a:r>
              <a:rPr lang="fr-FR" sz="2400" b="1" dirty="0">
                <a:latin typeface="+mj-lt"/>
              </a:rPr>
              <a:t> … import …</a:t>
            </a:r>
          </a:p>
        </p:txBody>
      </p:sp>
      <p:cxnSp>
        <p:nvCxnSpPr>
          <p:cNvPr id="193541"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93542"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7" name="Rectangle 6"/>
          <p:cNvSpPr/>
          <p:nvPr/>
        </p:nvSpPr>
        <p:spPr>
          <a:xfrm>
            <a:off x="500063" y="1049338"/>
            <a:ext cx="7858125" cy="3231654"/>
          </a:xfrm>
          <a:prstGeom prst="rect">
            <a:avLst/>
          </a:prstGeom>
        </p:spPr>
        <p:txBody>
          <a:bodyPr>
            <a:spAutoFit/>
          </a:bodyPr>
          <a:lstStyle/>
          <a:p>
            <a:pPr eaLnBrk="1" hangingPunct="1">
              <a:spcBef>
                <a:spcPct val="50000"/>
              </a:spcBef>
              <a:buClr>
                <a:srgbClr val="336666"/>
              </a:buClr>
              <a:buFont typeface="Wingdings" pitchFamily="2" charset="2"/>
              <a:buNone/>
              <a:defRPr/>
            </a:pPr>
            <a:r>
              <a:rPr lang="fr-FR" dirty="0">
                <a:latin typeface="+mn-lt"/>
              </a:rPr>
              <a:t> </a:t>
            </a:r>
            <a:r>
              <a:rPr lang="fr-FR" b="1" dirty="0" err="1">
                <a:solidFill>
                  <a:srgbClr val="FF0000"/>
                </a:solidFill>
                <a:latin typeface="+mn-lt"/>
              </a:rPr>
              <a:t>from</a:t>
            </a:r>
            <a:r>
              <a:rPr lang="fr-FR" b="1" dirty="0">
                <a:solidFill>
                  <a:srgbClr val="FF0000"/>
                </a:solidFill>
                <a:latin typeface="+mn-lt"/>
              </a:rPr>
              <a:t> </a:t>
            </a:r>
            <a:r>
              <a:rPr lang="fr-FR" b="1" dirty="0" err="1">
                <a:solidFill>
                  <a:srgbClr val="FF0000"/>
                </a:solidFill>
                <a:latin typeface="+mn-lt"/>
              </a:rPr>
              <a:t>nomModule</a:t>
            </a:r>
            <a:r>
              <a:rPr lang="fr-FR" b="1" dirty="0">
                <a:solidFill>
                  <a:srgbClr val="FF0000"/>
                </a:solidFill>
                <a:latin typeface="+mn-lt"/>
              </a:rPr>
              <a:t> import item</a:t>
            </a:r>
          </a:p>
          <a:p>
            <a:pPr lvl="1" eaLnBrk="1" hangingPunct="1">
              <a:spcBef>
                <a:spcPct val="50000"/>
              </a:spcBef>
              <a:buClr>
                <a:srgbClr val="336666"/>
              </a:buClr>
              <a:buFont typeface="Wingdings" pitchFamily="2" charset="2"/>
              <a:buChar char="§"/>
              <a:defRPr/>
            </a:pPr>
            <a:r>
              <a:rPr lang="fr-FR" dirty="0">
                <a:latin typeface="+mn-lt"/>
              </a:rPr>
              <a:t> Seul l'élément item est importé du fichier nomModule.py.</a:t>
            </a:r>
          </a:p>
          <a:p>
            <a:pPr lvl="1" eaLnBrk="1" hangingPunct="1">
              <a:spcBef>
                <a:spcPct val="50000"/>
              </a:spcBef>
              <a:buClr>
                <a:srgbClr val="336666"/>
              </a:buClr>
              <a:buFont typeface="Wingdings" pitchFamily="2" charset="2"/>
              <a:buChar char="§"/>
              <a:defRPr/>
            </a:pPr>
            <a:r>
              <a:rPr lang="fr-FR" dirty="0">
                <a:latin typeface="+mn-lt"/>
              </a:rPr>
              <a:t>Comme dans le cas précédent il n'est pas nécessaire de faire préfixer le nom de cet item par le nom du module</a:t>
            </a:r>
          </a:p>
          <a:p>
            <a:pPr lvl="1" eaLnBrk="1" hangingPunct="1">
              <a:spcBef>
                <a:spcPct val="50000"/>
              </a:spcBef>
              <a:buClr>
                <a:srgbClr val="336666"/>
              </a:buClr>
              <a:buFont typeface="Wingdings" pitchFamily="2" charset="2"/>
              <a:buChar char="§"/>
              <a:defRPr/>
            </a:pPr>
            <a:r>
              <a:rPr lang="fr-FR" dirty="0" smtClean="0">
                <a:latin typeface="+mn-lt"/>
              </a:rPr>
              <a:t>présente </a:t>
            </a:r>
            <a:r>
              <a:rPr lang="fr-FR" dirty="0">
                <a:latin typeface="+mn-lt"/>
              </a:rPr>
              <a:t>dans le </a:t>
            </a:r>
            <a:r>
              <a:rPr lang="fr-FR" dirty="0" err="1">
                <a:latin typeface="+mn-lt"/>
              </a:rPr>
              <a:t>namespace</a:t>
            </a:r>
            <a:r>
              <a:rPr lang="fr-FR" dirty="0">
                <a:latin typeface="+mn-lt"/>
              </a:rPr>
              <a:t> courant.</a:t>
            </a:r>
          </a:p>
          <a:p>
            <a:pPr lvl="1" eaLnBrk="1" hangingPunct="1">
              <a:spcBef>
                <a:spcPts val="1800"/>
              </a:spcBef>
              <a:buClr>
                <a:srgbClr val="336666"/>
              </a:buClr>
              <a:buFont typeface="Wingdings" pitchFamily="2" charset="2"/>
              <a:buNone/>
              <a:defRPr/>
            </a:pPr>
            <a:r>
              <a:rPr lang="fr-FR" b="1" dirty="0">
                <a:latin typeface="+mn-lt"/>
              </a:rPr>
              <a:t> Exemple :</a:t>
            </a:r>
          </a:p>
          <a:p>
            <a:pPr lvl="2" eaLnBrk="1" hangingPunct="1">
              <a:spcBef>
                <a:spcPct val="50000"/>
              </a:spcBef>
              <a:buClr>
                <a:srgbClr val="336666"/>
              </a:buClr>
              <a:buFont typeface="Wingdings" pitchFamily="2" charset="2"/>
              <a:buNone/>
              <a:defRPr/>
            </a:pPr>
            <a:r>
              <a:rPr lang="fr-FR" b="1" dirty="0">
                <a:latin typeface="Courier New" pitchFamily="49" charset="0"/>
                <a:cs typeface="Courier New" pitchFamily="49" charset="0"/>
              </a:rPr>
              <a:t> </a:t>
            </a:r>
            <a:r>
              <a:rPr lang="fr-FR" b="1" dirty="0" err="1">
                <a:latin typeface="Courier New" pitchFamily="49" charset="0"/>
                <a:cs typeface="Courier New" pitchFamily="49" charset="0"/>
              </a:rPr>
              <a:t>from</a:t>
            </a:r>
            <a:r>
              <a:rPr lang="fr-FR" b="1" dirty="0">
                <a:latin typeface="Courier New" pitchFamily="49" charset="0"/>
                <a:cs typeface="Courier New" pitchFamily="49" charset="0"/>
              </a:rPr>
              <a:t> </a:t>
            </a:r>
            <a:r>
              <a:rPr lang="fr-FR" b="1" dirty="0" err="1">
                <a:latin typeface="Courier New" pitchFamily="49" charset="0"/>
                <a:cs typeface="Courier New" pitchFamily="49" charset="0"/>
              </a:rPr>
              <a:t>fib</a:t>
            </a:r>
            <a:r>
              <a:rPr lang="fr-FR" b="1" dirty="0">
                <a:latin typeface="Courier New" pitchFamily="49" charset="0"/>
                <a:cs typeface="Courier New" pitchFamily="49" charset="0"/>
              </a:rPr>
              <a:t> import </a:t>
            </a:r>
            <a:r>
              <a:rPr lang="fr-FR" b="1" dirty="0" err="1">
                <a:latin typeface="Courier New" pitchFamily="49" charset="0"/>
                <a:cs typeface="Courier New" pitchFamily="49" charset="0"/>
              </a:rPr>
              <a:t>fib</a:t>
            </a:r>
            <a:endParaRPr lang="fr-FR" b="1" dirty="0">
              <a:latin typeface="Courier New" pitchFamily="49" charset="0"/>
              <a:cs typeface="Courier New" pitchFamily="49" charset="0"/>
            </a:endParaRPr>
          </a:p>
          <a:p>
            <a:pPr lvl="2" eaLnBrk="1" hangingPunct="1">
              <a:spcBef>
                <a:spcPct val="50000"/>
              </a:spcBef>
              <a:buClr>
                <a:srgbClr val="336666"/>
              </a:buClr>
              <a:buFont typeface="Wingdings" pitchFamily="2" charset="2"/>
              <a:buNone/>
              <a:defRPr/>
            </a:pPr>
            <a:r>
              <a:rPr lang="fr-FR" b="1" dirty="0">
                <a:latin typeface="Courier New" pitchFamily="49" charset="0"/>
                <a:cs typeface="Courier New" pitchFamily="49" charset="0"/>
              </a:rPr>
              <a:t> </a:t>
            </a:r>
            <a:r>
              <a:rPr lang="fr-FR" b="1" dirty="0" err="1">
                <a:latin typeface="Courier New" pitchFamily="49" charset="0"/>
                <a:cs typeface="Courier New" pitchFamily="49" charset="0"/>
              </a:rPr>
              <a:t>fib</a:t>
            </a:r>
            <a:r>
              <a:rPr lang="fr-FR" b="1" dirty="0">
                <a:latin typeface="Courier New" pitchFamily="49" charset="0"/>
                <a:cs typeface="Courier New" pitchFamily="49" charset="0"/>
              </a:rPr>
              <a:t>(n)</a:t>
            </a:r>
          </a:p>
        </p:txBody>
      </p:sp>
    </p:spTree>
    <p:custDataLst>
      <p:tags r:id="rId1"/>
    </p:custDataLst>
    <p:extLst>
      <p:ext uri="{BB962C8B-B14F-4D97-AF65-F5344CB8AC3E}">
        <p14:creationId xmlns:p14="http://schemas.microsoft.com/office/powerpoint/2010/main" val="1969725525"/>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animEffect transition="in" filter="checkerboard(across)">
                                      <p:cBhvr>
                                        <p:cTn id="7" dur="500"/>
                                        <p:tgtEl>
                                          <p:spTgt spid="7">
                                            <p:txEl>
                                              <p:pRg st="4" end="4"/>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7">
                                            <p:txEl>
                                              <p:pRg st="5" end="5"/>
                                            </p:txEl>
                                          </p:spTgt>
                                        </p:tgtEl>
                                        <p:attrNameLst>
                                          <p:attrName>style.visibility</p:attrName>
                                        </p:attrNameLst>
                                      </p:cBhvr>
                                      <p:to>
                                        <p:strVal val="visible"/>
                                      </p:to>
                                    </p:set>
                                    <p:animEffect transition="in" filter="checkerboard(across)">
                                      <p:cBhvr>
                                        <p:cTn id="10" dur="500"/>
                                        <p:tgtEl>
                                          <p:spTgt spid="7">
                                            <p:txEl>
                                              <p:pRg st="5" end="5"/>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7">
                                            <p:txEl>
                                              <p:pRg st="6" end="6"/>
                                            </p:txEl>
                                          </p:spTgt>
                                        </p:tgtEl>
                                        <p:attrNameLst>
                                          <p:attrName>style.visibility</p:attrName>
                                        </p:attrNameLst>
                                      </p:cBhvr>
                                      <p:to>
                                        <p:strVal val="visible"/>
                                      </p:to>
                                    </p:set>
                                    <p:animEffect transition="in" filter="checkerboard(across)">
                                      <p:cBhvr>
                                        <p:cTn id="13"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Les modules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Exemple</a:t>
            </a:r>
          </a:p>
        </p:txBody>
      </p:sp>
      <p:cxnSp>
        <p:nvCxnSpPr>
          <p:cNvPr id="194565"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94566"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9" name="Rectangle à coins arrondis 8"/>
          <p:cNvSpPr/>
          <p:nvPr/>
        </p:nvSpPr>
        <p:spPr>
          <a:xfrm>
            <a:off x="500063" y="1062038"/>
            <a:ext cx="7358062" cy="1938337"/>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lvl="1" eaLnBrk="1" hangingPunct="1">
              <a:spcBef>
                <a:spcPts val="600"/>
              </a:spcBef>
              <a:buClr>
                <a:srgbClr val="336666"/>
              </a:buClr>
              <a:buFont typeface="Wingdings" pitchFamily="2" charset="2"/>
              <a:buNone/>
              <a:defRPr/>
            </a:pPr>
            <a:r>
              <a:rPr lang="ro-RO" b="1" i="1" dirty="0">
                <a:solidFill>
                  <a:schemeClr val="tx1">
                    <a:lumMod val="50000"/>
                    <a:lumOff val="50000"/>
                  </a:schemeClr>
                </a:solidFill>
                <a:latin typeface="Courier New"/>
                <a:cs typeface="Courier New"/>
              </a:rPr>
              <a:t># le module exemple</a:t>
            </a:r>
          </a:p>
          <a:p>
            <a:pPr lvl="1" eaLnBrk="1" hangingPunct="1">
              <a:spcBef>
                <a:spcPts val="600"/>
              </a:spcBef>
              <a:buClr>
                <a:srgbClr val="336666"/>
              </a:buClr>
              <a:buFont typeface="Wingdings" pitchFamily="2" charset="2"/>
              <a:buNone/>
              <a:defRPr/>
            </a:pPr>
            <a:r>
              <a:rPr lang="ro-RO" b="1" dirty="0">
                <a:solidFill>
                  <a:srgbClr val="0000FF"/>
                </a:solidFill>
                <a:latin typeface="Courier New"/>
                <a:cs typeface="Courier New"/>
              </a:rPr>
              <a:t>def </a:t>
            </a:r>
            <a:r>
              <a:rPr lang="ro-RO" b="1" dirty="0">
                <a:solidFill>
                  <a:schemeClr val="tx1"/>
                </a:solidFill>
                <a:latin typeface="Courier New"/>
                <a:cs typeface="Courier New"/>
              </a:rPr>
              <a:t>doubler(x):</a:t>
            </a:r>
          </a:p>
          <a:p>
            <a:pPr lvl="1" eaLnBrk="1" hangingPunct="1">
              <a:spcBef>
                <a:spcPts val="600"/>
              </a:spcBef>
              <a:buClr>
                <a:srgbClr val="336666"/>
              </a:buClr>
              <a:buFont typeface="Wingdings" pitchFamily="2" charset="2"/>
              <a:buNone/>
              <a:defRPr/>
            </a:pPr>
            <a:r>
              <a:rPr lang="ro-RO" b="1" dirty="0">
                <a:solidFill>
                  <a:schemeClr val="tx1"/>
                </a:solidFill>
                <a:latin typeface="Courier New"/>
                <a:cs typeface="Courier New"/>
              </a:rPr>
              <a:t>    return </a:t>
            </a:r>
            <a:r>
              <a:rPr lang="ro-RO" b="1" dirty="0">
                <a:solidFill>
                  <a:srgbClr val="3366FF"/>
                </a:solidFill>
                <a:latin typeface="Courier New"/>
                <a:cs typeface="Courier New"/>
              </a:rPr>
              <a:t>2</a:t>
            </a:r>
            <a:r>
              <a:rPr lang="ro-RO" b="1" dirty="0">
                <a:solidFill>
                  <a:schemeClr val="tx1"/>
                </a:solidFill>
                <a:latin typeface="Courier New"/>
                <a:cs typeface="Courier New"/>
              </a:rPr>
              <a:t>*x</a:t>
            </a:r>
          </a:p>
          <a:p>
            <a:pPr lvl="1" eaLnBrk="1" hangingPunct="1">
              <a:spcBef>
                <a:spcPts val="1200"/>
              </a:spcBef>
              <a:buClr>
                <a:srgbClr val="336666"/>
              </a:buClr>
              <a:buFont typeface="Wingdings" pitchFamily="2" charset="2"/>
              <a:buNone/>
              <a:defRPr/>
            </a:pPr>
            <a:r>
              <a:rPr lang="ro-RO" b="1" dirty="0">
                <a:solidFill>
                  <a:srgbClr val="0000FF"/>
                </a:solidFill>
                <a:latin typeface="Courier New"/>
                <a:cs typeface="Courier New"/>
              </a:rPr>
              <a:t>def </a:t>
            </a:r>
            <a:r>
              <a:rPr lang="ro-RO" b="1" dirty="0">
                <a:solidFill>
                  <a:srgbClr val="000000"/>
                </a:solidFill>
                <a:latin typeface="Courier New"/>
                <a:cs typeface="Courier New"/>
              </a:rPr>
              <a:t>tripler(x):</a:t>
            </a:r>
          </a:p>
          <a:p>
            <a:pPr lvl="1" eaLnBrk="1" hangingPunct="1">
              <a:spcBef>
                <a:spcPts val="600"/>
              </a:spcBef>
              <a:buClr>
                <a:srgbClr val="336666"/>
              </a:buClr>
              <a:buFont typeface="Wingdings" pitchFamily="2" charset="2"/>
              <a:buNone/>
              <a:defRPr/>
            </a:pPr>
            <a:r>
              <a:rPr lang="ro-RO" b="1" dirty="0">
                <a:solidFill>
                  <a:srgbClr val="000000"/>
                </a:solidFill>
                <a:latin typeface="Courier New"/>
                <a:cs typeface="Courier New"/>
              </a:rPr>
              <a:t>    return </a:t>
            </a:r>
            <a:r>
              <a:rPr lang="ro-RO" b="1" dirty="0">
                <a:solidFill>
                  <a:srgbClr val="3366FF"/>
                </a:solidFill>
                <a:latin typeface="Courier New"/>
                <a:cs typeface="Courier New"/>
              </a:rPr>
              <a:t>3</a:t>
            </a:r>
            <a:r>
              <a:rPr lang="ro-RO" b="1" dirty="0">
                <a:solidFill>
                  <a:srgbClr val="000000"/>
                </a:solidFill>
                <a:latin typeface="Courier New"/>
                <a:cs typeface="Courier New"/>
              </a:rPr>
              <a:t>*x</a:t>
            </a:r>
            <a:endParaRPr lang="fr-FR" b="1" dirty="0">
              <a:solidFill>
                <a:srgbClr val="000000"/>
              </a:solidFill>
              <a:latin typeface="Courier New"/>
              <a:cs typeface="Courier New"/>
            </a:endParaRPr>
          </a:p>
        </p:txBody>
      </p:sp>
      <p:sp>
        <p:nvSpPr>
          <p:cNvPr id="10" name="Rectangle à coins arrondis 9"/>
          <p:cNvSpPr/>
          <p:nvPr/>
        </p:nvSpPr>
        <p:spPr>
          <a:xfrm>
            <a:off x="857250" y="3286125"/>
            <a:ext cx="5464175" cy="107950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lvl="1" eaLnBrk="1" hangingPunct="1">
              <a:spcBef>
                <a:spcPct val="50000"/>
              </a:spcBef>
              <a:buClr>
                <a:srgbClr val="336666"/>
              </a:buClr>
              <a:buFont typeface="Wingdings" pitchFamily="2" charset="2"/>
              <a:buNone/>
              <a:defRPr/>
            </a:pPr>
            <a:r>
              <a:rPr lang="ro-RO" b="1" dirty="0">
                <a:solidFill>
                  <a:srgbClr val="0000FF"/>
                </a:solidFill>
                <a:latin typeface="Courier New"/>
                <a:cs typeface="Courier New"/>
              </a:rPr>
              <a:t>from </a:t>
            </a:r>
            <a:r>
              <a:rPr lang="ro-RO" b="1" dirty="0">
                <a:solidFill>
                  <a:schemeClr val="tx1"/>
                </a:solidFill>
                <a:latin typeface="Courier New"/>
                <a:cs typeface="Courier New"/>
              </a:rPr>
              <a:t>exemple </a:t>
            </a:r>
            <a:r>
              <a:rPr lang="ro-RO" b="1" dirty="0">
                <a:solidFill>
                  <a:srgbClr val="0000FF"/>
                </a:solidFill>
                <a:latin typeface="Courier New"/>
                <a:cs typeface="Courier New"/>
              </a:rPr>
              <a:t>import</a:t>
            </a:r>
            <a:r>
              <a:rPr lang="ro-RO" b="1" dirty="0">
                <a:solidFill>
                  <a:schemeClr val="tx1"/>
                </a:solidFill>
                <a:latin typeface="Courier New"/>
                <a:cs typeface="Courier New"/>
              </a:rPr>
              <a:t> *</a:t>
            </a:r>
          </a:p>
          <a:p>
            <a:pPr lvl="1" eaLnBrk="1" hangingPunct="1">
              <a:spcBef>
                <a:spcPct val="50000"/>
              </a:spcBef>
              <a:buClr>
                <a:srgbClr val="336666"/>
              </a:buClr>
              <a:buFont typeface="Wingdings" pitchFamily="2" charset="2"/>
              <a:buNone/>
              <a:defRPr/>
            </a:pPr>
            <a:r>
              <a:rPr lang="ro-RO" b="1" dirty="0">
                <a:solidFill>
                  <a:srgbClr val="3366FF"/>
                </a:solidFill>
                <a:latin typeface="Courier New"/>
                <a:cs typeface="Courier New"/>
              </a:rPr>
              <a:t>print</a:t>
            </a:r>
            <a:r>
              <a:rPr lang="ro-RO" b="1" dirty="0">
                <a:solidFill>
                  <a:schemeClr val="tx1"/>
                </a:solidFill>
                <a:latin typeface="Courier New"/>
                <a:cs typeface="Courier New"/>
              </a:rPr>
              <a:t>(tripler(</a:t>
            </a:r>
            <a:r>
              <a:rPr lang="ro-RO" b="1" dirty="0">
                <a:solidFill>
                  <a:srgbClr val="3366FF"/>
                </a:solidFill>
                <a:latin typeface="Courier New"/>
                <a:cs typeface="Courier New"/>
              </a:rPr>
              <a:t>12</a:t>
            </a:r>
            <a:r>
              <a:rPr lang="ro-RO" b="1" dirty="0">
                <a:solidFill>
                  <a:schemeClr val="tx1"/>
                </a:solidFill>
                <a:latin typeface="Courier New"/>
                <a:cs typeface="Courier New"/>
              </a:rPr>
              <a:t>))</a:t>
            </a:r>
          </a:p>
        </p:txBody>
      </p:sp>
      <p:sp>
        <p:nvSpPr>
          <p:cNvPr id="11" name="Rectangle à coins arrondis 10"/>
          <p:cNvSpPr/>
          <p:nvPr/>
        </p:nvSpPr>
        <p:spPr>
          <a:xfrm>
            <a:off x="685800" y="4492625"/>
            <a:ext cx="5607050" cy="107950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lvl="1" eaLnBrk="1" hangingPunct="1">
              <a:spcBef>
                <a:spcPct val="50000"/>
              </a:spcBef>
              <a:buClr>
                <a:srgbClr val="336666"/>
              </a:buClr>
              <a:buFont typeface="Wingdings" pitchFamily="2" charset="2"/>
              <a:buNone/>
              <a:defRPr/>
            </a:pPr>
            <a:r>
              <a:rPr lang="ro-RO" b="1" dirty="0">
                <a:solidFill>
                  <a:srgbClr val="0000FF"/>
                </a:solidFill>
                <a:latin typeface="Courier New"/>
                <a:cs typeface="Courier New"/>
              </a:rPr>
              <a:t>from </a:t>
            </a:r>
            <a:r>
              <a:rPr lang="ro-RO" b="1" dirty="0">
                <a:solidFill>
                  <a:schemeClr val="tx1"/>
                </a:solidFill>
                <a:latin typeface="Courier New"/>
                <a:cs typeface="Courier New"/>
              </a:rPr>
              <a:t>exemple</a:t>
            </a:r>
            <a:r>
              <a:rPr lang="ro-RO" b="1" dirty="0">
                <a:solidFill>
                  <a:srgbClr val="0000FF"/>
                </a:solidFill>
                <a:latin typeface="Courier New"/>
                <a:cs typeface="Courier New"/>
              </a:rPr>
              <a:t> import </a:t>
            </a:r>
            <a:r>
              <a:rPr lang="ro-RO" b="1" dirty="0">
                <a:solidFill>
                  <a:srgbClr val="000000"/>
                </a:solidFill>
                <a:latin typeface="Courier New"/>
                <a:cs typeface="Courier New"/>
              </a:rPr>
              <a:t>doubler</a:t>
            </a:r>
          </a:p>
          <a:p>
            <a:pPr lvl="1" eaLnBrk="1" hangingPunct="1">
              <a:spcBef>
                <a:spcPct val="50000"/>
              </a:spcBef>
              <a:buClr>
                <a:srgbClr val="336666"/>
              </a:buClr>
              <a:buFont typeface="Wingdings" pitchFamily="2" charset="2"/>
              <a:buNone/>
              <a:defRPr/>
            </a:pPr>
            <a:r>
              <a:rPr lang="ro-RO" b="1" dirty="0">
                <a:solidFill>
                  <a:srgbClr val="3366FF"/>
                </a:solidFill>
                <a:latin typeface="Courier New"/>
                <a:cs typeface="Courier New"/>
              </a:rPr>
              <a:t>print</a:t>
            </a:r>
            <a:r>
              <a:rPr lang="ro-RO" b="1" dirty="0">
                <a:solidFill>
                  <a:srgbClr val="000000"/>
                </a:solidFill>
                <a:latin typeface="Courier New"/>
                <a:cs typeface="Courier New"/>
              </a:rPr>
              <a:t>(doubler(</a:t>
            </a:r>
            <a:r>
              <a:rPr lang="ro-RO" b="1" dirty="0">
                <a:solidFill>
                  <a:srgbClr val="3366FF"/>
                </a:solidFill>
                <a:latin typeface="Courier New"/>
                <a:cs typeface="Courier New"/>
              </a:rPr>
              <a:t>12</a:t>
            </a:r>
            <a:r>
              <a:rPr lang="ro-RO" b="1" dirty="0">
                <a:solidFill>
                  <a:srgbClr val="000000"/>
                </a:solidFill>
                <a:latin typeface="Courier New"/>
                <a:cs typeface="Courier New"/>
              </a:rPr>
              <a:t>))</a:t>
            </a:r>
          </a:p>
        </p:txBody>
      </p:sp>
      <p:pic>
        <p:nvPicPr>
          <p:cNvPr id="139274" name="Image 1" descr="Image 8.png"/>
          <p:cNvPicPr>
            <a:picLocks noChangeAspect="1"/>
          </p:cNvPicPr>
          <p:nvPr/>
        </p:nvPicPr>
        <p:blipFill>
          <a:blip r:embed="rId4"/>
          <a:srcRect/>
          <a:stretch>
            <a:fillRect/>
          </a:stretch>
        </p:blipFill>
        <p:spPr bwMode="auto">
          <a:xfrm>
            <a:off x="8056563" y="3563938"/>
            <a:ext cx="254000" cy="241300"/>
          </a:xfrm>
          <a:prstGeom prst="rect">
            <a:avLst/>
          </a:prstGeom>
          <a:noFill/>
          <a:ln w="9525">
            <a:solidFill>
              <a:srgbClr val="000000"/>
            </a:solidFill>
            <a:miter lim="800000"/>
            <a:headEnd/>
            <a:tailEnd/>
          </a:ln>
        </p:spPr>
      </p:pic>
      <p:pic>
        <p:nvPicPr>
          <p:cNvPr id="139275" name="Image 2" descr="Image 7.png"/>
          <p:cNvPicPr>
            <a:picLocks noChangeAspect="1"/>
          </p:cNvPicPr>
          <p:nvPr/>
        </p:nvPicPr>
        <p:blipFill>
          <a:blip r:embed="rId5"/>
          <a:srcRect/>
          <a:stretch>
            <a:fillRect/>
          </a:stretch>
        </p:blipFill>
        <p:spPr bwMode="auto">
          <a:xfrm>
            <a:off x="8091488" y="4876800"/>
            <a:ext cx="266700" cy="254000"/>
          </a:xfrm>
          <a:prstGeom prst="rect">
            <a:avLst/>
          </a:prstGeom>
          <a:noFill/>
          <a:ln w="9525">
            <a:solidFill>
              <a:srgbClr val="000000"/>
            </a:solidFill>
            <a:miter lim="800000"/>
            <a:headEnd/>
            <a:tailEnd/>
          </a:ln>
        </p:spPr>
      </p:pic>
      <p:cxnSp>
        <p:nvCxnSpPr>
          <p:cNvPr id="14" name="Connecteur droit avec flèche 13"/>
          <p:cNvCxnSpPr>
            <a:cxnSpLocks noChangeShapeType="1"/>
          </p:cNvCxnSpPr>
          <p:nvPr/>
        </p:nvCxnSpPr>
        <p:spPr bwMode="auto">
          <a:xfrm>
            <a:off x="6435725" y="4986338"/>
            <a:ext cx="1295400" cy="0"/>
          </a:xfrm>
          <a:prstGeom prst="straightConnector1">
            <a:avLst/>
          </a:prstGeom>
          <a:noFill/>
          <a:ln w="38100">
            <a:solidFill>
              <a:srgbClr val="FF0000"/>
            </a:solidFill>
            <a:round/>
            <a:headEnd/>
            <a:tailEnd type="arrow" w="med" len="med"/>
          </a:ln>
          <a:effectLst>
            <a:outerShdw dist="20000" dir="5400000" rotWithShape="0">
              <a:srgbClr val="808080">
                <a:alpha val="37999"/>
              </a:srgbClr>
            </a:outerShdw>
          </a:effectLst>
        </p:spPr>
      </p:cxnSp>
      <p:cxnSp>
        <p:nvCxnSpPr>
          <p:cNvPr id="15" name="Connecteur droit avec flèche 14"/>
          <p:cNvCxnSpPr>
            <a:cxnSpLocks noChangeShapeType="1"/>
          </p:cNvCxnSpPr>
          <p:nvPr/>
        </p:nvCxnSpPr>
        <p:spPr bwMode="auto">
          <a:xfrm>
            <a:off x="6400800" y="3706813"/>
            <a:ext cx="1295400" cy="0"/>
          </a:xfrm>
          <a:prstGeom prst="straightConnector1">
            <a:avLst/>
          </a:prstGeom>
          <a:noFill/>
          <a:ln w="38100">
            <a:solidFill>
              <a:srgbClr val="FF0000"/>
            </a:solidFill>
            <a:round/>
            <a:headEnd/>
            <a:tailEnd type="arrow" w="med" len="med"/>
          </a:ln>
          <a:effectLst>
            <a:outerShdw dist="20000" dir="5400000" rotWithShape="0">
              <a:srgbClr val="808080">
                <a:alpha val="37999"/>
              </a:srgbClr>
            </a:outerShdw>
          </a:effectLst>
        </p:spPr>
      </p:cxnSp>
      <p:sp>
        <p:nvSpPr>
          <p:cNvPr id="16" name="Rectangle à coins arrondis 15"/>
          <p:cNvSpPr/>
          <p:nvPr/>
        </p:nvSpPr>
        <p:spPr>
          <a:xfrm>
            <a:off x="714375" y="5707063"/>
            <a:ext cx="5572125" cy="107950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lvl="1" eaLnBrk="1" hangingPunct="1">
              <a:spcBef>
                <a:spcPct val="50000"/>
              </a:spcBef>
              <a:buClr>
                <a:srgbClr val="336666"/>
              </a:buClr>
              <a:buFont typeface="Wingdings" pitchFamily="2" charset="2"/>
              <a:buNone/>
              <a:defRPr/>
            </a:pPr>
            <a:r>
              <a:rPr lang="ro-RO" b="1" dirty="0">
                <a:solidFill>
                  <a:srgbClr val="0000FF"/>
                </a:solidFill>
                <a:latin typeface="Courier New"/>
                <a:cs typeface="Courier New"/>
              </a:rPr>
              <a:t>import </a:t>
            </a:r>
            <a:r>
              <a:rPr lang="ro-RO" b="1" dirty="0">
                <a:solidFill>
                  <a:schemeClr val="tx1"/>
                </a:solidFill>
                <a:latin typeface="Courier New"/>
                <a:cs typeface="Courier New"/>
              </a:rPr>
              <a:t>exemple</a:t>
            </a:r>
          </a:p>
          <a:p>
            <a:pPr lvl="1" eaLnBrk="1" hangingPunct="1">
              <a:spcBef>
                <a:spcPct val="50000"/>
              </a:spcBef>
              <a:buClr>
                <a:srgbClr val="336666"/>
              </a:buClr>
              <a:buFont typeface="Wingdings" pitchFamily="2" charset="2"/>
              <a:buNone/>
              <a:defRPr/>
            </a:pPr>
            <a:r>
              <a:rPr lang="ro-RO" b="1" dirty="0">
                <a:solidFill>
                  <a:srgbClr val="3366FF"/>
                </a:solidFill>
                <a:latin typeface="Courier New"/>
                <a:cs typeface="Courier New"/>
              </a:rPr>
              <a:t>print</a:t>
            </a:r>
            <a:r>
              <a:rPr lang="ro-RO" b="1" dirty="0">
                <a:solidFill>
                  <a:schemeClr val="tx1"/>
                </a:solidFill>
                <a:latin typeface="Courier New"/>
                <a:cs typeface="Courier New"/>
              </a:rPr>
              <a:t>(exemple.tripler(</a:t>
            </a:r>
            <a:r>
              <a:rPr lang="ro-RO" b="1" dirty="0">
                <a:solidFill>
                  <a:srgbClr val="3366FF"/>
                </a:solidFill>
                <a:latin typeface="Courier New"/>
                <a:cs typeface="Courier New"/>
              </a:rPr>
              <a:t>12</a:t>
            </a:r>
            <a:r>
              <a:rPr lang="ro-RO" b="1" dirty="0">
                <a:solidFill>
                  <a:schemeClr val="tx1"/>
                </a:solidFill>
                <a:latin typeface="Courier New"/>
                <a:cs typeface="Courier New"/>
              </a:rPr>
              <a:t>))</a:t>
            </a:r>
          </a:p>
        </p:txBody>
      </p:sp>
      <p:cxnSp>
        <p:nvCxnSpPr>
          <p:cNvPr id="17" name="Connecteur droit avec flèche 16"/>
          <p:cNvCxnSpPr>
            <a:cxnSpLocks noChangeShapeType="1"/>
          </p:cNvCxnSpPr>
          <p:nvPr/>
        </p:nvCxnSpPr>
        <p:spPr bwMode="auto">
          <a:xfrm>
            <a:off x="6448425" y="6261100"/>
            <a:ext cx="1295400" cy="0"/>
          </a:xfrm>
          <a:prstGeom prst="straightConnector1">
            <a:avLst/>
          </a:prstGeom>
          <a:noFill/>
          <a:ln w="38100">
            <a:solidFill>
              <a:srgbClr val="FF0000"/>
            </a:solidFill>
            <a:round/>
            <a:headEnd/>
            <a:tailEnd type="arrow" w="med" len="med"/>
          </a:ln>
          <a:effectLst>
            <a:outerShdw dist="20000" dir="5400000" rotWithShape="0">
              <a:srgbClr val="808080">
                <a:alpha val="37999"/>
              </a:srgbClr>
            </a:outerShdw>
          </a:effectLst>
        </p:spPr>
      </p:cxnSp>
      <p:pic>
        <p:nvPicPr>
          <p:cNvPr id="139280" name="Image 7" descr="Image 8.png"/>
          <p:cNvPicPr>
            <a:picLocks noChangeAspect="1"/>
          </p:cNvPicPr>
          <p:nvPr/>
        </p:nvPicPr>
        <p:blipFill>
          <a:blip r:embed="rId4"/>
          <a:srcRect/>
          <a:stretch>
            <a:fillRect/>
          </a:stretch>
        </p:blipFill>
        <p:spPr bwMode="auto">
          <a:xfrm>
            <a:off x="8104188" y="6116638"/>
            <a:ext cx="254000" cy="241300"/>
          </a:xfrm>
          <a:prstGeom prst="rect">
            <a:avLst/>
          </a:prstGeom>
          <a:noFill/>
          <a:ln w="9525">
            <a:solidFill>
              <a:srgbClr val="000000"/>
            </a:solidFill>
            <a:miter lim="800000"/>
            <a:headEnd/>
            <a:tailEnd/>
          </a:ln>
        </p:spPr>
      </p:pic>
    </p:spTree>
    <p:custDataLst>
      <p:tags r:id="rId1"/>
    </p:custDataLst>
    <p:extLst>
      <p:ext uri="{BB962C8B-B14F-4D97-AF65-F5344CB8AC3E}">
        <p14:creationId xmlns:p14="http://schemas.microsoft.com/office/powerpoint/2010/main" val="1375111356"/>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heckerboard(across)">
                                      <p:cBhvr>
                                        <p:cTn id="7" dur="500"/>
                                        <p:tgtEl>
                                          <p:spTgt spid="10"/>
                                        </p:tgtEl>
                                      </p:cBhvr>
                                    </p:animEffect>
                                  </p:childTnLst>
                                </p:cTn>
                              </p:par>
                              <p:par>
                                <p:cTn id="8" presetID="5" presetClass="entr" presetSubtype="1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checkerboard(across)">
                                      <p:cBhvr>
                                        <p:cTn id="10" dur="500"/>
                                        <p:tgtEl>
                                          <p:spTgt spid="15"/>
                                        </p:tgtEl>
                                      </p:cBhvr>
                                    </p:animEffect>
                                  </p:childTnLst>
                                </p:cTn>
                              </p:par>
                              <p:par>
                                <p:cTn id="11" presetID="5" presetClass="entr" presetSubtype="10" fill="hold" nodeType="withEffect">
                                  <p:stCondLst>
                                    <p:cond delay="0"/>
                                  </p:stCondLst>
                                  <p:childTnLst>
                                    <p:set>
                                      <p:cBhvr>
                                        <p:cTn id="12" dur="1" fill="hold">
                                          <p:stCondLst>
                                            <p:cond delay="0"/>
                                          </p:stCondLst>
                                        </p:cTn>
                                        <p:tgtEl>
                                          <p:spTgt spid="139274"/>
                                        </p:tgtEl>
                                        <p:attrNameLst>
                                          <p:attrName>style.visibility</p:attrName>
                                        </p:attrNameLst>
                                      </p:cBhvr>
                                      <p:to>
                                        <p:strVal val="visible"/>
                                      </p:to>
                                    </p:set>
                                    <p:animEffect transition="in" filter="checkerboard(across)">
                                      <p:cBhvr>
                                        <p:cTn id="13" dur="500"/>
                                        <p:tgtEl>
                                          <p:spTgt spid="13927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10" fill="hold" nodeType="clickEffect">
                                  <p:stCondLst>
                                    <p:cond delay="0"/>
                                  </p:stCondLst>
                                  <p:childTnLst>
                                    <p:set>
                                      <p:cBhvr>
                                        <p:cTn id="17" dur="1" fill="hold">
                                          <p:stCondLst>
                                            <p:cond delay="0"/>
                                          </p:stCondLst>
                                        </p:cTn>
                                        <p:tgtEl>
                                          <p:spTgt spid="139275"/>
                                        </p:tgtEl>
                                        <p:attrNameLst>
                                          <p:attrName>style.visibility</p:attrName>
                                        </p:attrNameLst>
                                      </p:cBhvr>
                                      <p:to>
                                        <p:strVal val="visible"/>
                                      </p:to>
                                    </p:set>
                                    <p:animEffect transition="in" filter="checkerboard(across)">
                                      <p:cBhvr>
                                        <p:cTn id="18" dur="500"/>
                                        <p:tgtEl>
                                          <p:spTgt spid="139275"/>
                                        </p:tgtEl>
                                      </p:cBhvr>
                                    </p:animEffect>
                                  </p:childTnLst>
                                </p:cTn>
                              </p:par>
                              <p:par>
                                <p:cTn id="19" presetID="5" presetClass="entr" presetSubtype="1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checkerboard(across)">
                                      <p:cBhvr>
                                        <p:cTn id="21" dur="500"/>
                                        <p:tgtEl>
                                          <p:spTgt spid="14"/>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checkerboard(across)">
                                      <p:cBhvr>
                                        <p:cTn id="24" dur="500"/>
                                        <p:tgtEl>
                                          <p:spTgt spid="1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 presetClass="entr" presetSubtype="10" fill="hold" nodeType="clickEffect">
                                  <p:stCondLst>
                                    <p:cond delay="0"/>
                                  </p:stCondLst>
                                  <p:childTnLst>
                                    <p:set>
                                      <p:cBhvr>
                                        <p:cTn id="28" dur="1" fill="hold">
                                          <p:stCondLst>
                                            <p:cond delay="0"/>
                                          </p:stCondLst>
                                        </p:cTn>
                                        <p:tgtEl>
                                          <p:spTgt spid="139280"/>
                                        </p:tgtEl>
                                        <p:attrNameLst>
                                          <p:attrName>style.visibility</p:attrName>
                                        </p:attrNameLst>
                                      </p:cBhvr>
                                      <p:to>
                                        <p:strVal val="visible"/>
                                      </p:to>
                                    </p:set>
                                    <p:animEffect transition="in" filter="checkerboard(across)">
                                      <p:cBhvr>
                                        <p:cTn id="29" dur="500"/>
                                        <p:tgtEl>
                                          <p:spTgt spid="139280"/>
                                        </p:tgtEl>
                                      </p:cBhvr>
                                    </p:animEffect>
                                  </p:childTnLst>
                                </p:cTn>
                              </p:par>
                              <p:par>
                                <p:cTn id="30" presetID="5" presetClass="entr" presetSubtype="1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checkerboard(across)">
                                      <p:cBhvr>
                                        <p:cTn id="32" dur="500"/>
                                        <p:tgtEl>
                                          <p:spTgt spid="17"/>
                                        </p:tgtEl>
                                      </p:cBhvr>
                                    </p:animEffect>
                                  </p:childTnLst>
                                </p:cTn>
                              </p:par>
                              <p:par>
                                <p:cTn id="33" presetID="5" presetClass="entr" presetSubtype="1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checkerboard(across)">
                                      <p:cBhvr>
                                        <p:cTn id="3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Les modules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Liste non exhaustive de modules (</a:t>
            </a:r>
            <a:r>
              <a:rPr lang="fr-FR" sz="2400" b="1" dirty="0" smtClean="0">
                <a:solidFill>
                  <a:srgbClr val="FF0000"/>
                </a:solidFill>
                <a:latin typeface="+mj-lt"/>
              </a:rPr>
              <a:t>librairies</a:t>
            </a:r>
            <a:r>
              <a:rPr lang="fr-FR" sz="2400" b="1" dirty="0" smtClean="0">
                <a:latin typeface="+mj-lt"/>
              </a:rPr>
              <a:t>) </a:t>
            </a:r>
            <a:r>
              <a:rPr lang="fr-FR" sz="2400" b="1" dirty="0">
                <a:latin typeface="+mj-lt"/>
              </a:rPr>
              <a:t>Python</a:t>
            </a:r>
          </a:p>
        </p:txBody>
      </p:sp>
      <p:graphicFrame>
        <p:nvGraphicFramePr>
          <p:cNvPr id="2" name="Tableau 1"/>
          <p:cNvGraphicFramePr>
            <a:graphicFrameLocks noGrp="1"/>
          </p:cNvGraphicFramePr>
          <p:nvPr>
            <p:extLst>
              <p:ext uri="{D42A27DB-BD31-4B8C-83A1-F6EECF244321}">
                <p14:modId xmlns:p14="http://schemas.microsoft.com/office/powerpoint/2010/main" val="891347258"/>
              </p:ext>
            </p:extLst>
          </p:nvPr>
        </p:nvGraphicFramePr>
        <p:xfrm>
          <a:off x="755470" y="1163188"/>
          <a:ext cx="8209140" cy="5490704"/>
        </p:xfrm>
        <a:graphic>
          <a:graphicData uri="http://schemas.openxmlformats.org/drawingml/2006/table">
            <a:tbl>
              <a:tblPr firstRow="1" bandRow="1">
                <a:tableStyleId>{5C22544A-7EE6-4342-B048-85BDC9FD1C3A}</a:tableStyleId>
              </a:tblPr>
              <a:tblGrid>
                <a:gridCol w="1512210"/>
                <a:gridCol w="6696930"/>
              </a:tblGrid>
              <a:tr h="423448">
                <a:tc>
                  <a:txBody>
                    <a:bodyPr/>
                    <a:lstStyle/>
                    <a:p>
                      <a:pPr algn="just">
                        <a:lnSpc>
                          <a:spcPct val="115000"/>
                        </a:lnSpc>
                        <a:spcBef>
                          <a:spcPts val="600"/>
                        </a:spcBef>
                        <a:spcAft>
                          <a:spcPts val="0"/>
                        </a:spcAft>
                      </a:pPr>
                      <a:r>
                        <a:rPr lang="fr-FR" sz="2000" b="1" dirty="0">
                          <a:solidFill>
                            <a:schemeClr val="tx1"/>
                          </a:solidFill>
                          <a:effectLst/>
                          <a:latin typeface="Calibri(corps)"/>
                          <a:ea typeface="Calibri"/>
                          <a:cs typeface="Times New Roman"/>
                        </a:rPr>
                        <a:t>time </a:t>
                      </a:r>
                      <a:endParaRPr lang="fr-FR" sz="2000" b="1" dirty="0">
                        <a:solidFill>
                          <a:schemeClr val="tx1"/>
                        </a:solidFill>
                        <a:effectLst/>
                        <a:latin typeface="Calibri(corps)"/>
                        <a:ea typeface="Calibri"/>
                        <a:cs typeface="Arial"/>
                      </a:endParaRPr>
                    </a:p>
                  </a:txBody>
                  <a:tcPr marL="68580" marR="68580" marT="0" marB="0"/>
                </a:tc>
                <a:tc>
                  <a:txBody>
                    <a:bodyPr/>
                    <a:lstStyle/>
                    <a:p>
                      <a:pPr algn="just">
                        <a:lnSpc>
                          <a:spcPct val="115000"/>
                        </a:lnSpc>
                        <a:spcBef>
                          <a:spcPts val="600"/>
                        </a:spcBef>
                        <a:spcAft>
                          <a:spcPts val="0"/>
                        </a:spcAft>
                      </a:pPr>
                      <a:r>
                        <a:rPr lang="fr-FR" sz="2000" b="0" dirty="0">
                          <a:solidFill>
                            <a:schemeClr val="tx1"/>
                          </a:solidFill>
                          <a:effectLst/>
                          <a:latin typeface="Calibri(corps)"/>
                          <a:ea typeface="Calibri"/>
                          <a:cs typeface="Times New Roman"/>
                        </a:rPr>
                        <a:t> diverses fonctions relatives au </a:t>
                      </a:r>
                      <a:r>
                        <a:rPr lang="fr-FR" sz="2000" b="0" dirty="0" smtClean="0">
                          <a:solidFill>
                            <a:schemeClr val="tx1"/>
                          </a:solidFill>
                          <a:effectLst/>
                          <a:latin typeface="Calibri(corps)"/>
                          <a:ea typeface="Calibri"/>
                          <a:cs typeface="Times New Roman"/>
                        </a:rPr>
                        <a:t>temps</a:t>
                      </a:r>
                      <a:endParaRPr lang="fr-FR" sz="2000" b="0" dirty="0">
                        <a:solidFill>
                          <a:schemeClr val="tx1"/>
                        </a:solidFill>
                        <a:effectLst/>
                        <a:latin typeface="Calibri(corps)"/>
                        <a:ea typeface="Calibri"/>
                        <a:cs typeface="Arial"/>
                      </a:endParaRPr>
                    </a:p>
                  </a:txBody>
                  <a:tcPr marL="68580" marR="68580" marT="0" marB="0"/>
                </a:tc>
              </a:tr>
              <a:tr h="423448">
                <a:tc>
                  <a:txBody>
                    <a:bodyPr/>
                    <a:lstStyle/>
                    <a:p>
                      <a:pPr algn="just">
                        <a:lnSpc>
                          <a:spcPct val="115000"/>
                        </a:lnSpc>
                        <a:spcBef>
                          <a:spcPts val="600"/>
                        </a:spcBef>
                        <a:spcAft>
                          <a:spcPts val="0"/>
                        </a:spcAft>
                      </a:pPr>
                      <a:r>
                        <a:rPr lang="fr-FR" sz="2000" b="1" dirty="0" err="1">
                          <a:effectLst/>
                          <a:latin typeface="Calibri(corps)"/>
                          <a:ea typeface="Calibri"/>
                          <a:cs typeface="Times New Roman"/>
                        </a:rPr>
                        <a:t>random</a:t>
                      </a:r>
                      <a:r>
                        <a:rPr lang="fr-FR" sz="2000" b="1" dirty="0">
                          <a:effectLst/>
                          <a:latin typeface="Calibri(corps)"/>
                          <a:ea typeface="Calibri"/>
                          <a:cs typeface="Times New Roman"/>
                        </a:rPr>
                        <a:t> </a:t>
                      </a:r>
                      <a:endParaRPr lang="fr-FR" sz="2000" dirty="0">
                        <a:effectLst/>
                        <a:latin typeface="Calibri(corps)"/>
                        <a:ea typeface="Calibri"/>
                        <a:cs typeface="Arial"/>
                      </a:endParaRPr>
                    </a:p>
                  </a:txBody>
                  <a:tcPr marL="68580" marR="68580" marT="0" marB="0"/>
                </a:tc>
                <a:tc>
                  <a:txBody>
                    <a:bodyPr/>
                    <a:lstStyle/>
                    <a:p>
                      <a:pPr algn="just">
                        <a:lnSpc>
                          <a:spcPct val="115000"/>
                        </a:lnSpc>
                        <a:spcBef>
                          <a:spcPts val="600"/>
                        </a:spcBef>
                        <a:spcAft>
                          <a:spcPts val="0"/>
                        </a:spcAft>
                      </a:pPr>
                      <a:r>
                        <a:rPr lang="fr-FR" sz="2000" b="0" dirty="0">
                          <a:effectLst/>
                          <a:latin typeface="Calibri(corps)"/>
                          <a:ea typeface="Calibri"/>
                          <a:cs typeface="Times New Roman"/>
                        </a:rPr>
                        <a:t> pour générer aléatoirement des nombres.</a:t>
                      </a:r>
                      <a:endParaRPr lang="fr-FR" sz="2000" b="0" dirty="0">
                        <a:effectLst/>
                        <a:latin typeface="Calibri(corps)"/>
                        <a:ea typeface="Calibri"/>
                        <a:cs typeface="Arial"/>
                      </a:endParaRPr>
                    </a:p>
                  </a:txBody>
                  <a:tcPr marL="68580" marR="68580" marT="0" marB="0"/>
                </a:tc>
              </a:tr>
              <a:tr h="423448">
                <a:tc>
                  <a:txBody>
                    <a:bodyPr/>
                    <a:lstStyle/>
                    <a:p>
                      <a:pPr algn="just">
                        <a:lnSpc>
                          <a:spcPct val="115000"/>
                        </a:lnSpc>
                        <a:spcBef>
                          <a:spcPts val="600"/>
                        </a:spcBef>
                        <a:spcAft>
                          <a:spcPts val="0"/>
                        </a:spcAft>
                      </a:pPr>
                      <a:r>
                        <a:rPr lang="fr-FR" sz="2000" b="1" dirty="0">
                          <a:effectLst/>
                          <a:latin typeface="Calibri(corps)"/>
                          <a:ea typeface="Calibri"/>
                          <a:cs typeface="Times New Roman"/>
                        </a:rPr>
                        <a:t>os </a:t>
                      </a:r>
                      <a:endParaRPr lang="fr-FR" sz="2000" dirty="0">
                        <a:effectLst/>
                        <a:latin typeface="Calibri(corps)"/>
                        <a:ea typeface="Calibri"/>
                        <a:cs typeface="Arial"/>
                      </a:endParaRPr>
                    </a:p>
                  </a:txBody>
                  <a:tcPr marL="68580" marR="68580" marT="0" marB="0"/>
                </a:tc>
                <a:tc>
                  <a:txBody>
                    <a:bodyPr/>
                    <a:lstStyle/>
                    <a:p>
                      <a:pPr algn="just">
                        <a:lnSpc>
                          <a:spcPct val="115000"/>
                        </a:lnSpc>
                        <a:spcBef>
                          <a:spcPts val="600"/>
                        </a:spcBef>
                        <a:spcAft>
                          <a:spcPts val="0"/>
                        </a:spcAft>
                      </a:pPr>
                      <a:r>
                        <a:rPr lang="fr-FR" sz="2000" b="0" dirty="0">
                          <a:effectLst/>
                          <a:latin typeface="Calibri(corps)"/>
                          <a:ea typeface="Calibri"/>
                          <a:cs typeface="Times New Roman"/>
                        </a:rPr>
                        <a:t> pour dialoguer avec le système d’exploitation.</a:t>
                      </a:r>
                      <a:endParaRPr lang="fr-FR" sz="2000" b="0" dirty="0">
                        <a:effectLst/>
                        <a:latin typeface="Calibri(corps)"/>
                        <a:ea typeface="Calibri"/>
                        <a:cs typeface="Arial"/>
                      </a:endParaRPr>
                    </a:p>
                  </a:txBody>
                  <a:tcPr marL="68580" marR="68580" marT="0" marB="0"/>
                </a:tc>
              </a:tr>
              <a:tr h="423448">
                <a:tc>
                  <a:txBody>
                    <a:bodyPr/>
                    <a:lstStyle/>
                    <a:p>
                      <a:pPr algn="just">
                        <a:lnSpc>
                          <a:spcPct val="115000"/>
                        </a:lnSpc>
                        <a:spcBef>
                          <a:spcPts val="600"/>
                        </a:spcBef>
                        <a:spcAft>
                          <a:spcPts val="0"/>
                        </a:spcAft>
                      </a:pPr>
                      <a:r>
                        <a:rPr lang="fr-FR" sz="2000" b="1" dirty="0" err="1">
                          <a:effectLst/>
                          <a:latin typeface="Calibri(corps)"/>
                          <a:ea typeface="Calibri"/>
                          <a:cs typeface="Times New Roman"/>
                        </a:rPr>
                        <a:t>Tkinter</a:t>
                      </a:r>
                      <a:r>
                        <a:rPr lang="fr-FR" sz="2000" b="1" dirty="0">
                          <a:effectLst/>
                          <a:latin typeface="Calibri(corps)"/>
                          <a:ea typeface="Calibri"/>
                          <a:cs typeface="Times New Roman"/>
                        </a:rPr>
                        <a:t> </a:t>
                      </a:r>
                      <a:endParaRPr lang="fr-FR" sz="2000" dirty="0">
                        <a:effectLst/>
                        <a:latin typeface="Calibri(corps)"/>
                        <a:ea typeface="Calibri"/>
                        <a:cs typeface="Arial"/>
                      </a:endParaRPr>
                    </a:p>
                  </a:txBody>
                  <a:tcPr marL="68580" marR="68580" marT="0" marB="0"/>
                </a:tc>
                <a:tc>
                  <a:txBody>
                    <a:bodyPr/>
                    <a:lstStyle/>
                    <a:p>
                      <a:pPr algn="just">
                        <a:lnSpc>
                          <a:spcPct val="115000"/>
                        </a:lnSpc>
                        <a:spcBef>
                          <a:spcPts val="600"/>
                        </a:spcBef>
                        <a:spcAft>
                          <a:spcPts val="0"/>
                        </a:spcAft>
                      </a:pPr>
                      <a:r>
                        <a:rPr lang="fr-FR" sz="2000" b="0" dirty="0">
                          <a:effectLst/>
                          <a:latin typeface="Calibri(corps)"/>
                          <a:ea typeface="Calibri"/>
                          <a:cs typeface="Times New Roman"/>
                        </a:rPr>
                        <a:t> pour créer </a:t>
                      </a:r>
                      <a:r>
                        <a:rPr lang="fr-FR" sz="2000" b="0" baseline="0" dirty="0" smtClean="0">
                          <a:effectLst/>
                          <a:latin typeface="Calibri(corps)"/>
                          <a:ea typeface="Calibri"/>
                          <a:cs typeface="Times New Roman"/>
                        </a:rPr>
                        <a:t> </a:t>
                      </a:r>
                      <a:r>
                        <a:rPr lang="fr-FR" sz="2000" b="0" dirty="0" smtClean="0">
                          <a:effectLst/>
                          <a:latin typeface="Calibri(corps)"/>
                          <a:ea typeface="Calibri"/>
                          <a:cs typeface="Times New Roman"/>
                        </a:rPr>
                        <a:t>les </a:t>
                      </a:r>
                      <a:r>
                        <a:rPr lang="fr-FR" sz="2000" b="0" dirty="0">
                          <a:effectLst/>
                          <a:latin typeface="Calibri(corps)"/>
                          <a:ea typeface="Calibri"/>
                          <a:cs typeface="Times New Roman"/>
                        </a:rPr>
                        <a:t>fenêtres graphiques et gérer la souris.</a:t>
                      </a:r>
                      <a:endParaRPr lang="fr-FR" sz="2000" b="0" dirty="0">
                        <a:effectLst/>
                        <a:latin typeface="Calibri(corps)"/>
                        <a:ea typeface="Calibri"/>
                        <a:cs typeface="Arial"/>
                      </a:endParaRPr>
                    </a:p>
                  </a:txBody>
                  <a:tcPr marL="68580" marR="68580" marT="0" marB="0"/>
                </a:tc>
              </a:tr>
              <a:tr h="423448">
                <a:tc>
                  <a:txBody>
                    <a:bodyPr/>
                    <a:lstStyle/>
                    <a:p>
                      <a:pPr algn="just">
                        <a:lnSpc>
                          <a:spcPct val="115000"/>
                        </a:lnSpc>
                        <a:spcBef>
                          <a:spcPts val="600"/>
                        </a:spcBef>
                        <a:spcAft>
                          <a:spcPts val="0"/>
                        </a:spcAft>
                      </a:pPr>
                      <a:r>
                        <a:rPr lang="fr-FR" sz="2000" b="1" dirty="0">
                          <a:effectLst/>
                          <a:latin typeface="Calibri(corps)"/>
                          <a:ea typeface="Calibri"/>
                          <a:cs typeface="Times New Roman"/>
                        </a:rPr>
                        <a:t>math </a:t>
                      </a:r>
                      <a:endParaRPr lang="fr-FR" sz="2000" dirty="0">
                        <a:effectLst/>
                        <a:latin typeface="Calibri(corps)"/>
                        <a:ea typeface="Calibri"/>
                        <a:cs typeface="Arial"/>
                      </a:endParaRPr>
                    </a:p>
                  </a:txBody>
                  <a:tcPr marL="68580" marR="68580" marT="0" marB="0"/>
                </a:tc>
                <a:tc>
                  <a:txBody>
                    <a:bodyPr/>
                    <a:lstStyle/>
                    <a:p>
                      <a:pPr algn="just">
                        <a:lnSpc>
                          <a:spcPct val="115000"/>
                        </a:lnSpc>
                        <a:spcBef>
                          <a:spcPts val="600"/>
                        </a:spcBef>
                        <a:spcAft>
                          <a:spcPts val="0"/>
                        </a:spcAft>
                      </a:pPr>
                      <a:r>
                        <a:rPr lang="fr-FR" sz="2000" dirty="0">
                          <a:effectLst/>
                          <a:latin typeface="Calibri(corps)"/>
                          <a:ea typeface="Calibri"/>
                          <a:cs typeface="Times New Roman"/>
                        </a:rPr>
                        <a:t> pour accéder aux fonctions mathématiques usuelles.</a:t>
                      </a:r>
                      <a:endParaRPr lang="fr-FR" sz="2000" dirty="0">
                        <a:effectLst/>
                        <a:latin typeface="Calibri(corps)"/>
                        <a:ea typeface="Calibri"/>
                        <a:cs typeface="Arial"/>
                      </a:endParaRPr>
                    </a:p>
                  </a:txBody>
                  <a:tcPr marL="68580" marR="68580" marT="0" marB="0"/>
                </a:tc>
              </a:tr>
              <a:tr h="634216">
                <a:tc>
                  <a:txBody>
                    <a:bodyPr/>
                    <a:lstStyle/>
                    <a:p>
                      <a:pPr algn="just">
                        <a:lnSpc>
                          <a:spcPct val="115000"/>
                        </a:lnSpc>
                        <a:spcBef>
                          <a:spcPts val="600"/>
                        </a:spcBef>
                        <a:spcAft>
                          <a:spcPts val="0"/>
                        </a:spcAft>
                      </a:pPr>
                      <a:r>
                        <a:rPr lang="fr-FR" sz="2000" b="1">
                          <a:effectLst/>
                          <a:latin typeface="Calibri(corps)"/>
                          <a:ea typeface="Calibri"/>
                          <a:cs typeface="Times New Roman"/>
                        </a:rPr>
                        <a:t>matplotlib </a:t>
                      </a:r>
                      <a:endParaRPr lang="fr-FR" sz="2000">
                        <a:effectLst/>
                        <a:latin typeface="Calibri(corps)"/>
                        <a:ea typeface="Calibri"/>
                        <a:cs typeface="Arial"/>
                      </a:endParaRPr>
                    </a:p>
                  </a:txBody>
                  <a:tcPr marL="68580" marR="68580" marT="0" marB="0"/>
                </a:tc>
                <a:tc>
                  <a:txBody>
                    <a:bodyPr/>
                    <a:lstStyle/>
                    <a:p>
                      <a:pPr algn="just">
                        <a:lnSpc>
                          <a:spcPct val="115000"/>
                        </a:lnSpc>
                        <a:spcBef>
                          <a:spcPts val="600"/>
                        </a:spcBef>
                        <a:spcAft>
                          <a:spcPts val="0"/>
                        </a:spcAft>
                      </a:pPr>
                      <a:r>
                        <a:rPr lang="fr-FR" sz="2000" dirty="0">
                          <a:effectLst/>
                          <a:latin typeface="Calibri(corps)"/>
                          <a:ea typeface="Calibri"/>
                          <a:cs typeface="Times New Roman"/>
                        </a:rPr>
                        <a:t> pour de multiples fonctions de tracés eu deux dimensions.</a:t>
                      </a:r>
                      <a:endParaRPr lang="fr-FR" sz="2000" dirty="0">
                        <a:effectLst/>
                        <a:latin typeface="Calibri(corps)"/>
                        <a:ea typeface="Calibri"/>
                        <a:cs typeface="Arial"/>
                      </a:endParaRPr>
                    </a:p>
                  </a:txBody>
                  <a:tcPr marL="68580" marR="68580" marT="0" marB="0"/>
                </a:tc>
              </a:tr>
              <a:tr h="634216">
                <a:tc>
                  <a:txBody>
                    <a:bodyPr/>
                    <a:lstStyle/>
                    <a:p>
                      <a:pPr algn="just">
                        <a:lnSpc>
                          <a:spcPct val="115000"/>
                        </a:lnSpc>
                        <a:spcBef>
                          <a:spcPts val="600"/>
                        </a:spcBef>
                        <a:spcAft>
                          <a:spcPts val="0"/>
                        </a:spcAft>
                      </a:pPr>
                      <a:r>
                        <a:rPr lang="fr-FR" sz="2000" b="1" dirty="0" err="1">
                          <a:effectLst/>
                          <a:latin typeface="Calibri(corps)"/>
                          <a:ea typeface="Calibri"/>
                          <a:cs typeface="Times New Roman"/>
                        </a:rPr>
                        <a:t>numpy</a:t>
                      </a:r>
                      <a:r>
                        <a:rPr lang="fr-FR" sz="2000" b="1" dirty="0">
                          <a:effectLst/>
                          <a:latin typeface="Calibri(corps)"/>
                          <a:ea typeface="Calibri"/>
                          <a:cs typeface="Times New Roman"/>
                        </a:rPr>
                        <a:t> </a:t>
                      </a:r>
                      <a:endParaRPr lang="fr-FR" sz="2000" dirty="0">
                        <a:effectLst/>
                        <a:latin typeface="Calibri(corps)"/>
                        <a:ea typeface="Calibri"/>
                        <a:cs typeface="Arial"/>
                      </a:endParaRPr>
                    </a:p>
                  </a:txBody>
                  <a:tcPr marL="68580" marR="68580" marT="0" marB="0"/>
                </a:tc>
                <a:tc>
                  <a:txBody>
                    <a:bodyPr/>
                    <a:lstStyle/>
                    <a:p>
                      <a:pPr algn="just">
                        <a:lnSpc>
                          <a:spcPct val="115000"/>
                        </a:lnSpc>
                        <a:spcBef>
                          <a:spcPts val="600"/>
                        </a:spcBef>
                        <a:spcAft>
                          <a:spcPts val="0"/>
                        </a:spcAft>
                      </a:pPr>
                      <a:r>
                        <a:rPr lang="fr-FR" sz="2000" dirty="0">
                          <a:effectLst/>
                          <a:latin typeface="Calibri(corps)"/>
                          <a:ea typeface="Calibri"/>
                          <a:cs typeface="Times New Roman"/>
                        </a:rPr>
                        <a:t> bibliothèque de fonctions indispensables pour faire du calcul scientifique efficace.</a:t>
                      </a:r>
                      <a:endParaRPr lang="fr-FR" sz="2000" dirty="0">
                        <a:effectLst/>
                        <a:latin typeface="Calibri(corps)"/>
                        <a:ea typeface="Calibri"/>
                        <a:cs typeface="Arial"/>
                      </a:endParaRPr>
                    </a:p>
                  </a:txBody>
                  <a:tcPr marL="68580" marR="68580" marT="0" marB="0"/>
                </a:tc>
              </a:tr>
              <a:tr h="634216">
                <a:tc>
                  <a:txBody>
                    <a:bodyPr/>
                    <a:lstStyle/>
                    <a:p>
                      <a:pPr algn="just">
                        <a:lnSpc>
                          <a:spcPct val="115000"/>
                        </a:lnSpc>
                        <a:spcBef>
                          <a:spcPts val="600"/>
                        </a:spcBef>
                        <a:spcAft>
                          <a:spcPts val="0"/>
                        </a:spcAft>
                      </a:pPr>
                      <a:r>
                        <a:rPr lang="fr-FR" sz="2000" b="1">
                          <a:effectLst/>
                          <a:latin typeface="Calibri(corps)"/>
                          <a:ea typeface="Calibri"/>
                          <a:cs typeface="Times New Roman"/>
                        </a:rPr>
                        <a:t>scipy </a:t>
                      </a:r>
                      <a:endParaRPr lang="fr-FR" sz="2000">
                        <a:effectLst/>
                        <a:latin typeface="Calibri(corps)"/>
                        <a:ea typeface="Calibri"/>
                        <a:cs typeface="Arial"/>
                      </a:endParaRPr>
                    </a:p>
                  </a:txBody>
                  <a:tcPr marL="68580" marR="68580" marT="0" marB="0"/>
                </a:tc>
                <a:tc>
                  <a:txBody>
                    <a:bodyPr/>
                    <a:lstStyle/>
                    <a:p>
                      <a:pPr algn="just">
                        <a:lnSpc>
                          <a:spcPct val="115000"/>
                        </a:lnSpc>
                        <a:spcBef>
                          <a:spcPts val="600"/>
                        </a:spcBef>
                        <a:spcAft>
                          <a:spcPts val="0"/>
                        </a:spcAft>
                      </a:pPr>
                      <a:r>
                        <a:rPr lang="fr-FR" sz="2000" dirty="0">
                          <a:effectLst/>
                          <a:latin typeface="Calibri(corps)"/>
                          <a:ea typeface="Calibri"/>
                          <a:cs typeface="Times New Roman"/>
                        </a:rPr>
                        <a:t> bibliothèque complémentaire de </a:t>
                      </a:r>
                      <a:r>
                        <a:rPr lang="fr-FR" sz="2000" dirty="0" err="1">
                          <a:effectLst/>
                          <a:latin typeface="Calibri(corps)"/>
                          <a:ea typeface="Calibri"/>
                          <a:cs typeface="Times New Roman"/>
                        </a:rPr>
                        <a:t>numpy</a:t>
                      </a:r>
                      <a:r>
                        <a:rPr lang="fr-FR" sz="2000" dirty="0">
                          <a:effectLst/>
                          <a:latin typeface="Calibri(corps)"/>
                          <a:ea typeface="Calibri"/>
                          <a:cs typeface="Times New Roman"/>
                        </a:rPr>
                        <a:t> pour le traitement de données.</a:t>
                      </a:r>
                      <a:endParaRPr lang="fr-FR" sz="2000" dirty="0">
                        <a:effectLst/>
                        <a:latin typeface="Calibri(corps)"/>
                        <a:ea typeface="Calibri"/>
                        <a:cs typeface="Arial"/>
                      </a:endParaRPr>
                    </a:p>
                  </a:txBody>
                  <a:tcPr marL="68580" marR="68580" marT="0" marB="0"/>
                </a:tc>
              </a:tr>
              <a:tr h="423448">
                <a:tc>
                  <a:txBody>
                    <a:bodyPr/>
                    <a:lstStyle/>
                    <a:p>
                      <a:pPr algn="just">
                        <a:lnSpc>
                          <a:spcPct val="115000"/>
                        </a:lnSpc>
                        <a:spcBef>
                          <a:spcPts val="600"/>
                        </a:spcBef>
                        <a:spcAft>
                          <a:spcPts val="0"/>
                        </a:spcAft>
                      </a:pPr>
                      <a:r>
                        <a:rPr lang="fr-FR" sz="2000" b="1" dirty="0" err="1">
                          <a:effectLst/>
                          <a:latin typeface="Calibri(corps)"/>
                          <a:ea typeface="Calibri"/>
                          <a:cs typeface="Times New Roman"/>
                        </a:rPr>
                        <a:t>skimage</a:t>
                      </a:r>
                      <a:r>
                        <a:rPr lang="fr-FR" sz="2000" b="1" dirty="0">
                          <a:effectLst/>
                          <a:latin typeface="Calibri(corps)"/>
                          <a:ea typeface="Calibri"/>
                          <a:cs typeface="Times New Roman"/>
                        </a:rPr>
                        <a:t> </a:t>
                      </a:r>
                      <a:endParaRPr lang="fr-FR" sz="2000" dirty="0">
                        <a:effectLst/>
                        <a:latin typeface="Calibri(corps)"/>
                        <a:ea typeface="Calibri"/>
                        <a:cs typeface="Arial"/>
                      </a:endParaRPr>
                    </a:p>
                  </a:txBody>
                  <a:tcPr marL="68580" marR="68580" marT="0" marB="0"/>
                </a:tc>
                <a:tc>
                  <a:txBody>
                    <a:bodyPr/>
                    <a:lstStyle/>
                    <a:p>
                      <a:pPr algn="just">
                        <a:lnSpc>
                          <a:spcPct val="115000"/>
                        </a:lnSpc>
                        <a:spcBef>
                          <a:spcPts val="600"/>
                        </a:spcBef>
                        <a:spcAft>
                          <a:spcPts val="0"/>
                        </a:spcAft>
                      </a:pPr>
                      <a:r>
                        <a:rPr lang="fr-FR" sz="2000" dirty="0">
                          <a:effectLst/>
                          <a:latin typeface="Calibri(corps)"/>
                          <a:ea typeface="Calibri"/>
                          <a:cs typeface="Times New Roman"/>
                        </a:rPr>
                        <a:t> pour le traitement d’images.</a:t>
                      </a:r>
                      <a:endParaRPr lang="fr-FR" sz="2000" dirty="0">
                        <a:effectLst/>
                        <a:latin typeface="Calibri(corps)"/>
                        <a:ea typeface="Calibri"/>
                        <a:cs typeface="Arial"/>
                      </a:endParaRPr>
                    </a:p>
                  </a:txBody>
                  <a:tcPr marL="68580" marR="68580" marT="0" marB="0"/>
                </a:tc>
              </a:tr>
              <a:tr h="423448">
                <a:tc>
                  <a:txBody>
                    <a:bodyPr/>
                    <a:lstStyle/>
                    <a:p>
                      <a:pPr algn="just">
                        <a:lnSpc>
                          <a:spcPct val="115000"/>
                        </a:lnSpc>
                        <a:spcBef>
                          <a:spcPts val="600"/>
                        </a:spcBef>
                        <a:spcAft>
                          <a:spcPts val="0"/>
                        </a:spcAft>
                      </a:pPr>
                      <a:r>
                        <a:rPr lang="fr-FR" sz="2000" b="1" dirty="0" err="1">
                          <a:effectLst/>
                          <a:latin typeface="Calibri(corps)"/>
                          <a:ea typeface="Calibri"/>
                          <a:cs typeface="Times New Roman"/>
                        </a:rPr>
                        <a:t>io</a:t>
                      </a:r>
                      <a:r>
                        <a:rPr lang="fr-FR" sz="2000" b="1" dirty="0">
                          <a:effectLst/>
                          <a:latin typeface="Calibri(corps)"/>
                          <a:ea typeface="Calibri"/>
                          <a:cs typeface="Times New Roman"/>
                        </a:rPr>
                        <a:t> </a:t>
                      </a:r>
                      <a:endParaRPr lang="fr-FR" sz="2000" dirty="0">
                        <a:effectLst/>
                        <a:latin typeface="Calibri(corps)"/>
                        <a:ea typeface="Calibri"/>
                        <a:cs typeface="Arial"/>
                      </a:endParaRPr>
                    </a:p>
                  </a:txBody>
                  <a:tcPr marL="68580" marR="68580" marT="0" marB="0"/>
                </a:tc>
                <a:tc>
                  <a:txBody>
                    <a:bodyPr/>
                    <a:lstStyle/>
                    <a:p>
                      <a:pPr algn="just">
                        <a:lnSpc>
                          <a:spcPct val="115000"/>
                        </a:lnSpc>
                        <a:spcBef>
                          <a:spcPts val="600"/>
                        </a:spcBef>
                        <a:spcAft>
                          <a:spcPts val="0"/>
                        </a:spcAft>
                      </a:pPr>
                      <a:r>
                        <a:rPr lang="fr-FR" sz="2000" dirty="0">
                          <a:effectLst/>
                          <a:latin typeface="Calibri(corps)"/>
                          <a:ea typeface="Calibri"/>
                          <a:cs typeface="Times New Roman"/>
                        </a:rPr>
                        <a:t> pour lire et créer des fichiers.</a:t>
                      </a:r>
                      <a:endParaRPr lang="fr-FR" sz="2000" dirty="0">
                        <a:effectLst/>
                        <a:latin typeface="Calibri(corps)"/>
                        <a:ea typeface="Calibri"/>
                        <a:cs typeface="Arial"/>
                      </a:endParaRPr>
                    </a:p>
                  </a:txBody>
                  <a:tcPr marL="68580" marR="68580" marT="0" marB="0"/>
                </a:tc>
              </a:tr>
              <a:tr h="423448">
                <a:tc>
                  <a:txBody>
                    <a:bodyPr/>
                    <a:lstStyle/>
                    <a:p>
                      <a:pPr algn="just">
                        <a:lnSpc>
                          <a:spcPct val="115000"/>
                        </a:lnSpc>
                        <a:spcBef>
                          <a:spcPts val="600"/>
                        </a:spcBef>
                        <a:spcAft>
                          <a:spcPts val="0"/>
                        </a:spcAft>
                      </a:pPr>
                      <a:r>
                        <a:rPr lang="fr-FR" sz="2000" b="1" kern="1200" dirty="0" smtClean="0">
                          <a:solidFill>
                            <a:schemeClr val="dk1"/>
                          </a:solidFill>
                          <a:effectLst/>
                          <a:latin typeface="Calibri(corps)"/>
                          <a:ea typeface="Calibri"/>
                          <a:cs typeface="Times New Roman"/>
                        </a:rPr>
                        <a:t>Pandas</a:t>
                      </a:r>
                      <a:endParaRPr lang="fr-FR" sz="2000" b="1" kern="1200" dirty="0">
                        <a:solidFill>
                          <a:schemeClr val="dk1"/>
                        </a:solidFill>
                        <a:effectLst/>
                        <a:latin typeface="Calibri(corps)"/>
                        <a:ea typeface="Calibri"/>
                        <a:cs typeface="Times New Roman"/>
                      </a:endParaRPr>
                    </a:p>
                  </a:txBody>
                  <a:tcPr marL="68580" marR="68580" marT="0" marB="0"/>
                </a:tc>
                <a:tc>
                  <a:txBody>
                    <a:bodyPr/>
                    <a:lstStyle/>
                    <a:p>
                      <a:pPr algn="just">
                        <a:lnSpc>
                          <a:spcPct val="115000"/>
                        </a:lnSpc>
                        <a:spcBef>
                          <a:spcPts val="600"/>
                        </a:spcBef>
                        <a:spcAft>
                          <a:spcPts val="0"/>
                        </a:spcAft>
                      </a:pPr>
                      <a:r>
                        <a:rPr lang="fr-FR" sz="2000" kern="1200" dirty="0" smtClean="0">
                          <a:solidFill>
                            <a:schemeClr val="dk1"/>
                          </a:solidFill>
                          <a:effectLst/>
                          <a:latin typeface="Calibri(corps)"/>
                          <a:ea typeface="Calibri"/>
                          <a:cs typeface="Times New Roman"/>
                        </a:rPr>
                        <a:t>Populaire dans le domaine de l’IA et du machine </a:t>
                      </a:r>
                      <a:r>
                        <a:rPr lang="fr-FR" sz="2000" kern="1200" dirty="0" err="1" smtClean="0">
                          <a:solidFill>
                            <a:schemeClr val="dk1"/>
                          </a:solidFill>
                          <a:effectLst/>
                          <a:latin typeface="Calibri(corps)"/>
                          <a:ea typeface="Calibri"/>
                          <a:cs typeface="Times New Roman"/>
                        </a:rPr>
                        <a:t>learning</a:t>
                      </a:r>
                      <a:endParaRPr lang="fr-FR" sz="2000" kern="1200" dirty="0">
                        <a:solidFill>
                          <a:schemeClr val="dk1"/>
                        </a:solidFill>
                        <a:effectLst/>
                        <a:latin typeface="Calibri(corps)"/>
                        <a:ea typeface="Calibri"/>
                        <a:cs typeface="Times New Roman"/>
                      </a:endParaRPr>
                    </a:p>
                  </a:txBody>
                  <a:tcPr marL="68580" marR="68580" marT="0" marB="0"/>
                </a:tc>
              </a:tr>
            </a:tbl>
          </a:graphicData>
        </a:graphic>
      </p:graphicFrame>
    </p:spTree>
    <p:custDataLst>
      <p:tags r:id="rId1"/>
    </p:custDataLst>
    <p:extLst>
      <p:ext uri="{BB962C8B-B14F-4D97-AF65-F5344CB8AC3E}">
        <p14:creationId xmlns:p14="http://schemas.microsoft.com/office/powerpoint/2010/main" val="3553311144"/>
      </p:ext>
    </p:extLst>
  </p:cSld>
  <p:clrMapOvr>
    <a:masterClrMapping/>
  </p:clrMapOvr>
  <p:transition>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Text Box 9"/>
          <p:cNvSpPr txBox="1">
            <a:spLocks noChangeArrowheads="1"/>
          </p:cNvSpPr>
          <p:nvPr/>
        </p:nvSpPr>
        <p:spPr bwMode="auto">
          <a:xfrm>
            <a:off x="971550" y="58738"/>
            <a:ext cx="8172450" cy="369332"/>
          </a:xfrm>
          <a:prstGeom prst="rect">
            <a:avLst/>
          </a:prstGeom>
          <a:noFill/>
          <a:ln w="12700" algn="ctr">
            <a:noFill/>
            <a:miter lim="800000"/>
            <a:headEnd/>
            <a:tailEnd/>
          </a:ln>
        </p:spPr>
        <p:txBody>
          <a:bodyPr>
            <a:spAutoFit/>
          </a:bodyPr>
          <a:lstStyle/>
          <a:p>
            <a:pPr>
              <a:spcBef>
                <a:spcPct val="50000"/>
              </a:spcBef>
            </a:pPr>
            <a:r>
              <a:rPr lang="fr-FR" sz="1800" b="1" dirty="0" smtClean="0">
                <a:solidFill>
                  <a:srgbClr val="000000"/>
                </a:solidFill>
                <a:latin typeface="Arial" pitchFamily="34" charset="0"/>
              </a:rPr>
              <a:t>Les modules</a:t>
            </a:r>
            <a:endParaRPr lang="fr-FR" sz="1800" b="1" dirty="0">
              <a:solidFill>
                <a:srgbClr val="000000"/>
              </a:solidFill>
              <a:latin typeface="Arial" pitchFamily="34" charset="0"/>
            </a:endParaRP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dirty="0"/>
              <a:t>Le module </a:t>
            </a:r>
            <a:r>
              <a:rPr lang="fr-FR" sz="2400" dirty="0" err="1"/>
              <a:t>numpy</a:t>
            </a:r>
            <a:r>
              <a:rPr lang="fr-FR" sz="2400" dirty="0"/>
              <a:t> </a:t>
            </a:r>
            <a:endParaRPr lang="fr-FR" sz="2400" b="1" dirty="0">
              <a:latin typeface="+mj-lt"/>
            </a:endParaRPr>
          </a:p>
        </p:txBody>
      </p:sp>
      <p:cxnSp>
        <p:nvCxnSpPr>
          <p:cNvPr id="203781"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203782"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203783" name="Triangle isocèle 6"/>
          <p:cNvSpPr>
            <a:spLocks noChangeArrowheads="1"/>
          </p:cNvSpPr>
          <p:nvPr/>
        </p:nvSpPr>
        <p:spPr bwMode="auto">
          <a:xfrm>
            <a:off x="571500" y="1143000"/>
            <a:ext cx="500063" cy="357188"/>
          </a:xfrm>
          <a:prstGeom prst="triangle">
            <a:avLst>
              <a:gd name="adj" fmla="val 50000"/>
            </a:avLst>
          </a:prstGeom>
          <a:noFill/>
          <a:ln w="9525" algn="ctr">
            <a:noFill/>
            <a:round/>
            <a:headEnd/>
            <a:tailEnd/>
          </a:ln>
        </p:spPr>
        <p:txBody>
          <a:bodyPr lIns="90000" tIns="46800" rIns="90000" bIns="46800" anchor="ctr">
            <a:spAutoFit/>
          </a:bodyPr>
          <a:lstStyle/>
          <a:p>
            <a:pPr eaLnBrk="1" hangingPunct="1">
              <a:spcBef>
                <a:spcPct val="50000"/>
              </a:spcBef>
              <a:buClr>
                <a:srgbClr val="336666"/>
              </a:buClr>
              <a:buFont typeface="Wingdings" pitchFamily="2" charset="2"/>
              <a:buNone/>
            </a:pPr>
            <a:endParaRPr lang="fr-FR"/>
          </a:p>
        </p:txBody>
      </p:sp>
      <p:sp>
        <p:nvSpPr>
          <p:cNvPr id="203784" name="Triangle isocèle 8"/>
          <p:cNvSpPr>
            <a:spLocks noChangeArrowheads="1"/>
          </p:cNvSpPr>
          <p:nvPr/>
        </p:nvSpPr>
        <p:spPr bwMode="auto">
          <a:xfrm>
            <a:off x="785813" y="1500188"/>
            <a:ext cx="714375" cy="500062"/>
          </a:xfrm>
          <a:prstGeom prst="triangle">
            <a:avLst>
              <a:gd name="adj" fmla="val 50000"/>
            </a:avLst>
          </a:prstGeom>
          <a:noFill/>
          <a:ln w="9525" algn="ctr">
            <a:noFill/>
            <a:round/>
            <a:headEnd/>
            <a:tailEnd/>
          </a:ln>
        </p:spPr>
        <p:txBody>
          <a:bodyPr lIns="90000" tIns="46800" rIns="90000" bIns="46800" anchor="ctr">
            <a:spAutoFit/>
          </a:bodyPr>
          <a:lstStyle/>
          <a:p>
            <a:pPr eaLnBrk="1" hangingPunct="1">
              <a:spcBef>
                <a:spcPct val="50000"/>
              </a:spcBef>
              <a:buClr>
                <a:srgbClr val="336666"/>
              </a:buClr>
              <a:buFont typeface="Wingdings" pitchFamily="2" charset="2"/>
              <a:buNone/>
            </a:pPr>
            <a:endParaRPr lang="fr-FR"/>
          </a:p>
        </p:txBody>
      </p:sp>
      <p:graphicFrame>
        <p:nvGraphicFramePr>
          <p:cNvPr id="2" name="Tableau 1"/>
          <p:cNvGraphicFramePr>
            <a:graphicFrameLocks noGrp="1"/>
          </p:cNvGraphicFramePr>
          <p:nvPr>
            <p:extLst>
              <p:ext uri="{D42A27DB-BD31-4B8C-83A1-F6EECF244321}">
                <p14:modId xmlns:p14="http://schemas.microsoft.com/office/powerpoint/2010/main" val="1682328598"/>
              </p:ext>
            </p:extLst>
          </p:nvPr>
        </p:nvGraphicFramePr>
        <p:xfrm>
          <a:off x="467430" y="980660"/>
          <a:ext cx="8604557" cy="5763287"/>
        </p:xfrm>
        <a:graphic>
          <a:graphicData uri="http://schemas.openxmlformats.org/drawingml/2006/table">
            <a:tbl>
              <a:tblPr firstRow="1" firstCol="1" bandRow="1">
                <a:tableStyleId>{284E427A-3D55-4303-BF80-6455036E1DE7}</a:tableStyleId>
              </a:tblPr>
              <a:tblGrid>
                <a:gridCol w="956060"/>
                <a:gridCol w="2132754"/>
                <a:gridCol w="2794643"/>
                <a:gridCol w="2721100"/>
              </a:tblGrid>
              <a:tr h="234080">
                <a:tc>
                  <a:txBody>
                    <a:bodyPr/>
                    <a:lstStyle/>
                    <a:p>
                      <a:pPr algn="ctr">
                        <a:lnSpc>
                          <a:spcPct val="115000"/>
                        </a:lnSpc>
                        <a:spcBef>
                          <a:spcPts val="600"/>
                        </a:spcBef>
                        <a:spcAft>
                          <a:spcPts val="0"/>
                        </a:spcAft>
                      </a:pPr>
                      <a:r>
                        <a:rPr lang="fr-FR" sz="1400" dirty="0">
                          <a:solidFill>
                            <a:srgbClr val="C00000"/>
                          </a:solidFill>
                          <a:effectLst/>
                        </a:rPr>
                        <a:t>Fonction</a:t>
                      </a:r>
                      <a:endParaRPr lang="fr-FR" sz="1400" dirty="0">
                        <a:solidFill>
                          <a:srgbClr val="C00000"/>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lnSpc>
                          <a:spcPct val="115000"/>
                        </a:lnSpc>
                        <a:spcBef>
                          <a:spcPts val="600"/>
                        </a:spcBef>
                        <a:spcAft>
                          <a:spcPts val="0"/>
                        </a:spcAft>
                      </a:pPr>
                      <a:r>
                        <a:rPr lang="fr-FR" sz="1400" dirty="0">
                          <a:solidFill>
                            <a:srgbClr val="C00000"/>
                          </a:solidFill>
                          <a:effectLst/>
                        </a:rPr>
                        <a:t>Rôle</a:t>
                      </a:r>
                      <a:endParaRPr lang="fr-FR" sz="1400" dirty="0">
                        <a:solidFill>
                          <a:srgbClr val="C00000"/>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lnSpc>
                          <a:spcPct val="115000"/>
                        </a:lnSpc>
                        <a:spcBef>
                          <a:spcPts val="600"/>
                        </a:spcBef>
                        <a:spcAft>
                          <a:spcPts val="0"/>
                        </a:spcAft>
                      </a:pPr>
                      <a:r>
                        <a:rPr lang="fr-FR" sz="1400" dirty="0">
                          <a:solidFill>
                            <a:srgbClr val="C00000"/>
                          </a:solidFill>
                          <a:effectLst/>
                        </a:rPr>
                        <a:t>Syntaxe</a:t>
                      </a:r>
                      <a:endParaRPr lang="fr-FR" sz="1400" dirty="0">
                        <a:solidFill>
                          <a:srgbClr val="C00000"/>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lnSpc>
                          <a:spcPct val="115000"/>
                        </a:lnSpc>
                        <a:spcBef>
                          <a:spcPts val="600"/>
                        </a:spcBef>
                        <a:spcAft>
                          <a:spcPts val="0"/>
                        </a:spcAft>
                      </a:pPr>
                      <a:r>
                        <a:rPr lang="fr-FR" sz="1400" dirty="0">
                          <a:solidFill>
                            <a:srgbClr val="C00000"/>
                          </a:solidFill>
                          <a:effectLst/>
                        </a:rPr>
                        <a:t>Exemple</a:t>
                      </a:r>
                      <a:endParaRPr lang="fr-FR" sz="1400" dirty="0">
                        <a:solidFill>
                          <a:srgbClr val="C00000"/>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411503">
                <a:tc>
                  <a:txBody>
                    <a:bodyPr/>
                    <a:lstStyle/>
                    <a:p>
                      <a:pPr>
                        <a:lnSpc>
                          <a:spcPct val="100000"/>
                        </a:lnSpc>
                        <a:spcBef>
                          <a:spcPts val="0"/>
                        </a:spcBef>
                        <a:spcAft>
                          <a:spcPts val="0"/>
                        </a:spcAft>
                      </a:pPr>
                      <a:r>
                        <a:rPr lang="fr-FR" sz="1400" dirty="0" err="1">
                          <a:effectLst/>
                        </a:rPr>
                        <a:t>array</a:t>
                      </a:r>
                      <a:endParaRPr lang="fr-FR" sz="1400" dirty="0">
                        <a:effectLst/>
                        <a:latin typeface="Calibri"/>
                        <a:ea typeface="Calibri"/>
                        <a:cs typeface="Arial"/>
                      </a:endParaRPr>
                    </a:p>
                  </a:txBody>
                  <a:tcPr marL="25597" marR="2559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a:lnSpc>
                          <a:spcPct val="100000"/>
                        </a:lnSpc>
                        <a:spcBef>
                          <a:spcPts val="0"/>
                        </a:spcBef>
                        <a:spcAft>
                          <a:spcPts val="0"/>
                        </a:spcAft>
                      </a:pPr>
                      <a:r>
                        <a:rPr lang="fr-FR" sz="1400" b="0" dirty="0">
                          <a:effectLst/>
                        </a:rPr>
                        <a:t>Pour créer des tableaux à partir de listes</a:t>
                      </a:r>
                      <a:endParaRPr lang="fr-FR" sz="1400" b="0" dirty="0">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fr-FR" sz="1400" b="1" dirty="0" err="1">
                          <a:solidFill>
                            <a:srgbClr val="7030A0"/>
                          </a:solidFill>
                          <a:effectLst/>
                        </a:rPr>
                        <a:t>np.array</a:t>
                      </a:r>
                      <a:r>
                        <a:rPr lang="fr-FR" sz="1400" b="1" dirty="0">
                          <a:solidFill>
                            <a:srgbClr val="7030A0"/>
                          </a:solidFill>
                          <a:effectLst/>
                        </a:rPr>
                        <a:t> (liste)</a:t>
                      </a:r>
                      <a:endParaRPr lang="fr-FR" sz="1400" b="1" dirty="0">
                        <a:solidFill>
                          <a:srgbClr val="7030A0"/>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fr-FR" sz="1400" b="1" dirty="0">
                          <a:solidFill>
                            <a:srgbClr val="0000FF"/>
                          </a:solidFill>
                          <a:effectLst/>
                        </a:rPr>
                        <a:t>» </a:t>
                      </a:r>
                      <a:r>
                        <a:rPr lang="fr-FR" sz="1400" b="1" dirty="0" err="1">
                          <a:solidFill>
                            <a:srgbClr val="0000FF"/>
                          </a:solidFill>
                          <a:effectLst/>
                        </a:rPr>
                        <a:t>np.array</a:t>
                      </a:r>
                      <a:r>
                        <a:rPr lang="fr-FR" sz="1400" b="1" dirty="0">
                          <a:solidFill>
                            <a:srgbClr val="0000FF"/>
                          </a:solidFill>
                          <a:effectLst/>
                        </a:rPr>
                        <a:t>([ 1, 1, 1])</a:t>
                      </a:r>
                    </a:p>
                    <a:p>
                      <a:pPr>
                        <a:lnSpc>
                          <a:spcPct val="100000"/>
                        </a:lnSpc>
                        <a:spcBef>
                          <a:spcPts val="0"/>
                        </a:spcBef>
                        <a:spcAft>
                          <a:spcPts val="0"/>
                        </a:spcAft>
                      </a:pPr>
                      <a:r>
                        <a:rPr lang="fr-FR" sz="1400" b="1" dirty="0" err="1">
                          <a:solidFill>
                            <a:srgbClr val="0000FF"/>
                          </a:solidFill>
                          <a:effectLst/>
                        </a:rPr>
                        <a:t>array</a:t>
                      </a:r>
                      <a:r>
                        <a:rPr lang="fr-FR" sz="1400" b="1" dirty="0">
                          <a:solidFill>
                            <a:srgbClr val="0000FF"/>
                          </a:solidFill>
                          <a:effectLst/>
                        </a:rPr>
                        <a:t>([1, 1, 1])</a:t>
                      </a:r>
                      <a:endParaRPr lang="fr-FR" sz="1400" b="1" dirty="0">
                        <a:solidFill>
                          <a:srgbClr val="0000FF"/>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610643">
                <a:tc>
                  <a:txBody>
                    <a:bodyPr/>
                    <a:lstStyle/>
                    <a:p>
                      <a:pPr>
                        <a:lnSpc>
                          <a:spcPct val="100000"/>
                        </a:lnSpc>
                        <a:spcBef>
                          <a:spcPts val="0"/>
                        </a:spcBef>
                        <a:spcAft>
                          <a:spcPts val="0"/>
                        </a:spcAft>
                      </a:pPr>
                      <a:r>
                        <a:rPr lang="fr-FR" sz="1400" dirty="0" err="1">
                          <a:effectLst/>
                        </a:rPr>
                        <a:t>arange</a:t>
                      </a:r>
                      <a:endParaRPr lang="fr-FR" sz="1400" dirty="0">
                        <a:effectLst/>
                        <a:latin typeface="Calibri"/>
                        <a:ea typeface="Calibri"/>
                        <a:cs typeface="Arial"/>
                      </a:endParaRPr>
                    </a:p>
                  </a:txBody>
                  <a:tcPr marL="25597" marR="2559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a:lnSpc>
                          <a:spcPct val="100000"/>
                        </a:lnSpc>
                        <a:spcBef>
                          <a:spcPts val="0"/>
                        </a:spcBef>
                        <a:spcAft>
                          <a:spcPts val="0"/>
                        </a:spcAft>
                      </a:pPr>
                      <a:r>
                        <a:rPr lang="fr-FR" sz="1400" b="0" dirty="0" smtClean="0">
                          <a:effectLst/>
                        </a:rPr>
                        <a:t>Comme range.</a:t>
                      </a:r>
                      <a:r>
                        <a:rPr lang="fr-FR" sz="1400" b="0" baseline="0" dirty="0" smtClean="0">
                          <a:effectLst/>
                        </a:rPr>
                        <a:t> </a:t>
                      </a:r>
                      <a:r>
                        <a:rPr lang="fr-FR" sz="1400" b="0" dirty="0" smtClean="0">
                          <a:effectLst/>
                        </a:rPr>
                        <a:t>début</a:t>
                      </a:r>
                      <a:r>
                        <a:rPr lang="fr-FR" sz="1400" b="0" dirty="0">
                          <a:effectLst/>
                        </a:rPr>
                        <a:t>, fin et pas peuvent être des réels</a:t>
                      </a:r>
                      <a:endParaRPr lang="fr-FR" sz="1400" b="0" dirty="0">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fr-FR" sz="1400" b="1" dirty="0" err="1">
                          <a:solidFill>
                            <a:srgbClr val="7030A0"/>
                          </a:solidFill>
                          <a:effectLst/>
                        </a:rPr>
                        <a:t>np.arange</a:t>
                      </a:r>
                      <a:r>
                        <a:rPr lang="fr-FR" sz="1400" b="1" dirty="0">
                          <a:solidFill>
                            <a:srgbClr val="7030A0"/>
                          </a:solidFill>
                          <a:effectLst/>
                        </a:rPr>
                        <a:t>(</a:t>
                      </a:r>
                      <a:r>
                        <a:rPr lang="fr-FR" sz="1400" b="1" dirty="0" err="1">
                          <a:solidFill>
                            <a:srgbClr val="7030A0"/>
                          </a:solidFill>
                          <a:effectLst/>
                        </a:rPr>
                        <a:t>debut</a:t>
                      </a:r>
                      <a:r>
                        <a:rPr lang="fr-FR" sz="1400" b="1" dirty="0">
                          <a:solidFill>
                            <a:srgbClr val="7030A0"/>
                          </a:solidFill>
                          <a:effectLst/>
                        </a:rPr>
                        <a:t>, fin, pas)</a:t>
                      </a:r>
                    </a:p>
                    <a:p>
                      <a:pPr>
                        <a:lnSpc>
                          <a:spcPct val="100000"/>
                        </a:lnSpc>
                        <a:spcBef>
                          <a:spcPts val="0"/>
                        </a:spcBef>
                        <a:spcAft>
                          <a:spcPts val="0"/>
                        </a:spcAft>
                      </a:pPr>
                      <a:r>
                        <a:rPr lang="fr-FR" sz="1400" b="1" dirty="0">
                          <a:solidFill>
                            <a:srgbClr val="7030A0"/>
                          </a:solidFill>
                          <a:effectLst/>
                        </a:rPr>
                        <a:t>N.B.la valeur fin est exclue</a:t>
                      </a:r>
                      <a:endParaRPr lang="fr-FR" sz="1400" b="1" dirty="0">
                        <a:solidFill>
                          <a:srgbClr val="7030A0"/>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fr-FR" sz="1400" b="1" dirty="0">
                          <a:solidFill>
                            <a:srgbClr val="0000FF"/>
                          </a:solidFill>
                          <a:effectLst/>
                        </a:rPr>
                        <a:t>» </a:t>
                      </a:r>
                      <a:r>
                        <a:rPr lang="fr-FR" sz="1400" b="1" dirty="0" err="1">
                          <a:solidFill>
                            <a:srgbClr val="0000FF"/>
                          </a:solidFill>
                          <a:effectLst/>
                        </a:rPr>
                        <a:t>np.arange</a:t>
                      </a:r>
                      <a:r>
                        <a:rPr lang="fr-FR" sz="1400" b="1" dirty="0">
                          <a:solidFill>
                            <a:srgbClr val="0000FF"/>
                          </a:solidFill>
                          <a:effectLst/>
                        </a:rPr>
                        <a:t>(1.5,3.6,0.5)</a:t>
                      </a:r>
                    </a:p>
                    <a:p>
                      <a:pPr>
                        <a:lnSpc>
                          <a:spcPct val="100000"/>
                        </a:lnSpc>
                        <a:spcBef>
                          <a:spcPts val="0"/>
                        </a:spcBef>
                        <a:spcAft>
                          <a:spcPts val="0"/>
                        </a:spcAft>
                      </a:pPr>
                      <a:r>
                        <a:rPr lang="fr-FR" sz="1400" b="1" dirty="0" err="1">
                          <a:solidFill>
                            <a:srgbClr val="0000FF"/>
                          </a:solidFill>
                          <a:effectLst/>
                        </a:rPr>
                        <a:t>array</a:t>
                      </a:r>
                      <a:r>
                        <a:rPr lang="fr-FR" sz="1400" b="1" dirty="0">
                          <a:solidFill>
                            <a:srgbClr val="0000FF"/>
                          </a:solidFill>
                          <a:effectLst/>
                        </a:rPr>
                        <a:t>([ 1.5, 2. , 2.5, 3. , 3.5])</a:t>
                      </a:r>
                      <a:endParaRPr lang="fr-FR" sz="1400" b="1" dirty="0">
                        <a:solidFill>
                          <a:srgbClr val="0000FF"/>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814191">
                <a:tc>
                  <a:txBody>
                    <a:bodyPr/>
                    <a:lstStyle/>
                    <a:p>
                      <a:pPr>
                        <a:lnSpc>
                          <a:spcPct val="100000"/>
                        </a:lnSpc>
                        <a:spcBef>
                          <a:spcPts val="0"/>
                        </a:spcBef>
                        <a:spcAft>
                          <a:spcPts val="0"/>
                        </a:spcAft>
                      </a:pPr>
                      <a:r>
                        <a:rPr lang="fr-FR" sz="1400" dirty="0" err="1">
                          <a:effectLst/>
                        </a:rPr>
                        <a:t>linspace</a:t>
                      </a:r>
                      <a:endParaRPr lang="fr-FR" sz="1400" dirty="0">
                        <a:effectLst/>
                        <a:latin typeface="Calibri"/>
                        <a:ea typeface="Calibri"/>
                        <a:cs typeface="Arial"/>
                      </a:endParaRPr>
                    </a:p>
                  </a:txBody>
                  <a:tcPr marL="25597" marR="2559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a:lnSpc>
                          <a:spcPct val="100000"/>
                        </a:lnSpc>
                        <a:spcBef>
                          <a:spcPts val="0"/>
                        </a:spcBef>
                        <a:spcAft>
                          <a:spcPts val="0"/>
                        </a:spcAft>
                      </a:pPr>
                      <a:r>
                        <a:rPr lang="fr-FR" sz="1400" b="0" dirty="0">
                          <a:effectLst/>
                        </a:rPr>
                        <a:t>Les n éléments du </a:t>
                      </a:r>
                      <a:endParaRPr lang="fr-FR" sz="1400" b="0" dirty="0" smtClean="0">
                        <a:effectLst/>
                      </a:endParaRPr>
                    </a:p>
                    <a:p>
                      <a:pPr algn="l">
                        <a:lnSpc>
                          <a:spcPct val="100000"/>
                        </a:lnSpc>
                        <a:spcBef>
                          <a:spcPts val="0"/>
                        </a:spcBef>
                        <a:spcAft>
                          <a:spcPts val="0"/>
                        </a:spcAft>
                      </a:pPr>
                      <a:r>
                        <a:rPr lang="fr-FR" sz="1400" b="0" dirty="0" smtClean="0">
                          <a:effectLst/>
                        </a:rPr>
                        <a:t>tableau sont</a:t>
                      </a:r>
                      <a:r>
                        <a:rPr lang="fr-FR" sz="1400" b="0" baseline="0" dirty="0" smtClean="0">
                          <a:effectLst/>
                        </a:rPr>
                        <a:t> </a:t>
                      </a:r>
                      <a:r>
                        <a:rPr lang="fr-FR" sz="1400" b="0" dirty="0" smtClean="0">
                          <a:effectLst/>
                        </a:rPr>
                        <a:t>régulièrement </a:t>
                      </a:r>
                      <a:r>
                        <a:rPr lang="fr-FR" sz="1400" b="0" dirty="0">
                          <a:effectLst/>
                        </a:rPr>
                        <a:t>espacés </a:t>
                      </a:r>
                      <a:endParaRPr lang="fr-FR" sz="1400" b="0" dirty="0" smtClean="0">
                        <a:effectLst/>
                      </a:endParaRPr>
                    </a:p>
                    <a:p>
                      <a:pPr algn="l">
                        <a:lnSpc>
                          <a:spcPct val="100000"/>
                        </a:lnSpc>
                        <a:spcBef>
                          <a:spcPts val="0"/>
                        </a:spcBef>
                        <a:spcAft>
                          <a:spcPts val="0"/>
                        </a:spcAft>
                      </a:pPr>
                      <a:r>
                        <a:rPr lang="fr-FR" sz="1400" b="0" dirty="0" smtClean="0">
                          <a:effectLst/>
                        </a:rPr>
                        <a:t>entre </a:t>
                      </a:r>
                      <a:r>
                        <a:rPr lang="fr-FR" sz="1400" b="0" dirty="0">
                          <a:effectLst/>
                        </a:rPr>
                        <a:t>début et fin</a:t>
                      </a:r>
                      <a:endParaRPr lang="fr-FR" sz="1400" b="0" dirty="0">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fr-FR" sz="1400" b="1" dirty="0" err="1">
                          <a:solidFill>
                            <a:srgbClr val="7030A0"/>
                          </a:solidFill>
                          <a:effectLst/>
                        </a:rPr>
                        <a:t>np.linspace</a:t>
                      </a:r>
                      <a:r>
                        <a:rPr lang="fr-FR" sz="1400" b="1" dirty="0">
                          <a:solidFill>
                            <a:srgbClr val="7030A0"/>
                          </a:solidFill>
                          <a:effectLst/>
                        </a:rPr>
                        <a:t>(</a:t>
                      </a:r>
                      <a:r>
                        <a:rPr lang="fr-FR" sz="1400" b="1" dirty="0" err="1">
                          <a:solidFill>
                            <a:srgbClr val="7030A0"/>
                          </a:solidFill>
                          <a:effectLst/>
                        </a:rPr>
                        <a:t>debut</a:t>
                      </a:r>
                      <a:r>
                        <a:rPr lang="fr-FR" sz="1400" b="1" dirty="0">
                          <a:solidFill>
                            <a:srgbClr val="7030A0"/>
                          </a:solidFill>
                          <a:effectLst/>
                        </a:rPr>
                        <a:t>, fin, n)</a:t>
                      </a:r>
                    </a:p>
                    <a:p>
                      <a:pPr>
                        <a:lnSpc>
                          <a:spcPct val="100000"/>
                        </a:lnSpc>
                        <a:spcBef>
                          <a:spcPts val="0"/>
                        </a:spcBef>
                        <a:spcAft>
                          <a:spcPts val="0"/>
                        </a:spcAft>
                      </a:pPr>
                      <a:r>
                        <a:rPr lang="fr-FR" sz="1400" b="1" dirty="0">
                          <a:solidFill>
                            <a:srgbClr val="7030A0"/>
                          </a:solidFill>
                          <a:effectLst/>
                        </a:rPr>
                        <a:t> </a:t>
                      </a:r>
                      <a:r>
                        <a:rPr lang="fr-FR" sz="1400" b="1" dirty="0" smtClean="0">
                          <a:solidFill>
                            <a:srgbClr val="7030A0"/>
                          </a:solidFill>
                          <a:effectLst/>
                        </a:rPr>
                        <a:t>N.B.la </a:t>
                      </a:r>
                      <a:r>
                        <a:rPr lang="fr-FR" sz="1400" b="1" dirty="0">
                          <a:solidFill>
                            <a:srgbClr val="7030A0"/>
                          </a:solidFill>
                          <a:effectLst/>
                        </a:rPr>
                        <a:t>valeur fin est inclue</a:t>
                      </a:r>
                      <a:endParaRPr lang="fr-FR" sz="1400" b="1" dirty="0">
                        <a:solidFill>
                          <a:srgbClr val="7030A0"/>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fr-FR" sz="1400" b="1" dirty="0">
                          <a:solidFill>
                            <a:srgbClr val="0000FF"/>
                          </a:solidFill>
                          <a:effectLst/>
                        </a:rPr>
                        <a:t>» </a:t>
                      </a:r>
                      <a:r>
                        <a:rPr lang="fr-FR" sz="1400" b="1" dirty="0" err="1">
                          <a:solidFill>
                            <a:srgbClr val="0000FF"/>
                          </a:solidFill>
                          <a:effectLst/>
                        </a:rPr>
                        <a:t>np.linspace</a:t>
                      </a:r>
                      <a:r>
                        <a:rPr lang="fr-FR" sz="1400" b="1" dirty="0">
                          <a:solidFill>
                            <a:srgbClr val="0000FF"/>
                          </a:solidFill>
                          <a:effectLst/>
                        </a:rPr>
                        <a:t>(0,1,6)</a:t>
                      </a:r>
                    </a:p>
                    <a:p>
                      <a:pPr>
                        <a:lnSpc>
                          <a:spcPct val="100000"/>
                        </a:lnSpc>
                        <a:spcBef>
                          <a:spcPts val="0"/>
                        </a:spcBef>
                        <a:spcAft>
                          <a:spcPts val="0"/>
                        </a:spcAft>
                      </a:pPr>
                      <a:r>
                        <a:rPr lang="fr-FR" sz="1400" b="1" dirty="0" err="1">
                          <a:solidFill>
                            <a:srgbClr val="0000FF"/>
                          </a:solidFill>
                          <a:effectLst/>
                        </a:rPr>
                        <a:t>array</a:t>
                      </a:r>
                      <a:r>
                        <a:rPr lang="fr-FR" sz="1400" b="1" dirty="0">
                          <a:solidFill>
                            <a:srgbClr val="0000FF"/>
                          </a:solidFill>
                          <a:effectLst/>
                        </a:rPr>
                        <a:t>([ 0.,0.2, 0.4, 0.6, 0.8, 1.])</a:t>
                      </a:r>
                      <a:endParaRPr lang="fr-FR" sz="1400" b="1" dirty="0">
                        <a:solidFill>
                          <a:srgbClr val="0000FF"/>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407096">
                <a:tc>
                  <a:txBody>
                    <a:bodyPr/>
                    <a:lstStyle/>
                    <a:p>
                      <a:pPr>
                        <a:lnSpc>
                          <a:spcPct val="100000"/>
                        </a:lnSpc>
                        <a:spcBef>
                          <a:spcPts val="0"/>
                        </a:spcBef>
                        <a:spcAft>
                          <a:spcPts val="0"/>
                        </a:spcAft>
                      </a:pPr>
                      <a:r>
                        <a:rPr lang="fr-FR" sz="1400" dirty="0" err="1">
                          <a:effectLst/>
                        </a:rPr>
                        <a:t>empty</a:t>
                      </a:r>
                      <a:endParaRPr lang="fr-FR" sz="1400" dirty="0">
                        <a:effectLst/>
                        <a:latin typeface="Calibri"/>
                        <a:ea typeface="Calibri"/>
                        <a:cs typeface="Arial"/>
                      </a:endParaRPr>
                    </a:p>
                  </a:txBody>
                  <a:tcPr marL="25597" marR="2559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a:lnSpc>
                          <a:spcPct val="100000"/>
                        </a:lnSpc>
                        <a:spcBef>
                          <a:spcPts val="0"/>
                        </a:spcBef>
                        <a:spcAft>
                          <a:spcPts val="0"/>
                        </a:spcAft>
                      </a:pPr>
                      <a:r>
                        <a:rPr lang="fr-FR" sz="1400" b="0" dirty="0">
                          <a:effectLst/>
                        </a:rPr>
                        <a:t>Pour créer des tableaux sans initialisation</a:t>
                      </a:r>
                      <a:endParaRPr lang="fr-FR" sz="1400" b="0" dirty="0">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en-US" sz="1400" b="1" dirty="0" err="1">
                          <a:solidFill>
                            <a:srgbClr val="7030A0"/>
                          </a:solidFill>
                          <a:effectLst/>
                        </a:rPr>
                        <a:t>np.empty</a:t>
                      </a:r>
                      <a:r>
                        <a:rPr lang="en-US" sz="1400" b="1" dirty="0">
                          <a:solidFill>
                            <a:srgbClr val="7030A0"/>
                          </a:solidFill>
                          <a:effectLst/>
                        </a:rPr>
                        <a:t>(</a:t>
                      </a:r>
                      <a:r>
                        <a:rPr lang="en-US" sz="1400" b="1" dirty="0" err="1">
                          <a:solidFill>
                            <a:srgbClr val="7030A0"/>
                          </a:solidFill>
                          <a:effectLst/>
                        </a:rPr>
                        <a:t>n,type</a:t>
                      </a:r>
                      <a:r>
                        <a:rPr lang="en-US" sz="1400" b="1" dirty="0">
                          <a:solidFill>
                            <a:srgbClr val="7030A0"/>
                          </a:solidFill>
                          <a:effectLst/>
                        </a:rPr>
                        <a:t>) =&gt; 1 dim.</a:t>
                      </a:r>
                      <a:endParaRPr lang="fr-FR" sz="1400" b="1" dirty="0">
                        <a:solidFill>
                          <a:srgbClr val="7030A0"/>
                        </a:solidFill>
                        <a:effectLst/>
                      </a:endParaRPr>
                    </a:p>
                    <a:p>
                      <a:pPr>
                        <a:lnSpc>
                          <a:spcPct val="100000"/>
                        </a:lnSpc>
                        <a:spcBef>
                          <a:spcPts val="0"/>
                        </a:spcBef>
                        <a:spcAft>
                          <a:spcPts val="0"/>
                        </a:spcAft>
                      </a:pPr>
                      <a:r>
                        <a:rPr lang="fr-FR" sz="1400" b="1" dirty="0" err="1">
                          <a:solidFill>
                            <a:srgbClr val="7030A0"/>
                          </a:solidFill>
                          <a:effectLst/>
                        </a:rPr>
                        <a:t>np.empty</a:t>
                      </a:r>
                      <a:r>
                        <a:rPr lang="fr-FR" sz="1400" b="1" dirty="0">
                          <a:solidFill>
                            <a:srgbClr val="7030A0"/>
                          </a:solidFill>
                          <a:effectLst/>
                        </a:rPr>
                        <a:t>((</a:t>
                      </a:r>
                      <a:r>
                        <a:rPr lang="fr-FR" sz="1400" b="1" dirty="0" err="1">
                          <a:solidFill>
                            <a:srgbClr val="7030A0"/>
                          </a:solidFill>
                          <a:effectLst/>
                        </a:rPr>
                        <a:t>nl,nc</a:t>
                      </a:r>
                      <a:r>
                        <a:rPr lang="fr-FR" sz="1400" b="1" dirty="0">
                          <a:solidFill>
                            <a:srgbClr val="7030A0"/>
                          </a:solidFill>
                          <a:effectLst/>
                        </a:rPr>
                        <a:t>),type)=&gt;2 dim.</a:t>
                      </a:r>
                      <a:endParaRPr lang="fr-FR" sz="1400" b="1" dirty="0">
                        <a:solidFill>
                          <a:srgbClr val="7030A0"/>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fr-FR" sz="1400" b="1" dirty="0">
                          <a:solidFill>
                            <a:srgbClr val="0000FF"/>
                          </a:solidFill>
                          <a:effectLst/>
                        </a:rPr>
                        <a:t>» X=</a:t>
                      </a:r>
                      <a:r>
                        <a:rPr lang="fr-FR" sz="1400" b="1" dirty="0" err="1">
                          <a:solidFill>
                            <a:srgbClr val="0000FF"/>
                          </a:solidFill>
                          <a:effectLst/>
                        </a:rPr>
                        <a:t>np.empty</a:t>
                      </a:r>
                      <a:r>
                        <a:rPr lang="fr-FR" sz="1400" b="1" dirty="0">
                          <a:solidFill>
                            <a:srgbClr val="0000FF"/>
                          </a:solidFill>
                          <a:effectLst/>
                        </a:rPr>
                        <a:t>(5,'float')</a:t>
                      </a:r>
                    </a:p>
                    <a:p>
                      <a:pPr>
                        <a:lnSpc>
                          <a:spcPct val="100000"/>
                        </a:lnSpc>
                        <a:spcBef>
                          <a:spcPts val="0"/>
                        </a:spcBef>
                        <a:spcAft>
                          <a:spcPts val="0"/>
                        </a:spcAft>
                      </a:pPr>
                      <a:r>
                        <a:rPr lang="fr-FR" sz="1400" b="1" dirty="0">
                          <a:solidFill>
                            <a:srgbClr val="0000FF"/>
                          </a:solidFill>
                          <a:effectLst/>
                        </a:rPr>
                        <a:t>X est un tableau non initialisé</a:t>
                      </a:r>
                      <a:endParaRPr lang="fr-FR" sz="1400" b="1" dirty="0">
                        <a:solidFill>
                          <a:srgbClr val="0000FF"/>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407096">
                <a:tc>
                  <a:txBody>
                    <a:bodyPr/>
                    <a:lstStyle/>
                    <a:p>
                      <a:pPr>
                        <a:lnSpc>
                          <a:spcPct val="100000"/>
                        </a:lnSpc>
                        <a:spcBef>
                          <a:spcPts val="0"/>
                        </a:spcBef>
                        <a:spcAft>
                          <a:spcPts val="0"/>
                        </a:spcAft>
                      </a:pPr>
                      <a:r>
                        <a:rPr lang="fr-FR" sz="1400" dirty="0" err="1">
                          <a:effectLst/>
                        </a:rPr>
                        <a:t>zeros</a:t>
                      </a:r>
                      <a:endParaRPr lang="fr-FR" sz="1400" dirty="0">
                        <a:effectLst/>
                        <a:latin typeface="Calibri"/>
                        <a:ea typeface="Calibri"/>
                        <a:cs typeface="Arial"/>
                      </a:endParaRPr>
                    </a:p>
                  </a:txBody>
                  <a:tcPr marL="25597" marR="2559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a:lnSpc>
                          <a:spcPct val="100000"/>
                        </a:lnSpc>
                        <a:spcBef>
                          <a:spcPts val="0"/>
                        </a:spcBef>
                        <a:spcAft>
                          <a:spcPts val="0"/>
                        </a:spcAft>
                      </a:pPr>
                      <a:r>
                        <a:rPr lang="fr-FR" sz="1400" b="0" dirty="0">
                          <a:effectLst/>
                        </a:rPr>
                        <a:t>Pour créer des tableaux remplis de 0</a:t>
                      </a:r>
                      <a:endParaRPr lang="fr-FR" sz="1400" b="0" dirty="0">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fr-FR" sz="1400" b="1" dirty="0" err="1">
                          <a:solidFill>
                            <a:srgbClr val="7030A0"/>
                          </a:solidFill>
                          <a:effectLst/>
                        </a:rPr>
                        <a:t>np</a:t>
                      </a:r>
                      <a:r>
                        <a:rPr lang="fr-FR" sz="1400" b="1" dirty="0">
                          <a:solidFill>
                            <a:srgbClr val="7030A0"/>
                          </a:solidFill>
                          <a:effectLst/>
                        </a:rPr>
                        <a:t>. </a:t>
                      </a:r>
                      <a:r>
                        <a:rPr lang="fr-FR" sz="1400" b="1" dirty="0" err="1">
                          <a:solidFill>
                            <a:srgbClr val="7030A0"/>
                          </a:solidFill>
                          <a:effectLst/>
                        </a:rPr>
                        <a:t>zeros</a:t>
                      </a:r>
                      <a:r>
                        <a:rPr lang="fr-FR" sz="1400" b="1" dirty="0">
                          <a:solidFill>
                            <a:srgbClr val="7030A0"/>
                          </a:solidFill>
                          <a:effectLst/>
                        </a:rPr>
                        <a:t> (</a:t>
                      </a:r>
                      <a:r>
                        <a:rPr lang="fr-FR" sz="1400" b="1" dirty="0" err="1">
                          <a:solidFill>
                            <a:srgbClr val="7030A0"/>
                          </a:solidFill>
                          <a:effectLst/>
                        </a:rPr>
                        <a:t>n,type</a:t>
                      </a:r>
                      <a:r>
                        <a:rPr lang="fr-FR" sz="1400" b="1" dirty="0">
                          <a:solidFill>
                            <a:srgbClr val="7030A0"/>
                          </a:solidFill>
                          <a:effectLst/>
                        </a:rPr>
                        <a:t>) =&gt; 1 dim.</a:t>
                      </a:r>
                    </a:p>
                    <a:p>
                      <a:pPr>
                        <a:lnSpc>
                          <a:spcPct val="100000"/>
                        </a:lnSpc>
                        <a:spcBef>
                          <a:spcPts val="0"/>
                        </a:spcBef>
                        <a:spcAft>
                          <a:spcPts val="0"/>
                        </a:spcAft>
                      </a:pPr>
                      <a:r>
                        <a:rPr lang="fr-FR" sz="1400" b="1" dirty="0" err="1">
                          <a:solidFill>
                            <a:srgbClr val="7030A0"/>
                          </a:solidFill>
                          <a:effectLst/>
                        </a:rPr>
                        <a:t>np</a:t>
                      </a:r>
                      <a:r>
                        <a:rPr lang="fr-FR" sz="1400" b="1" dirty="0">
                          <a:solidFill>
                            <a:srgbClr val="7030A0"/>
                          </a:solidFill>
                          <a:effectLst/>
                        </a:rPr>
                        <a:t>. </a:t>
                      </a:r>
                      <a:r>
                        <a:rPr lang="fr-FR" sz="1400" b="1" dirty="0" err="1">
                          <a:solidFill>
                            <a:srgbClr val="7030A0"/>
                          </a:solidFill>
                          <a:effectLst/>
                        </a:rPr>
                        <a:t>zeros</a:t>
                      </a:r>
                      <a:r>
                        <a:rPr lang="fr-FR" sz="1400" b="1" dirty="0">
                          <a:solidFill>
                            <a:srgbClr val="7030A0"/>
                          </a:solidFill>
                          <a:effectLst/>
                        </a:rPr>
                        <a:t>((</a:t>
                      </a:r>
                      <a:r>
                        <a:rPr lang="fr-FR" sz="1400" b="1" dirty="0" err="1">
                          <a:solidFill>
                            <a:srgbClr val="7030A0"/>
                          </a:solidFill>
                          <a:effectLst/>
                        </a:rPr>
                        <a:t>nl,nc</a:t>
                      </a:r>
                      <a:r>
                        <a:rPr lang="fr-FR" sz="1400" b="1" dirty="0">
                          <a:solidFill>
                            <a:srgbClr val="7030A0"/>
                          </a:solidFill>
                          <a:effectLst/>
                        </a:rPr>
                        <a:t>),type)=&gt;2 dim.</a:t>
                      </a:r>
                      <a:endParaRPr lang="fr-FR" sz="1400" b="1" dirty="0">
                        <a:solidFill>
                          <a:srgbClr val="7030A0"/>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fr-FR" sz="1400" b="1" dirty="0">
                          <a:solidFill>
                            <a:srgbClr val="0000FF"/>
                          </a:solidFill>
                          <a:effectLst/>
                        </a:rPr>
                        <a:t>» </a:t>
                      </a:r>
                      <a:r>
                        <a:rPr lang="fr-FR" sz="1400" b="1" dirty="0" err="1">
                          <a:solidFill>
                            <a:srgbClr val="0000FF"/>
                          </a:solidFill>
                          <a:effectLst/>
                        </a:rPr>
                        <a:t>np.zeros</a:t>
                      </a:r>
                      <a:r>
                        <a:rPr lang="fr-FR" sz="1400" b="1" dirty="0">
                          <a:solidFill>
                            <a:srgbClr val="0000FF"/>
                          </a:solidFill>
                          <a:effectLst/>
                        </a:rPr>
                        <a:t>(3,'float')</a:t>
                      </a:r>
                    </a:p>
                    <a:p>
                      <a:pPr>
                        <a:lnSpc>
                          <a:spcPct val="100000"/>
                        </a:lnSpc>
                        <a:spcBef>
                          <a:spcPts val="0"/>
                        </a:spcBef>
                        <a:spcAft>
                          <a:spcPts val="0"/>
                        </a:spcAft>
                      </a:pPr>
                      <a:r>
                        <a:rPr lang="fr-FR" sz="1400" b="1" dirty="0" err="1">
                          <a:solidFill>
                            <a:srgbClr val="0000FF"/>
                          </a:solidFill>
                          <a:effectLst/>
                        </a:rPr>
                        <a:t>array</a:t>
                      </a:r>
                      <a:r>
                        <a:rPr lang="fr-FR" sz="1400" b="1" dirty="0">
                          <a:solidFill>
                            <a:srgbClr val="0000FF"/>
                          </a:solidFill>
                          <a:effectLst/>
                        </a:rPr>
                        <a:t>([[ 0., 0., 0.])</a:t>
                      </a:r>
                      <a:endParaRPr lang="fr-FR" sz="1400" b="1" dirty="0">
                        <a:solidFill>
                          <a:srgbClr val="0000FF"/>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407096">
                <a:tc>
                  <a:txBody>
                    <a:bodyPr/>
                    <a:lstStyle/>
                    <a:p>
                      <a:pPr>
                        <a:lnSpc>
                          <a:spcPct val="100000"/>
                        </a:lnSpc>
                        <a:spcBef>
                          <a:spcPts val="0"/>
                        </a:spcBef>
                        <a:spcAft>
                          <a:spcPts val="0"/>
                        </a:spcAft>
                      </a:pPr>
                      <a:r>
                        <a:rPr lang="fr-FR" sz="1400" dirty="0" err="1">
                          <a:effectLst/>
                        </a:rPr>
                        <a:t>ones</a:t>
                      </a:r>
                      <a:endParaRPr lang="fr-FR" sz="1400" dirty="0">
                        <a:effectLst/>
                        <a:latin typeface="Calibri"/>
                        <a:ea typeface="Calibri"/>
                        <a:cs typeface="Arial"/>
                      </a:endParaRPr>
                    </a:p>
                  </a:txBody>
                  <a:tcPr marL="25597" marR="2559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a:lnSpc>
                          <a:spcPct val="100000"/>
                        </a:lnSpc>
                        <a:spcBef>
                          <a:spcPts val="0"/>
                        </a:spcBef>
                        <a:spcAft>
                          <a:spcPts val="0"/>
                        </a:spcAft>
                      </a:pPr>
                      <a:r>
                        <a:rPr lang="fr-FR" sz="1400" b="0" dirty="0">
                          <a:effectLst/>
                        </a:rPr>
                        <a:t>Pour créer des tableaux remplis de 1</a:t>
                      </a:r>
                      <a:endParaRPr lang="fr-FR" sz="1400" b="0" dirty="0">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fr-FR" sz="1400" b="1" dirty="0" err="1">
                          <a:solidFill>
                            <a:srgbClr val="7030A0"/>
                          </a:solidFill>
                          <a:effectLst/>
                        </a:rPr>
                        <a:t>np.ones</a:t>
                      </a:r>
                      <a:r>
                        <a:rPr lang="fr-FR" sz="1400" b="1" dirty="0">
                          <a:solidFill>
                            <a:srgbClr val="7030A0"/>
                          </a:solidFill>
                          <a:effectLst/>
                        </a:rPr>
                        <a:t>(</a:t>
                      </a:r>
                      <a:r>
                        <a:rPr lang="fr-FR" sz="1400" b="1" dirty="0" err="1">
                          <a:solidFill>
                            <a:srgbClr val="7030A0"/>
                          </a:solidFill>
                          <a:effectLst/>
                        </a:rPr>
                        <a:t>n,type</a:t>
                      </a:r>
                      <a:r>
                        <a:rPr lang="fr-FR" sz="1400" b="1" dirty="0">
                          <a:solidFill>
                            <a:srgbClr val="7030A0"/>
                          </a:solidFill>
                          <a:effectLst/>
                        </a:rPr>
                        <a:t>) =&gt; 1 dim.</a:t>
                      </a:r>
                    </a:p>
                    <a:p>
                      <a:pPr>
                        <a:lnSpc>
                          <a:spcPct val="100000"/>
                        </a:lnSpc>
                        <a:spcBef>
                          <a:spcPts val="0"/>
                        </a:spcBef>
                        <a:spcAft>
                          <a:spcPts val="0"/>
                        </a:spcAft>
                      </a:pPr>
                      <a:r>
                        <a:rPr lang="fr-FR" sz="1400" b="1" dirty="0" err="1">
                          <a:solidFill>
                            <a:srgbClr val="7030A0"/>
                          </a:solidFill>
                          <a:effectLst/>
                        </a:rPr>
                        <a:t>np.ones</a:t>
                      </a:r>
                      <a:r>
                        <a:rPr lang="fr-FR" sz="1400" b="1" dirty="0">
                          <a:solidFill>
                            <a:srgbClr val="7030A0"/>
                          </a:solidFill>
                          <a:effectLst/>
                        </a:rPr>
                        <a:t>((</a:t>
                      </a:r>
                      <a:r>
                        <a:rPr lang="fr-FR" sz="1400" b="1" dirty="0" err="1">
                          <a:solidFill>
                            <a:srgbClr val="7030A0"/>
                          </a:solidFill>
                          <a:effectLst/>
                        </a:rPr>
                        <a:t>nl,nc</a:t>
                      </a:r>
                      <a:r>
                        <a:rPr lang="fr-FR" sz="1400" b="1" dirty="0">
                          <a:solidFill>
                            <a:srgbClr val="7030A0"/>
                          </a:solidFill>
                          <a:effectLst/>
                        </a:rPr>
                        <a:t>),type)=&gt;2 dim.</a:t>
                      </a:r>
                      <a:endParaRPr lang="fr-FR" sz="1400" b="1" dirty="0">
                        <a:solidFill>
                          <a:srgbClr val="7030A0"/>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fr-FR" sz="1400" b="1" dirty="0">
                          <a:solidFill>
                            <a:srgbClr val="0000FF"/>
                          </a:solidFill>
                          <a:effectLst/>
                        </a:rPr>
                        <a:t>» </a:t>
                      </a:r>
                      <a:r>
                        <a:rPr lang="fr-FR" sz="1400" b="1" dirty="0" err="1">
                          <a:solidFill>
                            <a:srgbClr val="0000FF"/>
                          </a:solidFill>
                          <a:effectLst/>
                        </a:rPr>
                        <a:t>np.ones</a:t>
                      </a:r>
                      <a:r>
                        <a:rPr lang="fr-FR" sz="1400" b="1" dirty="0">
                          <a:solidFill>
                            <a:srgbClr val="0000FF"/>
                          </a:solidFill>
                          <a:effectLst/>
                        </a:rPr>
                        <a:t>(3,'float')</a:t>
                      </a:r>
                    </a:p>
                    <a:p>
                      <a:pPr>
                        <a:lnSpc>
                          <a:spcPct val="100000"/>
                        </a:lnSpc>
                        <a:spcBef>
                          <a:spcPts val="0"/>
                        </a:spcBef>
                        <a:spcAft>
                          <a:spcPts val="0"/>
                        </a:spcAft>
                      </a:pPr>
                      <a:r>
                        <a:rPr lang="fr-FR" sz="1400" b="1" dirty="0" err="1">
                          <a:solidFill>
                            <a:srgbClr val="0000FF"/>
                          </a:solidFill>
                          <a:effectLst/>
                        </a:rPr>
                        <a:t>array</a:t>
                      </a:r>
                      <a:r>
                        <a:rPr lang="fr-FR" sz="1400" b="1" dirty="0">
                          <a:solidFill>
                            <a:srgbClr val="0000FF"/>
                          </a:solidFill>
                          <a:effectLst/>
                        </a:rPr>
                        <a:t>([[ 1., 1., 1.])</a:t>
                      </a:r>
                      <a:endParaRPr lang="fr-FR" sz="1400" b="1" dirty="0">
                        <a:solidFill>
                          <a:srgbClr val="0000FF"/>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610643">
                <a:tc>
                  <a:txBody>
                    <a:bodyPr/>
                    <a:lstStyle/>
                    <a:p>
                      <a:pPr>
                        <a:lnSpc>
                          <a:spcPct val="100000"/>
                        </a:lnSpc>
                        <a:spcBef>
                          <a:spcPts val="0"/>
                        </a:spcBef>
                        <a:spcAft>
                          <a:spcPts val="0"/>
                        </a:spcAft>
                      </a:pPr>
                      <a:r>
                        <a:rPr lang="fr-FR" sz="1400">
                          <a:effectLst/>
                        </a:rPr>
                        <a:t>identity</a:t>
                      </a:r>
                    </a:p>
                    <a:p>
                      <a:pPr>
                        <a:lnSpc>
                          <a:spcPct val="100000"/>
                        </a:lnSpc>
                        <a:spcBef>
                          <a:spcPts val="0"/>
                        </a:spcBef>
                        <a:spcAft>
                          <a:spcPts val="0"/>
                        </a:spcAft>
                      </a:pPr>
                      <a:r>
                        <a:rPr lang="fr-FR" sz="1400">
                          <a:effectLst/>
                        </a:rPr>
                        <a:t>ou eye</a:t>
                      </a:r>
                      <a:endParaRPr lang="fr-FR" sz="1400">
                        <a:effectLst/>
                        <a:latin typeface="Calibri"/>
                        <a:ea typeface="Calibri"/>
                        <a:cs typeface="Arial"/>
                      </a:endParaRPr>
                    </a:p>
                  </a:txBody>
                  <a:tcPr marL="25597" marR="2559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a:lnSpc>
                          <a:spcPct val="100000"/>
                        </a:lnSpc>
                        <a:spcBef>
                          <a:spcPts val="0"/>
                        </a:spcBef>
                        <a:spcAft>
                          <a:spcPts val="0"/>
                        </a:spcAft>
                      </a:pPr>
                      <a:r>
                        <a:rPr lang="fr-FR" sz="1400" b="0" dirty="0">
                          <a:effectLst/>
                        </a:rPr>
                        <a:t>Pour créer des matrices identités </a:t>
                      </a:r>
                      <a:endParaRPr lang="fr-FR" sz="1400" b="0" dirty="0">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fr-FR" sz="1400" b="1" dirty="0" err="1">
                          <a:solidFill>
                            <a:srgbClr val="7030A0"/>
                          </a:solidFill>
                          <a:effectLst/>
                        </a:rPr>
                        <a:t>np.identity</a:t>
                      </a:r>
                      <a:r>
                        <a:rPr lang="fr-FR" sz="1400" b="1" dirty="0">
                          <a:solidFill>
                            <a:srgbClr val="7030A0"/>
                          </a:solidFill>
                          <a:effectLst/>
                        </a:rPr>
                        <a:t>(nombre)</a:t>
                      </a:r>
                    </a:p>
                    <a:p>
                      <a:pPr>
                        <a:lnSpc>
                          <a:spcPct val="100000"/>
                        </a:lnSpc>
                        <a:spcBef>
                          <a:spcPts val="0"/>
                        </a:spcBef>
                        <a:spcAft>
                          <a:spcPts val="0"/>
                        </a:spcAft>
                      </a:pPr>
                      <a:r>
                        <a:rPr lang="fr-FR" sz="1400" b="1" dirty="0" err="1">
                          <a:solidFill>
                            <a:srgbClr val="7030A0"/>
                          </a:solidFill>
                          <a:effectLst/>
                        </a:rPr>
                        <a:t>np.eye</a:t>
                      </a:r>
                      <a:r>
                        <a:rPr lang="fr-FR" sz="1400" b="1" dirty="0">
                          <a:solidFill>
                            <a:srgbClr val="7030A0"/>
                          </a:solidFill>
                          <a:effectLst/>
                        </a:rPr>
                        <a:t>(nombre)</a:t>
                      </a:r>
                      <a:endParaRPr lang="fr-FR" sz="1400" b="1" dirty="0">
                        <a:solidFill>
                          <a:srgbClr val="7030A0"/>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fr-FR" sz="1400" b="1" dirty="0">
                          <a:solidFill>
                            <a:srgbClr val="0000FF"/>
                          </a:solidFill>
                          <a:effectLst/>
                        </a:rPr>
                        <a:t>» </a:t>
                      </a:r>
                      <a:r>
                        <a:rPr lang="fr-FR" sz="1400" b="1" dirty="0" err="1">
                          <a:solidFill>
                            <a:srgbClr val="0000FF"/>
                          </a:solidFill>
                          <a:effectLst/>
                        </a:rPr>
                        <a:t>np.identity</a:t>
                      </a:r>
                      <a:r>
                        <a:rPr lang="fr-FR" sz="1400" b="1" dirty="0">
                          <a:solidFill>
                            <a:srgbClr val="0000FF"/>
                          </a:solidFill>
                          <a:effectLst/>
                        </a:rPr>
                        <a:t>(2)</a:t>
                      </a:r>
                    </a:p>
                    <a:p>
                      <a:pPr>
                        <a:lnSpc>
                          <a:spcPct val="100000"/>
                        </a:lnSpc>
                        <a:spcBef>
                          <a:spcPts val="0"/>
                        </a:spcBef>
                        <a:spcAft>
                          <a:spcPts val="0"/>
                        </a:spcAft>
                      </a:pPr>
                      <a:r>
                        <a:rPr lang="fr-FR" sz="1400" b="1" dirty="0" err="1">
                          <a:solidFill>
                            <a:srgbClr val="0000FF"/>
                          </a:solidFill>
                          <a:effectLst/>
                        </a:rPr>
                        <a:t>array</a:t>
                      </a:r>
                      <a:r>
                        <a:rPr lang="fr-FR" sz="1400" b="1" dirty="0">
                          <a:solidFill>
                            <a:srgbClr val="0000FF"/>
                          </a:solidFill>
                          <a:effectLst/>
                        </a:rPr>
                        <a:t>([[ 1., 0.],</a:t>
                      </a:r>
                    </a:p>
                    <a:p>
                      <a:pPr>
                        <a:lnSpc>
                          <a:spcPct val="100000"/>
                        </a:lnSpc>
                        <a:spcBef>
                          <a:spcPts val="0"/>
                        </a:spcBef>
                        <a:spcAft>
                          <a:spcPts val="0"/>
                        </a:spcAft>
                      </a:pPr>
                      <a:r>
                        <a:rPr lang="fr-FR" sz="1400" b="1" dirty="0">
                          <a:solidFill>
                            <a:srgbClr val="0000FF"/>
                          </a:solidFill>
                          <a:effectLst/>
                        </a:rPr>
                        <a:t>       [ 0., 1.]])</a:t>
                      </a:r>
                      <a:endParaRPr lang="fr-FR" sz="1400" b="1" dirty="0">
                        <a:solidFill>
                          <a:srgbClr val="0000FF"/>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814191">
                <a:tc>
                  <a:txBody>
                    <a:bodyPr/>
                    <a:lstStyle/>
                    <a:p>
                      <a:pPr>
                        <a:lnSpc>
                          <a:spcPct val="100000"/>
                        </a:lnSpc>
                        <a:spcBef>
                          <a:spcPts val="0"/>
                        </a:spcBef>
                        <a:spcAft>
                          <a:spcPts val="0"/>
                        </a:spcAft>
                      </a:pPr>
                      <a:r>
                        <a:rPr lang="fr-FR" sz="1400">
                          <a:effectLst/>
                        </a:rPr>
                        <a:t>alen</a:t>
                      </a:r>
                      <a:endParaRPr lang="fr-FR" sz="1400">
                        <a:effectLst/>
                        <a:latin typeface="Calibri"/>
                        <a:ea typeface="Calibri"/>
                        <a:cs typeface="Arial"/>
                      </a:endParaRPr>
                    </a:p>
                  </a:txBody>
                  <a:tcPr marL="25597" marR="2559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a:lnSpc>
                          <a:spcPct val="100000"/>
                        </a:lnSpc>
                        <a:spcBef>
                          <a:spcPts val="0"/>
                        </a:spcBef>
                        <a:spcAft>
                          <a:spcPts val="0"/>
                        </a:spcAft>
                      </a:pPr>
                      <a:r>
                        <a:rPr lang="fr-FR" sz="1400" b="0" dirty="0">
                          <a:effectLst/>
                        </a:rPr>
                        <a:t>donne la première </a:t>
                      </a:r>
                      <a:endParaRPr lang="fr-FR" sz="1400" b="0" dirty="0" smtClean="0">
                        <a:effectLst/>
                      </a:endParaRPr>
                    </a:p>
                    <a:p>
                      <a:pPr algn="just">
                        <a:lnSpc>
                          <a:spcPct val="100000"/>
                        </a:lnSpc>
                        <a:spcBef>
                          <a:spcPts val="0"/>
                        </a:spcBef>
                        <a:spcAft>
                          <a:spcPts val="0"/>
                        </a:spcAft>
                      </a:pPr>
                      <a:r>
                        <a:rPr lang="fr-FR" sz="1400" b="0" dirty="0" smtClean="0">
                          <a:effectLst/>
                        </a:rPr>
                        <a:t>dimension </a:t>
                      </a:r>
                      <a:r>
                        <a:rPr lang="fr-FR" sz="1400" b="0" dirty="0">
                          <a:effectLst/>
                        </a:rPr>
                        <a:t>d’un tableau (taille d’un vecteur, </a:t>
                      </a:r>
                      <a:r>
                        <a:rPr lang="fr-FR" sz="1400" b="0" dirty="0" err="1">
                          <a:effectLst/>
                        </a:rPr>
                        <a:t>nbr</a:t>
                      </a:r>
                      <a:r>
                        <a:rPr lang="fr-FR" sz="1400" b="0" dirty="0">
                          <a:effectLst/>
                        </a:rPr>
                        <a:t> de lignes d’une matrice).</a:t>
                      </a:r>
                      <a:endParaRPr lang="fr-FR" sz="1400" b="0" dirty="0">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fr-FR" sz="1400" b="1" dirty="0">
                          <a:solidFill>
                            <a:srgbClr val="7030A0"/>
                          </a:solidFill>
                          <a:effectLst/>
                        </a:rPr>
                        <a:t>l=</a:t>
                      </a:r>
                      <a:r>
                        <a:rPr lang="fr-FR" sz="1400" b="1" dirty="0" err="1">
                          <a:solidFill>
                            <a:srgbClr val="7030A0"/>
                          </a:solidFill>
                          <a:effectLst/>
                        </a:rPr>
                        <a:t>np.alen</a:t>
                      </a:r>
                      <a:r>
                        <a:rPr lang="fr-FR" sz="1400" b="1" dirty="0">
                          <a:solidFill>
                            <a:srgbClr val="7030A0"/>
                          </a:solidFill>
                          <a:effectLst/>
                        </a:rPr>
                        <a:t>(tab)</a:t>
                      </a:r>
                      <a:endParaRPr lang="fr-FR" sz="1400" b="1" dirty="0">
                        <a:solidFill>
                          <a:srgbClr val="7030A0"/>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fr-FR" sz="1400" b="1" dirty="0">
                          <a:solidFill>
                            <a:srgbClr val="0000FF"/>
                          </a:solidFill>
                          <a:effectLst/>
                        </a:rPr>
                        <a:t>» T=</a:t>
                      </a:r>
                      <a:r>
                        <a:rPr lang="fr-FR" sz="1400" b="1" dirty="0" err="1">
                          <a:solidFill>
                            <a:srgbClr val="0000FF"/>
                          </a:solidFill>
                          <a:effectLst/>
                        </a:rPr>
                        <a:t>np.array</a:t>
                      </a:r>
                      <a:r>
                        <a:rPr lang="fr-FR" sz="1400" b="1" dirty="0">
                          <a:solidFill>
                            <a:srgbClr val="0000FF"/>
                          </a:solidFill>
                          <a:effectLst/>
                        </a:rPr>
                        <a:t>([ 0, 1, 2, 3, 4, 5])</a:t>
                      </a:r>
                    </a:p>
                    <a:p>
                      <a:pPr>
                        <a:lnSpc>
                          <a:spcPct val="100000"/>
                        </a:lnSpc>
                        <a:spcBef>
                          <a:spcPts val="0"/>
                        </a:spcBef>
                        <a:spcAft>
                          <a:spcPts val="0"/>
                        </a:spcAft>
                      </a:pPr>
                      <a:r>
                        <a:rPr lang="fr-FR" sz="1400" b="1" dirty="0">
                          <a:solidFill>
                            <a:srgbClr val="0000FF"/>
                          </a:solidFill>
                          <a:effectLst/>
                        </a:rPr>
                        <a:t>» </a:t>
                      </a:r>
                      <a:r>
                        <a:rPr lang="fr-FR" sz="1400" b="1" dirty="0" err="1">
                          <a:solidFill>
                            <a:srgbClr val="0000FF"/>
                          </a:solidFill>
                          <a:effectLst/>
                        </a:rPr>
                        <a:t>np.alen</a:t>
                      </a:r>
                      <a:r>
                        <a:rPr lang="fr-FR" sz="1400" b="1" dirty="0">
                          <a:solidFill>
                            <a:srgbClr val="0000FF"/>
                          </a:solidFill>
                          <a:effectLst/>
                        </a:rPr>
                        <a:t>(T)        =&gt;6</a:t>
                      </a:r>
                    </a:p>
                    <a:p>
                      <a:pPr>
                        <a:lnSpc>
                          <a:spcPct val="100000"/>
                        </a:lnSpc>
                        <a:spcBef>
                          <a:spcPts val="0"/>
                        </a:spcBef>
                        <a:spcAft>
                          <a:spcPts val="0"/>
                        </a:spcAft>
                      </a:pPr>
                      <a:r>
                        <a:rPr lang="en-US" sz="1400" b="1" dirty="0">
                          <a:solidFill>
                            <a:srgbClr val="0000FF"/>
                          </a:solidFill>
                          <a:effectLst/>
                        </a:rPr>
                        <a:t>» M=</a:t>
                      </a:r>
                      <a:r>
                        <a:rPr lang="en-US" sz="1400" b="1" dirty="0" err="1">
                          <a:solidFill>
                            <a:srgbClr val="0000FF"/>
                          </a:solidFill>
                          <a:effectLst/>
                        </a:rPr>
                        <a:t>np.array</a:t>
                      </a:r>
                      <a:r>
                        <a:rPr lang="en-US" sz="1400" b="1" dirty="0">
                          <a:solidFill>
                            <a:srgbClr val="0000FF"/>
                          </a:solidFill>
                          <a:effectLst/>
                        </a:rPr>
                        <a:t>([[ 1, 9, 1],[3,6,4]])</a:t>
                      </a:r>
                      <a:endParaRPr lang="fr-FR" sz="1400" b="1" dirty="0">
                        <a:solidFill>
                          <a:srgbClr val="0000FF"/>
                        </a:solidFill>
                        <a:effectLst/>
                      </a:endParaRPr>
                    </a:p>
                    <a:p>
                      <a:pPr>
                        <a:lnSpc>
                          <a:spcPct val="100000"/>
                        </a:lnSpc>
                        <a:spcBef>
                          <a:spcPts val="0"/>
                        </a:spcBef>
                        <a:spcAft>
                          <a:spcPts val="0"/>
                        </a:spcAft>
                      </a:pPr>
                      <a:r>
                        <a:rPr lang="en-US" sz="1400" b="1" dirty="0">
                          <a:solidFill>
                            <a:srgbClr val="0000FF"/>
                          </a:solidFill>
                          <a:effectLst/>
                        </a:rPr>
                        <a:t>» </a:t>
                      </a:r>
                      <a:r>
                        <a:rPr lang="en-US" sz="1400" b="1" dirty="0" err="1">
                          <a:solidFill>
                            <a:srgbClr val="0000FF"/>
                          </a:solidFill>
                          <a:effectLst/>
                        </a:rPr>
                        <a:t>np.alen</a:t>
                      </a:r>
                      <a:r>
                        <a:rPr lang="en-US" sz="1400" b="1" dirty="0">
                          <a:solidFill>
                            <a:srgbClr val="0000FF"/>
                          </a:solidFill>
                          <a:effectLst/>
                        </a:rPr>
                        <a:t>(M)        =&gt;2</a:t>
                      </a:r>
                      <a:endParaRPr lang="fr-FR" sz="1400" b="1" dirty="0">
                        <a:solidFill>
                          <a:srgbClr val="0000FF"/>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814191">
                <a:tc>
                  <a:txBody>
                    <a:bodyPr/>
                    <a:lstStyle/>
                    <a:p>
                      <a:pPr>
                        <a:lnSpc>
                          <a:spcPct val="100000"/>
                        </a:lnSpc>
                        <a:spcBef>
                          <a:spcPts val="0"/>
                        </a:spcBef>
                        <a:spcAft>
                          <a:spcPts val="0"/>
                        </a:spcAft>
                      </a:pPr>
                      <a:r>
                        <a:rPr lang="fr-FR" sz="1400" dirty="0">
                          <a:effectLst/>
                        </a:rPr>
                        <a:t>size</a:t>
                      </a:r>
                      <a:endParaRPr lang="fr-FR" sz="1400" dirty="0">
                        <a:effectLst/>
                        <a:latin typeface="Calibri"/>
                        <a:ea typeface="Calibri"/>
                        <a:cs typeface="Arial"/>
                      </a:endParaRPr>
                    </a:p>
                  </a:txBody>
                  <a:tcPr marL="25597" marR="2559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a:lnSpc>
                          <a:spcPct val="100000"/>
                        </a:lnSpc>
                        <a:spcBef>
                          <a:spcPts val="0"/>
                        </a:spcBef>
                        <a:spcAft>
                          <a:spcPts val="0"/>
                        </a:spcAft>
                      </a:pPr>
                      <a:r>
                        <a:rPr lang="fr-FR" sz="1400" b="0" dirty="0">
                          <a:effectLst/>
                        </a:rPr>
                        <a:t>Pour obtenir le nombre d’éléments d’un tableau</a:t>
                      </a:r>
                      <a:endParaRPr lang="fr-FR" sz="1400" b="0" dirty="0">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fr-FR" sz="1400" b="1" dirty="0" err="1">
                          <a:solidFill>
                            <a:srgbClr val="7030A0"/>
                          </a:solidFill>
                          <a:effectLst/>
                        </a:rPr>
                        <a:t>np.size</a:t>
                      </a:r>
                      <a:r>
                        <a:rPr lang="fr-FR" sz="1400" b="1" dirty="0">
                          <a:solidFill>
                            <a:srgbClr val="7030A0"/>
                          </a:solidFill>
                          <a:effectLst/>
                        </a:rPr>
                        <a:t>(tab)</a:t>
                      </a:r>
                    </a:p>
                    <a:p>
                      <a:pPr>
                        <a:lnSpc>
                          <a:spcPct val="100000"/>
                        </a:lnSpc>
                        <a:spcBef>
                          <a:spcPts val="0"/>
                        </a:spcBef>
                        <a:spcAft>
                          <a:spcPts val="0"/>
                        </a:spcAft>
                      </a:pPr>
                      <a:r>
                        <a:rPr lang="fr-FR" sz="1400" b="1" dirty="0" err="1">
                          <a:solidFill>
                            <a:srgbClr val="7030A0"/>
                          </a:solidFill>
                          <a:effectLst/>
                        </a:rPr>
                        <a:t>np.size</a:t>
                      </a:r>
                      <a:r>
                        <a:rPr lang="fr-FR" sz="1400" b="1" dirty="0">
                          <a:solidFill>
                            <a:srgbClr val="7030A0"/>
                          </a:solidFill>
                          <a:effectLst/>
                        </a:rPr>
                        <a:t>(tab,0) : </a:t>
                      </a:r>
                      <a:r>
                        <a:rPr lang="fr-FR" sz="1400" b="1" dirty="0" err="1">
                          <a:solidFill>
                            <a:srgbClr val="7030A0"/>
                          </a:solidFill>
                          <a:effectLst/>
                        </a:rPr>
                        <a:t>nbr</a:t>
                      </a:r>
                      <a:r>
                        <a:rPr lang="fr-FR" sz="1400" b="1" dirty="0">
                          <a:solidFill>
                            <a:srgbClr val="7030A0"/>
                          </a:solidFill>
                          <a:effectLst/>
                        </a:rPr>
                        <a:t> de lignes</a:t>
                      </a:r>
                    </a:p>
                    <a:p>
                      <a:pPr>
                        <a:lnSpc>
                          <a:spcPct val="100000"/>
                        </a:lnSpc>
                        <a:spcBef>
                          <a:spcPts val="0"/>
                        </a:spcBef>
                        <a:spcAft>
                          <a:spcPts val="0"/>
                        </a:spcAft>
                      </a:pPr>
                      <a:r>
                        <a:rPr lang="fr-FR" sz="1400" b="1" dirty="0" err="1">
                          <a:solidFill>
                            <a:srgbClr val="7030A0"/>
                          </a:solidFill>
                          <a:effectLst/>
                        </a:rPr>
                        <a:t>np.size</a:t>
                      </a:r>
                      <a:r>
                        <a:rPr lang="fr-FR" sz="1400" b="1" dirty="0">
                          <a:solidFill>
                            <a:srgbClr val="7030A0"/>
                          </a:solidFill>
                          <a:effectLst/>
                        </a:rPr>
                        <a:t>(tab,1) :</a:t>
                      </a:r>
                      <a:r>
                        <a:rPr lang="fr-FR" sz="1400" b="1" dirty="0" err="1">
                          <a:solidFill>
                            <a:srgbClr val="7030A0"/>
                          </a:solidFill>
                          <a:effectLst/>
                        </a:rPr>
                        <a:t>nbr</a:t>
                      </a:r>
                      <a:r>
                        <a:rPr lang="fr-FR" sz="1400" b="1" dirty="0">
                          <a:solidFill>
                            <a:srgbClr val="7030A0"/>
                          </a:solidFill>
                          <a:effectLst/>
                        </a:rPr>
                        <a:t> de colonnes</a:t>
                      </a:r>
                      <a:endParaRPr lang="fr-FR" sz="1400" b="1" dirty="0">
                        <a:solidFill>
                          <a:srgbClr val="7030A0"/>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en-US" sz="1400" b="1" dirty="0">
                          <a:solidFill>
                            <a:srgbClr val="0000FF"/>
                          </a:solidFill>
                          <a:effectLst/>
                        </a:rPr>
                        <a:t>» A=</a:t>
                      </a:r>
                      <a:r>
                        <a:rPr lang="en-US" sz="1400" b="1" dirty="0" err="1">
                          <a:solidFill>
                            <a:srgbClr val="0000FF"/>
                          </a:solidFill>
                          <a:effectLst/>
                        </a:rPr>
                        <a:t>np.array</a:t>
                      </a:r>
                      <a:r>
                        <a:rPr lang="en-US" sz="1400" b="1" dirty="0">
                          <a:solidFill>
                            <a:srgbClr val="0000FF"/>
                          </a:solidFill>
                          <a:effectLst/>
                        </a:rPr>
                        <a:t>([[ 1, 9, 1],[3,6,4]])</a:t>
                      </a:r>
                      <a:endParaRPr lang="fr-FR" sz="1400" b="1" dirty="0">
                        <a:solidFill>
                          <a:srgbClr val="0000FF"/>
                        </a:solidFill>
                        <a:effectLst/>
                      </a:endParaRPr>
                    </a:p>
                    <a:p>
                      <a:pPr>
                        <a:lnSpc>
                          <a:spcPct val="100000"/>
                        </a:lnSpc>
                        <a:spcBef>
                          <a:spcPts val="0"/>
                        </a:spcBef>
                        <a:spcAft>
                          <a:spcPts val="0"/>
                        </a:spcAft>
                      </a:pPr>
                      <a:r>
                        <a:rPr lang="en-US" sz="1400" b="1" dirty="0">
                          <a:solidFill>
                            <a:srgbClr val="0000FF"/>
                          </a:solidFill>
                          <a:effectLst/>
                        </a:rPr>
                        <a:t>» </a:t>
                      </a:r>
                      <a:r>
                        <a:rPr lang="en-US" sz="1400" b="1" dirty="0" err="1">
                          <a:solidFill>
                            <a:srgbClr val="0000FF"/>
                          </a:solidFill>
                          <a:effectLst/>
                        </a:rPr>
                        <a:t>np.size</a:t>
                      </a:r>
                      <a:r>
                        <a:rPr lang="en-US" sz="1400" b="1" dirty="0">
                          <a:solidFill>
                            <a:srgbClr val="0000FF"/>
                          </a:solidFill>
                          <a:effectLst/>
                        </a:rPr>
                        <a:t>(A)        =&gt;6</a:t>
                      </a:r>
                      <a:endParaRPr lang="fr-FR" sz="1400" b="1" dirty="0">
                        <a:solidFill>
                          <a:srgbClr val="0000FF"/>
                        </a:solidFill>
                        <a:effectLst/>
                      </a:endParaRPr>
                    </a:p>
                    <a:p>
                      <a:pPr>
                        <a:lnSpc>
                          <a:spcPct val="100000"/>
                        </a:lnSpc>
                        <a:spcBef>
                          <a:spcPts val="0"/>
                        </a:spcBef>
                        <a:spcAft>
                          <a:spcPts val="0"/>
                        </a:spcAft>
                      </a:pPr>
                      <a:r>
                        <a:rPr lang="en-US" sz="1400" b="1" dirty="0">
                          <a:solidFill>
                            <a:srgbClr val="0000FF"/>
                          </a:solidFill>
                          <a:effectLst/>
                        </a:rPr>
                        <a:t>» </a:t>
                      </a:r>
                      <a:r>
                        <a:rPr lang="en-US" sz="1400" b="1" dirty="0" err="1">
                          <a:solidFill>
                            <a:srgbClr val="0000FF"/>
                          </a:solidFill>
                          <a:effectLst/>
                        </a:rPr>
                        <a:t>np.size</a:t>
                      </a:r>
                      <a:r>
                        <a:rPr lang="en-US" sz="1400" b="1" dirty="0">
                          <a:solidFill>
                            <a:srgbClr val="0000FF"/>
                          </a:solidFill>
                          <a:effectLst/>
                        </a:rPr>
                        <a:t>(A,0)      =&gt;2</a:t>
                      </a:r>
                      <a:endParaRPr lang="fr-FR" sz="1400" b="1" dirty="0">
                        <a:solidFill>
                          <a:srgbClr val="0000FF"/>
                        </a:solidFill>
                        <a:effectLst/>
                      </a:endParaRPr>
                    </a:p>
                    <a:p>
                      <a:pPr>
                        <a:lnSpc>
                          <a:spcPct val="100000"/>
                        </a:lnSpc>
                        <a:spcBef>
                          <a:spcPts val="0"/>
                        </a:spcBef>
                        <a:spcAft>
                          <a:spcPts val="0"/>
                        </a:spcAft>
                      </a:pPr>
                      <a:r>
                        <a:rPr lang="en-US" sz="1400" b="1" dirty="0">
                          <a:solidFill>
                            <a:srgbClr val="0000FF"/>
                          </a:solidFill>
                          <a:effectLst/>
                        </a:rPr>
                        <a:t>» </a:t>
                      </a:r>
                      <a:r>
                        <a:rPr lang="en-US" sz="1400" b="1" dirty="0" err="1">
                          <a:solidFill>
                            <a:srgbClr val="0000FF"/>
                          </a:solidFill>
                          <a:effectLst/>
                        </a:rPr>
                        <a:t>np.size</a:t>
                      </a:r>
                      <a:r>
                        <a:rPr lang="en-US" sz="1400" b="1" dirty="0">
                          <a:solidFill>
                            <a:srgbClr val="0000FF"/>
                          </a:solidFill>
                          <a:effectLst/>
                        </a:rPr>
                        <a:t>(A,1)      =&gt;3</a:t>
                      </a:r>
                      <a:endParaRPr lang="fr-FR" sz="1400" b="1" dirty="0">
                        <a:solidFill>
                          <a:srgbClr val="0000FF"/>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bl>
          </a:graphicData>
        </a:graphic>
      </p:graphicFrame>
    </p:spTree>
    <p:custDataLst>
      <p:tags r:id="rId1"/>
    </p:custDataLst>
    <p:extLst>
      <p:ext uri="{BB962C8B-B14F-4D97-AF65-F5344CB8AC3E}">
        <p14:creationId xmlns:p14="http://schemas.microsoft.com/office/powerpoint/2010/main" val="1984906509"/>
      </p:ext>
    </p:extLst>
  </p:cSld>
  <p:clrMapOvr>
    <a:masterClrMapping/>
  </p:clrMapOvr>
  <p:transition>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Text Box 9"/>
          <p:cNvSpPr txBox="1">
            <a:spLocks noChangeArrowheads="1"/>
          </p:cNvSpPr>
          <p:nvPr/>
        </p:nvSpPr>
        <p:spPr bwMode="auto">
          <a:xfrm>
            <a:off x="971550" y="58738"/>
            <a:ext cx="8172450" cy="369332"/>
          </a:xfrm>
          <a:prstGeom prst="rect">
            <a:avLst/>
          </a:prstGeom>
          <a:noFill/>
          <a:ln w="12700" algn="ctr">
            <a:noFill/>
            <a:miter lim="800000"/>
            <a:headEnd/>
            <a:tailEnd/>
          </a:ln>
        </p:spPr>
        <p:txBody>
          <a:bodyPr>
            <a:spAutoFit/>
          </a:bodyPr>
          <a:lstStyle/>
          <a:p>
            <a:pPr>
              <a:spcBef>
                <a:spcPct val="50000"/>
              </a:spcBef>
            </a:pPr>
            <a:r>
              <a:rPr lang="fr-FR" sz="1800" b="1" dirty="0">
                <a:solidFill>
                  <a:srgbClr val="000000"/>
                </a:solidFill>
                <a:latin typeface="Arial" pitchFamily="34" charset="0"/>
              </a:rPr>
              <a:t>Les </a:t>
            </a:r>
            <a:r>
              <a:rPr lang="fr-FR" sz="1800" b="1" dirty="0" smtClean="0">
                <a:solidFill>
                  <a:srgbClr val="000000"/>
                </a:solidFill>
                <a:latin typeface="Arial" pitchFamily="34" charset="0"/>
              </a:rPr>
              <a:t>modules</a:t>
            </a:r>
            <a:endParaRPr lang="fr-FR" sz="1800" b="1" dirty="0">
              <a:solidFill>
                <a:srgbClr val="000000"/>
              </a:solidFill>
              <a:latin typeface="Arial" pitchFamily="34" charset="0"/>
            </a:endParaRPr>
          </a:p>
        </p:txBody>
      </p:sp>
      <p:cxnSp>
        <p:nvCxnSpPr>
          <p:cNvPr id="203781"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203782"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203783" name="Triangle isocèle 6"/>
          <p:cNvSpPr>
            <a:spLocks noChangeArrowheads="1"/>
          </p:cNvSpPr>
          <p:nvPr/>
        </p:nvSpPr>
        <p:spPr bwMode="auto">
          <a:xfrm>
            <a:off x="571500" y="1143000"/>
            <a:ext cx="500063" cy="357188"/>
          </a:xfrm>
          <a:prstGeom prst="triangle">
            <a:avLst>
              <a:gd name="adj" fmla="val 50000"/>
            </a:avLst>
          </a:prstGeom>
          <a:noFill/>
          <a:ln w="9525" algn="ctr">
            <a:noFill/>
            <a:round/>
            <a:headEnd/>
            <a:tailEnd/>
          </a:ln>
        </p:spPr>
        <p:txBody>
          <a:bodyPr lIns="90000" tIns="46800" rIns="90000" bIns="46800" anchor="ctr">
            <a:spAutoFit/>
          </a:bodyPr>
          <a:lstStyle/>
          <a:p>
            <a:pPr eaLnBrk="1" hangingPunct="1">
              <a:spcBef>
                <a:spcPct val="50000"/>
              </a:spcBef>
              <a:buClr>
                <a:srgbClr val="336666"/>
              </a:buClr>
              <a:buFont typeface="Wingdings" pitchFamily="2" charset="2"/>
              <a:buNone/>
            </a:pPr>
            <a:endParaRPr lang="fr-FR"/>
          </a:p>
        </p:txBody>
      </p:sp>
      <p:sp>
        <p:nvSpPr>
          <p:cNvPr id="203784" name="Triangle isocèle 8"/>
          <p:cNvSpPr>
            <a:spLocks noChangeArrowheads="1"/>
          </p:cNvSpPr>
          <p:nvPr/>
        </p:nvSpPr>
        <p:spPr bwMode="auto">
          <a:xfrm>
            <a:off x="785813" y="1500188"/>
            <a:ext cx="714375" cy="500062"/>
          </a:xfrm>
          <a:prstGeom prst="triangle">
            <a:avLst>
              <a:gd name="adj" fmla="val 50000"/>
            </a:avLst>
          </a:prstGeom>
          <a:noFill/>
          <a:ln w="9525" algn="ctr">
            <a:noFill/>
            <a:round/>
            <a:headEnd/>
            <a:tailEnd/>
          </a:ln>
        </p:spPr>
        <p:txBody>
          <a:bodyPr lIns="90000" tIns="46800" rIns="90000" bIns="46800" anchor="ctr">
            <a:spAutoFit/>
          </a:bodyPr>
          <a:lstStyle/>
          <a:p>
            <a:pPr eaLnBrk="1" hangingPunct="1">
              <a:spcBef>
                <a:spcPct val="50000"/>
              </a:spcBef>
              <a:buClr>
                <a:srgbClr val="336666"/>
              </a:buClr>
              <a:buFont typeface="Wingdings" pitchFamily="2" charset="2"/>
              <a:buNone/>
            </a:pPr>
            <a:endParaRPr lang="fr-FR"/>
          </a:p>
        </p:txBody>
      </p:sp>
      <p:graphicFrame>
        <p:nvGraphicFramePr>
          <p:cNvPr id="2" name="Tableau 1"/>
          <p:cNvGraphicFramePr>
            <a:graphicFrameLocks noGrp="1"/>
          </p:cNvGraphicFramePr>
          <p:nvPr>
            <p:extLst>
              <p:ext uri="{D42A27DB-BD31-4B8C-83A1-F6EECF244321}">
                <p14:modId xmlns:p14="http://schemas.microsoft.com/office/powerpoint/2010/main" val="1452931612"/>
              </p:ext>
            </p:extLst>
          </p:nvPr>
        </p:nvGraphicFramePr>
        <p:xfrm>
          <a:off x="467430" y="911400"/>
          <a:ext cx="8604557" cy="5974080"/>
        </p:xfrm>
        <a:graphic>
          <a:graphicData uri="http://schemas.openxmlformats.org/drawingml/2006/table">
            <a:tbl>
              <a:tblPr firstRow="1" firstCol="1" bandRow="1">
                <a:tableStyleId>{284E427A-3D55-4303-BF80-6455036E1DE7}</a:tableStyleId>
              </a:tblPr>
              <a:tblGrid>
                <a:gridCol w="956060"/>
                <a:gridCol w="2132754"/>
                <a:gridCol w="2794643"/>
                <a:gridCol w="2721100"/>
              </a:tblGrid>
              <a:tr h="413650">
                <a:tc>
                  <a:txBody>
                    <a:bodyPr/>
                    <a:lstStyle/>
                    <a:p>
                      <a:pPr>
                        <a:lnSpc>
                          <a:spcPct val="100000"/>
                        </a:lnSpc>
                        <a:spcBef>
                          <a:spcPts val="0"/>
                        </a:spcBef>
                        <a:spcAft>
                          <a:spcPts val="0"/>
                        </a:spcAft>
                      </a:pPr>
                      <a:r>
                        <a:rPr lang="fr-FR" sz="1400" dirty="0" err="1">
                          <a:solidFill>
                            <a:schemeClr val="tx1"/>
                          </a:solidFill>
                          <a:effectLst/>
                        </a:rPr>
                        <a:t>ndim</a:t>
                      </a:r>
                      <a:endParaRPr lang="fr-FR" sz="1400" dirty="0">
                        <a:solidFill>
                          <a:schemeClr val="tx1"/>
                        </a:solidFill>
                        <a:effectLst/>
                        <a:latin typeface="Calibri"/>
                        <a:ea typeface="Calibri"/>
                        <a:cs typeface="Arial"/>
                      </a:endParaRPr>
                    </a:p>
                  </a:txBody>
                  <a:tcPr marL="25597" marR="2559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a:lnSpc>
                          <a:spcPct val="100000"/>
                        </a:lnSpc>
                        <a:spcBef>
                          <a:spcPts val="0"/>
                        </a:spcBef>
                        <a:spcAft>
                          <a:spcPts val="0"/>
                        </a:spcAft>
                      </a:pPr>
                      <a:r>
                        <a:rPr lang="fr-FR" sz="1400" b="0" dirty="0">
                          <a:solidFill>
                            <a:schemeClr val="tx1"/>
                          </a:solidFill>
                          <a:effectLst/>
                        </a:rPr>
                        <a:t>Pour obtenir le nombre de dimensions d’un </a:t>
                      </a:r>
                      <a:r>
                        <a:rPr lang="fr-FR" sz="1400" b="0" dirty="0" smtClean="0">
                          <a:solidFill>
                            <a:schemeClr val="tx1"/>
                          </a:solidFill>
                          <a:effectLst/>
                        </a:rPr>
                        <a:t>tab</a:t>
                      </a:r>
                      <a:endParaRPr lang="fr-FR" sz="1400" b="0" dirty="0">
                        <a:solidFill>
                          <a:schemeClr val="tx1"/>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fr-FR" sz="1400" b="1" dirty="0" err="1">
                          <a:solidFill>
                            <a:srgbClr val="7030A0"/>
                          </a:solidFill>
                          <a:effectLst/>
                        </a:rPr>
                        <a:t>np.ndim</a:t>
                      </a:r>
                      <a:r>
                        <a:rPr lang="fr-FR" sz="1400" b="1" dirty="0">
                          <a:solidFill>
                            <a:srgbClr val="7030A0"/>
                          </a:solidFill>
                          <a:effectLst/>
                        </a:rPr>
                        <a:t>(tab)</a:t>
                      </a:r>
                      <a:endParaRPr lang="fr-FR" sz="1400" b="1" dirty="0">
                        <a:solidFill>
                          <a:srgbClr val="7030A0"/>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en-US" sz="1400" b="1" dirty="0">
                          <a:solidFill>
                            <a:srgbClr val="0000FF"/>
                          </a:solidFill>
                          <a:effectLst/>
                        </a:rPr>
                        <a:t>» A=</a:t>
                      </a:r>
                      <a:r>
                        <a:rPr lang="en-US" sz="1400" b="1" dirty="0" err="1">
                          <a:solidFill>
                            <a:srgbClr val="0000FF"/>
                          </a:solidFill>
                          <a:effectLst/>
                        </a:rPr>
                        <a:t>np.array</a:t>
                      </a:r>
                      <a:r>
                        <a:rPr lang="en-US" sz="1400" b="1" dirty="0">
                          <a:solidFill>
                            <a:srgbClr val="0000FF"/>
                          </a:solidFill>
                          <a:effectLst/>
                        </a:rPr>
                        <a:t>([[ 1, 9, 1],[3,6,4]])</a:t>
                      </a:r>
                      <a:endParaRPr lang="fr-FR" sz="1400" b="1" dirty="0">
                        <a:solidFill>
                          <a:srgbClr val="0000FF"/>
                        </a:solidFill>
                        <a:effectLst/>
                      </a:endParaRPr>
                    </a:p>
                    <a:p>
                      <a:pPr>
                        <a:lnSpc>
                          <a:spcPct val="100000"/>
                        </a:lnSpc>
                        <a:spcBef>
                          <a:spcPts val="0"/>
                        </a:spcBef>
                        <a:spcAft>
                          <a:spcPts val="0"/>
                        </a:spcAft>
                      </a:pPr>
                      <a:r>
                        <a:rPr lang="en-US" sz="1400" b="1" dirty="0">
                          <a:solidFill>
                            <a:srgbClr val="0000FF"/>
                          </a:solidFill>
                          <a:effectLst/>
                        </a:rPr>
                        <a:t>» </a:t>
                      </a:r>
                      <a:r>
                        <a:rPr lang="en-US" sz="1400" b="1" dirty="0" err="1">
                          <a:solidFill>
                            <a:srgbClr val="0000FF"/>
                          </a:solidFill>
                          <a:effectLst/>
                        </a:rPr>
                        <a:t>np.ndim</a:t>
                      </a:r>
                      <a:r>
                        <a:rPr lang="en-US" sz="1400" b="1" dirty="0">
                          <a:solidFill>
                            <a:srgbClr val="0000FF"/>
                          </a:solidFill>
                          <a:effectLst/>
                        </a:rPr>
                        <a:t>(A</a:t>
                      </a:r>
                      <a:r>
                        <a:rPr lang="en-US" sz="1400" b="1" dirty="0" smtClean="0">
                          <a:solidFill>
                            <a:srgbClr val="0000FF"/>
                          </a:solidFill>
                          <a:effectLst/>
                        </a:rPr>
                        <a:t>)  </a:t>
                      </a:r>
                      <a:r>
                        <a:rPr lang="en-US" sz="1400" b="1" dirty="0" smtClean="0">
                          <a:solidFill>
                            <a:srgbClr val="0000FF"/>
                          </a:solidFill>
                          <a:effectLst/>
                          <a:sym typeface="Wingdings" pitchFamily="2" charset="2"/>
                        </a:rPr>
                        <a:t></a:t>
                      </a:r>
                      <a:r>
                        <a:rPr lang="fr-FR" sz="1400" b="1" dirty="0" smtClean="0">
                          <a:solidFill>
                            <a:srgbClr val="0000FF"/>
                          </a:solidFill>
                          <a:effectLst/>
                        </a:rPr>
                        <a:t>2</a:t>
                      </a:r>
                      <a:endParaRPr lang="fr-FR" sz="1400" b="1" dirty="0">
                        <a:solidFill>
                          <a:srgbClr val="0000FF"/>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413650">
                <a:tc>
                  <a:txBody>
                    <a:bodyPr/>
                    <a:lstStyle/>
                    <a:p>
                      <a:pPr>
                        <a:lnSpc>
                          <a:spcPct val="100000"/>
                        </a:lnSpc>
                        <a:spcBef>
                          <a:spcPts val="0"/>
                        </a:spcBef>
                        <a:spcAft>
                          <a:spcPts val="0"/>
                        </a:spcAft>
                      </a:pPr>
                      <a:r>
                        <a:rPr lang="fr-FR" sz="1400">
                          <a:effectLst/>
                        </a:rPr>
                        <a:t>shape</a:t>
                      </a:r>
                      <a:endParaRPr lang="fr-FR" sz="1400">
                        <a:effectLst/>
                        <a:latin typeface="Calibri"/>
                        <a:ea typeface="Calibri"/>
                        <a:cs typeface="Arial"/>
                      </a:endParaRPr>
                    </a:p>
                  </a:txBody>
                  <a:tcPr marL="25597" marR="2559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a:lnSpc>
                          <a:spcPct val="100000"/>
                        </a:lnSpc>
                        <a:spcBef>
                          <a:spcPts val="0"/>
                        </a:spcBef>
                        <a:spcAft>
                          <a:spcPts val="0"/>
                        </a:spcAft>
                      </a:pPr>
                      <a:r>
                        <a:rPr lang="fr-FR" sz="1400" b="0" dirty="0">
                          <a:effectLst/>
                        </a:rPr>
                        <a:t>Pour obtenir la dimension d’un tableau</a:t>
                      </a:r>
                      <a:endParaRPr lang="fr-FR" sz="1400" b="0" dirty="0">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fr-FR" sz="1400" b="1" dirty="0" err="1">
                          <a:solidFill>
                            <a:srgbClr val="7030A0"/>
                          </a:solidFill>
                          <a:effectLst/>
                        </a:rPr>
                        <a:t>np.shape</a:t>
                      </a:r>
                      <a:r>
                        <a:rPr lang="fr-FR" sz="1400" b="1" dirty="0">
                          <a:solidFill>
                            <a:srgbClr val="7030A0"/>
                          </a:solidFill>
                          <a:effectLst/>
                        </a:rPr>
                        <a:t>(tab)</a:t>
                      </a:r>
                    </a:p>
                    <a:p>
                      <a:pPr>
                        <a:lnSpc>
                          <a:spcPct val="100000"/>
                        </a:lnSpc>
                        <a:spcBef>
                          <a:spcPts val="0"/>
                        </a:spcBef>
                        <a:spcAft>
                          <a:spcPts val="0"/>
                        </a:spcAft>
                      </a:pPr>
                      <a:r>
                        <a:rPr lang="fr-FR" sz="1400" b="1" dirty="0">
                          <a:solidFill>
                            <a:srgbClr val="7030A0"/>
                          </a:solidFill>
                          <a:effectLst/>
                        </a:rPr>
                        <a:t>N.B. le résultat est un </a:t>
                      </a:r>
                      <a:r>
                        <a:rPr lang="fr-FR" sz="1400" b="1" dirty="0" err="1">
                          <a:solidFill>
                            <a:srgbClr val="7030A0"/>
                          </a:solidFill>
                          <a:effectLst/>
                        </a:rPr>
                        <a:t>tuple</a:t>
                      </a:r>
                      <a:endParaRPr lang="fr-FR" sz="1400" b="1" dirty="0">
                        <a:solidFill>
                          <a:srgbClr val="7030A0"/>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fr-FR" sz="1400" b="1" dirty="0">
                          <a:solidFill>
                            <a:srgbClr val="0000FF"/>
                          </a:solidFill>
                          <a:effectLst/>
                        </a:rPr>
                        <a:t>» T= </a:t>
                      </a:r>
                      <a:r>
                        <a:rPr lang="fr-FR" sz="1400" b="1" dirty="0" err="1">
                          <a:solidFill>
                            <a:srgbClr val="0000FF"/>
                          </a:solidFill>
                          <a:effectLst/>
                        </a:rPr>
                        <a:t>np.array</a:t>
                      </a:r>
                      <a:r>
                        <a:rPr lang="fr-FR" sz="1400" b="1" dirty="0">
                          <a:solidFill>
                            <a:srgbClr val="0000FF"/>
                          </a:solidFill>
                          <a:effectLst/>
                        </a:rPr>
                        <a:t>([1,9,1,3,6,4])</a:t>
                      </a:r>
                    </a:p>
                    <a:p>
                      <a:pPr>
                        <a:lnSpc>
                          <a:spcPct val="100000"/>
                        </a:lnSpc>
                        <a:spcBef>
                          <a:spcPts val="0"/>
                        </a:spcBef>
                        <a:spcAft>
                          <a:spcPts val="0"/>
                        </a:spcAft>
                      </a:pPr>
                      <a:r>
                        <a:rPr lang="fr-FR" sz="1400" b="1" dirty="0">
                          <a:solidFill>
                            <a:srgbClr val="0000FF"/>
                          </a:solidFill>
                          <a:effectLst/>
                        </a:rPr>
                        <a:t>» </a:t>
                      </a:r>
                      <a:r>
                        <a:rPr lang="fr-FR" sz="1400" b="1" dirty="0" err="1">
                          <a:solidFill>
                            <a:srgbClr val="0000FF"/>
                          </a:solidFill>
                          <a:effectLst/>
                        </a:rPr>
                        <a:t>np.shape</a:t>
                      </a:r>
                      <a:r>
                        <a:rPr lang="fr-FR" sz="1400" b="1" dirty="0">
                          <a:solidFill>
                            <a:srgbClr val="0000FF"/>
                          </a:solidFill>
                          <a:effectLst/>
                        </a:rPr>
                        <a:t>(T</a:t>
                      </a:r>
                      <a:r>
                        <a:rPr lang="fr-FR" sz="1400" b="1" dirty="0" smtClean="0">
                          <a:solidFill>
                            <a:srgbClr val="0000FF"/>
                          </a:solidFill>
                          <a:effectLst/>
                        </a:rPr>
                        <a:t>)  </a:t>
                      </a:r>
                      <a:r>
                        <a:rPr lang="fr-FR" sz="1400" b="1" dirty="0" smtClean="0">
                          <a:solidFill>
                            <a:srgbClr val="0000FF"/>
                          </a:solidFill>
                          <a:effectLst/>
                          <a:sym typeface="Wingdings" pitchFamily="2" charset="2"/>
                        </a:rPr>
                        <a:t> </a:t>
                      </a:r>
                      <a:r>
                        <a:rPr lang="fr-FR" sz="1400" b="1" dirty="0" smtClean="0">
                          <a:solidFill>
                            <a:srgbClr val="0000FF"/>
                          </a:solidFill>
                          <a:effectLst/>
                        </a:rPr>
                        <a:t>(</a:t>
                      </a:r>
                      <a:r>
                        <a:rPr lang="fr-FR" sz="1400" b="1" dirty="0">
                          <a:solidFill>
                            <a:srgbClr val="0000FF"/>
                          </a:solidFill>
                          <a:effectLst/>
                        </a:rPr>
                        <a:t>6,)</a:t>
                      </a:r>
                      <a:endParaRPr lang="fr-FR" sz="1400" b="1" dirty="0">
                        <a:solidFill>
                          <a:srgbClr val="0000FF"/>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827299">
                <a:tc>
                  <a:txBody>
                    <a:bodyPr/>
                    <a:lstStyle/>
                    <a:p>
                      <a:pPr>
                        <a:lnSpc>
                          <a:spcPct val="100000"/>
                        </a:lnSpc>
                        <a:spcBef>
                          <a:spcPts val="0"/>
                        </a:spcBef>
                        <a:spcAft>
                          <a:spcPts val="0"/>
                        </a:spcAft>
                      </a:pPr>
                      <a:r>
                        <a:rPr lang="fr-FR" sz="1400">
                          <a:effectLst/>
                        </a:rPr>
                        <a:t>reshape</a:t>
                      </a:r>
                      <a:endParaRPr lang="fr-FR" sz="1400">
                        <a:effectLst/>
                        <a:latin typeface="Calibri"/>
                        <a:ea typeface="Calibri"/>
                        <a:cs typeface="Arial"/>
                      </a:endParaRPr>
                    </a:p>
                  </a:txBody>
                  <a:tcPr marL="25597" marR="2559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a:lnSpc>
                          <a:spcPct val="100000"/>
                        </a:lnSpc>
                        <a:spcBef>
                          <a:spcPts val="0"/>
                        </a:spcBef>
                        <a:spcAft>
                          <a:spcPts val="0"/>
                        </a:spcAft>
                      </a:pPr>
                      <a:r>
                        <a:rPr lang="fr-FR" sz="1400" b="0" dirty="0">
                          <a:effectLst/>
                        </a:rPr>
                        <a:t>Pour redimensionner un tableau. N.B. </a:t>
                      </a:r>
                      <a:r>
                        <a:rPr lang="fr-FR" sz="1400" b="0" dirty="0" err="1">
                          <a:effectLst/>
                        </a:rPr>
                        <a:t>reshape</a:t>
                      </a:r>
                      <a:r>
                        <a:rPr lang="fr-FR" sz="1400" b="0" dirty="0">
                          <a:effectLst/>
                        </a:rPr>
                        <a:t> ne modifie pas le tableau. Il faut récupérer le résultat</a:t>
                      </a:r>
                      <a:endParaRPr lang="fr-FR" sz="1400" b="0" dirty="0">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fr-FR" sz="1400" b="1" dirty="0">
                          <a:solidFill>
                            <a:srgbClr val="7030A0"/>
                          </a:solidFill>
                          <a:effectLst/>
                        </a:rPr>
                        <a:t>T=</a:t>
                      </a:r>
                      <a:r>
                        <a:rPr lang="fr-FR" sz="1400" b="1" dirty="0" err="1">
                          <a:solidFill>
                            <a:srgbClr val="7030A0"/>
                          </a:solidFill>
                          <a:effectLst/>
                        </a:rPr>
                        <a:t>np.reshape</a:t>
                      </a:r>
                      <a:r>
                        <a:rPr lang="fr-FR" sz="1400" b="1" dirty="0">
                          <a:solidFill>
                            <a:srgbClr val="7030A0"/>
                          </a:solidFill>
                          <a:effectLst/>
                        </a:rPr>
                        <a:t>(tab,(</a:t>
                      </a:r>
                      <a:r>
                        <a:rPr lang="fr-FR" sz="1400" b="1" dirty="0" err="1">
                          <a:solidFill>
                            <a:srgbClr val="7030A0"/>
                          </a:solidFill>
                          <a:effectLst/>
                        </a:rPr>
                        <a:t>nl,nc</a:t>
                      </a:r>
                      <a:r>
                        <a:rPr lang="fr-FR" sz="1400" b="1" dirty="0">
                          <a:solidFill>
                            <a:srgbClr val="7030A0"/>
                          </a:solidFill>
                          <a:effectLst/>
                        </a:rPr>
                        <a:t>))</a:t>
                      </a:r>
                    </a:p>
                    <a:p>
                      <a:pPr>
                        <a:lnSpc>
                          <a:spcPct val="100000"/>
                        </a:lnSpc>
                        <a:spcBef>
                          <a:spcPts val="0"/>
                        </a:spcBef>
                        <a:spcAft>
                          <a:spcPts val="0"/>
                        </a:spcAft>
                      </a:pPr>
                      <a:r>
                        <a:rPr lang="fr-FR" sz="1400" b="1" dirty="0">
                          <a:solidFill>
                            <a:srgbClr val="7030A0"/>
                          </a:solidFill>
                          <a:effectLst/>
                        </a:rPr>
                        <a:t>ou bien</a:t>
                      </a:r>
                    </a:p>
                    <a:p>
                      <a:pPr>
                        <a:lnSpc>
                          <a:spcPct val="100000"/>
                        </a:lnSpc>
                        <a:spcBef>
                          <a:spcPts val="0"/>
                        </a:spcBef>
                        <a:spcAft>
                          <a:spcPts val="0"/>
                        </a:spcAft>
                      </a:pPr>
                      <a:r>
                        <a:rPr lang="fr-FR" sz="1400" b="1" dirty="0">
                          <a:solidFill>
                            <a:srgbClr val="7030A0"/>
                          </a:solidFill>
                          <a:effectLst/>
                        </a:rPr>
                        <a:t>T=</a:t>
                      </a:r>
                      <a:r>
                        <a:rPr lang="fr-FR" sz="1400" b="1" dirty="0" err="1">
                          <a:solidFill>
                            <a:srgbClr val="7030A0"/>
                          </a:solidFill>
                          <a:effectLst/>
                        </a:rPr>
                        <a:t>tab.reshape</a:t>
                      </a:r>
                      <a:r>
                        <a:rPr lang="fr-FR" sz="1400" b="1" dirty="0">
                          <a:solidFill>
                            <a:srgbClr val="7030A0"/>
                          </a:solidFill>
                          <a:effectLst/>
                        </a:rPr>
                        <a:t>((</a:t>
                      </a:r>
                      <a:r>
                        <a:rPr lang="fr-FR" sz="1400" b="1" dirty="0" err="1">
                          <a:solidFill>
                            <a:srgbClr val="7030A0"/>
                          </a:solidFill>
                          <a:effectLst/>
                        </a:rPr>
                        <a:t>nl,nc</a:t>
                      </a:r>
                      <a:r>
                        <a:rPr lang="fr-FR" sz="1400" b="1" dirty="0">
                          <a:solidFill>
                            <a:srgbClr val="7030A0"/>
                          </a:solidFill>
                          <a:effectLst/>
                        </a:rPr>
                        <a:t>))</a:t>
                      </a:r>
                    </a:p>
                    <a:p>
                      <a:pPr>
                        <a:lnSpc>
                          <a:spcPct val="100000"/>
                        </a:lnSpc>
                        <a:spcBef>
                          <a:spcPts val="0"/>
                        </a:spcBef>
                        <a:spcAft>
                          <a:spcPts val="0"/>
                        </a:spcAft>
                      </a:pPr>
                      <a:r>
                        <a:rPr lang="fr-FR" sz="1400" b="1" dirty="0">
                          <a:solidFill>
                            <a:srgbClr val="7030A0"/>
                          </a:solidFill>
                          <a:effectLst/>
                        </a:rPr>
                        <a:t> </a:t>
                      </a:r>
                      <a:endParaRPr lang="fr-FR" sz="1400" b="1" dirty="0">
                        <a:solidFill>
                          <a:srgbClr val="7030A0"/>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fr-FR" sz="1400" b="1" dirty="0">
                          <a:solidFill>
                            <a:srgbClr val="0000FF"/>
                          </a:solidFill>
                          <a:effectLst/>
                        </a:rPr>
                        <a:t>» T1=</a:t>
                      </a:r>
                      <a:r>
                        <a:rPr lang="fr-FR" sz="1400" b="1" dirty="0" err="1">
                          <a:solidFill>
                            <a:srgbClr val="0000FF"/>
                          </a:solidFill>
                          <a:effectLst/>
                        </a:rPr>
                        <a:t>np.array</a:t>
                      </a:r>
                      <a:r>
                        <a:rPr lang="fr-FR" sz="1400" b="1" dirty="0">
                          <a:solidFill>
                            <a:srgbClr val="0000FF"/>
                          </a:solidFill>
                          <a:effectLst/>
                        </a:rPr>
                        <a:t>([ 0, 1, 2, 3, 4, 5])</a:t>
                      </a:r>
                    </a:p>
                    <a:p>
                      <a:pPr>
                        <a:lnSpc>
                          <a:spcPct val="100000"/>
                        </a:lnSpc>
                        <a:spcBef>
                          <a:spcPts val="0"/>
                        </a:spcBef>
                        <a:spcAft>
                          <a:spcPts val="0"/>
                        </a:spcAft>
                      </a:pPr>
                      <a:r>
                        <a:rPr lang="fr-FR" sz="1400" b="1" dirty="0">
                          <a:solidFill>
                            <a:srgbClr val="0000FF"/>
                          </a:solidFill>
                          <a:effectLst/>
                        </a:rPr>
                        <a:t>» T2=</a:t>
                      </a:r>
                      <a:r>
                        <a:rPr lang="fr-FR" sz="1400" b="1" dirty="0" err="1">
                          <a:solidFill>
                            <a:srgbClr val="0000FF"/>
                          </a:solidFill>
                          <a:effectLst/>
                        </a:rPr>
                        <a:t>np.reshape</a:t>
                      </a:r>
                      <a:r>
                        <a:rPr lang="fr-FR" sz="1400" b="1" dirty="0">
                          <a:solidFill>
                            <a:srgbClr val="0000FF"/>
                          </a:solidFill>
                          <a:effectLst/>
                        </a:rPr>
                        <a:t>(T1,(2,3))</a:t>
                      </a:r>
                    </a:p>
                    <a:p>
                      <a:pPr>
                        <a:lnSpc>
                          <a:spcPct val="100000"/>
                        </a:lnSpc>
                        <a:spcBef>
                          <a:spcPts val="0"/>
                        </a:spcBef>
                        <a:spcAft>
                          <a:spcPts val="0"/>
                        </a:spcAft>
                      </a:pPr>
                      <a:r>
                        <a:rPr lang="fr-FR" sz="1400" b="1" dirty="0">
                          <a:solidFill>
                            <a:srgbClr val="0000FF"/>
                          </a:solidFill>
                          <a:effectLst/>
                        </a:rPr>
                        <a:t>» T2</a:t>
                      </a:r>
                    </a:p>
                    <a:p>
                      <a:pPr>
                        <a:lnSpc>
                          <a:spcPct val="100000"/>
                        </a:lnSpc>
                        <a:spcBef>
                          <a:spcPts val="0"/>
                        </a:spcBef>
                        <a:spcAft>
                          <a:spcPts val="0"/>
                        </a:spcAft>
                      </a:pPr>
                      <a:r>
                        <a:rPr lang="fr-FR" sz="1400" b="1" dirty="0" err="1">
                          <a:solidFill>
                            <a:srgbClr val="0000FF"/>
                          </a:solidFill>
                          <a:effectLst/>
                        </a:rPr>
                        <a:t>array</a:t>
                      </a:r>
                      <a:r>
                        <a:rPr lang="fr-FR" sz="1400" b="1" dirty="0">
                          <a:solidFill>
                            <a:srgbClr val="0000FF"/>
                          </a:solidFill>
                          <a:effectLst/>
                        </a:rPr>
                        <a:t>([[ 0, 1, 2</a:t>
                      </a:r>
                      <a:r>
                        <a:rPr lang="fr-FR" sz="1400" b="1" dirty="0" smtClean="0">
                          <a:solidFill>
                            <a:srgbClr val="0000FF"/>
                          </a:solidFill>
                          <a:effectLst/>
                        </a:rPr>
                        <a:t>], </a:t>
                      </a:r>
                      <a:r>
                        <a:rPr lang="fr-FR" sz="1400" b="1" dirty="0">
                          <a:solidFill>
                            <a:srgbClr val="0000FF"/>
                          </a:solidFill>
                          <a:effectLst/>
                        </a:rPr>
                        <a:t>[3, 4, 5,]])</a:t>
                      </a:r>
                      <a:endParaRPr lang="fr-FR" sz="1400" b="1" dirty="0">
                        <a:solidFill>
                          <a:srgbClr val="0000FF"/>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1240949">
                <a:tc>
                  <a:txBody>
                    <a:bodyPr/>
                    <a:lstStyle/>
                    <a:p>
                      <a:pPr>
                        <a:lnSpc>
                          <a:spcPct val="100000"/>
                        </a:lnSpc>
                        <a:spcBef>
                          <a:spcPts val="0"/>
                        </a:spcBef>
                        <a:spcAft>
                          <a:spcPts val="0"/>
                        </a:spcAft>
                      </a:pPr>
                      <a:r>
                        <a:rPr lang="fr-FR" sz="1400" dirty="0">
                          <a:effectLst/>
                        </a:rPr>
                        <a:t>cos</a:t>
                      </a:r>
                    </a:p>
                    <a:p>
                      <a:pPr>
                        <a:lnSpc>
                          <a:spcPct val="100000"/>
                        </a:lnSpc>
                        <a:spcBef>
                          <a:spcPts val="0"/>
                        </a:spcBef>
                        <a:spcAft>
                          <a:spcPts val="0"/>
                        </a:spcAft>
                      </a:pPr>
                      <a:r>
                        <a:rPr lang="fr-FR" sz="1400" dirty="0">
                          <a:effectLst/>
                        </a:rPr>
                        <a:t>sin</a:t>
                      </a:r>
                    </a:p>
                    <a:p>
                      <a:pPr>
                        <a:lnSpc>
                          <a:spcPct val="100000"/>
                        </a:lnSpc>
                        <a:spcBef>
                          <a:spcPts val="0"/>
                        </a:spcBef>
                        <a:spcAft>
                          <a:spcPts val="0"/>
                        </a:spcAft>
                      </a:pPr>
                      <a:r>
                        <a:rPr lang="fr-FR" sz="1400" dirty="0">
                          <a:effectLst/>
                        </a:rPr>
                        <a:t>tan</a:t>
                      </a:r>
                    </a:p>
                    <a:p>
                      <a:pPr>
                        <a:lnSpc>
                          <a:spcPct val="100000"/>
                        </a:lnSpc>
                        <a:spcBef>
                          <a:spcPts val="0"/>
                        </a:spcBef>
                        <a:spcAft>
                          <a:spcPts val="0"/>
                        </a:spcAft>
                      </a:pPr>
                      <a:r>
                        <a:rPr lang="fr-FR" sz="1400" dirty="0">
                          <a:effectLst/>
                        </a:rPr>
                        <a:t>log</a:t>
                      </a:r>
                    </a:p>
                    <a:p>
                      <a:pPr>
                        <a:lnSpc>
                          <a:spcPct val="100000"/>
                        </a:lnSpc>
                        <a:spcBef>
                          <a:spcPts val="0"/>
                        </a:spcBef>
                        <a:spcAft>
                          <a:spcPts val="0"/>
                        </a:spcAft>
                      </a:pPr>
                      <a:r>
                        <a:rPr lang="fr-FR" sz="1400" dirty="0" err="1">
                          <a:effectLst/>
                        </a:rPr>
                        <a:t>exp</a:t>
                      </a:r>
                      <a:endParaRPr lang="fr-FR" sz="1400" dirty="0">
                        <a:effectLst/>
                      </a:endParaRPr>
                    </a:p>
                    <a:p>
                      <a:pPr>
                        <a:lnSpc>
                          <a:spcPct val="100000"/>
                        </a:lnSpc>
                        <a:spcBef>
                          <a:spcPts val="0"/>
                        </a:spcBef>
                        <a:spcAft>
                          <a:spcPts val="0"/>
                        </a:spcAft>
                      </a:pPr>
                      <a:r>
                        <a:rPr lang="fr-FR" sz="1400" dirty="0">
                          <a:effectLst/>
                        </a:rPr>
                        <a:t>…</a:t>
                      </a:r>
                      <a:endParaRPr lang="fr-FR" sz="1400" dirty="0">
                        <a:effectLst/>
                        <a:latin typeface="Calibri"/>
                        <a:ea typeface="Calibri"/>
                        <a:cs typeface="Arial"/>
                      </a:endParaRPr>
                    </a:p>
                  </a:txBody>
                  <a:tcPr marL="25597" marR="2559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a:lnSpc>
                          <a:spcPct val="100000"/>
                        </a:lnSpc>
                        <a:spcBef>
                          <a:spcPts val="0"/>
                        </a:spcBef>
                        <a:spcAft>
                          <a:spcPts val="0"/>
                        </a:spcAft>
                      </a:pPr>
                      <a:r>
                        <a:rPr lang="fr-FR" sz="1400" b="0" dirty="0">
                          <a:effectLst/>
                        </a:rPr>
                        <a:t>Fonctions mathématiques applicables à des </a:t>
                      </a:r>
                      <a:endParaRPr lang="fr-FR" sz="1400" b="0" dirty="0" smtClean="0">
                        <a:effectLst/>
                      </a:endParaRPr>
                    </a:p>
                    <a:p>
                      <a:pPr algn="just">
                        <a:lnSpc>
                          <a:spcPct val="100000"/>
                        </a:lnSpc>
                        <a:spcBef>
                          <a:spcPts val="0"/>
                        </a:spcBef>
                        <a:spcAft>
                          <a:spcPts val="0"/>
                        </a:spcAft>
                      </a:pPr>
                      <a:r>
                        <a:rPr lang="fr-FR" sz="1400" b="0" dirty="0" smtClean="0">
                          <a:effectLst/>
                        </a:rPr>
                        <a:t>vecteurs</a:t>
                      </a:r>
                      <a:r>
                        <a:rPr lang="fr-FR" sz="1400" b="0" dirty="0">
                          <a:effectLst/>
                        </a:rPr>
                        <a:t>. Le résultat est </a:t>
                      </a:r>
                      <a:endParaRPr lang="fr-FR" sz="1400" b="0" dirty="0" smtClean="0">
                        <a:effectLst/>
                      </a:endParaRPr>
                    </a:p>
                    <a:p>
                      <a:pPr algn="just">
                        <a:lnSpc>
                          <a:spcPct val="100000"/>
                        </a:lnSpc>
                        <a:spcBef>
                          <a:spcPts val="0"/>
                        </a:spcBef>
                        <a:spcAft>
                          <a:spcPts val="0"/>
                        </a:spcAft>
                      </a:pPr>
                      <a:r>
                        <a:rPr lang="fr-FR" sz="1400" b="0" dirty="0" smtClean="0">
                          <a:effectLst/>
                        </a:rPr>
                        <a:t>un </a:t>
                      </a:r>
                      <a:r>
                        <a:rPr lang="fr-FR" sz="1400" b="0" dirty="0">
                          <a:effectLst/>
                        </a:rPr>
                        <a:t>vecteur contenant les </a:t>
                      </a:r>
                      <a:endParaRPr lang="fr-FR" sz="1400" b="0" dirty="0" smtClean="0">
                        <a:effectLst/>
                      </a:endParaRPr>
                    </a:p>
                    <a:p>
                      <a:pPr algn="just">
                        <a:lnSpc>
                          <a:spcPct val="100000"/>
                        </a:lnSpc>
                        <a:spcBef>
                          <a:spcPts val="0"/>
                        </a:spcBef>
                        <a:spcAft>
                          <a:spcPts val="0"/>
                        </a:spcAft>
                      </a:pPr>
                      <a:r>
                        <a:rPr lang="fr-FR" sz="1400" b="0" dirty="0" smtClean="0">
                          <a:effectLst/>
                        </a:rPr>
                        <a:t>images </a:t>
                      </a:r>
                      <a:r>
                        <a:rPr lang="fr-FR" sz="1400" b="0" dirty="0">
                          <a:effectLst/>
                        </a:rPr>
                        <a:t>de chaque </a:t>
                      </a:r>
                      <a:endParaRPr lang="fr-FR" sz="1400" b="0" dirty="0" smtClean="0">
                        <a:effectLst/>
                      </a:endParaRPr>
                    </a:p>
                    <a:p>
                      <a:pPr algn="just">
                        <a:lnSpc>
                          <a:spcPct val="100000"/>
                        </a:lnSpc>
                        <a:spcBef>
                          <a:spcPts val="0"/>
                        </a:spcBef>
                        <a:spcAft>
                          <a:spcPts val="0"/>
                        </a:spcAft>
                      </a:pPr>
                      <a:r>
                        <a:rPr lang="fr-FR" sz="1400" b="0" dirty="0" smtClean="0">
                          <a:effectLst/>
                        </a:rPr>
                        <a:t>élément </a:t>
                      </a:r>
                      <a:r>
                        <a:rPr lang="fr-FR" sz="1400" b="0" dirty="0">
                          <a:effectLst/>
                        </a:rPr>
                        <a:t>du </a:t>
                      </a:r>
                      <a:r>
                        <a:rPr lang="fr-FR" sz="1400" b="0" dirty="0" smtClean="0">
                          <a:effectLst/>
                        </a:rPr>
                        <a:t>vecteur.</a:t>
                      </a:r>
                      <a:endParaRPr lang="fr-FR" sz="1400" b="0" dirty="0">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en-US" sz="1400" b="1" dirty="0" err="1">
                          <a:solidFill>
                            <a:srgbClr val="7030A0"/>
                          </a:solidFill>
                          <a:effectLst/>
                        </a:rPr>
                        <a:t>np.cos</a:t>
                      </a:r>
                      <a:r>
                        <a:rPr lang="en-US" sz="1400" b="1" dirty="0">
                          <a:solidFill>
                            <a:srgbClr val="7030A0"/>
                          </a:solidFill>
                          <a:effectLst/>
                        </a:rPr>
                        <a:t>(tab)</a:t>
                      </a:r>
                      <a:endParaRPr lang="fr-FR" sz="1400" b="1" dirty="0">
                        <a:solidFill>
                          <a:srgbClr val="7030A0"/>
                        </a:solidFill>
                        <a:effectLst/>
                      </a:endParaRPr>
                    </a:p>
                    <a:p>
                      <a:pPr>
                        <a:lnSpc>
                          <a:spcPct val="100000"/>
                        </a:lnSpc>
                        <a:spcBef>
                          <a:spcPts val="0"/>
                        </a:spcBef>
                        <a:spcAft>
                          <a:spcPts val="0"/>
                        </a:spcAft>
                      </a:pPr>
                      <a:r>
                        <a:rPr lang="en-US" sz="1400" b="1" dirty="0" err="1">
                          <a:solidFill>
                            <a:srgbClr val="7030A0"/>
                          </a:solidFill>
                          <a:effectLst/>
                        </a:rPr>
                        <a:t>np.sin</a:t>
                      </a:r>
                      <a:r>
                        <a:rPr lang="en-US" sz="1400" b="1" dirty="0">
                          <a:solidFill>
                            <a:srgbClr val="7030A0"/>
                          </a:solidFill>
                          <a:effectLst/>
                        </a:rPr>
                        <a:t>(tab)</a:t>
                      </a:r>
                      <a:endParaRPr lang="fr-FR" sz="1400" b="1" dirty="0">
                        <a:solidFill>
                          <a:srgbClr val="7030A0"/>
                        </a:solidFill>
                        <a:effectLst/>
                      </a:endParaRPr>
                    </a:p>
                    <a:p>
                      <a:pPr>
                        <a:lnSpc>
                          <a:spcPct val="100000"/>
                        </a:lnSpc>
                        <a:spcBef>
                          <a:spcPts val="0"/>
                        </a:spcBef>
                        <a:spcAft>
                          <a:spcPts val="0"/>
                        </a:spcAft>
                      </a:pPr>
                      <a:r>
                        <a:rPr lang="en-US" sz="1400" b="1" dirty="0" err="1">
                          <a:solidFill>
                            <a:srgbClr val="7030A0"/>
                          </a:solidFill>
                          <a:effectLst/>
                        </a:rPr>
                        <a:t>np.tan</a:t>
                      </a:r>
                      <a:r>
                        <a:rPr lang="en-US" sz="1400" b="1" dirty="0">
                          <a:solidFill>
                            <a:srgbClr val="7030A0"/>
                          </a:solidFill>
                          <a:effectLst/>
                        </a:rPr>
                        <a:t>(tab)</a:t>
                      </a:r>
                      <a:endParaRPr lang="fr-FR" sz="1400" b="1" dirty="0">
                        <a:solidFill>
                          <a:srgbClr val="7030A0"/>
                        </a:solidFill>
                        <a:effectLst/>
                      </a:endParaRPr>
                    </a:p>
                    <a:p>
                      <a:pPr>
                        <a:lnSpc>
                          <a:spcPct val="100000"/>
                        </a:lnSpc>
                        <a:spcBef>
                          <a:spcPts val="0"/>
                        </a:spcBef>
                        <a:spcAft>
                          <a:spcPts val="0"/>
                        </a:spcAft>
                      </a:pPr>
                      <a:r>
                        <a:rPr lang="en-US" sz="1400" b="1" dirty="0">
                          <a:solidFill>
                            <a:srgbClr val="7030A0"/>
                          </a:solidFill>
                          <a:effectLst/>
                        </a:rPr>
                        <a:t>np.log(tab)</a:t>
                      </a:r>
                      <a:endParaRPr lang="fr-FR" sz="1400" b="1" dirty="0">
                        <a:solidFill>
                          <a:srgbClr val="7030A0"/>
                        </a:solidFill>
                        <a:effectLst/>
                      </a:endParaRPr>
                    </a:p>
                    <a:p>
                      <a:pPr>
                        <a:lnSpc>
                          <a:spcPct val="100000"/>
                        </a:lnSpc>
                        <a:spcBef>
                          <a:spcPts val="0"/>
                        </a:spcBef>
                        <a:spcAft>
                          <a:spcPts val="0"/>
                        </a:spcAft>
                      </a:pPr>
                      <a:r>
                        <a:rPr lang="fr-FR" sz="1400" b="1" dirty="0" err="1">
                          <a:solidFill>
                            <a:srgbClr val="7030A0"/>
                          </a:solidFill>
                          <a:effectLst/>
                        </a:rPr>
                        <a:t>np.exp</a:t>
                      </a:r>
                      <a:r>
                        <a:rPr lang="fr-FR" sz="1400" b="1" dirty="0">
                          <a:solidFill>
                            <a:srgbClr val="7030A0"/>
                          </a:solidFill>
                          <a:effectLst/>
                        </a:rPr>
                        <a:t>(tab)</a:t>
                      </a:r>
                    </a:p>
                    <a:p>
                      <a:pPr>
                        <a:lnSpc>
                          <a:spcPct val="100000"/>
                        </a:lnSpc>
                        <a:spcBef>
                          <a:spcPts val="0"/>
                        </a:spcBef>
                        <a:spcAft>
                          <a:spcPts val="0"/>
                        </a:spcAft>
                      </a:pPr>
                      <a:r>
                        <a:rPr lang="fr-FR" sz="1400" b="1" dirty="0">
                          <a:solidFill>
                            <a:srgbClr val="7030A0"/>
                          </a:solidFill>
                          <a:effectLst/>
                        </a:rPr>
                        <a:t>…</a:t>
                      </a:r>
                      <a:endParaRPr lang="fr-FR" sz="1400" b="1" dirty="0">
                        <a:solidFill>
                          <a:srgbClr val="7030A0"/>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en-US" sz="1400" b="1" dirty="0">
                          <a:solidFill>
                            <a:srgbClr val="0000FF"/>
                          </a:solidFill>
                          <a:effectLst/>
                        </a:rPr>
                        <a:t>» A=</a:t>
                      </a:r>
                      <a:r>
                        <a:rPr lang="en-US" sz="1400" b="1" dirty="0" err="1">
                          <a:solidFill>
                            <a:srgbClr val="0000FF"/>
                          </a:solidFill>
                          <a:effectLst/>
                        </a:rPr>
                        <a:t>np.array</a:t>
                      </a:r>
                      <a:r>
                        <a:rPr lang="en-US" sz="1400" b="1" dirty="0">
                          <a:solidFill>
                            <a:srgbClr val="0000FF"/>
                          </a:solidFill>
                          <a:effectLst/>
                        </a:rPr>
                        <a:t>([ 1, 9, 1, 3,6,4])</a:t>
                      </a:r>
                      <a:endParaRPr lang="fr-FR" sz="1400" b="1" dirty="0">
                        <a:solidFill>
                          <a:srgbClr val="0000FF"/>
                        </a:solidFill>
                        <a:effectLst/>
                      </a:endParaRPr>
                    </a:p>
                    <a:p>
                      <a:pPr>
                        <a:lnSpc>
                          <a:spcPct val="100000"/>
                        </a:lnSpc>
                        <a:spcBef>
                          <a:spcPts val="0"/>
                        </a:spcBef>
                        <a:spcAft>
                          <a:spcPts val="0"/>
                        </a:spcAft>
                      </a:pPr>
                      <a:r>
                        <a:rPr lang="en-US" sz="1400" b="1" dirty="0">
                          <a:solidFill>
                            <a:srgbClr val="0000FF"/>
                          </a:solidFill>
                          <a:effectLst/>
                        </a:rPr>
                        <a:t>» np.log(A)</a:t>
                      </a:r>
                      <a:endParaRPr lang="fr-FR" sz="1400" b="1" dirty="0">
                        <a:solidFill>
                          <a:srgbClr val="0000FF"/>
                        </a:solidFill>
                        <a:effectLst/>
                      </a:endParaRPr>
                    </a:p>
                    <a:p>
                      <a:pPr>
                        <a:lnSpc>
                          <a:spcPct val="100000"/>
                        </a:lnSpc>
                        <a:spcBef>
                          <a:spcPts val="0"/>
                        </a:spcBef>
                        <a:spcAft>
                          <a:spcPts val="0"/>
                        </a:spcAft>
                      </a:pPr>
                      <a:r>
                        <a:rPr lang="fr-FR" sz="1400" b="1" dirty="0" err="1">
                          <a:solidFill>
                            <a:srgbClr val="0000FF"/>
                          </a:solidFill>
                          <a:effectLst/>
                        </a:rPr>
                        <a:t>array</a:t>
                      </a:r>
                      <a:r>
                        <a:rPr lang="fr-FR" sz="1400" b="1" dirty="0">
                          <a:solidFill>
                            <a:srgbClr val="0000FF"/>
                          </a:solidFill>
                          <a:effectLst/>
                        </a:rPr>
                        <a:t>([ 0. , 2.197224,  0. , 1.098612,  1.791759, 1.386294])</a:t>
                      </a:r>
                      <a:endParaRPr lang="fr-FR" sz="1400" b="1" dirty="0">
                        <a:solidFill>
                          <a:srgbClr val="0000FF"/>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827299">
                <a:tc>
                  <a:txBody>
                    <a:bodyPr/>
                    <a:lstStyle/>
                    <a:p>
                      <a:pPr>
                        <a:lnSpc>
                          <a:spcPct val="100000"/>
                        </a:lnSpc>
                        <a:spcBef>
                          <a:spcPts val="0"/>
                        </a:spcBef>
                        <a:spcAft>
                          <a:spcPts val="0"/>
                        </a:spcAft>
                      </a:pPr>
                      <a:r>
                        <a:rPr lang="fr-FR" sz="1400" dirty="0" err="1">
                          <a:effectLst/>
                        </a:rPr>
                        <a:t>sum</a:t>
                      </a:r>
                      <a:endParaRPr lang="fr-FR" sz="1400" dirty="0">
                        <a:effectLst/>
                      </a:endParaRPr>
                    </a:p>
                    <a:p>
                      <a:pPr>
                        <a:lnSpc>
                          <a:spcPct val="100000"/>
                        </a:lnSpc>
                        <a:spcBef>
                          <a:spcPts val="0"/>
                        </a:spcBef>
                        <a:spcAft>
                          <a:spcPts val="0"/>
                        </a:spcAft>
                      </a:pPr>
                      <a:r>
                        <a:rPr lang="fr-FR" sz="1400" dirty="0">
                          <a:effectLst/>
                        </a:rPr>
                        <a:t>min</a:t>
                      </a:r>
                    </a:p>
                    <a:p>
                      <a:pPr>
                        <a:lnSpc>
                          <a:spcPct val="100000"/>
                        </a:lnSpc>
                        <a:spcBef>
                          <a:spcPts val="0"/>
                        </a:spcBef>
                        <a:spcAft>
                          <a:spcPts val="0"/>
                        </a:spcAft>
                      </a:pPr>
                      <a:r>
                        <a:rPr lang="fr-FR" sz="1400" dirty="0">
                          <a:effectLst/>
                        </a:rPr>
                        <a:t>max</a:t>
                      </a:r>
                    </a:p>
                    <a:p>
                      <a:pPr>
                        <a:lnSpc>
                          <a:spcPct val="100000"/>
                        </a:lnSpc>
                        <a:spcBef>
                          <a:spcPts val="0"/>
                        </a:spcBef>
                        <a:spcAft>
                          <a:spcPts val="0"/>
                        </a:spcAft>
                      </a:pPr>
                      <a:r>
                        <a:rPr lang="fr-FR" sz="1400" dirty="0" err="1">
                          <a:effectLst/>
                        </a:rPr>
                        <a:t>mean</a:t>
                      </a:r>
                      <a:endParaRPr lang="fr-FR" sz="1400" dirty="0">
                        <a:effectLst/>
                        <a:latin typeface="Calibri"/>
                        <a:ea typeface="Calibri"/>
                        <a:cs typeface="Arial"/>
                      </a:endParaRPr>
                    </a:p>
                  </a:txBody>
                  <a:tcPr marL="25597" marR="2559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a:lnSpc>
                          <a:spcPct val="100000"/>
                        </a:lnSpc>
                        <a:spcBef>
                          <a:spcPts val="0"/>
                        </a:spcBef>
                        <a:spcAft>
                          <a:spcPts val="0"/>
                        </a:spcAft>
                      </a:pPr>
                      <a:r>
                        <a:rPr lang="fr-FR" sz="1400" b="0" dirty="0">
                          <a:effectLst/>
                        </a:rPr>
                        <a:t>la somme, le minimum, le maximum et la moyenne du </a:t>
                      </a:r>
                      <a:r>
                        <a:rPr lang="fr-FR" sz="1400" b="0" dirty="0" smtClean="0">
                          <a:effectLst/>
                        </a:rPr>
                        <a:t>tableau</a:t>
                      </a:r>
                      <a:endParaRPr lang="fr-FR" sz="1400" b="0" dirty="0">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en-US" sz="1400" b="1" dirty="0" err="1">
                          <a:solidFill>
                            <a:srgbClr val="7030A0"/>
                          </a:solidFill>
                          <a:effectLst/>
                        </a:rPr>
                        <a:t>np.sum</a:t>
                      </a:r>
                      <a:r>
                        <a:rPr lang="en-US" sz="1400" b="1" dirty="0">
                          <a:solidFill>
                            <a:srgbClr val="7030A0"/>
                          </a:solidFill>
                          <a:effectLst/>
                        </a:rPr>
                        <a:t>(tab)</a:t>
                      </a:r>
                      <a:endParaRPr lang="fr-FR" sz="1400" b="1" dirty="0">
                        <a:solidFill>
                          <a:srgbClr val="7030A0"/>
                        </a:solidFill>
                        <a:effectLst/>
                      </a:endParaRPr>
                    </a:p>
                    <a:p>
                      <a:pPr>
                        <a:lnSpc>
                          <a:spcPct val="100000"/>
                        </a:lnSpc>
                        <a:spcBef>
                          <a:spcPts val="0"/>
                        </a:spcBef>
                        <a:spcAft>
                          <a:spcPts val="0"/>
                        </a:spcAft>
                      </a:pPr>
                      <a:r>
                        <a:rPr lang="en-US" sz="1400" b="1" dirty="0" err="1">
                          <a:solidFill>
                            <a:srgbClr val="7030A0"/>
                          </a:solidFill>
                          <a:effectLst/>
                        </a:rPr>
                        <a:t>np.min</a:t>
                      </a:r>
                      <a:r>
                        <a:rPr lang="en-US" sz="1400" b="1" dirty="0">
                          <a:solidFill>
                            <a:srgbClr val="7030A0"/>
                          </a:solidFill>
                          <a:effectLst/>
                        </a:rPr>
                        <a:t>(tab)</a:t>
                      </a:r>
                      <a:endParaRPr lang="fr-FR" sz="1400" b="1" dirty="0">
                        <a:solidFill>
                          <a:srgbClr val="7030A0"/>
                        </a:solidFill>
                        <a:effectLst/>
                      </a:endParaRPr>
                    </a:p>
                    <a:p>
                      <a:pPr>
                        <a:lnSpc>
                          <a:spcPct val="100000"/>
                        </a:lnSpc>
                        <a:spcBef>
                          <a:spcPts val="0"/>
                        </a:spcBef>
                        <a:spcAft>
                          <a:spcPts val="0"/>
                        </a:spcAft>
                      </a:pPr>
                      <a:r>
                        <a:rPr lang="en-US" sz="1400" b="1" dirty="0" err="1">
                          <a:solidFill>
                            <a:srgbClr val="7030A0"/>
                          </a:solidFill>
                          <a:effectLst/>
                        </a:rPr>
                        <a:t>np.max</a:t>
                      </a:r>
                      <a:r>
                        <a:rPr lang="en-US" sz="1400" b="1" dirty="0">
                          <a:solidFill>
                            <a:srgbClr val="7030A0"/>
                          </a:solidFill>
                          <a:effectLst/>
                        </a:rPr>
                        <a:t>(tab)</a:t>
                      </a:r>
                      <a:endParaRPr lang="fr-FR" sz="1400" b="1" dirty="0">
                        <a:solidFill>
                          <a:srgbClr val="7030A0"/>
                        </a:solidFill>
                        <a:effectLst/>
                      </a:endParaRPr>
                    </a:p>
                    <a:p>
                      <a:pPr>
                        <a:lnSpc>
                          <a:spcPct val="100000"/>
                        </a:lnSpc>
                        <a:spcBef>
                          <a:spcPts val="0"/>
                        </a:spcBef>
                        <a:spcAft>
                          <a:spcPts val="0"/>
                        </a:spcAft>
                      </a:pPr>
                      <a:r>
                        <a:rPr lang="en-US" sz="1400" b="1" dirty="0" err="1">
                          <a:solidFill>
                            <a:srgbClr val="7030A0"/>
                          </a:solidFill>
                          <a:effectLst/>
                        </a:rPr>
                        <a:t>np.mean</a:t>
                      </a:r>
                      <a:r>
                        <a:rPr lang="en-US" sz="1400" b="1" dirty="0">
                          <a:solidFill>
                            <a:srgbClr val="7030A0"/>
                          </a:solidFill>
                          <a:effectLst/>
                        </a:rPr>
                        <a:t>(tab)</a:t>
                      </a:r>
                      <a:endParaRPr lang="fr-FR" sz="1400" b="1" dirty="0">
                        <a:solidFill>
                          <a:srgbClr val="7030A0"/>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en-US" sz="1400" b="1">
                          <a:solidFill>
                            <a:srgbClr val="0000FF"/>
                          </a:solidFill>
                          <a:effectLst/>
                        </a:rPr>
                        <a:t>» A=np.array([[ 1, 9, 1],[3,6,4]])</a:t>
                      </a:r>
                      <a:endParaRPr lang="fr-FR" sz="1400" b="1">
                        <a:solidFill>
                          <a:srgbClr val="0000FF"/>
                        </a:solidFill>
                        <a:effectLst/>
                      </a:endParaRPr>
                    </a:p>
                    <a:p>
                      <a:pPr>
                        <a:lnSpc>
                          <a:spcPct val="100000"/>
                        </a:lnSpc>
                        <a:spcBef>
                          <a:spcPts val="0"/>
                        </a:spcBef>
                        <a:spcAft>
                          <a:spcPts val="0"/>
                        </a:spcAft>
                      </a:pPr>
                      <a:r>
                        <a:rPr lang="en-US" sz="1400" b="1">
                          <a:solidFill>
                            <a:srgbClr val="0000FF"/>
                          </a:solidFill>
                          <a:effectLst/>
                        </a:rPr>
                        <a:t>» np.mean(A)</a:t>
                      </a:r>
                      <a:endParaRPr lang="fr-FR" sz="1400" b="1">
                        <a:solidFill>
                          <a:srgbClr val="0000FF"/>
                        </a:solidFill>
                        <a:effectLst/>
                      </a:endParaRPr>
                    </a:p>
                    <a:p>
                      <a:pPr>
                        <a:lnSpc>
                          <a:spcPct val="100000"/>
                        </a:lnSpc>
                        <a:spcBef>
                          <a:spcPts val="0"/>
                        </a:spcBef>
                        <a:spcAft>
                          <a:spcPts val="0"/>
                        </a:spcAft>
                      </a:pPr>
                      <a:r>
                        <a:rPr lang="fr-FR" sz="1400" b="1">
                          <a:solidFill>
                            <a:srgbClr val="0000FF"/>
                          </a:solidFill>
                          <a:effectLst/>
                        </a:rPr>
                        <a:t>4.0</a:t>
                      </a:r>
                      <a:endParaRPr lang="fr-FR" sz="1400" b="1">
                        <a:solidFill>
                          <a:srgbClr val="0000FF"/>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620475">
                <a:tc>
                  <a:txBody>
                    <a:bodyPr/>
                    <a:lstStyle/>
                    <a:p>
                      <a:pPr>
                        <a:lnSpc>
                          <a:spcPct val="100000"/>
                        </a:lnSpc>
                        <a:spcBef>
                          <a:spcPts val="0"/>
                        </a:spcBef>
                        <a:spcAft>
                          <a:spcPts val="0"/>
                        </a:spcAft>
                      </a:pPr>
                      <a:r>
                        <a:rPr lang="fr-FR" sz="1400">
                          <a:effectLst/>
                        </a:rPr>
                        <a:t>transpose</a:t>
                      </a:r>
                      <a:endParaRPr lang="fr-FR" sz="1400">
                        <a:effectLst/>
                        <a:latin typeface="Calibri"/>
                        <a:ea typeface="Calibri"/>
                        <a:cs typeface="Arial"/>
                      </a:endParaRPr>
                    </a:p>
                  </a:txBody>
                  <a:tcPr marL="25597" marR="2559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a:lnSpc>
                          <a:spcPct val="100000"/>
                        </a:lnSpc>
                        <a:spcBef>
                          <a:spcPts val="0"/>
                        </a:spcBef>
                        <a:spcAft>
                          <a:spcPts val="0"/>
                        </a:spcAft>
                      </a:pPr>
                      <a:r>
                        <a:rPr lang="fr-FR" sz="1400" b="0" dirty="0">
                          <a:effectLst/>
                        </a:rPr>
                        <a:t>Pour calculer la </a:t>
                      </a:r>
                      <a:endParaRPr lang="fr-FR" sz="1400" b="0" dirty="0" smtClean="0">
                        <a:effectLst/>
                      </a:endParaRPr>
                    </a:p>
                    <a:p>
                      <a:pPr algn="just">
                        <a:lnSpc>
                          <a:spcPct val="100000"/>
                        </a:lnSpc>
                        <a:spcBef>
                          <a:spcPts val="0"/>
                        </a:spcBef>
                        <a:spcAft>
                          <a:spcPts val="0"/>
                        </a:spcAft>
                      </a:pPr>
                      <a:r>
                        <a:rPr lang="fr-FR" sz="1400" b="0" dirty="0" smtClean="0">
                          <a:effectLst/>
                        </a:rPr>
                        <a:t>transposé </a:t>
                      </a:r>
                      <a:r>
                        <a:rPr lang="fr-FR" sz="1400" b="0" dirty="0">
                          <a:effectLst/>
                        </a:rPr>
                        <a:t>d’un tableau</a:t>
                      </a:r>
                      <a:endParaRPr lang="fr-FR" sz="1400" b="0" dirty="0">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fr-FR" sz="1400" b="1" dirty="0" err="1">
                          <a:solidFill>
                            <a:srgbClr val="7030A0"/>
                          </a:solidFill>
                          <a:effectLst/>
                        </a:rPr>
                        <a:t>np.transpose</a:t>
                      </a:r>
                      <a:r>
                        <a:rPr lang="fr-FR" sz="1400" b="1" dirty="0">
                          <a:solidFill>
                            <a:srgbClr val="7030A0"/>
                          </a:solidFill>
                          <a:effectLst/>
                        </a:rPr>
                        <a:t>(tab)   </a:t>
                      </a:r>
                      <a:endParaRPr lang="fr-FR" sz="1400" b="1" dirty="0" smtClean="0">
                        <a:solidFill>
                          <a:srgbClr val="7030A0"/>
                        </a:solidFill>
                        <a:effectLst/>
                      </a:endParaRPr>
                    </a:p>
                    <a:p>
                      <a:pPr>
                        <a:lnSpc>
                          <a:spcPct val="100000"/>
                        </a:lnSpc>
                        <a:spcBef>
                          <a:spcPts val="0"/>
                        </a:spcBef>
                        <a:spcAft>
                          <a:spcPts val="0"/>
                        </a:spcAft>
                      </a:pPr>
                      <a:r>
                        <a:rPr lang="fr-FR" sz="1400" b="1" dirty="0" smtClean="0">
                          <a:solidFill>
                            <a:srgbClr val="7030A0"/>
                          </a:solidFill>
                          <a:effectLst/>
                        </a:rPr>
                        <a:t>ou </a:t>
                      </a:r>
                      <a:r>
                        <a:rPr lang="fr-FR" sz="1400" b="1" dirty="0">
                          <a:solidFill>
                            <a:srgbClr val="7030A0"/>
                          </a:solidFill>
                          <a:effectLst/>
                        </a:rPr>
                        <a:t>bien</a:t>
                      </a:r>
                    </a:p>
                    <a:p>
                      <a:pPr>
                        <a:lnSpc>
                          <a:spcPct val="100000"/>
                        </a:lnSpc>
                        <a:spcBef>
                          <a:spcPts val="0"/>
                        </a:spcBef>
                        <a:spcAft>
                          <a:spcPts val="0"/>
                        </a:spcAft>
                      </a:pPr>
                      <a:r>
                        <a:rPr lang="fr-FR" sz="1400" b="1" dirty="0" err="1">
                          <a:solidFill>
                            <a:srgbClr val="7030A0"/>
                          </a:solidFill>
                          <a:effectLst/>
                        </a:rPr>
                        <a:t>tab.T</a:t>
                      </a:r>
                      <a:endParaRPr lang="fr-FR" sz="1400" b="1" dirty="0">
                        <a:solidFill>
                          <a:srgbClr val="7030A0"/>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en-US" sz="1400" b="1" dirty="0">
                          <a:solidFill>
                            <a:srgbClr val="0000FF"/>
                          </a:solidFill>
                          <a:effectLst/>
                        </a:rPr>
                        <a:t>» A=</a:t>
                      </a:r>
                      <a:r>
                        <a:rPr lang="en-US" sz="1400" b="1" dirty="0" err="1">
                          <a:solidFill>
                            <a:srgbClr val="0000FF"/>
                          </a:solidFill>
                          <a:effectLst/>
                        </a:rPr>
                        <a:t>np.array</a:t>
                      </a:r>
                      <a:r>
                        <a:rPr lang="en-US" sz="1400" b="1" dirty="0">
                          <a:solidFill>
                            <a:srgbClr val="0000FF"/>
                          </a:solidFill>
                          <a:effectLst/>
                        </a:rPr>
                        <a:t>([[1,3],[9, 6],[1, 4]])</a:t>
                      </a:r>
                      <a:endParaRPr lang="fr-FR" sz="1400" b="1" dirty="0">
                        <a:solidFill>
                          <a:srgbClr val="0000FF"/>
                        </a:solidFill>
                        <a:effectLst/>
                      </a:endParaRPr>
                    </a:p>
                    <a:p>
                      <a:pPr>
                        <a:lnSpc>
                          <a:spcPct val="100000"/>
                        </a:lnSpc>
                        <a:spcBef>
                          <a:spcPts val="0"/>
                        </a:spcBef>
                        <a:spcAft>
                          <a:spcPts val="0"/>
                        </a:spcAft>
                      </a:pPr>
                      <a:r>
                        <a:rPr lang="en-US" sz="1400" b="1" dirty="0">
                          <a:solidFill>
                            <a:srgbClr val="0000FF"/>
                          </a:solidFill>
                          <a:effectLst/>
                        </a:rPr>
                        <a:t>» </a:t>
                      </a:r>
                      <a:r>
                        <a:rPr lang="en-US" sz="1400" b="1" dirty="0" err="1">
                          <a:solidFill>
                            <a:srgbClr val="0000FF"/>
                          </a:solidFill>
                          <a:effectLst/>
                        </a:rPr>
                        <a:t>np.transpose</a:t>
                      </a:r>
                      <a:r>
                        <a:rPr lang="en-US" sz="1400" b="1" dirty="0">
                          <a:solidFill>
                            <a:srgbClr val="0000FF"/>
                          </a:solidFill>
                          <a:effectLst/>
                        </a:rPr>
                        <a:t>(A)</a:t>
                      </a:r>
                      <a:endParaRPr lang="fr-FR" sz="1400" b="1" dirty="0">
                        <a:solidFill>
                          <a:srgbClr val="0000FF"/>
                        </a:solidFill>
                        <a:effectLst/>
                      </a:endParaRPr>
                    </a:p>
                    <a:p>
                      <a:pPr>
                        <a:lnSpc>
                          <a:spcPct val="100000"/>
                        </a:lnSpc>
                        <a:spcBef>
                          <a:spcPts val="0"/>
                        </a:spcBef>
                        <a:spcAft>
                          <a:spcPts val="0"/>
                        </a:spcAft>
                      </a:pPr>
                      <a:r>
                        <a:rPr lang="fr-FR" sz="1400" b="1" dirty="0" err="1">
                          <a:solidFill>
                            <a:srgbClr val="0000FF"/>
                          </a:solidFill>
                          <a:effectLst/>
                        </a:rPr>
                        <a:t>array</a:t>
                      </a:r>
                      <a:r>
                        <a:rPr lang="fr-FR" sz="1400" b="1" dirty="0">
                          <a:solidFill>
                            <a:srgbClr val="0000FF"/>
                          </a:solidFill>
                          <a:effectLst/>
                        </a:rPr>
                        <a:t>([[ 1, 9, 1],[3,6,4]])</a:t>
                      </a:r>
                      <a:endParaRPr lang="fr-FR" sz="1400" b="1" dirty="0">
                        <a:solidFill>
                          <a:srgbClr val="0000FF"/>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827299">
                <a:tc>
                  <a:txBody>
                    <a:bodyPr/>
                    <a:lstStyle/>
                    <a:p>
                      <a:pPr>
                        <a:lnSpc>
                          <a:spcPct val="100000"/>
                        </a:lnSpc>
                        <a:spcBef>
                          <a:spcPts val="0"/>
                        </a:spcBef>
                        <a:spcAft>
                          <a:spcPts val="0"/>
                        </a:spcAft>
                      </a:pPr>
                      <a:r>
                        <a:rPr lang="fr-FR" sz="1400">
                          <a:effectLst/>
                        </a:rPr>
                        <a:t>dot</a:t>
                      </a:r>
                      <a:endParaRPr lang="fr-FR" sz="1400">
                        <a:effectLst/>
                        <a:latin typeface="Calibri"/>
                        <a:ea typeface="Calibri"/>
                        <a:cs typeface="Arial"/>
                      </a:endParaRPr>
                    </a:p>
                  </a:txBody>
                  <a:tcPr marL="25597" marR="2559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a:lnSpc>
                          <a:spcPct val="100000"/>
                        </a:lnSpc>
                        <a:spcBef>
                          <a:spcPts val="0"/>
                        </a:spcBef>
                        <a:spcAft>
                          <a:spcPts val="0"/>
                        </a:spcAft>
                      </a:pPr>
                      <a:r>
                        <a:rPr lang="fr-FR" sz="1400" b="0" dirty="0">
                          <a:effectLst/>
                        </a:rPr>
                        <a:t>Pour effectuer le produit matriciel de deux </a:t>
                      </a:r>
                      <a:endParaRPr lang="fr-FR" sz="1400" b="0" dirty="0" smtClean="0">
                        <a:effectLst/>
                      </a:endParaRPr>
                    </a:p>
                    <a:p>
                      <a:pPr algn="just">
                        <a:lnSpc>
                          <a:spcPct val="100000"/>
                        </a:lnSpc>
                        <a:spcBef>
                          <a:spcPts val="0"/>
                        </a:spcBef>
                        <a:spcAft>
                          <a:spcPts val="0"/>
                        </a:spcAft>
                      </a:pPr>
                      <a:r>
                        <a:rPr lang="fr-FR" sz="1400" b="0" dirty="0" smtClean="0">
                          <a:effectLst/>
                        </a:rPr>
                        <a:t>tableaux</a:t>
                      </a:r>
                      <a:endParaRPr lang="fr-FR" sz="1400" b="0" dirty="0">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fr-FR" sz="1400" b="1">
                          <a:solidFill>
                            <a:srgbClr val="7030A0"/>
                          </a:solidFill>
                          <a:effectLst/>
                        </a:rPr>
                        <a:t>np.dot(tab1,tab2)</a:t>
                      </a:r>
                      <a:endParaRPr lang="fr-FR" sz="1400" b="1">
                        <a:solidFill>
                          <a:srgbClr val="7030A0"/>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en-US" sz="1400" b="1" dirty="0">
                          <a:solidFill>
                            <a:srgbClr val="0000FF"/>
                          </a:solidFill>
                          <a:effectLst/>
                        </a:rPr>
                        <a:t>» A=</a:t>
                      </a:r>
                      <a:r>
                        <a:rPr lang="en-US" sz="1400" b="1" dirty="0" err="1">
                          <a:solidFill>
                            <a:srgbClr val="0000FF"/>
                          </a:solidFill>
                          <a:effectLst/>
                        </a:rPr>
                        <a:t>np.array</a:t>
                      </a:r>
                      <a:r>
                        <a:rPr lang="en-US" sz="1400" b="1" dirty="0">
                          <a:solidFill>
                            <a:srgbClr val="0000FF"/>
                          </a:solidFill>
                          <a:effectLst/>
                        </a:rPr>
                        <a:t>([[1,9,1],[3,6,4]])</a:t>
                      </a:r>
                      <a:endParaRPr lang="fr-FR" sz="1400" b="1" dirty="0">
                        <a:solidFill>
                          <a:srgbClr val="0000FF"/>
                        </a:solidFill>
                        <a:effectLst/>
                      </a:endParaRPr>
                    </a:p>
                    <a:p>
                      <a:pPr>
                        <a:lnSpc>
                          <a:spcPct val="100000"/>
                        </a:lnSpc>
                        <a:spcBef>
                          <a:spcPts val="0"/>
                        </a:spcBef>
                        <a:spcAft>
                          <a:spcPts val="0"/>
                        </a:spcAft>
                      </a:pPr>
                      <a:r>
                        <a:rPr lang="en-US" sz="1400" b="1" dirty="0">
                          <a:solidFill>
                            <a:srgbClr val="0000FF"/>
                          </a:solidFill>
                          <a:effectLst/>
                        </a:rPr>
                        <a:t>» B=</a:t>
                      </a:r>
                      <a:r>
                        <a:rPr lang="en-US" sz="1400" b="1" dirty="0" err="1">
                          <a:solidFill>
                            <a:srgbClr val="0000FF"/>
                          </a:solidFill>
                          <a:effectLst/>
                        </a:rPr>
                        <a:t>np.array</a:t>
                      </a:r>
                      <a:r>
                        <a:rPr lang="en-US" sz="1400" b="1" dirty="0">
                          <a:solidFill>
                            <a:srgbClr val="0000FF"/>
                          </a:solidFill>
                          <a:effectLst/>
                        </a:rPr>
                        <a:t>([[1,1],[3, 4],[3, 4]])</a:t>
                      </a:r>
                      <a:endParaRPr lang="fr-FR" sz="1400" b="1" dirty="0">
                        <a:solidFill>
                          <a:srgbClr val="0000FF"/>
                        </a:solidFill>
                        <a:effectLst/>
                      </a:endParaRPr>
                    </a:p>
                    <a:p>
                      <a:pPr>
                        <a:lnSpc>
                          <a:spcPct val="100000"/>
                        </a:lnSpc>
                        <a:spcBef>
                          <a:spcPts val="0"/>
                        </a:spcBef>
                        <a:spcAft>
                          <a:spcPts val="0"/>
                        </a:spcAft>
                      </a:pPr>
                      <a:r>
                        <a:rPr lang="en-US" sz="1400" b="1" dirty="0">
                          <a:solidFill>
                            <a:srgbClr val="0000FF"/>
                          </a:solidFill>
                          <a:effectLst/>
                        </a:rPr>
                        <a:t>» P=np.dot(A,B)</a:t>
                      </a:r>
                      <a:endParaRPr lang="fr-FR" sz="1400" b="1" dirty="0">
                        <a:solidFill>
                          <a:srgbClr val="0000FF"/>
                        </a:solidFill>
                        <a:effectLst/>
                      </a:endParaRPr>
                    </a:p>
                    <a:p>
                      <a:pPr>
                        <a:lnSpc>
                          <a:spcPct val="100000"/>
                        </a:lnSpc>
                        <a:spcBef>
                          <a:spcPts val="0"/>
                        </a:spcBef>
                        <a:spcAft>
                          <a:spcPts val="0"/>
                        </a:spcAft>
                      </a:pPr>
                      <a:r>
                        <a:rPr lang="en-US" sz="1400" b="1" dirty="0">
                          <a:solidFill>
                            <a:srgbClr val="0000FF"/>
                          </a:solidFill>
                          <a:effectLst/>
                        </a:rPr>
                        <a:t>P=array([[31, 41],[33, 43]])</a:t>
                      </a:r>
                      <a:endParaRPr lang="fr-FR" sz="1400" b="1" dirty="0">
                        <a:solidFill>
                          <a:srgbClr val="0000FF"/>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634708">
                <a:tc>
                  <a:txBody>
                    <a:bodyPr/>
                    <a:lstStyle/>
                    <a:p>
                      <a:pPr>
                        <a:lnSpc>
                          <a:spcPct val="100000"/>
                        </a:lnSpc>
                        <a:spcBef>
                          <a:spcPts val="0"/>
                        </a:spcBef>
                        <a:spcAft>
                          <a:spcPts val="0"/>
                        </a:spcAft>
                      </a:pPr>
                      <a:r>
                        <a:rPr lang="fr-FR" sz="1400" dirty="0" err="1">
                          <a:effectLst/>
                        </a:rPr>
                        <a:t>vdot</a:t>
                      </a:r>
                      <a:endParaRPr lang="fr-FR" sz="1400" dirty="0">
                        <a:effectLst/>
                        <a:latin typeface="Calibri"/>
                        <a:ea typeface="Calibri"/>
                        <a:cs typeface="Arial"/>
                      </a:endParaRPr>
                    </a:p>
                  </a:txBody>
                  <a:tcPr marL="25597" marR="2559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a:lnSpc>
                          <a:spcPct val="100000"/>
                        </a:lnSpc>
                        <a:spcBef>
                          <a:spcPts val="0"/>
                        </a:spcBef>
                        <a:spcAft>
                          <a:spcPts val="0"/>
                        </a:spcAft>
                      </a:pPr>
                      <a:r>
                        <a:rPr lang="fr-FR" sz="1400" b="0" dirty="0">
                          <a:effectLst/>
                        </a:rPr>
                        <a:t>Pour effectuer le produit scalaire de deux vecteurs</a:t>
                      </a:r>
                      <a:endParaRPr lang="fr-FR" sz="1400" b="0" dirty="0">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fr-FR" sz="1400" b="1" dirty="0" err="1">
                          <a:solidFill>
                            <a:srgbClr val="7030A0"/>
                          </a:solidFill>
                          <a:effectLst/>
                        </a:rPr>
                        <a:t>np.vdot</a:t>
                      </a:r>
                      <a:r>
                        <a:rPr lang="fr-FR" sz="1400" b="1" dirty="0">
                          <a:solidFill>
                            <a:srgbClr val="7030A0"/>
                          </a:solidFill>
                          <a:effectLst/>
                        </a:rPr>
                        <a:t>(tab1,tab2)</a:t>
                      </a:r>
                      <a:endParaRPr lang="fr-FR" sz="1400" b="1" dirty="0">
                        <a:solidFill>
                          <a:srgbClr val="7030A0"/>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en-US" sz="1400" b="1" dirty="0">
                          <a:solidFill>
                            <a:srgbClr val="0000FF"/>
                          </a:solidFill>
                          <a:effectLst/>
                        </a:rPr>
                        <a:t>» A=</a:t>
                      </a:r>
                      <a:r>
                        <a:rPr lang="en-US" sz="1400" b="1" dirty="0" err="1">
                          <a:solidFill>
                            <a:srgbClr val="0000FF"/>
                          </a:solidFill>
                          <a:effectLst/>
                        </a:rPr>
                        <a:t>np.array</a:t>
                      </a:r>
                      <a:r>
                        <a:rPr lang="en-US" sz="1400" b="1" dirty="0">
                          <a:solidFill>
                            <a:srgbClr val="0000FF"/>
                          </a:solidFill>
                          <a:effectLst/>
                        </a:rPr>
                        <a:t>([ 1, 9, 1, 3, 6, 4])</a:t>
                      </a:r>
                      <a:endParaRPr lang="fr-FR" sz="1400" b="1" dirty="0">
                        <a:solidFill>
                          <a:srgbClr val="0000FF"/>
                        </a:solidFill>
                        <a:effectLst/>
                      </a:endParaRPr>
                    </a:p>
                    <a:p>
                      <a:pPr>
                        <a:lnSpc>
                          <a:spcPct val="100000"/>
                        </a:lnSpc>
                        <a:spcBef>
                          <a:spcPts val="0"/>
                        </a:spcBef>
                        <a:spcAft>
                          <a:spcPts val="0"/>
                        </a:spcAft>
                      </a:pPr>
                      <a:r>
                        <a:rPr lang="en-US" sz="1400" b="1" dirty="0">
                          <a:solidFill>
                            <a:srgbClr val="0000FF"/>
                          </a:solidFill>
                          <a:effectLst/>
                        </a:rPr>
                        <a:t>» B=</a:t>
                      </a:r>
                      <a:r>
                        <a:rPr lang="en-US" sz="1400" b="1" dirty="0" err="1">
                          <a:solidFill>
                            <a:srgbClr val="0000FF"/>
                          </a:solidFill>
                          <a:effectLst/>
                        </a:rPr>
                        <a:t>np.array</a:t>
                      </a:r>
                      <a:r>
                        <a:rPr lang="en-US" sz="1400" b="1" dirty="0">
                          <a:solidFill>
                            <a:srgbClr val="0000FF"/>
                          </a:solidFill>
                          <a:effectLst/>
                        </a:rPr>
                        <a:t>([ 1, 1, 3, 4 , 3, 4])</a:t>
                      </a:r>
                      <a:endParaRPr lang="fr-FR" sz="1400" b="1" dirty="0">
                        <a:solidFill>
                          <a:srgbClr val="0000FF"/>
                        </a:solidFill>
                        <a:effectLst/>
                      </a:endParaRPr>
                    </a:p>
                    <a:p>
                      <a:pPr>
                        <a:lnSpc>
                          <a:spcPct val="100000"/>
                        </a:lnSpc>
                        <a:spcBef>
                          <a:spcPts val="0"/>
                        </a:spcBef>
                        <a:spcAft>
                          <a:spcPts val="0"/>
                        </a:spcAft>
                      </a:pPr>
                      <a:r>
                        <a:rPr lang="fr-FR" sz="1400" b="1" dirty="0">
                          <a:solidFill>
                            <a:srgbClr val="0000FF"/>
                          </a:solidFill>
                          <a:effectLst/>
                        </a:rPr>
                        <a:t>» </a:t>
                      </a:r>
                      <a:r>
                        <a:rPr lang="fr-FR" sz="1400" b="1" dirty="0" err="1">
                          <a:solidFill>
                            <a:srgbClr val="0000FF"/>
                          </a:solidFill>
                          <a:effectLst/>
                        </a:rPr>
                        <a:t>np.vdot</a:t>
                      </a:r>
                      <a:r>
                        <a:rPr lang="fr-FR" sz="1400" b="1" dirty="0">
                          <a:solidFill>
                            <a:srgbClr val="0000FF"/>
                          </a:solidFill>
                          <a:effectLst/>
                        </a:rPr>
                        <a:t>(A , B</a:t>
                      </a:r>
                      <a:r>
                        <a:rPr lang="fr-FR" sz="1400" b="1" dirty="0" smtClean="0">
                          <a:solidFill>
                            <a:srgbClr val="0000FF"/>
                          </a:solidFill>
                          <a:effectLst/>
                        </a:rPr>
                        <a:t>) </a:t>
                      </a:r>
                      <a:r>
                        <a:rPr lang="fr-FR" sz="1400" b="1" dirty="0" smtClean="0">
                          <a:solidFill>
                            <a:srgbClr val="0000FF"/>
                          </a:solidFill>
                          <a:effectLst/>
                          <a:sym typeface="Wingdings" pitchFamily="2" charset="2"/>
                        </a:rPr>
                        <a:t></a:t>
                      </a:r>
                      <a:r>
                        <a:rPr lang="fr-FR" sz="1400" b="1" dirty="0" smtClean="0">
                          <a:solidFill>
                            <a:srgbClr val="0000FF"/>
                          </a:solidFill>
                          <a:effectLst/>
                        </a:rPr>
                        <a:t>59</a:t>
                      </a:r>
                      <a:endParaRPr lang="fr-FR" sz="1400" b="1" dirty="0">
                        <a:solidFill>
                          <a:srgbClr val="0000FF"/>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bl>
          </a:graphicData>
        </a:graphic>
      </p:graphicFrame>
      <p:sp>
        <p:nvSpPr>
          <p:cNvPr id="11"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dirty="0"/>
              <a:t>Le module </a:t>
            </a:r>
            <a:r>
              <a:rPr lang="fr-FR" sz="2400" dirty="0" err="1"/>
              <a:t>numpy</a:t>
            </a:r>
            <a:r>
              <a:rPr lang="fr-FR" sz="2400" dirty="0"/>
              <a:t> </a:t>
            </a:r>
            <a:endParaRPr lang="fr-FR" sz="2400" b="1" dirty="0">
              <a:latin typeface="+mj-lt"/>
            </a:endParaRPr>
          </a:p>
        </p:txBody>
      </p:sp>
    </p:spTree>
    <p:custDataLst>
      <p:tags r:id="rId1"/>
    </p:custDataLst>
    <p:extLst>
      <p:ext uri="{BB962C8B-B14F-4D97-AF65-F5344CB8AC3E}">
        <p14:creationId xmlns:p14="http://schemas.microsoft.com/office/powerpoint/2010/main" val="320381432"/>
      </p:ext>
    </p:extLst>
  </p:cSld>
  <p:clrMapOvr>
    <a:masterClrMapping/>
  </p:clrMapOvr>
  <p:transition>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Text Box 9"/>
          <p:cNvSpPr txBox="1">
            <a:spLocks noChangeArrowheads="1"/>
          </p:cNvSpPr>
          <p:nvPr/>
        </p:nvSpPr>
        <p:spPr bwMode="auto">
          <a:xfrm>
            <a:off x="971550" y="58738"/>
            <a:ext cx="8172450" cy="369332"/>
          </a:xfrm>
          <a:prstGeom prst="rect">
            <a:avLst/>
          </a:prstGeom>
          <a:noFill/>
          <a:ln w="12700" algn="ctr">
            <a:noFill/>
            <a:miter lim="800000"/>
            <a:headEnd/>
            <a:tailEnd/>
          </a:ln>
        </p:spPr>
        <p:txBody>
          <a:bodyPr>
            <a:spAutoFit/>
          </a:bodyPr>
          <a:lstStyle/>
          <a:p>
            <a:pPr>
              <a:spcBef>
                <a:spcPct val="50000"/>
              </a:spcBef>
            </a:pPr>
            <a:r>
              <a:rPr lang="fr-FR" sz="1800" b="1" dirty="0" smtClean="0">
                <a:solidFill>
                  <a:srgbClr val="000000"/>
                </a:solidFill>
                <a:latin typeface="Arial" pitchFamily="34" charset="0"/>
              </a:rPr>
              <a:t>Les modules</a:t>
            </a:r>
            <a:endParaRPr lang="fr-FR" sz="1800" b="1" dirty="0">
              <a:solidFill>
                <a:srgbClr val="000000"/>
              </a:solidFill>
              <a:latin typeface="Arial" pitchFamily="34" charset="0"/>
            </a:endParaRPr>
          </a:p>
        </p:txBody>
      </p:sp>
      <p:cxnSp>
        <p:nvCxnSpPr>
          <p:cNvPr id="203781"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203782"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203783" name="Triangle isocèle 6"/>
          <p:cNvSpPr>
            <a:spLocks noChangeArrowheads="1"/>
          </p:cNvSpPr>
          <p:nvPr/>
        </p:nvSpPr>
        <p:spPr bwMode="auto">
          <a:xfrm>
            <a:off x="571500" y="1143000"/>
            <a:ext cx="500063" cy="357188"/>
          </a:xfrm>
          <a:prstGeom prst="triangle">
            <a:avLst>
              <a:gd name="adj" fmla="val 50000"/>
            </a:avLst>
          </a:prstGeom>
          <a:noFill/>
          <a:ln w="9525" algn="ctr">
            <a:noFill/>
            <a:round/>
            <a:headEnd/>
            <a:tailEnd/>
          </a:ln>
        </p:spPr>
        <p:txBody>
          <a:bodyPr lIns="90000" tIns="46800" rIns="90000" bIns="46800" anchor="ctr">
            <a:spAutoFit/>
          </a:bodyPr>
          <a:lstStyle/>
          <a:p>
            <a:pPr eaLnBrk="1" hangingPunct="1">
              <a:spcBef>
                <a:spcPct val="50000"/>
              </a:spcBef>
              <a:buClr>
                <a:srgbClr val="336666"/>
              </a:buClr>
              <a:buFont typeface="Wingdings" pitchFamily="2" charset="2"/>
              <a:buNone/>
            </a:pPr>
            <a:endParaRPr lang="fr-FR"/>
          </a:p>
        </p:txBody>
      </p:sp>
      <p:sp>
        <p:nvSpPr>
          <p:cNvPr id="203784" name="Triangle isocèle 8"/>
          <p:cNvSpPr>
            <a:spLocks noChangeArrowheads="1"/>
          </p:cNvSpPr>
          <p:nvPr/>
        </p:nvSpPr>
        <p:spPr bwMode="auto">
          <a:xfrm>
            <a:off x="785813" y="1500188"/>
            <a:ext cx="714375" cy="500062"/>
          </a:xfrm>
          <a:prstGeom prst="triangle">
            <a:avLst>
              <a:gd name="adj" fmla="val 50000"/>
            </a:avLst>
          </a:prstGeom>
          <a:noFill/>
          <a:ln w="9525" algn="ctr">
            <a:noFill/>
            <a:round/>
            <a:headEnd/>
            <a:tailEnd/>
          </a:ln>
        </p:spPr>
        <p:txBody>
          <a:bodyPr lIns="90000" tIns="46800" rIns="90000" bIns="46800" anchor="ctr">
            <a:spAutoFit/>
          </a:bodyPr>
          <a:lstStyle/>
          <a:p>
            <a:pPr eaLnBrk="1" hangingPunct="1">
              <a:spcBef>
                <a:spcPct val="50000"/>
              </a:spcBef>
              <a:buClr>
                <a:srgbClr val="336666"/>
              </a:buClr>
              <a:buFont typeface="Wingdings" pitchFamily="2" charset="2"/>
              <a:buNone/>
            </a:pPr>
            <a:endParaRPr lang="fr-FR"/>
          </a:p>
        </p:txBody>
      </p:sp>
      <p:graphicFrame>
        <p:nvGraphicFramePr>
          <p:cNvPr id="2" name="Tableau 1"/>
          <p:cNvGraphicFramePr>
            <a:graphicFrameLocks noGrp="1"/>
          </p:cNvGraphicFramePr>
          <p:nvPr>
            <p:extLst>
              <p:ext uri="{D42A27DB-BD31-4B8C-83A1-F6EECF244321}">
                <p14:modId xmlns:p14="http://schemas.microsoft.com/office/powerpoint/2010/main" val="1291452109"/>
              </p:ext>
            </p:extLst>
          </p:nvPr>
        </p:nvGraphicFramePr>
        <p:xfrm>
          <a:off x="467430" y="980660"/>
          <a:ext cx="8604557" cy="5576316"/>
        </p:xfrm>
        <a:graphic>
          <a:graphicData uri="http://schemas.openxmlformats.org/drawingml/2006/table">
            <a:tbl>
              <a:tblPr firstRow="1" firstCol="1" bandRow="1">
                <a:tableStyleId>{284E427A-3D55-4303-BF80-6455036E1DE7}</a:tableStyleId>
              </a:tblPr>
              <a:tblGrid>
                <a:gridCol w="864120"/>
                <a:gridCol w="1872260"/>
                <a:gridCol w="2952410"/>
                <a:gridCol w="2915767"/>
              </a:tblGrid>
              <a:tr h="234080">
                <a:tc>
                  <a:txBody>
                    <a:bodyPr/>
                    <a:lstStyle/>
                    <a:p>
                      <a:pPr algn="ctr">
                        <a:lnSpc>
                          <a:spcPct val="115000"/>
                        </a:lnSpc>
                        <a:spcBef>
                          <a:spcPts val="600"/>
                        </a:spcBef>
                        <a:spcAft>
                          <a:spcPts val="0"/>
                        </a:spcAft>
                      </a:pPr>
                      <a:r>
                        <a:rPr lang="fr-FR" sz="1400" dirty="0">
                          <a:solidFill>
                            <a:srgbClr val="C00000"/>
                          </a:solidFill>
                          <a:effectLst/>
                          <a:latin typeface="Arial(corps)"/>
                        </a:rPr>
                        <a:t>Fonction</a:t>
                      </a:r>
                      <a:endParaRPr lang="fr-FR" sz="1400" dirty="0">
                        <a:solidFill>
                          <a:srgbClr val="C00000"/>
                        </a:solidFill>
                        <a:effectLst/>
                        <a:latin typeface="Arial(corps)"/>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lnSpc>
                          <a:spcPct val="115000"/>
                        </a:lnSpc>
                        <a:spcBef>
                          <a:spcPts val="600"/>
                        </a:spcBef>
                        <a:spcAft>
                          <a:spcPts val="0"/>
                        </a:spcAft>
                      </a:pPr>
                      <a:r>
                        <a:rPr lang="fr-FR" sz="1400" dirty="0">
                          <a:solidFill>
                            <a:srgbClr val="C00000"/>
                          </a:solidFill>
                          <a:effectLst/>
                          <a:latin typeface="Arial(corps)"/>
                        </a:rPr>
                        <a:t>Rôle</a:t>
                      </a:r>
                      <a:endParaRPr lang="fr-FR" sz="1400" dirty="0">
                        <a:solidFill>
                          <a:srgbClr val="C00000"/>
                        </a:solidFill>
                        <a:effectLst/>
                        <a:latin typeface="Arial(corps)"/>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lnSpc>
                          <a:spcPct val="115000"/>
                        </a:lnSpc>
                        <a:spcBef>
                          <a:spcPts val="600"/>
                        </a:spcBef>
                        <a:spcAft>
                          <a:spcPts val="0"/>
                        </a:spcAft>
                      </a:pPr>
                      <a:r>
                        <a:rPr lang="fr-FR" sz="1400" dirty="0">
                          <a:solidFill>
                            <a:srgbClr val="C00000"/>
                          </a:solidFill>
                          <a:effectLst/>
                          <a:latin typeface="Arial(corps)"/>
                        </a:rPr>
                        <a:t>Syntaxe</a:t>
                      </a:r>
                      <a:endParaRPr lang="fr-FR" sz="1400" dirty="0">
                        <a:solidFill>
                          <a:srgbClr val="C00000"/>
                        </a:solidFill>
                        <a:effectLst/>
                        <a:latin typeface="Arial(corps)"/>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lnSpc>
                          <a:spcPct val="115000"/>
                        </a:lnSpc>
                        <a:spcBef>
                          <a:spcPts val="600"/>
                        </a:spcBef>
                        <a:spcAft>
                          <a:spcPts val="0"/>
                        </a:spcAft>
                      </a:pPr>
                      <a:r>
                        <a:rPr lang="fr-FR" sz="1400" dirty="0">
                          <a:solidFill>
                            <a:srgbClr val="C00000"/>
                          </a:solidFill>
                          <a:effectLst/>
                          <a:latin typeface="Arial(corps)"/>
                        </a:rPr>
                        <a:t>Exemple</a:t>
                      </a:r>
                      <a:endParaRPr lang="fr-FR" sz="1400" dirty="0">
                        <a:solidFill>
                          <a:srgbClr val="C00000"/>
                        </a:solidFill>
                        <a:effectLst/>
                        <a:latin typeface="Arial(corps)"/>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411503">
                <a:tc>
                  <a:txBody>
                    <a:bodyPr/>
                    <a:lstStyle/>
                    <a:p>
                      <a:pPr>
                        <a:lnSpc>
                          <a:spcPct val="115000"/>
                        </a:lnSpc>
                        <a:spcBef>
                          <a:spcPts val="600"/>
                        </a:spcBef>
                        <a:spcAft>
                          <a:spcPts val="0"/>
                        </a:spcAft>
                      </a:pPr>
                      <a:r>
                        <a:rPr lang="fr-FR" sz="1400" b="1" dirty="0" err="1">
                          <a:effectLst/>
                          <a:latin typeface="Arial(corps)"/>
                          <a:ea typeface="Calibri"/>
                          <a:cs typeface="Times New Roman"/>
                        </a:rPr>
                        <a:t>inv</a:t>
                      </a:r>
                      <a:endParaRPr lang="fr-FR" sz="1400" dirty="0">
                        <a:effectLst/>
                        <a:latin typeface="Arial(corps)"/>
                        <a:ea typeface="Calibri"/>
                        <a:cs typeface="Arial"/>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a:lnSpc>
                          <a:spcPct val="115000"/>
                        </a:lnSpc>
                        <a:spcBef>
                          <a:spcPts val="600"/>
                        </a:spcBef>
                        <a:spcAft>
                          <a:spcPts val="0"/>
                        </a:spcAft>
                      </a:pPr>
                      <a:r>
                        <a:rPr lang="fr-FR" sz="1400" dirty="0">
                          <a:effectLst/>
                          <a:latin typeface="Arial(corps)"/>
                          <a:ea typeface="Calibri"/>
                          <a:cs typeface="Times New Roman"/>
                        </a:rPr>
                        <a:t>Calcule l’inverse </a:t>
                      </a:r>
                      <a:endParaRPr lang="fr-FR" sz="1400" dirty="0" smtClean="0">
                        <a:effectLst/>
                        <a:latin typeface="Arial(corps)"/>
                        <a:ea typeface="Calibri"/>
                        <a:cs typeface="Times New Roman"/>
                      </a:endParaRPr>
                    </a:p>
                    <a:p>
                      <a:pPr algn="just">
                        <a:lnSpc>
                          <a:spcPct val="115000"/>
                        </a:lnSpc>
                        <a:spcBef>
                          <a:spcPts val="600"/>
                        </a:spcBef>
                        <a:spcAft>
                          <a:spcPts val="0"/>
                        </a:spcAft>
                      </a:pPr>
                      <a:r>
                        <a:rPr lang="fr-FR" sz="1400" dirty="0" smtClean="0">
                          <a:effectLst/>
                          <a:latin typeface="Arial(corps)"/>
                          <a:ea typeface="Calibri"/>
                          <a:cs typeface="Times New Roman"/>
                        </a:rPr>
                        <a:t>d’une </a:t>
                      </a:r>
                      <a:r>
                        <a:rPr lang="fr-FR" sz="1400" dirty="0">
                          <a:effectLst/>
                          <a:latin typeface="Arial(corps)"/>
                          <a:ea typeface="Calibri"/>
                          <a:cs typeface="Times New Roman"/>
                        </a:rPr>
                        <a:t>matrice carrée</a:t>
                      </a:r>
                      <a:endParaRPr lang="fr-FR" sz="1400" dirty="0">
                        <a:effectLst/>
                        <a:latin typeface="Arial(corps)"/>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spcAft>
                          <a:spcPts val="0"/>
                        </a:spcAft>
                      </a:pPr>
                      <a:r>
                        <a:rPr lang="fr-FR" sz="1400" b="1" dirty="0" err="1">
                          <a:solidFill>
                            <a:srgbClr val="7030A0"/>
                          </a:solidFill>
                          <a:effectLst/>
                          <a:latin typeface="Arial(corps)"/>
                          <a:ea typeface="Times New Roman"/>
                          <a:cs typeface="Arial"/>
                        </a:rPr>
                        <a:t>inv</a:t>
                      </a:r>
                      <a:r>
                        <a:rPr lang="fr-FR" sz="1400" b="1" dirty="0">
                          <a:solidFill>
                            <a:srgbClr val="7030A0"/>
                          </a:solidFill>
                          <a:effectLst/>
                          <a:latin typeface="Arial(corps)"/>
                          <a:ea typeface="Times New Roman"/>
                          <a:cs typeface="Arial"/>
                        </a:rPr>
                        <a:t>= </a:t>
                      </a:r>
                      <a:r>
                        <a:rPr lang="fr-FR" sz="1400" b="1" dirty="0" err="1">
                          <a:solidFill>
                            <a:srgbClr val="7030A0"/>
                          </a:solidFill>
                          <a:effectLst/>
                          <a:latin typeface="Arial(corps)"/>
                          <a:ea typeface="Times New Roman"/>
                          <a:cs typeface="Arial"/>
                        </a:rPr>
                        <a:t>np.linalg.inv</a:t>
                      </a:r>
                      <a:r>
                        <a:rPr lang="fr-FR" sz="1400" b="1" dirty="0">
                          <a:solidFill>
                            <a:srgbClr val="7030A0"/>
                          </a:solidFill>
                          <a:effectLst/>
                          <a:latin typeface="Arial(corps)"/>
                          <a:ea typeface="Times New Roman"/>
                          <a:cs typeface="Arial"/>
                        </a:rPr>
                        <a:t>(mat)</a:t>
                      </a: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15000"/>
                        </a:lnSpc>
                        <a:spcBef>
                          <a:spcPts val="600"/>
                        </a:spcBef>
                        <a:spcAft>
                          <a:spcPts val="0"/>
                        </a:spcAft>
                      </a:pPr>
                      <a:r>
                        <a:rPr lang="en-US" sz="1400" b="1" dirty="0">
                          <a:solidFill>
                            <a:srgbClr val="0000FF"/>
                          </a:solidFill>
                          <a:effectLst/>
                          <a:latin typeface="Arial(corps)"/>
                          <a:ea typeface="Times New Roman"/>
                          <a:cs typeface="Arial"/>
                        </a:rPr>
                        <a:t>» A=</a:t>
                      </a:r>
                      <a:r>
                        <a:rPr lang="en-US" sz="1400" b="1" dirty="0" err="1">
                          <a:solidFill>
                            <a:srgbClr val="0000FF"/>
                          </a:solidFill>
                          <a:effectLst/>
                          <a:latin typeface="Arial(corps)"/>
                          <a:ea typeface="Calibri"/>
                          <a:cs typeface="Arial"/>
                        </a:rPr>
                        <a:t>np.array</a:t>
                      </a:r>
                      <a:r>
                        <a:rPr lang="en-US" sz="1400" b="1" dirty="0">
                          <a:solidFill>
                            <a:srgbClr val="0000FF"/>
                          </a:solidFill>
                          <a:effectLst/>
                          <a:latin typeface="Arial(corps)"/>
                          <a:ea typeface="Calibri"/>
                          <a:cs typeface="Arial"/>
                        </a:rPr>
                        <a:t>([[ 1, 9],[3,4]])</a:t>
                      </a:r>
                      <a:endParaRPr lang="fr-FR" sz="1400" b="1" dirty="0">
                        <a:solidFill>
                          <a:srgbClr val="0000FF"/>
                        </a:solidFill>
                        <a:effectLst/>
                        <a:latin typeface="Arial(corps)"/>
                        <a:ea typeface="Calibri"/>
                        <a:cs typeface="Arial"/>
                      </a:endParaRPr>
                    </a:p>
                    <a:p>
                      <a:pPr>
                        <a:lnSpc>
                          <a:spcPct val="115000"/>
                        </a:lnSpc>
                        <a:spcBef>
                          <a:spcPts val="600"/>
                        </a:spcBef>
                        <a:spcAft>
                          <a:spcPts val="0"/>
                        </a:spcAft>
                      </a:pPr>
                      <a:r>
                        <a:rPr lang="en-US" sz="1400" b="1" dirty="0">
                          <a:solidFill>
                            <a:srgbClr val="0000FF"/>
                          </a:solidFill>
                          <a:effectLst/>
                          <a:latin typeface="Arial(corps)"/>
                          <a:ea typeface="Times New Roman"/>
                          <a:cs typeface="Arial"/>
                        </a:rPr>
                        <a:t>» </a:t>
                      </a:r>
                      <a:r>
                        <a:rPr lang="en-US" sz="1400" b="1" dirty="0" err="1">
                          <a:solidFill>
                            <a:srgbClr val="0000FF"/>
                          </a:solidFill>
                          <a:effectLst/>
                          <a:latin typeface="Arial(corps)"/>
                          <a:ea typeface="Times New Roman"/>
                          <a:cs typeface="Arial"/>
                        </a:rPr>
                        <a:t>np.linalg.inv</a:t>
                      </a:r>
                      <a:r>
                        <a:rPr lang="en-US" sz="1400" b="1" dirty="0">
                          <a:solidFill>
                            <a:srgbClr val="0000FF"/>
                          </a:solidFill>
                          <a:effectLst/>
                          <a:latin typeface="Arial(corps)"/>
                          <a:ea typeface="Times New Roman"/>
                          <a:cs typeface="Arial"/>
                        </a:rPr>
                        <a:t>(A)</a:t>
                      </a:r>
                      <a:endParaRPr lang="fr-FR" sz="1400" b="1" dirty="0">
                        <a:solidFill>
                          <a:srgbClr val="0000FF"/>
                        </a:solidFill>
                        <a:effectLst/>
                        <a:latin typeface="Arial(corps)"/>
                        <a:ea typeface="Calibri"/>
                        <a:cs typeface="Arial"/>
                      </a:endParaRPr>
                    </a:p>
                    <a:p>
                      <a:pPr>
                        <a:lnSpc>
                          <a:spcPct val="115000"/>
                        </a:lnSpc>
                        <a:spcBef>
                          <a:spcPts val="600"/>
                        </a:spcBef>
                        <a:spcAft>
                          <a:spcPts val="0"/>
                        </a:spcAft>
                      </a:pPr>
                      <a:r>
                        <a:rPr lang="fr-FR" sz="1400" b="1" dirty="0" err="1">
                          <a:solidFill>
                            <a:srgbClr val="0000FF"/>
                          </a:solidFill>
                          <a:effectLst/>
                          <a:latin typeface="Arial(corps)"/>
                          <a:ea typeface="Times New Roman"/>
                          <a:cs typeface="Arial"/>
                        </a:rPr>
                        <a:t>array</a:t>
                      </a:r>
                      <a:r>
                        <a:rPr lang="fr-FR" sz="1400" b="1" dirty="0">
                          <a:solidFill>
                            <a:srgbClr val="0000FF"/>
                          </a:solidFill>
                          <a:effectLst/>
                          <a:latin typeface="Arial(corps)"/>
                          <a:ea typeface="Times New Roman"/>
                          <a:cs typeface="Arial"/>
                        </a:rPr>
                        <a:t>([[-0.173913,  0.391304],</a:t>
                      </a:r>
                      <a:endParaRPr lang="fr-FR" sz="1400" b="1" dirty="0">
                        <a:solidFill>
                          <a:srgbClr val="0000FF"/>
                        </a:solidFill>
                        <a:effectLst/>
                        <a:latin typeface="Arial(corps)"/>
                        <a:ea typeface="Calibri"/>
                        <a:cs typeface="Arial"/>
                      </a:endParaRPr>
                    </a:p>
                    <a:p>
                      <a:pPr>
                        <a:lnSpc>
                          <a:spcPct val="115000"/>
                        </a:lnSpc>
                        <a:spcBef>
                          <a:spcPts val="600"/>
                        </a:spcBef>
                        <a:spcAft>
                          <a:spcPts val="0"/>
                        </a:spcAft>
                      </a:pPr>
                      <a:r>
                        <a:rPr lang="fr-FR" sz="1400" b="1" dirty="0">
                          <a:solidFill>
                            <a:srgbClr val="0000FF"/>
                          </a:solidFill>
                          <a:effectLst/>
                          <a:latin typeface="Arial(corps)"/>
                          <a:ea typeface="Times New Roman"/>
                          <a:cs typeface="Arial"/>
                        </a:rPr>
                        <a:t>       [ 0.130434, -0.043478]])</a:t>
                      </a:r>
                      <a:endParaRPr lang="fr-FR" sz="1400" b="1" dirty="0">
                        <a:solidFill>
                          <a:srgbClr val="0000FF"/>
                        </a:solidFill>
                        <a:effectLst/>
                        <a:latin typeface="Arial(corps)"/>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610643">
                <a:tc>
                  <a:txBody>
                    <a:bodyPr/>
                    <a:lstStyle/>
                    <a:p>
                      <a:pPr>
                        <a:lnSpc>
                          <a:spcPct val="115000"/>
                        </a:lnSpc>
                        <a:spcBef>
                          <a:spcPts val="600"/>
                        </a:spcBef>
                        <a:spcAft>
                          <a:spcPts val="0"/>
                        </a:spcAft>
                      </a:pPr>
                      <a:r>
                        <a:rPr lang="fr-FR" sz="1400" b="1">
                          <a:effectLst/>
                          <a:latin typeface="Arial(corps)"/>
                          <a:ea typeface="Calibri"/>
                          <a:cs typeface="Times New Roman"/>
                        </a:rPr>
                        <a:t>det</a:t>
                      </a:r>
                      <a:endParaRPr lang="fr-FR" sz="1400">
                        <a:effectLst/>
                        <a:latin typeface="Arial(corps)"/>
                        <a:ea typeface="Calibri"/>
                        <a:cs typeface="Arial"/>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a:lnSpc>
                          <a:spcPct val="115000"/>
                        </a:lnSpc>
                        <a:spcBef>
                          <a:spcPts val="600"/>
                        </a:spcBef>
                        <a:spcAft>
                          <a:spcPts val="0"/>
                        </a:spcAft>
                      </a:pPr>
                      <a:r>
                        <a:rPr lang="fr-FR" sz="1400" dirty="0">
                          <a:effectLst/>
                          <a:latin typeface="Arial(corps)"/>
                          <a:ea typeface="Calibri"/>
                          <a:cs typeface="Times New Roman"/>
                        </a:rPr>
                        <a:t>Calcule le </a:t>
                      </a:r>
                      <a:endParaRPr lang="fr-FR" sz="1400" dirty="0" smtClean="0">
                        <a:effectLst/>
                        <a:latin typeface="Arial(corps)"/>
                        <a:ea typeface="Calibri"/>
                        <a:cs typeface="Times New Roman"/>
                      </a:endParaRPr>
                    </a:p>
                    <a:p>
                      <a:pPr algn="just">
                        <a:lnSpc>
                          <a:spcPct val="115000"/>
                        </a:lnSpc>
                        <a:spcBef>
                          <a:spcPts val="600"/>
                        </a:spcBef>
                        <a:spcAft>
                          <a:spcPts val="0"/>
                        </a:spcAft>
                      </a:pPr>
                      <a:r>
                        <a:rPr lang="fr-FR" sz="1400" dirty="0" smtClean="0">
                          <a:effectLst/>
                          <a:latin typeface="Arial(corps)"/>
                          <a:ea typeface="Calibri"/>
                          <a:cs typeface="Times New Roman"/>
                        </a:rPr>
                        <a:t>déterminant </a:t>
                      </a:r>
                      <a:r>
                        <a:rPr lang="fr-FR" sz="1400" dirty="0">
                          <a:effectLst/>
                          <a:latin typeface="Arial(corps)"/>
                          <a:ea typeface="Calibri"/>
                          <a:cs typeface="Times New Roman"/>
                        </a:rPr>
                        <a:t>d’une </a:t>
                      </a:r>
                      <a:endParaRPr lang="fr-FR" sz="1400" dirty="0" smtClean="0">
                        <a:effectLst/>
                        <a:latin typeface="Arial(corps)"/>
                        <a:ea typeface="Calibri"/>
                        <a:cs typeface="Times New Roman"/>
                      </a:endParaRPr>
                    </a:p>
                    <a:p>
                      <a:pPr algn="just">
                        <a:lnSpc>
                          <a:spcPct val="115000"/>
                        </a:lnSpc>
                        <a:spcBef>
                          <a:spcPts val="600"/>
                        </a:spcBef>
                        <a:spcAft>
                          <a:spcPts val="0"/>
                        </a:spcAft>
                      </a:pPr>
                      <a:r>
                        <a:rPr lang="fr-FR" sz="1400" dirty="0" smtClean="0">
                          <a:effectLst/>
                          <a:latin typeface="Arial(corps)"/>
                          <a:ea typeface="Calibri"/>
                          <a:cs typeface="Times New Roman"/>
                        </a:rPr>
                        <a:t>matrice </a:t>
                      </a:r>
                      <a:r>
                        <a:rPr lang="fr-FR" sz="1400" dirty="0">
                          <a:effectLst/>
                          <a:latin typeface="Arial(corps)"/>
                          <a:ea typeface="Calibri"/>
                          <a:cs typeface="Times New Roman"/>
                        </a:rPr>
                        <a:t>carrée</a:t>
                      </a:r>
                      <a:endParaRPr lang="fr-FR" sz="1400" dirty="0">
                        <a:effectLst/>
                        <a:latin typeface="Arial(corps)"/>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spcAft>
                          <a:spcPts val="0"/>
                        </a:spcAft>
                      </a:pPr>
                      <a:r>
                        <a:rPr lang="fr-FR" sz="1400" b="1" dirty="0">
                          <a:solidFill>
                            <a:srgbClr val="7030A0"/>
                          </a:solidFill>
                          <a:effectLst/>
                          <a:latin typeface="Arial(corps)"/>
                          <a:ea typeface="Times New Roman"/>
                          <a:cs typeface="Arial"/>
                        </a:rPr>
                        <a:t>d=</a:t>
                      </a:r>
                      <a:r>
                        <a:rPr lang="fr-FR" sz="1400" b="1" dirty="0" err="1">
                          <a:solidFill>
                            <a:srgbClr val="7030A0"/>
                          </a:solidFill>
                          <a:effectLst/>
                          <a:latin typeface="Arial(corps)"/>
                          <a:ea typeface="Times New Roman"/>
                          <a:cs typeface="Arial"/>
                        </a:rPr>
                        <a:t>np.linalg.det</a:t>
                      </a:r>
                      <a:r>
                        <a:rPr lang="fr-FR" sz="1400" b="1" dirty="0">
                          <a:solidFill>
                            <a:srgbClr val="7030A0"/>
                          </a:solidFill>
                          <a:effectLst/>
                          <a:latin typeface="Arial(corps)"/>
                          <a:ea typeface="Times New Roman"/>
                          <a:cs typeface="Arial"/>
                        </a:rPr>
                        <a:t>(mat)</a:t>
                      </a: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15000"/>
                        </a:lnSpc>
                        <a:spcBef>
                          <a:spcPts val="600"/>
                        </a:spcBef>
                        <a:spcAft>
                          <a:spcPts val="0"/>
                        </a:spcAft>
                      </a:pPr>
                      <a:r>
                        <a:rPr lang="en-US" sz="1400" b="1" dirty="0">
                          <a:solidFill>
                            <a:srgbClr val="0000FF"/>
                          </a:solidFill>
                          <a:effectLst/>
                          <a:latin typeface="Arial(corps)"/>
                          <a:ea typeface="Times New Roman"/>
                          <a:cs typeface="Arial"/>
                        </a:rPr>
                        <a:t>» A=</a:t>
                      </a:r>
                      <a:r>
                        <a:rPr lang="en-US" sz="1400" b="1" dirty="0" err="1">
                          <a:solidFill>
                            <a:srgbClr val="0000FF"/>
                          </a:solidFill>
                          <a:effectLst/>
                          <a:latin typeface="Arial(corps)"/>
                          <a:ea typeface="Calibri"/>
                          <a:cs typeface="Arial"/>
                        </a:rPr>
                        <a:t>np.array</a:t>
                      </a:r>
                      <a:r>
                        <a:rPr lang="en-US" sz="1400" b="1" dirty="0">
                          <a:solidFill>
                            <a:srgbClr val="0000FF"/>
                          </a:solidFill>
                          <a:effectLst/>
                          <a:latin typeface="Arial(corps)"/>
                          <a:ea typeface="Calibri"/>
                          <a:cs typeface="Arial"/>
                        </a:rPr>
                        <a:t>([[ 1, 9],[3,4]])</a:t>
                      </a:r>
                      <a:endParaRPr lang="fr-FR" sz="1400" b="1" dirty="0">
                        <a:solidFill>
                          <a:srgbClr val="0000FF"/>
                        </a:solidFill>
                        <a:effectLst/>
                        <a:latin typeface="Arial(corps)"/>
                        <a:ea typeface="Calibri"/>
                        <a:cs typeface="Arial"/>
                      </a:endParaRPr>
                    </a:p>
                    <a:p>
                      <a:pPr>
                        <a:lnSpc>
                          <a:spcPct val="115000"/>
                        </a:lnSpc>
                        <a:spcBef>
                          <a:spcPts val="600"/>
                        </a:spcBef>
                        <a:spcAft>
                          <a:spcPts val="0"/>
                        </a:spcAft>
                      </a:pPr>
                      <a:r>
                        <a:rPr lang="en-US" sz="1400" b="1" dirty="0">
                          <a:solidFill>
                            <a:srgbClr val="0000FF"/>
                          </a:solidFill>
                          <a:effectLst/>
                          <a:latin typeface="Arial(corps)"/>
                          <a:ea typeface="Times New Roman"/>
                          <a:cs typeface="Arial"/>
                        </a:rPr>
                        <a:t>» </a:t>
                      </a:r>
                      <a:r>
                        <a:rPr lang="en-US" sz="1400" b="1" dirty="0" err="1">
                          <a:solidFill>
                            <a:srgbClr val="0000FF"/>
                          </a:solidFill>
                          <a:effectLst/>
                          <a:latin typeface="Arial(corps)"/>
                          <a:ea typeface="Times New Roman"/>
                          <a:cs typeface="Arial"/>
                        </a:rPr>
                        <a:t>np.linalg.det</a:t>
                      </a:r>
                      <a:r>
                        <a:rPr lang="en-US" sz="1400" b="1" dirty="0">
                          <a:solidFill>
                            <a:srgbClr val="0000FF"/>
                          </a:solidFill>
                          <a:effectLst/>
                          <a:latin typeface="Arial(corps)"/>
                          <a:ea typeface="Times New Roman"/>
                          <a:cs typeface="Arial"/>
                        </a:rPr>
                        <a:t>(A)</a:t>
                      </a:r>
                      <a:endParaRPr lang="fr-FR" sz="1400" b="1" dirty="0">
                        <a:solidFill>
                          <a:srgbClr val="0000FF"/>
                        </a:solidFill>
                        <a:effectLst/>
                        <a:latin typeface="Arial(corps)"/>
                        <a:ea typeface="Calibri"/>
                        <a:cs typeface="Arial"/>
                      </a:endParaRPr>
                    </a:p>
                    <a:p>
                      <a:pPr>
                        <a:lnSpc>
                          <a:spcPct val="115000"/>
                        </a:lnSpc>
                        <a:spcBef>
                          <a:spcPts val="600"/>
                        </a:spcBef>
                        <a:spcAft>
                          <a:spcPts val="0"/>
                        </a:spcAft>
                      </a:pPr>
                      <a:r>
                        <a:rPr lang="fr-FR" sz="1400" b="1" dirty="0">
                          <a:solidFill>
                            <a:srgbClr val="0000FF"/>
                          </a:solidFill>
                          <a:effectLst/>
                          <a:latin typeface="Arial(corps)"/>
                          <a:ea typeface="Times New Roman"/>
                          <a:cs typeface="Arial"/>
                        </a:rPr>
                        <a:t>-23.0</a:t>
                      </a:r>
                      <a:endParaRPr lang="fr-FR" sz="1400" b="1" dirty="0">
                        <a:solidFill>
                          <a:srgbClr val="0000FF"/>
                        </a:solidFill>
                        <a:effectLst/>
                        <a:latin typeface="Arial(corps)"/>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814191">
                <a:tc>
                  <a:txBody>
                    <a:bodyPr/>
                    <a:lstStyle/>
                    <a:p>
                      <a:pPr>
                        <a:lnSpc>
                          <a:spcPct val="115000"/>
                        </a:lnSpc>
                        <a:spcBef>
                          <a:spcPts val="600"/>
                        </a:spcBef>
                        <a:spcAft>
                          <a:spcPts val="0"/>
                        </a:spcAft>
                      </a:pPr>
                      <a:r>
                        <a:rPr lang="fr-FR" sz="1400" b="1">
                          <a:effectLst/>
                          <a:latin typeface="Arial(corps)"/>
                          <a:ea typeface="Calibri"/>
                          <a:cs typeface="Times New Roman"/>
                        </a:rPr>
                        <a:t>solve</a:t>
                      </a:r>
                      <a:endParaRPr lang="fr-FR" sz="1400">
                        <a:effectLst/>
                        <a:latin typeface="Arial(corps)"/>
                        <a:ea typeface="Calibri"/>
                        <a:cs typeface="Arial"/>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a:lnSpc>
                          <a:spcPct val="115000"/>
                        </a:lnSpc>
                        <a:spcBef>
                          <a:spcPts val="600"/>
                        </a:spcBef>
                        <a:spcAft>
                          <a:spcPts val="0"/>
                        </a:spcAft>
                      </a:pPr>
                      <a:r>
                        <a:rPr lang="fr-FR" sz="1400" dirty="0">
                          <a:effectLst/>
                          <a:latin typeface="Arial(corps)"/>
                          <a:ea typeface="Calibri"/>
                          <a:cs typeface="Arial"/>
                        </a:rPr>
                        <a:t>Solution du système A*X=b</a:t>
                      </a: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spcAft>
                          <a:spcPts val="0"/>
                        </a:spcAft>
                      </a:pPr>
                      <a:r>
                        <a:rPr lang="en-US" sz="1400" b="1" dirty="0">
                          <a:solidFill>
                            <a:srgbClr val="7030A0"/>
                          </a:solidFill>
                          <a:effectLst/>
                          <a:latin typeface="Arial(corps)"/>
                          <a:ea typeface="Times New Roman"/>
                          <a:cs typeface="LiberationMono-Bold"/>
                        </a:rPr>
                        <a:t>x=</a:t>
                      </a:r>
                      <a:r>
                        <a:rPr lang="en-US" sz="1400" b="1" dirty="0">
                          <a:solidFill>
                            <a:srgbClr val="7030A0"/>
                          </a:solidFill>
                          <a:effectLst/>
                          <a:latin typeface="Arial(corps)"/>
                          <a:ea typeface="Times New Roman"/>
                          <a:cs typeface="Arial"/>
                        </a:rPr>
                        <a:t> </a:t>
                      </a:r>
                      <a:r>
                        <a:rPr lang="en-US" sz="1400" b="1" dirty="0" err="1">
                          <a:solidFill>
                            <a:srgbClr val="7030A0"/>
                          </a:solidFill>
                          <a:effectLst/>
                          <a:latin typeface="Arial(corps)"/>
                          <a:ea typeface="Times New Roman"/>
                          <a:cs typeface="Arial"/>
                        </a:rPr>
                        <a:t>np.linalg.solve</a:t>
                      </a:r>
                      <a:r>
                        <a:rPr lang="en-US" sz="1400" b="1" dirty="0">
                          <a:solidFill>
                            <a:srgbClr val="7030A0"/>
                          </a:solidFill>
                          <a:effectLst/>
                          <a:latin typeface="Arial(corps)"/>
                          <a:ea typeface="Times New Roman"/>
                          <a:cs typeface="LiberationMono-Bold"/>
                        </a:rPr>
                        <a:t> (</a:t>
                      </a:r>
                      <a:r>
                        <a:rPr lang="en-US" sz="1400" b="1" dirty="0" err="1">
                          <a:solidFill>
                            <a:srgbClr val="7030A0"/>
                          </a:solidFill>
                          <a:effectLst/>
                          <a:latin typeface="Arial(corps)"/>
                          <a:ea typeface="Times New Roman"/>
                          <a:cs typeface="LiberationMono-Bold"/>
                        </a:rPr>
                        <a:t>A,b</a:t>
                      </a:r>
                      <a:r>
                        <a:rPr lang="en-US" sz="1400" b="1" dirty="0">
                          <a:solidFill>
                            <a:srgbClr val="7030A0"/>
                          </a:solidFill>
                          <a:effectLst/>
                          <a:latin typeface="Arial(corps)"/>
                          <a:ea typeface="Times New Roman"/>
                          <a:cs typeface="LiberationMono-Bold"/>
                        </a:rPr>
                        <a:t>)</a:t>
                      </a:r>
                      <a:endParaRPr lang="fr-FR" sz="1400" b="1" dirty="0">
                        <a:solidFill>
                          <a:srgbClr val="7030A0"/>
                        </a:solidFill>
                        <a:effectLst/>
                        <a:latin typeface="Arial(corps)"/>
                        <a:ea typeface="Times New Roman"/>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15000"/>
                        </a:lnSpc>
                        <a:spcBef>
                          <a:spcPts val="600"/>
                        </a:spcBef>
                        <a:spcAft>
                          <a:spcPts val="0"/>
                        </a:spcAft>
                      </a:pPr>
                      <a:r>
                        <a:rPr lang="en-US" sz="1400" b="1" dirty="0">
                          <a:solidFill>
                            <a:srgbClr val="0000FF"/>
                          </a:solidFill>
                          <a:effectLst/>
                          <a:latin typeface="Arial(corps)"/>
                          <a:ea typeface="Times New Roman"/>
                          <a:cs typeface="Arial"/>
                        </a:rPr>
                        <a:t>» A=[[2,1,-1],[1,-1,1],[1,1,-2]] </a:t>
                      </a:r>
                      <a:endParaRPr lang="fr-FR" sz="1400" b="1" dirty="0">
                        <a:solidFill>
                          <a:srgbClr val="0000FF"/>
                        </a:solidFill>
                        <a:effectLst/>
                        <a:latin typeface="Arial(corps)"/>
                        <a:ea typeface="Calibri"/>
                        <a:cs typeface="Arial"/>
                      </a:endParaRPr>
                    </a:p>
                    <a:p>
                      <a:pPr>
                        <a:lnSpc>
                          <a:spcPct val="115000"/>
                        </a:lnSpc>
                        <a:spcBef>
                          <a:spcPts val="600"/>
                        </a:spcBef>
                        <a:spcAft>
                          <a:spcPts val="0"/>
                        </a:spcAft>
                      </a:pPr>
                      <a:r>
                        <a:rPr lang="en-US" sz="1400" b="1" dirty="0">
                          <a:solidFill>
                            <a:srgbClr val="0000FF"/>
                          </a:solidFill>
                          <a:effectLst/>
                          <a:latin typeface="Arial(corps)"/>
                          <a:ea typeface="Times New Roman"/>
                          <a:cs typeface="Arial"/>
                        </a:rPr>
                        <a:t>» B=[1,2,-3] </a:t>
                      </a:r>
                      <a:endParaRPr lang="fr-FR" sz="1400" b="1" dirty="0">
                        <a:solidFill>
                          <a:srgbClr val="0000FF"/>
                        </a:solidFill>
                        <a:effectLst/>
                        <a:latin typeface="Arial(corps)"/>
                        <a:ea typeface="Calibri"/>
                        <a:cs typeface="Arial"/>
                      </a:endParaRPr>
                    </a:p>
                    <a:p>
                      <a:pPr>
                        <a:lnSpc>
                          <a:spcPct val="115000"/>
                        </a:lnSpc>
                        <a:spcBef>
                          <a:spcPts val="600"/>
                        </a:spcBef>
                        <a:spcAft>
                          <a:spcPts val="0"/>
                        </a:spcAft>
                      </a:pPr>
                      <a:r>
                        <a:rPr lang="en-US" sz="1400" b="1" dirty="0">
                          <a:solidFill>
                            <a:srgbClr val="0000FF"/>
                          </a:solidFill>
                          <a:effectLst/>
                          <a:latin typeface="Arial(corps)"/>
                          <a:ea typeface="Times New Roman"/>
                          <a:cs typeface="Arial"/>
                        </a:rPr>
                        <a:t>» </a:t>
                      </a:r>
                      <a:r>
                        <a:rPr lang="en-US" sz="1400" b="1" dirty="0" err="1">
                          <a:solidFill>
                            <a:srgbClr val="0000FF"/>
                          </a:solidFill>
                          <a:effectLst/>
                          <a:latin typeface="Arial(corps)"/>
                          <a:ea typeface="Calibri"/>
                          <a:cs typeface="Arial"/>
                        </a:rPr>
                        <a:t>np.linalg.solve</a:t>
                      </a:r>
                      <a:r>
                        <a:rPr lang="en-US" sz="1400" b="1" dirty="0">
                          <a:solidFill>
                            <a:srgbClr val="0000FF"/>
                          </a:solidFill>
                          <a:effectLst/>
                          <a:latin typeface="Arial(corps)"/>
                          <a:ea typeface="Calibri"/>
                          <a:cs typeface="Arial"/>
                        </a:rPr>
                        <a:t> (A,B)</a:t>
                      </a:r>
                      <a:endParaRPr lang="fr-FR" sz="1400" b="1" dirty="0">
                        <a:solidFill>
                          <a:srgbClr val="0000FF"/>
                        </a:solidFill>
                        <a:effectLst/>
                        <a:latin typeface="Arial(corps)"/>
                        <a:ea typeface="Calibri"/>
                        <a:cs typeface="Arial"/>
                      </a:endParaRPr>
                    </a:p>
                    <a:p>
                      <a:pPr>
                        <a:lnSpc>
                          <a:spcPct val="115000"/>
                        </a:lnSpc>
                        <a:spcBef>
                          <a:spcPts val="600"/>
                        </a:spcBef>
                        <a:spcAft>
                          <a:spcPts val="0"/>
                        </a:spcAft>
                      </a:pPr>
                      <a:r>
                        <a:rPr lang="fr-FR" sz="1400" b="1" dirty="0" err="1">
                          <a:solidFill>
                            <a:srgbClr val="0000FF"/>
                          </a:solidFill>
                          <a:effectLst/>
                          <a:latin typeface="Arial(corps)"/>
                          <a:ea typeface="Times New Roman"/>
                          <a:cs typeface="Arial"/>
                        </a:rPr>
                        <a:t>array</a:t>
                      </a:r>
                      <a:r>
                        <a:rPr lang="fr-FR" sz="1400" b="1" dirty="0">
                          <a:solidFill>
                            <a:srgbClr val="0000FF"/>
                          </a:solidFill>
                          <a:effectLst/>
                          <a:latin typeface="Arial(corps)"/>
                          <a:ea typeface="Times New Roman"/>
                          <a:cs typeface="Arial"/>
                        </a:rPr>
                        <a:t>([ 1.,  2.,  3.])</a:t>
                      </a:r>
                      <a:endParaRPr lang="fr-FR" sz="1400" b="1" dirty="0">
                        <a:solidFill>
                          <a:srgbClr val="0000FF"/>
                        </a:solidFill>
                        <a:effectLst/>
                        <a:latin typeface="Arial(corps)"/>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407096">
                <a:tc>
                  <a:txBody>
                    <a:bodyPr/>
                    <a:lstStyle/>
                    <a:p>
                      <a:pPr>
                        <a:lnSpc>
                          <a:spcPct val="115000"/>
                        </a:lnSpc>
                        <a:spcBef>
                          <a:spcPts val="600"/>
                        </a:spcBef>
                        <a:spcAft>
                          <a:spcPts val="0"/>
                        </a:spcAft>
                      </a:pPr>
                      <a:r>
                        <a:rPr lang="fr-FR" sz="1400" b="1">
                          <a:effectLst/>
                          <a:latin typeface="Arial(corps)"/>
                          <a:ea typeface="Calibri"/>
                          <a:cs typeface="Times New Roman"/>
                        </a:rPr>
                        <a:t>eig</a:t>
                      </a:r>
                      <a:endParaRPr lang="fr-FR" sz="1400">
                        <a:effectLst/>
                        <a:latin typeface="Arial(corps)"/>
                        <a:ea typeface="Calibri"/>
                        <a:cs typeface="Arial"/>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a:lnSpc>
                          <a:spcPct val="115000"/>
                        </a:lnSpc>
                        <a:spcBef>
                          <a:spcPts val="600"/>
                        </a:spcBef>
                        <a:spcAft>
                          <a:spcPts val="0"/>
                        </a:spcAft>
                      </a:pPr>
                      <a:r>
                        <a:rPr lang="fr-FR" sz="1400" dirty="0">
                          <a:effectLst/>
                          <a:latin typeface="Arial(corps)"/>
                          <a:ea typeface="Calibri"/>
                          <a:cs typeface="Times New Roman"/>
                        </a:rPr>
                        <a:t>Pour calculer les </a:t>
                      </a:r>
                      <a:endParaRPr lang="fr-FR" sz="1400" dirty="0" smtClean="0">
                        <a:effectLst/>
                        <a:latin typeface="Arial(corps)"/>
                        <a:ea typeface="Calibri"/>
                        <a:cs typeface="Times New Roman"/>
                      </a:endParaRPr>
                    </a:p>
                    <a:p>
                      <a:pPr algn="just">
                        <a:lnSpc>
                          <a:spcPct val="115000"/>
                        </a:lnSpc>
                        <a:spcBef>
                          <a:spcPts val="600"/>
                        </a:spcBef>
                        <a:spcAft>
                          <a:spcPts val="0"/>
                        </a:spcAft>
                      </a:pPr>
                      <a:r>
                        <a:rPr lang="fr-FR" sz="1400" dirty="0" smtClean="0">
                          <a:effectLst/>
                          <a:latin typeface="Arial(corps)"/>
                          <a:ea typeface="Calibri"/>
                          <a:cs typeface="Times New Roman"/>
                        </a:rPr>
                        <a:t>Valeurs et </a:t>
                      </a:r>
                      <a:r>
                        <a:rPr lang="fr-FR" sz="1400" dirty="0">
                          <a:effectLst/>
                          <a:latin typeface="Arial(corps)"/>
                          <a:ea typeface="Calibri"/>
                          <a:cs typeface="Times New Roman"/>
                        </a:rPr>
                        <a:t>les </a:t>
                      </a:r>
                      <a:endParaRPr lang="fr-FR" sz="1400" dirty="0" smtClean="0">
                        <a:effectLst/>
                        <a:latin typeface="Arial(corps)"/>
                        <a:ea typeface="Calibri"/>
                        <a:cs typeface="Times New Roman"/>
                      </a:endParaRPr>
                    </a:p>
                    <a:p>
                      <a:pPr algn="just">
                        <a:lnSpc>
                          <a:spcPct val="115000"/>
                        </a:lnSpc>
                        <a:spcBef>
                          <a:spcPts val="600"/>
                        </a:spcBef>
                        <a:spcAft>
                          <a:spcPts val="0"/>
                        </a:spcAft>
                      </a:pPr>
                      <a:r>
                        <a:rPr lang="fr-FR" sz="1400" dirty="0" smtClean="0">
                          <a:effectLst/>
                          <a:latin typeface="Arial(corps)"/>
                          <a:ea typeface="Calibri"/>
                          <a:cs typeface="Times New Roman"/>
                        </a:rPr>
                        <a:t>vecteurs  </a:t>
                      </a:r>
                      <a:r>
                        <a:rPr lang="fr-FR" sz="1400" dirty="0">
                          <a:effectLst/>
                          <a:latin typeface="Arial(corps)"/>
                          <a:ea typeface="Calibri"/>
                          <a:cs typeface="Times New Roman"/>
                        </a:rPr>
                        <a:t>propres </a:t>
                      </a:r>
                      <a:endParaRPr lang="fr-FR" sz="1400" dirty="0" smtClean="0">
                        <a:effectLst/>
                        <a:latin typeface="Arial(corps)"/>
                        <a:ea typeface="Calibri"/>
                        <a:cs typeface="Times New Roman"/>
                      </a:endParaRPr>
                    </a:p>
                    <a:p>
                      <a:pPr algn="just">
                        <a:lnSpc>
                          <a:spcPct val="115000"/>
                        </a:lnSpc>
                        <a:spcBef>
                          <a:spcPts val="600"/>
                        </a:spcBef>
                        <a:spcAft>
                          <a:spcPts val="0"/>
                        </a:spcAft>
                      </a:pPr>
                      <a:r>
                        <a:rPr lang="fr-FR" sz="1400" dirty="0" smtClean="0">
                          <a:effectLst/>
                          <a:latin typeface="Arial(corps)"/>
                          <a:ea typeface="Calibri"/>
                          <a:cs typeface="Times New Roman"/>
                        </a:rPr>
                        <a:t>d’une </a:t>
                      </a:r>
                      <a:r>
                        <a:rPr lang="fr-FR" sz="1400" dirty="0">
                          <a:effectLst/>
                          <a:latin typeface="Arial(corps)"/>
                          <a:ea typeface="Calibri"/>
                          <a:cs typeface="Times New Roman"/>
                        </a:rPr>
                        <a:t>matrice carrée</a:t>
                      </a:r>
                      <a:endParaRPr lang="fr-FR" sz="1400" dirty="0">
                        <a:effectLst/>
                        <a:latin typeface="Arial(corps)"/>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spcAft>
                          <a:spcPts val="0"/>
                        </a:spcAft>
                      </a:pPr>
                      <a:r>
                        <a:rPr lang="fr-FR" sz="1400" b="1" dirty="0" err="1">
                          <a:solidFill>
                            <a:srgbClr val="7030A0"/>
                          </a:solidFill>
                          <a:effectLst/>
                          <a:latin typeface="Arial(corps)"/>
                          <a:ea typeface="Times New Roman"/>
                          <a:cs typeface="Arial"/>
                        </a:rPr>
                        <a:t>x,y</a:t>
                      </a:r>
                      <a:r>
                        <a:rPr lang="fr-FR" sz="1400" b="1" dirty="0">
                          <a:solidFill>
                            <a:srgbClr val="7030A0"/>
                          </a:solidFill>
                          <a:effectLst/>
                          <a:latin typeface="Arial(corps)"/>
                          <a:ea typeface="Times New Roman"/>
                          <a:cs typeface="Arial"/>
                        </a:rPr>
                        <a:t>=</a:t>
                      </a:r>
                      <a:r>
                        <a:rPr lang="fr-FR" sz="1400" b="1" dirty="0" err="1">
                          <a:solidFill>
                            <a:srgbClr val="7030A0"/>
                          </a:solidFill>
                          <a:effectLst/>
                          <a:latin typeface="Arial(corps)"/>
                          <a:ea typeface="Times New Roman"/>
                          <a:cs typeface="Arial"/>
                        </a:rPr>
                        <a:t>np.linalg.eig</a:t>
                      </a:r>
                      <a:r>
                        <a:rPr lang="fr-FR" sz="1400" b="1" dirty="0">
                          <a:solidFill>
                            <a:srgbClr val="7030A0"/>
                          </a:solidFill>
                          <a:effectLst/>
                          <a:latin typeface="Arial(corps)"/>
                          <a:ea typeface="Times New Roman"/>
                          <a:cs typeface="Arial"/>
                        </a:rPr>
                        <a:t>(mat)</a:t>
                      </a:r>
                    </a:p>
                    <a:p>
                      <a:pPr>
                        <a:spcAft>
                          <a:spcPts val="0"/>
                        </a:spcAft>
                      </a:pPr>
                      <a:r>
                        <a:rPr lang="fr-FR" sz="1400" b="1" dirty="0">
                          <a:solidFill>
                            <a:srgbClr val="7030A0"/>
                          </a:solidFill>
                          <a:effectLst/>
                          <a:latin typeface="Arial(corps)"/>
                          <a:ea typeface="Times New Roman"/>
                          <a:cs typeface="Arial"/>
                        </a:rPr>
                        <a:t>x : vecteur des valeurs propres</a:t>
                      </a:r>
                    </a:p>
                    <a:p>
                      <a:pPr>
                        <a:lnSpc>
                          <a:spcPct val="115000"/>
                        </a:lnSpc>
                        <a:spcBef>
                          <a:spcPts val="600"/>
                        </a:spcBef>
                        <a:spcAft>
                          <a:spcPts val="0"/>
                        </a:spcAft>
                      </a:pPr>
                      <a:r>
                        <a:rPr lang="fr-FR" sz="1400" b="1" dirty="0">
                          <a:solidFill>
                            <a:srgbClr val="7030A0"/>
                          </a:solidFill>
                          <a:effectLst/>
                          <a:latin typeface="Arial(corps)"/>
                          <a:ea typeface="Calibri"/>
                          <a:cs typeface="Arial"/>
                        </a:rPr>
                        <a:t>y : matrice des vecteurs propres</a:t>
                      </a: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15000"/>
                        </a:lnSpc>
                        <a:spcBef>
                          <a:spcPts val="600"/>
                        </a:spcBef>
                        <a:spcAft>
                          <a:spcPts val="0"/>
                        </a:spcAft>
                      </a:pPr>
                      <a:r>
                        <a:rPr lang="en-US" sz="1400" b="1" dirty="0">
                          <a:solidFill>
                            <a:srgbClr val="0000FF"/>
                          </a:solidFill>
                          <a:effectLst/>
                          <a:latin typeface="Arial(corps)"/>
                          <a:ea typeface="Times New Roman"/>
                          <a:cs typeface="Arial"/>
                        </a:rPr>
                        <a:t>» A=</a:t>
                      </a:r>
                      <a:r>
                        <a:rPr lang="en-US" sz="1400" b="1" dirty="0" err="1">
                          <a:solidFill>
                            <a:srgbClr val="0000FF"/>
                          </a:solidFill>
                          <a:effectLst/>
                          <a:latin typeface="Arial(corps)"/>
                          <a:ea typeface="Calibri"/>
                          <a:cs typeface="Arial"/>
                        </a:rPr>
                        <a:t>np.array</a:t>
                      </a:r>
                      <a:r>
                        <a:rPr lang="en-US" sz="1400" b="1" dirty="0">
                          <a:solidFill>
                            <a:srgbClr val="0000FF"/>
                          </a:solidFill>
                          <a:effectLst/>
                          <a:latin typeface="Arial(corps)"/>
                          <a:ea typeface="Calibri"/>
                          <a:cs typeface="Arial"/>
                        </a:rPr>
                        <a:t>([[ 1, 9],[3,4]])</a:t>
                      </a:r>
                      <a:endParaRPr lang="fr-FR" sz="1400" b="1" dirty="0">
                        <a:solidFill>
                          <a:srgbClr val="0000FF"/>
                        </a:solidFill>
                        <a:effectLst/>
                        <a:latin typeface="Arial(corps)"/>
                        <a:ea typeface="Calibri"/>
                        <a:cs typeface="Arial"/>
                      </a:endParaRPr>
                    </a:p>
                    <a:p>
                      <a:pPr>
                        <a:lnSpc>
                          <a:spcPct val="115000"/>
                        </a:lnSpc>
                        <a:spcBef>
                          <a:spcPts val="600"/>
                        </a:spcBef>
                        <a:spcAft>
                          <a:spcPts val="0"/>
                        </a:spcAft>
                      </a:pPr>
                      <a:r>
                        <a:rPr lang="en-US" sz="1400" b="1" dirty="0">
                          <a:solidFill>
                            <a:srgbClr val="0000FF"/>
                          </a:solidFill>
                          <a:effectLst/>
                          <a:latin typeface="Arial(corps)"/>
                          <a:ea typeface="Times New Roman"/>
                          <a:cs typeface="Arial"/>
                        </a:rPr>
                        <a:t>» </a:t>
                      </a:r>
                      <a:r>
                        <a:rPr lang="en-US" sz="1400" b="1" dirty="0" err="1">
                          <a:solidFill>
                            <a:srgbClr val="0000FF"/>
                          </a:solidFill>
                          <a:effectLst/>
                          <a:latin typeface="Arial(corps)"/>
                          <a:ea typeface="Calibri"/>
                          <a:cs typeface="Arial"/>
                        </a:rPr>
                        <a:t>x,y</a:t>
                      </a:r>
                      <a:r>
                        <a:rPr lang="en-US" sz="1400" b="1" dirty="0">
                          <a:solidFill>
                            <a:srgbClr val="0000FF"/>
                          </a:solidFill>
                          <a:effectLst/>
                          <a:latin typeface="Arial(corps)"/>
                          <a:ea typeface="Calibri"/>
                          <a:cs typeface="Arial"/>
                        </a:rPr>
                        <a:t>=</a:t>
                      </a:r>
                      <a:r>
                        <a:rPr lang="en-US" sz="1400" b="1" dirty="0" err="1">
                          <a:solidFill>
                            <a:srgbClr val="0000FF"/>
                          </a:solidFill>
                          <a:effectLst/>
                          <a:latin typeface="Arial(corps)"/>
                          <a:ea typeface="Calibri"/>
                          <a:cs typeface="Arial"/>
                        </a:rPr>
                        <a:t>np.linalg.eig</a:t>
                      </a:r>
                      <a:r>
                        <a:rPr lang="en-US" sz="1400" b="1" dirty="0">
                          <a:solidFill>
                            <a:srgbClr val="0000FF"/>
                          </a:solidFill>
                          <a:effectLst/>
                          <a:latin typeface="Arial(corps)"/>
                          <a:ea typeface="Calibri"/>
                          <a:cs typeface="Arial"/>
                        </a:rPr>
                        <a:t>(A)</a:t>
                      </a:r>
                      <a:endParaRPr lang="fr-FR" sz="1400" b="1" dirty="0">
                        <a:solidFill>
                          <a:srgbClr val="0000FF"/>
                        </a:solidFill>
                        <a:effectLst/>
                        <a:latin typeface="Arial(corps)"/>
                        <a:ea typeface="Calibri"/>
                        <a:cs typeface="Arial"/>
                      </a:endParaRPr>
                    </a:p>
                    <a:p>
                      <a:pPr>
                        <a:lnSpc>
                          <a:spcPct val="115000"/>
                        </a:lnSpc>
                        <a:spcBef>
                          <a:spcPts val="600"/>
                        </a:spcBef>
                        <a:spcAft>
                          <a:spcPts val="0"/>
                        </a:spcAft>
                      </a:pPr>
                      <a:r>
                        <a:rPr lang="fr-FR" sz="1400" b="1" dirty="0">
                          <a:solidFill>
                            <a:srgbClr val="0000FF"/>
                          </a:solidFill>
                          <a:effectLst/>
                          <a:latin typeface="Arial(corps)"/>
                          <a:ea typeface="Calibri"/>
                          <a:cs typeface="Arial"/>
                        </a:rPr>
                        <a:t>x=</a:t>
                      </a:r>
                      <a:r>
                        <a:rPr lang="fr-FR" sz="1400" b="1" dirty="0" err="1">
                          <a:solidFill>
                            <a:srgbClr val="0000FF"/>
                          </a:solidFill>
                          <a:effectLst/>
                          <a:latin typeface="Arial(corps)"/>
                          <a:ea typeface="Calibri"/>
                          <a:cs typeface="Arial"/>
                        </a:rPr>
                        <a:t>array</a:t>
                      </a:r>
                      <a:r>
                        <a:rPr lang="fr-FR" sz="1400" b="1" dirty="0">
                          <a:solidFill>
                            <a:srgbClr val="0000FF"/>
                          </a:solidFill>
                          <a:effectLst/>
                          <a:latin typeface="Arial(corps)"/>
                          <a:ea typeface="Calibri"/>
                          <a:cs typeface="Arial"/>
                        </a:rPr>
                        <a:t>([-2.90832691,  7.90832691])</a:t>
                      </a:r>
                    </a:p>
                    <a:p>
                      <a:pPr>
                        <a:lnSpc>
                          <a:spcPct val="115000"/>
                        </a:lnSpc>
                        <a:spcBef>
                          <a:spcPts val="600"/>
                        </a:spcBef>
                        <a:spcAft>
                          <a:spcPts val="0"/>
                        </a:spcAft>
                      </a:pPr>
                      <a:r>
                        <a:rPr lang="fr-FR" sz="1400" b="1" dirty="0">
                          <a:solidFill>
                            <a:srgbClr val="0000FF"/>
                          </a:solidFill>
                          <a:effectLst/>
                          <a:latin typeface="Arial(corps)"/>
                          <a:ea typeface="Calibri"/>
                          <a:cs typeface="Arial"/>
                        </a:rPr>
                        <a:t>y=</a:t>
                      </a:r>
                      <a:r>
                        <a:rPr lang="fr-FR" sz="1400" b="1" dirty="0" err="1">
                          <a:solidFill>
                            <a:srgbClr val="0000FF"/>
                          </a:solidFill>
                          <a:effectLst/>
                          <a:latin typeface="Arial(corps)"/>
                          <a:ea typeface="Calibri"/>
                          <a:cs typeface="Arial"/>
                        </a:rPr>
                        <a:t>array</a:t>
                      </a:r>
                      <a:r>
                        <a:rPr lang="fr-FR" sz="1400" b="1" dirty="0">
                          <a:solidFill>
                            <a:srgbClr val="0000FF"/>
                          </a:solidFill>
                          <a:effectLst/>
                          <a:latin typeface="Arial(corps)"/>
                          <a:ea typeface="Calibri"/>
                          <a:cs typeface="Arial"/>
                        </a:rPr>
                        <a:t>([[-0.91724574, -0.79325185],</a:t>
                      </a:r>
                    </a:p>
                    <a:p>
                      <a:pPr>
                        <a:lnSpc>
                          <a:spcPct val="115000"/>
                        </a:lnSpc>
                        <a:spcBef>
                          <a:spcPts val="600"/>
                        </a:spcBef>
                        <a:spcAft>
                          <a:spcPts val="0"/>
                        </a:spcAft>
                      </a:pPr>
                      <a:r>
                        <a:rPr lang="fr-FR" sz="1400" b="1" dirty="0">
                          <a:solidFill>
                            <a:srgbClr val="0000FF"/>
                          </a:solidFill>
                          <a:effectLst/>
                          <a:latin typeface="Arial(corps)"/>
                          <a:ea typeface="Calibri"/>
                          <a:cs typeface="Arial"/>
                        </a:rPr>
                        <a:t>       [ 0.3983218 , -0.60889368]])</a:t>
                      </a: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bl>
          </a:graphicData>
        </a:graphic>
      </p:graphicFrame>
      <p:sp>
        <p:nvSpPr>
          <p:cNvPr id="11"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dirty="0" smtClean="0">
                <a:latin typeface="+mj-lt"/>
              </a:rPr>
              <a:t>Le </a:t>
            </a:r>
            <a:r>
              <a:rPr lang="fr-FR" sz="2400" dirty="0">
                <a:latin typeface="+mj-lt"/>
              </a:rPr>
              <a:t>sous-module  </a:t>
            </a:r>
            <a:r>
              <a:rPr lang="fr-FR" sz="2400" b="1" dirty="0" err="1">
                <a:latin typeface="+mj-lt"/>
              </a:rPr>
              <a:t>numpy.linalg</a:t>
            </a:r>
            <a:r>
              <a:rPr lang="fr-FR" sz="2400" dirty="0">
                <a:latin typeface="+mj-lt"/>
              </a:rPr>
              <a:t> pour l’algèbre linéaire</a:t>
            </a:r>
            <a:endParaRPr lang="fr-FR" sz="2400" b="1" dirty="0">
              <a:latin typeface="+mj-lt"/>
            </a:endParaRPr>
          </a:p>
        </p:txBody>
      </p:sp>
    </p:spTree>
    <p:custDataLst>
      <p:tags r:id="rId1"/>
    </p:custDataLst>
    <p:extLst>
      <p:ext uri="{BB962C8B-B14F-4D97-AF65-F5344CB8AC3E}">
        <p14:creationId xmlns:p14="http://schemas.microsoft.com/office/powerpoint/2010/main" val="1503665444"/>
      </p:ext>
    </p:extLst>
  </p:cSld>
  <p:clrMapOvr>
    <a:masterClrMapping/>
  </p:clrMapOvr>
  <p:transition>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Text Box 9"/>
          <p:cNvSpPr txBox="1">
            <a:spLocks noChangeArrowheads="1"/>
          </p:cNvSpPr>
          <p:nvPr/>
        </p:nvSpPr>
        <p:spPr bwMode="auto">
          <a:xfrm>
            <a:off x="971550" y="58738"/>
            <a:ext cx="8172450" cy="369332"/>
          </a:xfrm>
          <a:prstGeom prst="rect">
            <a:avLst/>
          </a:prstGeom>
          <a:noFill/>
          <a:ln w="12700" algn="ctr">
            <a:noFill/>
            <a:miter lim="800000"/>
            <a:headEnd/>
            <a:tailEnd/>
          </a:ln>
        </p:spPr>
        <p:txBody>
          <a:bodyPr>
            <a:spAutoFit/>
          </a:bodyPr>
          <a:lstStyle/>
          <a:p>
            <a:pPr>
              <a:spcBef>
                <a:spcPct val="50000"/>
              </a:spcBef>
            </a:pPr>
            <a:r>
              <a:rPr lang="fr-FR" sz="1800" b="1" dirty="0" smtClean="0">
                <a:solidFill>
                  <a:srgbClr val="000000"/>
                </a:solidFill>
                <a:latin typeface="Arial" pitchFamily="34" charset="0"/>
              </a:rPr>
              <a:t>Les modules</a:t>
            </a:r>
            <a:endParaRPr lang="fr-FR" sz="1800" b="1" dirty="0">
              <a:solidFill>
                <a:srgbClr val="000000"/>
              </a:solidFill>
              <a:latin typeface="Arial" pitchFamily="34" charset="0"/>
            </a:endParaRPr>
          </a:p>
        </p:txBody>
      </p:sp>
      <p:cxnSp>
        <p:nvCxnSpPr>
          <p:cNvPr id="203781"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203782"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203783" name="Triangle isocèle 6"/>
          <p:cNvSpPr>
            <a:spLocks noChangeArrowheads="1"/>
          </p:cNvSpPr>
          <p:nvPr/>
        </p:nvSpPr>
        <p:spPr bwMode="auto">
          <a:xfrm>
            <a:off x="571500" y="1143000"/>
            <a:ext cx="500063" cy="357188"/>
          </a:xfrm>
          <a:prstGeom prst="triangle">
            <a:avLst>
              <a:gd name="adj" fmla="val 50000"/>
            </a:avLst>
          </a:prstGeom>
          <a:noFill/>
          <a:ln w="9525" algn="ctr">
            <a:noFill/>
            <a:round/>
            <a:headEnd/>
            <a:tailEnd/>
          </a:ln>
        </p:spPr>
        <p:txBody>
          <a:bodyPr lIns="90000" tIns="46800" rIns="90000" bIns="46800" anchor="ctr">
            <a:spAutoFit/>
          </a:bodyPr>
          <a:lstStyle/>
          <a:p>
            <a:pPr eaLnBrk="1" hangingPunct="1">
              <a:spcBef>
                <a:spcPct val="50000"/>
              </a:spcBef>
              <a:buClr>
                <a:srgbClr val="336666"/>
              </a:buClr>
              <a:buFont typeface="Wingdings" pitchFamily="2" charset="2"/>
              <a:buNone/>
            </a:pPr>
            <a:endParaRPr lang="fr-FR"/>
          </a:p>
        </p:txBody>
      </p:sp>
      <p:sp>
        <p:nvSpPr>
          <p:cNvPr id="203784" name="Triangle isocèle 8"/>
          <p:cNvSpPr>
            <a:spLocks noChangeArrowheads="1"/>
          </p:cNvSpPr>
          <p:nvPr/>
        </p:nvSpPr>
        <p:spPr bwMode="auto">
          <a:xfrm>
            <a:off x="785813" y="1500188"/>
            <a:ext cx="714375" cy="500062"/>
          </a:xfrm>
          <a:prstGeom prst="triangle">
            <a:avLst>
              <a:gd name="adj" fmla="val 50000"/>
            </a:avLst>
          </a:prstGeom>
          <a:noFill/>
          <a:ln w="9525" algn="ctr">
            <a:noFill/>
            <a:round/>
            <a:headEnd/>
            <a:tailEnd/>
          </a:ln>
        </p:spPr>
        <p:txBody>
          <a:bodyPr lIns="90000" tIns="46800" rIns="90000" bIns="46800" anchor="ctr">
            <a:spAutoFit/>
          </a:bodyPr>
          <a:lstStyle/>
          <a:p>
            <a:pPr eaLnBrk="1" hangingPunct="1">
              <a:spcBef>
                <a:spcPct val="50000"/>
              </a:spcBef>
              <a:buClr>
                <a:srgbClr val="336666"/>
              </a:buClr>
              <a:buFont typeface="Wingdings" pitchFamily="2" charset="2"/>
              <a:buNone/>
            </a:pPr>
            <a:endParaRPr lang="fr-FR"/>
          </a:p>
        </p:txBody>
      </p:sp>
      <p:graphicFrame>
        <p:nvGraphicFramePr>
          <p:cNvPr id="2" name="Tableau 1"/>
          <p:cNvGraphicFramePr>
            <a:graphicFrameLocks noGrp="1"/>
          </p:cNvGraphicFramePr>
          <p:nvPr>
            <p:extLst>
              <p:ext uri="{D42A27DB-BD31-4B8C-83A1-F6EECF244321}">
                <p14:modId xmlns:p14="http://schemas.microsoft.com/office/powerpoint/2010/main" val="3320330122"/>
              </p:ext>
            </p:extLst>
          </p:nvPr>
        </p:nvGraphicFramePr>
        <p:xfrm>
          <a:off x="395420" y="1037370"/>
          <a:ext cx="8676567" cy="5568080"/>
        </p:xfrm>
        <a:graphic>
          <a:graphicData uri="http://schemas.openxmlformats.org/drawingml/2006/table">
            <a:tbl>
              <a:tblPr firstRow="1" firstCol="1" bandRow="1">
                <a:tableStyleId>{284E427A-3D55-4303-BF80-6455036E1DE7}</a:tableStyleId>
              </a:tblPr>
              <a:tblGrid>
                <a:gridCol w="864120"/>
                <a:gridCol w="1944270"/>
                <a:gridCol w="2736380"/>
                <a:gridCol w="3131797"/>
              </a:tblGrid>
              <a:tr h="234080">
                <a:tc>
                  <a:txBody>
                    <a:bodyPr/>
                    <a:lstStyle/>
                    <a:p>
                      <a:pPr algn="ctr">
                        <a:lnSpc>
                          <a:spcPct val="100000"/>
                        </a:lnSpc>
                        <a:spcBef>
                          <a:spcPts val="0"/>
                        </a:spcBef>
                        <a:spcAft>
                          <a:spcPts val="0"/>
                        </a:spcAft>
                      </a:pPr>
                      <a:r>
                        <a:rPr lang="fr-FR" sz="1400" dirty="0">
                          <a:solidFill>
                            <a:srgbClr val="C00000"/>
                          </a:solidFill>
                          <a:effectLst/>
                        </a:rPr>
                        <a:t>Fonction</a:t>
                      </a:r>
                      <a:endParaRPr lang="fr-FR" sz="1400" dirty="0">
                        <a:solidFill>
                          <a:srgbClr val="C00000"/>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fr-FR" sz="1400" dirty="0">
                          <a:solidFill>
                            <a:srgbClr val="C00000"/>
                          </a:solidFill>
                          <a:effectLst/>
                        </a:rPr>
                        <a:t>Rôle</a:t>
                      </a:r>
                      <a:endParaRPr lang="fr-FR" sz="1400" dirty="0">
                        <a:solidFill>
                          <a:srgbClr val="C00000"/>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fr-FR" sz="1400" dirty="0">
                          <a:solidFill>
                            <a:srgbClr val="C00000"/>
                          </a:solidFill>
                          <a:effectLst/>
                        </a:rPr>
                        <a:t>Syntaxe</a:t>
                      </a:r>
                      <a:endParaRPr lang="fr-FR" sz="1400" dirty="0">
                        <a:solidFill>
                          <a:srgbClr val="C00000"/>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lnSpc>
                          <a:spcPct val="100000"/>
                        </a:lnSpc>
                        <a:spcBef>
                          <a:spcPts val="0"/>
                        </a:spcBef>
                        <a:spcAft>
                          <a:spcPts val="0"/>
                        </a:spcAft>
                      </a:pPr>
                      <a:r>
                        <a:rPr lang="fr-FR" sz="1400" dirty="0">
                          <a:solidFill>
                            <a:srgbClr val="C00000"/>
                          </a:solidFill>
                          <a:effectLst/>
                        </a:rPr>
                        <a:t>Exemple</a:t>
                      </a:r>
                      <a:endParaRPr lang="fr-FR" sz="1400" dirty="0">
                        <a:solidFill>
                          <a:srgbClr val="C00000"/>
                        </a:solidFill>
                        <a:effectLst/>
                        <a:latin typeface="Calibri"/>
                        <a:ea typeface="Calibri"/>
                        <a:cs typeface="Arial"/>
                      </a:endParaRPr>
                    </a:p>
                  </a:txBody>
                  <a:tcPr marL="25597" marR="2559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411503">
                <a:tc>
                  <a:txBody>
                    <a:bodyPr/>
                    <a:lstStyle/>
                    <a:p>
                      <a:pPr>
                        <a:lnSpc>
                          <a:spcPct val="100000"/>
                        </a:lnSpc>
                        <a:spcBef>
                          <a:spcPts val="0"/>
                        </a:spcBef>
                        <a:spcAft>
                          <a:spcPts val="0"/>
                        </a:spcAft>
                      </a:pPr>
                      <a:r>
                        <a:rPr lang="fr-FR" sz="1400" b="1" dirty="0" err="1">
                          <a:effectLst/>
                          <a:latin typeface="Arial(corps)"/>
                          <a:ea typeface="Calibri"/>
                          <a:cs typeface="Times New Roman"/>
                        </a:rPr>
                        <a:t>odeint</a:t>
                      </a:r>
                      <a:endParaRPr lang="fr-FR" sz="1400" dirty="0">
                        <a:effectLst/>
                        <a:latin typeface="Arial(corps)"/>
                        <a:ea typeface="Calibri"/>
                        <a:cs typeface="Arial"/>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a:lnSpc>
                          <a:spcPct val="100000"/>
                        </a:lnSpc>
                        <a:spcBef>
                          <a:spcPts val="0"/>
                        </a:spcBef>
                        <a:spcAft>
                          <a:spcPts val="0"/>
                        </a:spcAft>
                      </a:pPr>
                      <a:r>
                        <a:rPr lang="fr-FR" sz="1400" dirty="0">
                          <a:effectLst/>
                          <a:latin typeface="Arial(corps)"/>
                          <a:ea typeface="Calibri"/>
                          <a:cs typeface="Times New Roman"/>
                        </a:rPr>
                        <a:t>Effectue l’intégration numérique d’une équation différentielle définie par : </a:t>
                      </a:r>
                      <a:r>
                        <a:rPr lang="fr-FR" sz="1400" dirty="0" err="1">
                          <a:effectLst/>
                          <a:latin typeface="Arial(corps)"/>
                          <a:ea typeface="Calibri"/>
                          <a:cs typeface="Times New Roman"/>
                        </a:rPr>
                        <a:t>dy</a:t>
                      </a:r>
                      <a:r>
                        <a:rPr lang="fr-FR" sz="1400" dirty="0">
                          <a:effectLst/>
                          <a:latin typeface="Arial(corps)"/>
                          <a:ea typeface="Calibri"/>
                          <a:cs typeface="Times New Roman"/>
                        </a:rPr>
                        <a:t>/</a:t>
                      </a:r>
                      <a:r>
                        <a:rPr lang="fr-FR" sz="1400" dirty="0" err="1">
                          <a:effectLst/>
                          <a:latin typeface="Arial(corps)"/>
                          <a:ea typeface="Calibri"/>
                          <a:cs typeface="Times New Roman"/>
                        </a:rPr>
                        <a:t>dt</a:t>
                      </a:r>
                      <a:r>
                        <a:rPr lang="fr-FR" sz="1400" dirty="0">
                          <a:effectLst/>
                          <a:latin typeface="Arial(corps)"/>
                          <a:ea typeface="Calibri"/>
                          <a:cs typeface="Times New Roman"/>
                        </a:rPr>
                        <a:t>=F(</a:t>
                      </a:r>
                      <a:r>
                        <a:rPr lang="fr-FR" sz="1400" dirty="0" err="1">
                          <a:effectLst/>
                          <a:latin typeface="Arial(corps)"/>
                          <a:ea typeface="Calibri"/>
                          <a:cs typeface="Times New Roman"/>
                        </a:rPr>
                        <a:t>y,t</a:t>
                      </a:r>
                      <a:r>
                        <a:rPr lang="fr-FR" sz="1400" dirty="0">
                          <a:effectLst/>
                          <a:latin typeface="Arial(corps)"/>
                          <a:ea typeface="Calibri"/>
                          <a:cs typeface="Times New Roman"/>
                        </a:rPr>
                        <a:t>) et y(t</a:t>
                      </a:r>
                      <a:r>
                        <a:rPr lang="fr-FR" sz="1400" baseline="-25000" dirty="0">
                          <a:effectLst/>
                          <a:latin typeface="Arial(corps)"/>
                          <a:ea typeface="Calibri"/>
                          <a:cs typeface="Times New Roman"/>
                        </a:rPr>
                        <a:t>0</a:t>
                      </a:r>
                      <a:r>
                        <a:rPr lang="fr-FR" sz="1400" dirty="0">
                          <a:effectLst/>
                          <a:latin typeface="Arial(corps)"/>
                          <a:ea typeface="Calibri"/>
                          <a:cs typeface="Times New Roman"/>
                        </a:rPr>
                        <a:t>)=y0</a:t>
                      </a:r>
                      <a:endParaRPr lang="fr-FR" sz="1400" dirty="0">
                        <a:effectLst/>
                        <a:latin typeface="Arial(corps)"/>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fr-FR" sz="1400" b="1" dirty="0">
                          <a:solidFill>
                            <a:srgbClr val="7030A0"/>
                          </a:solidFill>
                          <a:effectLst/>
                          <a:latin typeface="Arial(corps)"/>
                          <a:ea typeface="Calibri"/>
                          <a:cs typeface="Times New Roman"/>
                        </a:rPr>
                        <a:t>S=</a:t>
                      </a:r>
                      <a:r>
                        <a:rPr lang="fr-FR" sz="1400" b="1" dirty="0">
                          <a:solidFill>
                            <a:srgbClr val="7030A0"/>
                          </a:solidFill>
                          <a:effectLst/>
                          <a:latin typeface="Arial(corps)"/>
                          <a:ea typeface="Calibri"/>
                          <a:cs typeface="Arial"/>
                        </a:rPr>
                        <a:t> </a:t>
                      </a:r>
                      <a:r>
                        <a:rPr lang="fr-FR" sz="1400" b="1" dirty="0" err="1">
                          <a:solidFill>
                            <a:srgbClr val="7030A0"/>
                          </a:solidFill>
                          <a:effectLst/>
                          <a:latin typeface="Arial(corps)"/>
                          <a:ea typeface="Calibri"/>
                          <a:cs typeface="Times New Roman"/>
                        </a:rPr>
                        <a:t>scipy.integrate.odeint</a:t>
                      </a:r>
                      <a:r>
                        <a:rPr lang="fr-FR" sz="1400" b="1" dirty="0">
                          <a:solidFill>
                            <a:srgbClr val="7030A0"/>
                          </a:solidFill>
                          <a:effectLst/>
                          <a:latin typeface="Arial(corps)"/>
                          <a:ea typeface="Calibri"/>
                          <a:cs typeface="Times New Roman"/>
                        </a:rPr>
                        <a:t>(F,y0,t)</a:t>
                      </a:r>
                      <a:endParaRPr lang="fr-FR" sz="1400" b="1" dirty="0">
                        <a:solidFill>
                          <a:srgbClr val="7030A0"/>
                        </a:solidFill>
                        <a:effectLst/>
                        <a:latin typeface="Arial(corps)"/>
                        <a:ea typeface="Calibri"/>
                        <a:cs typeface="Arial"/>
                      </a:endParaRPr>
                    </a:p>
                    <a:p>
                      <a:pPr>
                        <a:lnSpc>
                          <a:spcPct val="100000"/>
                        </a:lnSpc>
                        <a:spcBef>
                          <a:spcPts val="0"/>
                        </a:spcBef>
                        <a:spcAft>
                          <a:spcPts val="0"/>
                        </a:spcAft>
                      </a:pPr>
                      <a:r>
                        <a:rPr lang="fr-FR" sz="1400" b="1" dirty="0">
                          <a:solidFill>
                            <a:srgbClr val="7030A0"/>
                          </a:solidFill>
                          <a:effectLst/>
                          <a:latin typeface="Arial(corps)"/>
                          <a:ea typeface="Calibri"/>
                          <a:cs typeface="Times New Roman"/>
                        </a:rPr>
                        <a:t>F : est la fonction définissant l’équation différentielle, </a:t>
                      </a:r>
                      <a:endParaRPr lang="fr-FR" sz="1400" b="1" dirty="0">
                        <a:solidFill>
                          <a:srgbClr val="7030A0"/>
                        </a:solidFill>
                        <a:effectLst/>
                        <a:latin typeface="Arial(corps)"/>
                        <a:ea typeface="Calibri"/>
                        <a:cs typeface="Arial"/>
                      </a:endParaRPr>
                    </a:p>
                    <a:p>
                      <a:pPr>
                        <a:lnSpc>
                          <a:spcPct val="100000"/>
                        </a:lnSpc>
                        <a:spcBef>
                          <a:spcPts val="0"/>
                        </a:spcBef>
                        <a:spcAft>
                          <a:spcPts val="0"/>
                        </a:spcAft>
                      </a:pPr>
                      <a:r>
                        <a:rPr lang="fr-FR" sz="1400" b="1" dirty="0">
                          <a:solidFill>
                            <a:srgbClr val="7030A0"/>
                          </a:solidFill>
                          <a:effectLst/>
                          <a:latin typeface="Arial(corps)"/>
                          <a:ea typeface="Calibri"/>
                          <a:cs typeface="Times New Roman"/>
                        </a:rPr>
                        <a:t>y0 : est la donnée initiale,</a:t>
                      </a:r>
                      <a:endParaRPr lang="fr-FR" sz="1400" b="1" dirty="0">
                        <a:solidFill>
                          <a:srgbClr val="7030A0"/>
                        </a:solidFill>
                        <a:effectLst/>
                        <a:latin typeface="Arial(corps)"/>
                        <a:ea typeface="Calibri"/>
                        <a:cs typeface="Arial"/>
                      </a:endParaRPr>
                    </a:p>
                    <a:p>
                      <a:pPr>
                        <a:lnSpc>
                          <a:spcPct val="100000"/>
                        </a:lnSpc>
                        <a:spcBef>
                          <a:spcPts val="0"/>
                        </a:spcBef>
                        <a:spcAft>
                          <a:spcPts val="0"/>
                        </a:spcAft>
                      </a:pPr>
                      <a:r>
                        <a:rPr lang="fr-FR" sz="1400" b="1" dirty="0">
                          <a:solidFill>
                            <a:srgbClr val="7030A0"/>
                          </a:solidFill>
                          <a:effectLst/>
                          <a:latin typeface="Arial(corps)"/>
                          <a:ea typeface="Calibri"/>
                          <a:cs typeface="Times New Roman"/>
                        </a:rPr>
                        <a:t>t : un vecteur des valeurs de t</a:t>
                      </a:r>
                      <a:endParaRPr lang="fr-FR" sz="1400" b="1" dirty="0">
                        <a:solidFill>
                          <a:srgbClr val="7030A0"/>
                        </a:solidFill>
                        <a:effectLst/>
                        <a:latin typeface="Arial(corps)"/>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en-US" sz="1400" b="1" dirty="0">
                          <a:solidFill>
                            <a:srgbClr val="0000FF"/>
                          </a:solidFill>
                          <a:effectLst/>
                          <a:latin typeface="Arial(corps)"/>
                          <a:ea typeface="Calibri"/>
                          <a:cs typeface="Arial"/>
                        </a:rPr>
                        <a:t>import </a:t>
                      </a:r>
                      <a:r>
                        <a:rPr lang="en-US" sz="1400" b="1" dirty="0" err="1">
                          <a:solidFill>
                            <a:srgbClr val="0000FF"/>
                          </a:solidFill>
                          <a:effectLst/>
                          <a:latin typeface="Arial(corps)"/>
                          <a:ea typeface="Calibri"/>
                          <a:cs typeface="Arial"/>
                        </a:rPr>
                        <a:t>matplotlib.pyplot</a:t>
                      </a:r>
                      <a:r>
                        <a:rPr lang="en-US" sz="1400" b="1" dirty="0">
                          <a:solidFill>
                            <a:srgbClr val="0000FF"/>
                          </a:solidFill>
                          <a:effectLst/>
                          <a:latin typeface="Arial(corps)"/>
                          <a:ea typeface="Calibri"/>
                          <a:cs typeface="Arial"/>
                        </a:rPr>
                        <a:t> as </a:t>
                      </a:r>
                      <a:r>
                        <a:rPr lang="en-US" sz="1400" b="1" dirty="0" err="1">
                          <a:solidFill>
                            <a:srgbClr val="0000FF"/>
                          </a:solidFill>
                          <a:effectLst/>
                          <a:latin typeface="Arial(corps)"/>
                          <a:ea typeface="Calibri"/>
                          <a:cs typeface="Arial"/>
                        </a:rPr>
                        <a:t>plt</a:t>
                      </a:r>
                      <a:endParaRPr lang="fr-FR" sz="1400" b="1" dirty="0">
                        <a:solidFill>
                          <a:srgbClr val="0000FF"/>
                        </a:solidFill>
                        <a:effectLst/>
                        <a:latin typeface="Arial(corps)"/>
                        <a:ea typeface="Calibri"/>
                        <a:cs typeface="Arial"/>
                      </a:endParaRPr>
                    </a:p>
                    <a:p>
                      <a:pPr>
                        <a:lnSpc>
                          <a:spcPct val="100000"/>
                        </a:lnSpc>
                        <a:spcBef>
                          <a:spcPts val="0"/>
                        </a:spcBef>
                        <a:spcAft>
                          <a:spcPts val="0"/>
                        </a:spcAft>
                      </a:pPr>
                      <a:r>
                        <a:rPr lang="en-US" sz="1400" b="1" dirty="0">
                          <a:solidFill>
                            <a:srgbClr val="0000FF"/>
                          </a:solidFill>
                          <a:effectLst/>
                          <a:latin typeface="Arial(corps)"/>
                          <a:ea typeface="Calibri"/>
                          <a:cs typeface="Arial"/>
                        </a:rPr>
                        <a:t>from </a:t>
                      </a:r>
                      <a:r>
                        <a:rPr lang="en-US" sz="1400" b="1" dirty="0" err="1">
                          <a:solidFill>
                            <a:srgbClr val="0000FF"/>
                          </a:solidFill>
                          <a:effectLst/>
                          <a:latin typeface="Arial(corps)"/>
                          <a:ea typeface="Calibri"/>
                          <a:cs typeface="Arial"/>
                        </a:rPr>
                        <a:t>scipy.integrate</a:t>
                      </a:r>
                      <a:r>
                        <a:rPr lang="en-US" sz="1400" b="1" dirty="0">
                          <a:solidFill>
                            <a:srgbClr val="0000FF"/>
                          </a:solidFill>
                          <a:effectLst/>
                          <a:latin typeface="Arial(corps)"/>
                          <a:ea typeface="Calibri"/>
                          <a:cs typeface="Arial"/>
                        </a:rPr>
                        <a:t> import </a:t>
                      </a:r>
                      <a:r>
                        <a:rPr lang="en-US" sz="1400" b="1" dirty="0" err="1">
                          <a:solidFill>
                            <a:srgbClr val="0000FF"/>
                          </a:solidFill>
                          <a:effectLst/>
                          <a:latin typeface="Arial(corps)"/>
                          <a:ea typeface="Calibri"/>
                          <a:cs typeface="Arial"/>
                        </a:rPr>
                        <a:t>odeint</a:t>
                      </a:r>
                      <a:endParaRPr lang="fr-FR" sz="1400" b="1" dirty="0">
                        <a:solidFill>
                          <a:srgbClr val="0000FF"/>
                        </a:solidFill>
                        <a:effectLst/>
                        <a:latin typeface="Arial(corps)"/>
                        <a:ea typeface="Calibri"/>
                        <a:cs typeface="Arial"/>
                      </a:endParaRPr>
                    </a:p>
                    <a:p>
                      <a:pPr>
                        <a:lnSpc>
                          <a:spcPct val="100000"/>
                        </a:lnSpc>
                        <a:spcBef>
                          <a:spcPts val="0"/>
                        </a:spcBef>
                        <a:spcAft>
                          <a:spcPts val="0"/>
                        </a:spcAft>
                      </a:pPr>
                      <a:r>
                        <a:rPr lang="fr-FR" sz="1400" b="1" dirty="0" err="1">
                          <a:solidFill>
                            <a:srgbClr val="0000FF"/>
                          </a:solidFill>
                          <a:effectLst/>
                          <a:latin typeface="Arial(corps)"/>
                          <a:ea typeface="Calibri"/>
                          <a:cs typeface="Arial"/>
                        </a:rPr>
                        <a:t>def</a:t>
                      </a:r>
                      <a:r>
                        <a:rPr lang="fr-FR" sz="1400" b="1" dirty="0">
                          <a:solidFill>
                            <a:srgbClr val="0000FF"/>
                          </a:solidFill>
                          <a:effectLst/>
                          <a:latin typeface="Arial(corps)"/>
                          <a:ea typeface="Calibri"/>
                          <a:cs typeface="Arial"/>
                        </a:rPr>
                        <a:t> F(</a:t>
                      </a:r>
                      <a:r>
                        <a:rPr lang="fr-FR" sz="1400" b="1" dirty="0" err="1">
                          <a:solidFill>
                            <a:srgbClr val="0000FF"/>
                          </a:solidFill>
                          <a:effectLst/>
                          <a:latin typeface="Arial(corps)"/>
                          <a:ea typeface="Calibri"/>
                          <a:cs typeface="Arial"/>
                        </a:rPr>
                        <a:t>y,t</a:t>
                      </a:r>
                      <a:r>
                        <a:rPr lang="fr-FR" sz="1400" b="1" dirty="0">
                          <a:solidFill>
                            <a:srgbClr val="0000FF"/>
                          </a:solidFill>
                          <a:effectLst/>
                          <a:latin typeface="Arial(corps)"/>
                          <a:ea typeface="Calibri"/>
                          <a:cs typeface="Arial"/>
                        </a:rPr>
                        <a:t>) :</a:t>
                      </a:r>
                    </a:p>
                    <a:p>
                      <a:pPr>
                        <a:lnSpc>
                          <a:spcPct val="100000"/>
                        </a:lnSpc>
                        <a:spcBef>
                          <a:spcPts val="0"/>
                        </a:spcBef>
                        <a:spcAft>
                          <a:spcPts val="0"/>
                        </a:spcAft>
                      </a:pPr>
                      <a:r>
                        <a:rPr lang="fr-FR" sz="1400" b="1" dirty="0">
                          <a:solidFill>
                            <a:srgbClr val="0000FF"/>
                          </a:solidFill>
                          <a:effectLst/>
                          <a:latin typeface="Arial(corps)"/>
                          <a:ea typeface="Calibri"/>
                          <a:cs typeface="Arial"/>
                        </a:rPr>
                        <a:t>    return t**2+sin(y)*y**2</a:t>
                      </a:r>
                    </a:p>
                    <a:p>
                      <a:pPr>
                        <a:lnSpc>
                          <a:spcPct val="100000"/>
                        </a:lnSpc>
                        <a:spcBef>
                          <a:spcPts val="0"/>
                        </a:spcBef>
                        <a:spcAft>
                          <a:spcPts val="0"/>
                        </a:spcAft>
                      </a:pPr>
                      <a:r>
                        <a:rPr lang="fr-FR" sz="1400" b="1" dirty="0">
                          <a:solidFill>
                            <a:srgbClr val="0000FF"/>
                          </a:solidFill>
                          <a:effectLst/>
                          <a:latin typeface="Arial(corps)"/>
                          <a:ea typeface="Calibri"/>
                          <a:cs typeface="Arial"/>
                        </a:rPr>
                        <a:t>t = </a:t>
                      </a:r>
                      <a:r>
                        <a:rPr lang="fr-FR" sz="1400" b="1" dirty="0" err="1">
                          <a:solidFill>
                            <a:srgbClr val="0000FF"/>
                          </a:solidFill>
                          <a:effectLst/>
                          <a:latin typeface="Arial(corps)"/>
                          <a:ea typeface="Calibri"/>
                          <a:cs typeface="Arial"/>
                        </a:rPr>
                        <a:t>linspace</a:t>
                      </a:r>
                      <a:r>
                        <a:rPr lang="fr-FR" sz="1400" b="1" dirty="0">
                          <a:solidFill>
                            <a:srgbClr val="0000FF"/>
                          </a:solidFill>
                          <a:effectLst/>
                          <a:latin typeface="Arial(corps)"/>
                          <a:ea typeface="Calibri"/>
                          <a:cs typeface="Arial"/>
                        </a:rPr>
                        <a:t>(0,20,1000)</a:t>
                      </a:r>
                    </a:p>
                    <a:p>
                      <a:pPr>
                        <a:lnSpc>
                          <a:spcPct val="100000"/>
                        </a:lnSpc>
                        <a:spcBef>
                          <a:spcPts val="0"/>
                        </a:spcBef>
                        <a:spcAft>
                          <a:spcPts val="0"/>
                        </a:spcAft>
                      </a:pPr>
                      <a:r>
                        <a:rPr lang="fr-FR" sz="1400" b="1" dirty="0">
                          <a:solidFill>
                            <a:srgbClr val="0000FF"/>
                          </a:solidFill>
                          <a:effectLst/>
                          <a:latin typeface="Arial(corps)"/>
                          <a:ea typeface="Calibri"/>
                          <a:cs typeface="Arial"/>
                        </a:rPr>
                        <a:t>y0 = 3 # y(t0=0) = y0</a:t>
                      </a:r>
                    </a:p>
                    <a:p>
                      <a:pPr>
                        <a:lnSpc>
                          <a:spcPct val="100000"/>
                        </a:lnSpc>
                        <a:spcBef>
                          <a:spcPts val="0"/>
                        </a:spcBef>
                        <a:spcAft>
                          <a:spcPts val="0"/>
                        </a:spcAft>
                      </a:pPr>
                      <a:r>
                        <a:rPr lang="fr-FR" sz="1400" b="1" dirty="0">
                          <a:solidFill>
                            <a:srgbClr val="0000FF"/>
                          </a:solidFill>
                          <a:effectLst/>
                          <a:latin typeface="Arial(corps)"/>
                          <a:ea typeface="Calibri"/>
                          <a:cs typeface="Arial"/>
                        </a:rPr>
                        <a:t>solution = </a:t>
                      </a:r>
                      <a:r>
                        <a:rPr lang="fr-FR" sz="1400" b="1" dirty="0" err="1">
                          <a:solidFill>
                            <a:srgbClr val="0000FF"/>
                          </a:solidFill>
                          <a:effectLst/>
                          <a:latin typeface="Arial(corps)"/>
                          <a:ea typeface="Calibri"/>
                          <a:cs typeface="Arial"/>
                        </a:rPr>
                        <a:t>odeint</a:t>
                      </a:r>
                      <a:r>
                        <a:rPr lang="fr-FR" sz="1400" b="1" dirty="0">
                          <a:solidFill>
                            <a:srgbClr val="0000FF"/>
                          </a:solidFill>
                          <a:effectLst/>
                          <a:latin typeface="Arial(corps)"/>
                          <a:ea typeface="Calibri"/>
                          <a:cs typeface="Arial"/>
                        </a:rPr>
                        <a:t>(F,y0,t)</a:t>
                      </a:r>
                    </a:p>
                    <a:p>
                      <a:pPr>
                        <a:lnSpc>
                          <a:spcPct val="100000"/>
                        </a:lnSpc>
                        <a:spcBef>
                          <a:spcPts val="0"/>
                        </a:spcBef>
                        <a:spcAft>
                          <a:spcPts val="0"/>
                        </a:spcAft>
                      </a:pPr>
                      <a:r>
                        <a:rPr lang="fr-FR" sz="1400" b="1" dirty="0" err="1">
                          <a:solidFill>
                            <a:srgbClr val="0000FF"/>
                          </a:solidFill>
                          <a:effectLst/>
                          <a:latin typeface="Arial(corps)"/>
                          <a:ea typeface="Calibri"/>
                          <a:cs typeface="Arial"/>
                        </a:rPr>
                        <a:t>plt.plot</a:t>
                      </a:r>
                      <a:r>
                        <a:rPr lang="fr-FR" sz="1400" b="1" dirty="0">
                          <a:solidFill>
                            <a:srgbClr val="0000FF"/>
                          </a:solidFill>
                          <a:effectLst/>
                          <a:latin typeface="Arial(corps)"/>
                          <a:ea typeface="Calibri"/>
                          <a:cs typeface="Arial"/>
                        </a:rPr>
                        <a:t>(t, solution[:,0])</a:t>
                      </a:r>
                    </a:p>
                    <a:p>
                      <a:pPr>
                        <a:lnSpc>
                          <a:spcPct val="100000"/>
                        </a:lnSpc>
                        <a:spcBef>
                          <a:spcPts val="0"/>
                        </a:spcBef>
                        <a:spcAft>
                          <a:spcPts val="0"/>
                        </a:spcAft>
                      </a:pPr>
                      <a:r>
                        <a:rPr lang="fr-FR" sz="1400" b="1" dirty="0" err="1">
                          <a:solidFill>
                            <a:srgbClr val="0000FF"/>
                          </a:solidFill>
                          <a:effectLst/>
                          <a:latin typeface="Arial(corps)"/>
                          <a:ea typeface="Calibri"/>
                          <a:cs typeface="Arial"/>
                        </a:rPr>
                        <a:t>plt.show</a:t>
                      </a:r>
                      <a:r>
                        <a:rPr lang="fr-FR" sz="1400" b="1" dirty="0">
                          <a:solidFill>
                            <a:srgbClr val="0000FF"/>
                          </a:solidFill>
                          <a:effectLst/>
                          <a:latin typeface="Arial(corps)"/>
                          <a:ea typeface="Calibri"/>
                          <a:cs typeface="Arial"/>
                        </a:rPr>
                        <a:t>()</a:t>
                      </a: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610643">
                <a:tc>
                  <a:txBody>
                    <a:bodyPr/>
                    <a:lstStyle/>
                    <a:p>
                      <a:pPr>
                        <a:lnSpc>
                          <a:spcPct val="100000"/>
                        </a:lnSpc>
                        <a:spcBef>
                          <a:spcPts val="0"/>
                        </a:spcBef>
                        <a:spcAft>
                          <a:spcPts val="0"/>
                        </a:spcAft>
                      </a:pPr>
                      <a:r>
                        <a:rPr lang="fr-FR" sz="1400" b="1">
                          <a:effectLst/>
                          <a:latin typeface="Arial(corps)"/>
                          <a:ea typeface="Calibri"/>
                          <a:cs typeface="Times New Roman"/>
                        </a:rPr>
                        <a:t>quad </a:t>
                      </a:r>
                      <a:endParaRPr lang="fr-FR" sz="1400">
                        <a:effectLst/>
                        <a:latin typeface="Arial(corps)"/>
                        <a:ea typeface="Calibri"/>
                        <a:cs typeface="Arial"/>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fr-FR" sz="1400" dirty="0">
                          <a:effectLst/>
                          <a:latin typeface="Arial(corps)"/>
                          <a:ea typeface="Calibri"/>
                          <a:cs typeface="Times New Roman"/>
                        </a:rPr>
                        <a:t>Calcule l’intégrale d’une </a:t>
                      </a:r>
                      <a:r>
                        <a:rPr lang="fr-FR" sz="1400" b="1" i="1" u="sng" dirty="0">
                          <a:effectLst/>
                          <a:latin typeface="Arial(corps)"/>
                          <a:ea typeface="Calibri"/>
                          <a:cs typeface="Times New Roman"/>
                        </a:rPr>
                        <a:t>fonction</a:t>
                      </a:r>
                      <a:r>
                        <a:rPr lang="fr-FR" sz="1400" dirty="0">
                          <a:effectLst/>
                          <a:latin typeface="Arial(corps)"/>
                          <a:ea typeface="Calibri"/>
                          <a:cs typeface="Times New Roman"/>
                        </a:rPr>
                        <a:t> entre a et b et l’erreur correspondante.</a:t>
                      </a:r>
                      <a:endParaRPr lang="fr-FR" sz="1400" dirty="0">
                        <a:effectLst/>
                        <a:latin typeface="Arial(corps)"/>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en-US" sz="1400" b="1" dirty="0" err="1">
                          <a:solidFill>
                            <a:srgbClr val="7030A0"/>
                          </a:solidFill>
                          <a:effectLst/>
                          <a:latin typeface="Arial(corps)"/>
                          <a:ea typeface="Calibri"/>
                          <a:cs typeface="Times New Roman"/>
                        </a:rPr>
                        <a:t>x,y</a:t>
                      </a:r>
                      <a:r>
                        <a:rPr lang="en-US" sz="1400" b="1" dirty="0">
                          <a:solidFill>
                            <a:srgbClr val="7030A0"/>
                          </a:solidFill>
                          <a:effectLst/>
                          <a:latin typeface="Arial(corps)"/>
                          <a:ea typeface="Calibri"/>
                          <a:cs typeface="Times New Roman"/>
                        </a:rPr>
                        <a:t>= </a:t>
                      </a:r>
                      <a:r>
                        <a:rPr lang="en-US" sz="1400" b="1" dirty="0" err="1">
                          <a:solidFill>
                            <a:srgbClr val="7030A0"/>
                          </a:solidFill>
                          <a:effectLst/>
                          <a:latin typeface="Arial(corps)"/>
                          <a:ea typeface="Calibri"/>
                          <a:cs typeface="Times New Roman"/>
                        </a:rPr>
                        <a:t>scipy.integrate.quad</a:t>
                      </a:r>
                      <a:r>
                        <a:rPr lang="en-US" sz="1400" b="1" dirty="0">
                          <a:solidFill>
                            <a:srgbClr val="7030A0"/>
                          </a:solidFill>
                          <a:effectLst/>
                          <a:latin typeface="Arial(corps)"/>
                          <a:ea typeface="Calibri"/>
                          <a:cs typeface="Times New Roman"/>
                        </a:rPr>
                        <a:t>(</a:t>
                      </a:r>
                      <a:r>
                        <a:rPr lang="en-US" sz="1400" b="1" dirty="0" err="1">
                          <a:solidFill>
                            <a:srgbClr val="7030A0"/>
                          </a:solidFill>
                          <a:effectLst/>
                          <a:latin typeface="Arial(corps)"/>
                          <a:ea typeface="Calibri"/>
                          <a:cs typeface="Times New Roman"/>
                        </a:rPr>
                        <a:t>f,a,b</a:t>
                      </a:r>
                      <a:r>
                        <a:rPr lang="en-US" sz="1400" b="1" dirty="0">
                          <a:solidFill>
                            <a:srgbClr val="7030A0"/>
                          </a:solidFill>
                          <a:effectLst/>
                          <a:latin typeface="Arial(corps)"/>
                          <a:ea typeface="Calibri"/>
                          <a:cs typeface="Times New Roman"/>
                        </a:rPr>
                        <a:t>)</a:t>
                      </a:r>
                      <a:endParaRPr lang="fr-FR" sz="1400" b="1" dirty="0">
                        <a:solidFill>
                          <a:srgbClr val="7030A0"/>
                        </a:solidFill>
                        <a:effectLst/>
                        <a:latin typeface="Arial(corps)"/>
                        <a:ea typeface="Calibri"/>
                        <a:cs typeface="Arial"/>
                      </a:endParaRPr>
                    </a:p>
                    <a:p>
                      <a:pPr>
                        <a:lnSpc>
                          <a:spcPct val="100000"/>
                        </a:lnSpc>
                        <a:spcBef>
                          <a:spcPts val="0"/>
                        </a:spcBef>
                        <a:spcAft>
                          <a:spcPts val="0"/>
                        </a:spcAft>
                      </a:pPr>
                      <a:r>
                        <a:rPr lang="fr-FR" sz="1400" b="1" dirty="0">
                          <a:solidFill>
                            <a:srgbClr val="7030A0"/>
                          </a:solidFill>
                          <a:effectLst/>
                          <a:latin typeface="Arial(corps)"/>
                          <a:ea typeface="Calibri"/>
                          <a:cs typeface="Times New Roman"/>
                        </a:rPr>
                        <a:t>f : la fonction à intégrer</a:t>
                      </a:r>
                      <a:endParaRPr lang="fr-FR" sz="1400" b="1" dirty="0">
                        <a:solidFill>
                          <a:srgbClr val="7030A0"/>
                        </a:solidFill>
                        <a:effectLst/>
                        <a:latin typeface="Arial(corps)"/>
                        <a:ea typeface="Calibri"/>
                        <a:cs typeface="Arial"/>
                      </a:endParaRPr>
                    </a:p>
                    <a:p>
                      <a:pPr>
                        <a:lnSpc>
                          <a:spcPct val="100000"/>
                        </a:lnSpc>
                        <a:spcBef>
                          <a:spcPts val="0"/>
                        </a:spcBef>
                        <a:spcAft>
                          <a:spcPts val="0"/>
                        </a:spcAft>
                      </a:pPr>
                      <a:r>
                        <a:rPr lang="fr-FR" sz="1400" b="1" dirty="0">
                          <a:solidFill>
                            <a:srgbClr val="7030A0"/>
                          </a:solidFill>
                          <a:effectLst/>
                          <a:latin typeface="Arial(corps)"/>
                          <a:ea typeface="Calibri"/>
                          <a:cs typeface="Times New Roman"/>
                        </a:rPr>
                        <a:t>x : c’est la valeur de l’intégrale</a:t>
                      </a:r>
                      <a:endParaRPr lang="fr-FR" sz="1400" b="1" dirty="0">
                        <a:solidFill>
                          <a:srgbClr val="7030A0"/>
                        </a:solidFill>
                        <a:effectLst/>
                        <a:latin typeface="Arial(corps)"/>
                        <a:ea typeface="Calibri"/>
                        <a:cs typeface="Arial"/>
                      </a:endParaRPr>
                    </a:p>
                    <a:p>
                      <a:pPr>
                        <a:lnSpc>
                          <a:spcPct val="100000"/>
                        </a:lnSpc>
                        <a:spcBef>
                          <a:spcPts val="0"/>
                        </a:spcBef>
                        <a:spcAft>
                          <a:spcPts val="0"/>
                        </a:spcAft>
                      </a:pPr>
                      <a:r>
                        <a:rPr lang="fr-FR" sz="1400" b="1" dirty="0">
                          <a:solidFill>
                            <a:srgbClr val="7030A0"/>
                          </a:solidFill>
                          <a:effectLst/>
                          <a:latin typeface="Arial(corps)"/>
                          <a:ea typeface="Calibri"/>
                          <a:cs typeface="Times New Roman"/>
                        </a:rPr>
                        <a:t>y : c’est l’erreur de calcul</a:t>
                      </a:r>
                      <a:endParaRPr lang="fr-FR" sz="1400" b="1" dirty="0">
                        <a:solidFill>
                          <a:srgbClr val="7030A0"/>
                        </a:solidFill>
                        <a:effectLst/>
                        <a:latin typeface="Arial(corps)"/>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en-US" sz="1400" b="1" dirty="0">
                          <a:solidFill>
                            <a:srgbClr val="0000FF"/>
                          </a:solidFill>
                          <a:effectLst/>
                          <a:latin typeface="Arial(corps)"/>
                          <a:ea typeface="Times New Roman"/>
                          <a:cs typeface="Arial"/>
                        </a:rPr>
                        <a:t>» </a:t>
                      </a:r>
                      <a:r>
                        <a:rPr lang="en-US" sz="1400" b="1" dirty="0" err="1">
                          <a:solidFill>
                            <a:srgbClr val="0000FF"/>
                          </a:solidFill>
                          <a:effectLst/>
                          <a:latin typeface="Arial(corps)"/>
                          <a:ea typeface="Calibri"/>
                          <a:cs typeface="Arial"/>
                        </a:rPr>
                        <a:t>i,j</a:t>
                      </a:r>
                      <a:r>
                        <a:rPr lang="en-US" sz="1400" b="1" dirty="0">
                          <a:solidFill>
                            <a:srgbClr val="0000FF"/>
                          </a:solidFill>
                          <a:effectLst/>
                          <a:latin typeface="Arial(corps)"/>
                          <a:ea typeface="Calibri"/>
                          <a:cs typeface="Arial"/>
                        </a:rPr>
                        <a:t>=</a:t>
                      </a:r>
                      <a:r>
                        <a:rPr lang="en-US" sz="1400" b="1" dirty="0" err="1">
                          <a:solidFill>
                            <a:srgbClr val="0000FF"/>
                          </a:solidFill>
                          <a:effectLst/>
                          <a:latin typeface="Arial(corps)"/>
                          <a:ea typeface="Calibri"/>
                          <a:cs typeface="Arial"/>
                        </a:rPr>
                        <a:t>scipy.integrate.quad</a:t>
                      </a:r>
                      <a:r>
                        <a:rPr lang="en-US" sz="1400" b="1" dirty="0">
                          <a:solidFill>
                            <a:srgbClr val="0000FF"/>
                          </a:solidFill>
                          <a:effectLst/>
                          <a:latin typeface="Arial(corps)"/>
                          <a:ea typeface="Calibri"/>
                          <a:cs typeface="Arial"/>
                        </a:rPr>
                        <a:t>(sin,1,4)</a:t>
                      </a:r>
                      <a:endParaRPr lang="fr-FR" sz="1400" b="1" dirty="0">
                        <a:solidFill>
                          <a:srgbClr val="0000FF"/>
                        </a:solidFill>
                        <a:effectLst/>
                        <a:latin typeface="Arial(corps)"/>
                        <a:ea typeface="Calibri"/>
                        <a:cs typeface="Arial"/>
                      </a:endParaRPr>
                    </a:p>
                    <a:p>
                      <a:pPr>
                        <a:lnSpc>
                          <a:spcPct val="100000"/>
                        </a:lnSpc>
                        <a:spcBef>
                          <a:spcPts val="0"/>
                        </a:spcBef>
                        <a:spcAft>
                          <a:spcPts val="0"/>
                        </a:spcAft>
                      </a:pPr>
                      <a:r>
                        <a:rPr lang="fr-FR" sz="1400" b="1" dirty="0">
                          <a:solidFill>
                            <a:srgbClr val="0000FF"/>
                          </a:solidFill>
                          <a:effectLst/>
                          <a:latin typeface="Arial(corps)"/>
                          <a:ea typeface="Calibri"/>
                          <a:cs typeface="Arial"/>
                        </a:rPr>
                        <a:t>1.19394592673   2.0888914827e-14</a:t>
                      </a: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814191">
                <a:tc>
                  <a:txBody>
                    <a:bodyPr/>
                    <a:lstStyle/>
                    <a:p>
                      <a:pPr>
                        <a:lnSpc>
                          <a:spcPct val="100000"/>
                        </a:lnSpc>
                        <a:spcBef>
                          <a:spcPts val="0"/>
                        </a:spcBef>
                        <a:spcAft>
                          <a:spcPts val="0"/>
                        </a:spcAft>
                      </a:pPr>
                      <a:r>
                        <a:rPr lang="fr-FR" sz="1400" b="1">
                          <a:effectLst/>
                          <a:latin typeface="Arial(corps)"/>
                          <a:ea typeface="Calibri"/>
                          <a:cs typeface="Times New Roman"/>
                        </a:rPr>
                        <a:t>romberg</a:t>
                      </a:r>
                      <a:endParaRPr lang="fr-FR" sz="1400">
                        <a:effectLst/>
                        <a:latin typeface="Arial(corps)"/>
                        <a:ea typeface="Calibri"/>
                        <a:cs typeface="Arial"/>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fr-FR" sz="1400" dirty="0">
                          <a:effectLst/>
                          <a:latin typeface="Arial(corps)"/>
                          <a:ea typeface="Calibri"/>
                          <a:cs typeface="Times New Roman"/>
                        </a:rPr>
                        <a:t>Calcule l’intégrale d’une </a:t>
                      </a:r>
                      <a:r>
                        <a:rPr lang="fr-FR" sz="1400" b="1" i="1" u="sng" dirty="0">
                          <a:effectLst/>
                          <a:latin typeface="Arial(corps)"/>
                          <a:ea typeface="Calibri"/>
                          <a:cs typeface="Times New Roman"/>
                        </a:rPr>
                        <a:t>fonction</a:t>
                      </a:r>
                      <a:r>
                        <a:rPr lang="fr-FR" sz="1400" dirty="0">
                          <a:effectLst/>
                          <a:latin typeface="Arial(corps)"/>
                          <a:ea typeface="Calibri"/>
                          <a:cs typeface="Times New Roman"/>
                        </a:rPr>
                        <a:t> entre a et b avec la méthode de </a:t>
                      </a:r>
                      <a:r>
                        <a:rPr lang="fr-FR" sz="1400" dirty="0" err="1">
                          <a:effectLst/>
                          <a:latin typeface="Arial(corps)"/>
                          <a:ea typeface="Calibri"/>
                          <a:cs typeface="Times New Roman"/>
                        </a:rPr>
                        <a:t>Romberg</a:t>
                      </a:r>
                      <a:r>
                        <a:rPr lang="fr-FR" sz="1400" dirty="0">
                          <a:effectLst/>
                          <a:latin typeface="Arial(corps)"/>
                          <a:ea typeface="Calibri"/>
                          <a:cs typeface="Times New Roman"/>
                        </a:rPr>
                        <a:t>.</a:t>
                      </a:r>
                      <a:endParaRPr lang="fr-FR" sz="1400" dirty="0">
                        <a:effectLst/>
                        <a:latin typeface="Arial(corps)"/>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en-US" sz="1400" b="1" dirty="0" smtClean="0">
                          <a:solidFill>
                            <a:srgbClr val="7030A0"/>
                          </a:solidFill>
                          <a:effectLst/>
                          <a:latin typeface="Arial(corps)"/>
                          <a:ea typeface="Calibri"/>
                          <a:cs typeface="Times New Roman"/>
                        </a:rPr>
                        <a:t>x=</a:t>
                      </a:r>
                      <a:r>
                        <a:rPr lang="en-US" sz="1400" b="1" dirty="0" err="1" smtClean="0">
                          <a:solidFill>
                            <a:srgbClr val="7030A0"/>
                          </a:solidFill>
                          <a:effectLst/>
                          <a:latin typeface="Arial(corps)"/>
                          <a:ea typeface="Calibri"/>
                          <a:cs typeface="Times New Roman"/>
                        </a:rPr>
                        <a:t>scipy.integrate.romberg</a:t>
                      </a:r>
                      <a:r>
                        <a:rPr lang="en-US" sz="1400" b="1" dirty="0" smtClean="0">
                          <a:solidFill>
                            <a:srgbClr val="7030A0"/>
                          </a:solidFill>
                          <a:effectLst/>
                          <a:latin typeface="Arial(corps)"/>
                          <a:ea typeface="Calibri"/>
                          <a:cs typeface="Times New Roman"/>
                        </a:rPr>
                        <a:t>(</a:t>
                      </a:r>
                      <a:r>
                        <a:rPr lang="en-US" sz="1400" b="1" dirty="0" err="1" smtClean="0">
                          <a:solidFill>
                            <a:srgbClr val="7030A0"/>
                          </a:solidFill>
                          <a:effectLst/>
                          <a:latin typeface="Arial(corps)"/>
                          <a:ea typeface="Calibri"/>
                          <a:cs typeface="Times New Roman"/>
                        </a:rPr>
                        <a:t>f,a,b</a:t>
                      </a:r>
                      <a:r>
                        <a:rPr lang="en-US" sz="1400" b="1" dirty="0">
                          <a:solidFill>
                            <a:srgbClr val="7030A0"/>
                          </a:solidFill>
                          <a:effectLst/>
                          <a:latin typeface="Arial(corps)"/>
                          <a:ea typeface="Calibri"/>
                          <a:cs typeface="Times New Roman"/>
                        </a:rPr>
                        <a:t>)</a:t>
                      </a:r>
                      <a:endParaRPr lang="fr-FR" sz="1400" b="1" dirty="0">
                        <a:solidFill>
                          <a:srgbClr val="7030A0"/>
                        </a:solidFill>
                        <a:effectLst/>
                        <a:latin typeface="Arial(corps)"/>
                        <a:ea typeface="Calibri"/>
                        <a:cs typeface="Arial"/>
                      </a:endParaRPr>
                    </a:p>
                    <a:p>
                      <a:pPr>
                        <a:lnSpc>
                          <a:spcPct val="100000"/>
                        </a:lnSpc>
                        <a:spcBef>
                          <a:spcPts val="0"/>
                        </a:spcBef>
                        <a:spcAft>
                          <a:spcPts val="0"/>
                        </a:spcAft>
                      </a:pPr>
                      <a:r>
                        <a:rPr lang="fr-FR" sz="1400" b="1" dirty="0">
                          <a:solidFill>
                            <a:srgbClr val="7030A0"/>
                          </a:solidFill>
                          <a:effectLst/>
                          <a:latin typeface="Arial(corps)"/>
                          <a:ea typeface="Calibri"/>
                          <a:cs typeface="Times New Roman"/>
                        </a:rPr>
                        <a:t>f : la fonction à intégrer</a:t>
                      </a:r>
                      <a:endParaRPr lang="fr-FR" sz="1400" b="1" dirty="0">
                        <a:solidFill>
                          <a:srgbClr val="7030A0"/>
                        </a:solidFill>
                        <a:effectLst/>
                        <a:latin typeface="Arial(corps)"/>
                        <a:ea typeface="Calibri"/>
                        <a:cs typeface="Arial"/>
                      </a:endParaRPr>
                    </a:p>
                    <a:p>
                      <a:pPr>
                        <a:lnSpc>
                          <a:spcPct val="100000"/>
                        </a:lnSpc>
                        <a:spcBef>
                          <a:spcPts val="0"/>
                        </a:spcBef>
                        <a:spcAft>
                          <a:spcPts val="0"/>
                        </a:spcAft>
                      </a:pPr>
                      <a:r>
                        <a:rPr lang="fr-FR" sz="1400" b="1" dirty="0">
                          <a:solidFill>
                            <a:srgbClr val="7030A0"/>
                          </a:solidFill>
                          <a:effectLst/>
                          <a:latin typeface="Arial(corps)"/>
                          <a:ea typeface="Calibri"/>
                          <a:cs typeface="Times New Roman"/>
                        </a:rPr>
                        <a:t>x : c’est la valeur de l’intégrale</a:t>
                      </a:r>
                      <a:endParaRPr lang="fr-FR" sz="1400" b="1" dirty="0">
                        <a:solidFill>
                          <a:srgbClr val="7030A0"/>
                        </a:solidFill>
                        <a:effectLst/>
                        <a:latin typeface="Arial(corps)"/>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fr-FR" sz="1400" b="1" dirty="0">
                          <a:solidFill>
                            <a:srgbClr val="0000FF"/>
                          </a:solidFill>
                          <a:effectLst/>
                          <a:latin typeface="Arial(corps)"/>
                          <a:ea typeface="Times New Roman"/>
                          <a:cs typeface="Arial"/>
                        </a:rPr>
                        <a:t>» </a:t>
                      </a:r>
                      <a:r>
                        <a:rPr lang="fr-FR" sz="1400" b="1" dirty="0" err="1">
                          <a:solidFill>
                            <a:srgbClr val="0000FF"/>
                          </a:solidFill>
                          <a:effectLst/>
                          <a:latin typeface="Arial(corps)"/>
                          <a:ea typeface="Calibri"/>
                          <a:cs typeface="Arial"/>
                        </a:rPr>
                        <a:t>scipy.integrate.romberg</a:t>
                      </a:r>
                      <a:r>
                        <a:rPr lang="fr-FR" sz="1400" b="1" dirty="0">
                          <a:solidFill>
                            <a:srgbClr val="0000FF"/>
                          </a:solidFill>
                          <a:effectLst/>
                          <a:latin typeface="Arial(corps)"/>
                          <a:ea typeface="Calibri"/>
                          <a:cs typeface="Arial"/>
                        </a:rPr>
                        <a:t>(sin,1,4)</a:t>
                      </a:r>
                    </a:p>
                    <a:p>
                      <a:pPr>
                        <a:lnSpc>
                          <a:spcPct val="100000"/>
                        </a:lnSpc>
                        <a:spcBef>
                          <a:spcPts val="0"/>
                        </a:spcBef>
                        <a:spcAft>
                          <a:spcPts val="0"/>
                        </a:spcAft>
                      </a:pPr>
                      <a:r>
                        <a:rPr lang="fr-FR" sz="1400" b="1" dirty="0">
                          <a:solidFill>
                            <a:srgbClr val="0000FF"/>
                          </a:solidFill>
                          <a:effectLst/>
                          <a:latin typeface="Arial(corps)"/>
                          <a:ea typeface="Calibri"/>
                          <a:cs typeface="Arial"/>
                        </a:rPr>
                        <a:t>1.1939459267321892</a:t>
                      </a: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1542220">
                <a:tc>
                  <a:txBody>
                    <a:bodyPr/>
                    <a:lstStyle/>
                    <a:p>
                      <a:pPr>
                        <a:lnSpc>
                          <a:spcPct val="100000"/>
                        </a:lnSpc>
                        <a:spcBef>
                          <a:spcPts val="0"/>
                        </a:spcBef>
                        <a:spcAft>
                          <a:spcPts val="0"/>
                        </a:spcAft>
                      </a:pPr>
                      <a:r>
                        <a:rPr lang="fr-FR" sz="1400" b="1">
                          <a:effectLst/>
                          <a:latin typeface="Arial(corps)"/>
                          <a:ea typeface="Calibri"/>
                          <a:cs typeface="Times New Roman"/>
                        </a:rPr>
                        <a:t>simps</a:t>
                      </a:r>
                      <a:endParaRPr lang="fr-FR" sz="1400">
                        <a:effectLst/>
                        <a:latin typeface="Arial(corps)"/>
                        <a:ea typeface="Calibri"/>
                        <a:cs typeface="Arial"/>
                      </a:endParaRPr>
                    </a:p>
                    <a:p>
                      <a:pPr>
                        <a:lnSpc>
                          <a:spcPct val="100000"/>
                        </a:lnSpc>
                        <a:spcBef>
                          <a:spcPts val="0"/>
                        </a:spcBef>
                        <a:spcAft>
                          <a:spcPts val="0"/>
                        </a:spcAft>
                      </a:pPr>
                      <a:r>
                        <a:rPr lang="fr-FR" sz="1400" b="1">
                          <a:effectLst/>
                          <a:latin typeface="Arial(corps)"/>
                          <a:ea typeface="Calibri"/>
                          <a:cs typeface="Times New Roman"/>
                        </a:rPr>
                        <a:t>trapz</a:t>
                      </a:r>
                      <a:endParaRPr lang="fr-FR" sz="1400">
                        <a:effectLst/>
                        <a:latin typeface="Arial(corps)"/>
                        <a:ea typeface="Calibri"/>
                        <a:cs typeface="Arial"/>
                      </a:endParaRPr>
                    </a:p>
                    <a:p>
                      <a:pPr>
                        <a:lnSpc>
                          <a:spcPct val="100000"/>
                        </a:lnSpc>
                        <a:spcBef>
                          <a:spcPts val="0"/>
                        </a:spcBef>
                        <a:spcAft>
                          <a:spcPts val="0"/>
                        </a:spcAft>
                      </a:pPr>
                      <a:r>
                        <a:rPr lang="fr-FR" sz="1400" b="1">
                          <a:effectLst/>
                          <a:latin typeface="Arial(corps)"/>
                          <a:ea typeface="Calibri"/>
                          <a:cs typeface="Times New Roman"/>
                        </a:rPr>
                        <a:t> </a:t>
                      </a:r>
                      <a:endParaRPr lang="fr-FR" sz="1400">
                        <a:effectLst/>
                        <a:latin typeface="Arial(corps)"/>
                        <a:ea typeface="Calibri"/>
                        <a:cs typeface="Arial"/>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fr-FR" sz="1400">
                          <a:effectLst/>
                          <a:latin typeface="Arial(corps)"/>
                          <a:ea typeface="Calibri"/>
                          <a:cs typeface="Times New Roman"/>
                        </a:rPr>
                        <a:t>Calcule l’intégrale d’un </a:t>
                      </a:r>
                      <a:r>
                        <a:rPr lang="fr-FR" sz="1400" b="1" i="1" u="sng">
                          <a:effectLst/>
                          <a:latin typeface="Arial(corps)"/>
                          <a:ea typeface="Calibri"/>
                          <a:cs typeface="Times New Roman"/>
                        </a:rPr>
                        <a:t>tableau de valeurs</a:t>
                      </a:r>
                      <a:r>
                        <a:rPr lang="fr-FR" sz="1400">
                          <a:effectLst/>
                          <a:latin typeface="Arial(corps)"/>
                          <a:ea typeface="Calibri"/>
                          <a:cs typeface="Times New Roman"/>
                        </a:rPr>
                        <a:t> passé en paramètre avec les abscisses de ces valeurs.</a:t>
                      </a:r>
                      <a:endParaRPr lang="fr-FR" sz="1400">
                        <a:effectLst/>
                        <a:latin typeface="Arial(corps)"/>
                        <a:ea typeface="Calibri"/>
                        <a:cs typeface="Arial"/>
                      </a:endParaRPr>
                    </a:p>
                    <a:p>
                      <a:pPr>
                        <a:lnSpc>
                          <a:spcPct val="100000"/>
                        </a:lnSpc>
                        <a:spcBef>
                          <a:spcPts val="0"/>
                        </a:spcBef>
                        <a:spcAft>
                          <a:spcPts val="0"/>
                        </a:spcAft>
                      </a:pPr>
                      <a:r>
                        <a:rPr lang="fr-FR" sz="1400">
                          <a:effectLst/>
                          <a:latin typeface="Arial(corps)"/>
                          <a:ea typeface="Calibri"/>
                          <a:cs typeface="Times New Roman"/>
                        </a:rPr>
                        <a:t>Les méthodes utilisées sont respectivement : Simpson et trapèzes.</a:t>
                      </a:r>
                      <a:endParaRPr lang="fr-FR" sz="1400">
                        <a:effectLst/>
                        <a:latin typeface="Arial(corps)"/>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fr-FR" sz="1400" b="1" dirty="0">
                          <a:solidFill>
                            <a:srgbClr val="7030A0"/>
                          </a:solidFill>
                          <a:effectLst/>
                          <a:latin typeface="Arial(corps)"/>
                          <a:ea typeface="Calibri"/>
                          <a:cs typeface="Times New Roman"/>
                        </a:rPr>
                        <a:t>x= </a:t>
                      </a:r>
                      <a:r>
                        <a:rPr lang="fr-FR" sz="1400" b="1" dirty="0" err="1">
                          <a:solidFill>
                            <a:srgbClr val="7030A0"/>
                          </a:solidFill>
                          <a:effectLst/>
                          <a:latin typeface="Arial(corps)"/>
                          <a:ea typeface="Calibri"/>
                          <a:cs typeface="Times New Roman"/>
                        </a:rPr>
                        <a:t>scipy.integrate.simps</a:t>
                      </a:r>
                      <a:r>
                        <a:rPr lang="fr-FR" sz="1400" b="1" dirty="0">
                          <a:solidFill>
                            <a:srgbClr val="7030A0"/>
                          </a:solidFill>
                          <a:effectLst/>
                          <a:latin typeface="Arial(corps)"/>
                          <a:ea typeface="Calibri"/>
                          <a:cs typeface="Times New Roman"/>
                        </a:rPr>
                        <a:t>(t1,t2)</a:t>
                      </a:r>
                      <a:endParaRPr lang="fr-FR" sz="1400" b="1" dirty="0">
                        <a:solidFill>
                          <a:srgbClr val="7030A0"/>
                        </a:solidFill>
                        <a:effectLst/>
                        <a:latin typeface="Arial(corps)"/>
                        <a:ea typeface="Calibri"/>
                        <a:cs typeface="Arial"/>
                      </a:endParaRPr>
                    </a:p>
                    <a:p>
                      <a:pPr>
                        <a:lnSpc>
                          <a:spcPct val="100000"/>
                        </a:lnSpc>
                        <a:spcBef>
                          <a:spcPts val="0"/>
                        </a:spcBef>
                        <a:spcAft>
                          <a:spcPts val="0"/>
                        </a:spcAft>
                      </a:pPr>
                      <a:r>
                        <a:rPr lang="fr-FR" sz="1400" b="1" dirty="0">
                          <a:solidFill>
                            <a:srgbClr val="7030A0"/>
                          </a:solidFill>
                          <a:effectLst/>
                          <a:latin typeface="Arial(corps)"/>
                          <a:ea typeface="Calibri"/>
                          <a:cs typeface="Times New Roman"/>
                        </a:rPr>
                        <a:t>x= </a:t>
                      </a:r>
                      <a:r>
                        <a:rPr lang="fr-FR" sz="1400" b="1" dirty="0" err="1">
                          <a:solidFill>
                            <a:srgbClr val="7030A0"/>
                          </a:solidFill>
                          <a:effectLst/>
                          <a:latin typeface="Arial(corps)"/>
                          <a:ea typeface="Calibri"/>
                          <a:cs typeface="Times New Roman"/>
                        </a:rPr>
                        <a:t>scipy.integrate.trapz</a:t>
                      </a:r>
                      <a:r>
                        <a:rPr lang="fr-FR" sz="1400" b="1" dirty="0">
                          <a:solidFill>
                            <a:srgbClr val="7030A0"/>
                          </a:solidFill>
                          <a:effectLst/>
                          <a:latin typeface="Arial(corps)"/>
                          <a:ea typeface="Calibri"/>
                          <a:cs typeface="Times New Roman"/>
                        </a:rPr>
                        <a:t>(t1,t2)</a:t>
                      </a:r>
                      <a:endParaRPr lang="fr-FR" sz="1400" b="1" dirty="0">
                        <a:solidFill>
                          <a:srgbClr val="7030A0"/>
                        </a:solidFill>
                        <a:effectLst/>
                        <a:latin typeface="Arial(corps)"/>
                        <a:ea typeface="Calibri"/>
                        <a:cs typeface="Arial"/>
                      </a:endParaRPr>
                    </a:p>
                    <a:p>
                      <a:pPr>
                        <a:lnSpc>
                          <a:spcPct val="100000"/>
                        </a:lnSpc>
                        <a:spcBef>
                          <a:spcPts val="0"/>
                        </a:spcBef>
                        <a:spcAft>
                          <a:spcPts val="0"/>
                        </a:spcAft>
                      </a:pPr>
                      <a:r>
                        <a:rPr lang="fr-FR" sz="1400" b="1" dirty="0">
                          <a:solidFill>
                            <a:srgbClr val="7030A0"/>
                          </a:solidFill>
                          <a:effectLst/>
                          <a:latin typeface="Arial(corps)"/>
                          <a:ea typeface="Calibri"/>
                          <a:cs typeface="Times New Roman"/>
                        </a:rPr>
                        <a:t>t2 : tableau des abscisses</a:t>
                      </a:r>
                      <a:endParaRPr lang="fr-FR" sz="1400" b="1" dirty="0">
                        <a:solidFill>
                          <a:srgbClr val="7030A0"/>
                        </a:solidFill>
                        <a:effectLst/>
                        <a:latin typeface="Arial(corps)"/>
                        <a:ea typeface="Calibri"/>
                        <a:cs typeface="Arial"/>
                      </a:endParaRPr>
                    </a:p>
                    <a:p>
                      <a:pPr>
                        <a:lnSpc>
                          <a:spcPct val="100000"/>
                        </a:lnSpc>
                        <a:spcBef>
                          <a:spcPts val="0"/>
                        </a:spcBef>
                        <a:spcAft>
                          <a:spcPts val="0"/>
                        </a:spcAft>
                      </a:pPr>
                      <a:r>
                        <a:rPr lang="fr-FR" sz="1400" b="1" dirty="0">
                          <a:solidFill>
                            <a:srgbClr val="7030A0"/>
                          </a:solidFill>
                          <a:effectLst/>
                          <a:latin typeface="Arial(corps)"/>
                          <a:ea typeface="Calibri"/>
                          <a:cs typeface="Times New Roman"/>
                        </a:rPr>
                        <a:t>t1 :</a:t>
                      </a:r>
                      <a:r>
                        <a:rPr lang="fr-FR" sz="1400" b="1" dirty="0">
                          <a:solidFill>
                            <a:srgbClr val="7030A0"/>
                          </a:solidFill>
                          <a:effectLst/>
                          <a:latin typeface="Arial(corps)"/>
                          <a:ea typeface="Calibri"/>
                          <a:cs typeface="Arial"/>
                        </a:rPr>
                        <a:t> </a:t>
                      </a:r>
                      <a:r>
                        <a:rPr lang="fr-FR" sz="1400" b="1" dirty="0">
                          <a:solidFill>
                            <a:srgbClr val="7030A0"/>
                          </a:solidFill>
                          <a:effectLst/>
                          <a:latin typeface="Arial(corps)"/>
                          <a:ea typeface="Calibri"/>
                          <a:cs typeface="Times New Roman"/>
                        </a:rPr>
                        <a:t>tableau de valeurs en les points de t2</a:t>
                      </a:r>
                      <a:endParaRPr lang="fr-FR" sz="1400" b="1" dirty="0">
                        <a:solidFill>
                          <a:srgbClr val="7030A0"/>
                        </a:solidFill>
                        <a:effectLst/>
                        <a:latin typeface="Arial(corps)"/>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00000"/>
                        </a:lnSpc>
                        <a:spcBef>
                          <a:spcPts val="0"/>
                        </a:spcBef>
                        <a:spcAft>
                          <a:spcPts val="0"/>
                        </a:spcAft>
                      </a:pPr>
                      <a:r>
                        <a:rPr lang="en-US" sz="1400" b="1" dirty="0" err="1">
                          <a:solidFill>
                            <a:srgbClr val="0000FF"/>
                          </a:solidFill>
                          <a:effectLst/>
                          <a:latin typeface="Arial(corps)"/>
                          <a:ea typeface="Times New Roman"/>
                          <a:cs typeface="Arial"/>
                        </a:rPr>
                        <a:t>def</a:t>
                      </a:r>
                      <a:r>
                        <a:rPr lang="en-US" sz="1400" b="1" dirty="0">
                          <a:solidFill>
                            <a:srgbClr val="0000FF"/>
                          </a:solidFill>
                          <a:effectLst/>
                          <a:latin typeface="Arial(corps)"/>
                          <a:ea typeface="Times New Roman"/>
                          <a:cs typeface="Arial"/>
                        </a:rPr>
                        <a:t> f(x):</a:t>
                      </a:r>
                      <a:endParaRPr lang="fr-FR" sz="1400" b="1" dirty="0">
                        <a:solidFill>
                          <a:srgbClr val="0000FF"/>
                        </a:solidFill>
                        <a:effectLst/>
                        <a:latin typeface="Arial(corps)"/>
                        <a:ea typeface="Calibri"/>
                        <a:cs typeface="Arial"/>
                      </a:endParaRPr>
                    </a:p>
                    <a:p>
                      <a:pPr>
                        <a:lnSpc>
                          <a:spcPct val="100000"/>
                        </a:lnSpc>
                        <a:spcBef>
                          <a:spcPts val="0"/>
                        </a:spcBef>
                        <a:spcAft>
                          <a:spcPts val="0"/>
                        </a:spcAft>
                      </a:pPr>
                      <a:r>
                        <a:rPr lang="en-US" sz="1400" b="1" dirty="0">
                          <a:solidFill>
                            <a:srgbClr val="0000FF"/>
                          </a:solidFill>
                          <a:effectLst/>
                          <a:latin typeface="Arial(corps)"/>
                          <a:ea typeface="Times New Roman"/>
                          <a:cs typeface="Arial"/>
                        </a:rPr>
                        <a:t>    return 1/(1+x**2)</a:t>
                      </a:r>
                      <a:endParaRPr lang="fr-FR" sz="1400" b="1" dirty="0">
                        <a:solidFill>
                          <a:srgbClr val="0000FF"/>
                        </a:solidFill>
                        <a:effectLst/>
                        <a:latin typeface="Arial(corps)"/>
                        <a:ea typeface="Calibri"/>
                        <a:cs typeface="Arial"/>
                      </a:endParaRPr>
                    </a:p>
                    <a:p>
                      <a:pPr>
                        <a:lnSpc>
                          <a:spcPct val="100000"/>
                        </a:lnSpc>
                        <a:spcBef>
                          <a:spcPts val="0"/>
                        </a:spcBef>
                        <a:spcAft>
                          <a:spcPts val="0"/>
                        </a:spcAft>
                      </a:pPr>
                      <a:r>
                        <a:rPr lang="fr-FR" sz="1400" b="1" dirty="0">
                          <a:solidFill>
                            <a:srgbClr val="0000FF"/>
                          </a:solidFill>
                          <a:effectLst/>
                          <a:latin typeface="Arial(corps)"/>
                          <a:ea typeface="Times New Roman"/>
                          <a:cs typeface="Arial"/>
                        </a:rPr>
                        <a:t>x = </a:t>
                      </a:r>
                      <a:r>
                        <a:rPr lang="fr-FR" sz="1400" b="1" dirty="0" err="1">
                          <a:solidFill>
                            <a:srgbClr val="0000FF"/>
                          </a:solidFill>
                          <a:effectLst/>
                          <a:latin typeface="Arial(corps)"/>
                          <a:ea typeface="Times New Roman"/>
                          <a:cs typeface="Arial"/>
                        </a:rPr>
                        <a:t>numpy.linspace</a:t>
                      </a:r>
                      <a:r>
                        <a:rPr lang="fr-FR" sz="1400" b="1" dirty="0">
                          <a:solidFill>
                            <a:srgbClr val="0000FF"/>
                          </a:solidFill>
                          <a:effectLst/>
                          <a:latin typeface="Arial(corps)"/>
                          <a:ea typeface="Times New Roman"/>
                          <a:cs typeface="Arial"/>
                        </a:rPr>
                        <a:t>(0,20,100)</a:t>
                      </a:r>
                      <a:endParaRPr lang="fr-FR" sz="1400" b="1" dirty="0">
                        <a:solidFill>
                          <a:srgbClr val="0000FF"/>
                        </a:solidFill>
                        <a:effectLst/>
                        <a:latin typeface="Arial(corps)"/>
                        <a:ea typeface="Calibri"/>
                        <a:cs typeface="Arial"/>
                      </a:endParaRPr>
                    </a:p>
                    <a:p>
                      <a:pPr>
                        <a:lnSpc>
                          <a:spcPct val="100000"/>
                        </a:lnSpc>
                        <a:spcBef>
                          <a:spcPts val="0"/>
                        </a:spcBef>
                        <a:spcAft>
                          <a:spcPts val="0"/>
                        </a:spcAft>
                      </a:pPr>
                      <a:r>
                        <a:rPr lang="fr-FR" sz="1400" b="1" dirty="0">
                          <a:solidFill>
                            <a:srgbClr val="0000FF"/>
                          </a:solidFill>
                          <a:effectLst/>
                          <a:latin typeface="Arial(corps)"/>
                          <a:ea typeface="Times New Roman"/>
                          <a:cs typeface="Arial"/>
                        </a:rPr>
                        <a:t>v=</a:t>
                      </a:r>
                      <a:r>
                        <a:rPr lang="fr-FR" sz="1400" b="1" dirty="0" err="1">
                          <a:solidFill>
                            <a:srgbClr val="0000FF"/>
                          </a:solidFill>
                          <a:effectLst/>
                          <a:latin typeface="Arial(corps)"/>
                          <a:ea typeface="Times New Roman"/>
                          <a:cs typeface="Arial"/>
                        </a:rPr>
                        <a:t>scipy.integrate.trapz</a:t>
                      </a:r>
                      <a:r>
                        <a:rPr lang="fr-FR" sz="1400" b="1" dirty="0">
                          <a:solidFill>
                            <a:srgbClr val="0000FF"/>
                          </a:solidFill>
                          <a:effectLst/>
                          <a:latin typeface="Arial(corps)"/>
                          <a:ea typeface="Times New Roman"/>
                          <a:cs typeface="Arial"/>
                        </a:rPr>
                        <a:t>(f(x), x)</a:t>
                      </a:r>
                      <a:endParaRPr lang="fr-FR" sz="1400" b="1" dirty="0">
                        <a:solidFill>
                          <a:srgbClr val="0000FF"/>
                        </a:solidFill>
                        <a:effectLst/>
                        <a:latin typeface="Arial(corps)"/>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bl>
          </a:graphicData>
        </a:graphic>
      </p:graphicFrame>
      <p:sp>
        <p:nvSpPr>
          <p:cNvPr id="11"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dirty="0" smtClean="0">
                <a:latin typeface="+mj-lt"/>
              </a:rPr>
              <a:t>Le </a:t>
            </a:r>
            <a:r>
              <a:rPr lang="fr-FR" dirty="0">
                <a:latin typeface="+mj-lt"/>
              </a:rPr>
              <a:t>module  </a:t>
            </a:r>
            <a:r>
              <a:rPr lang="fr-FR" b="1" dirty="0" err="1">
                <a:latin typeface="+mj-lt"/>
              </a:rPr>
              <a:t>scipy.integrate</a:t>
            </a:r>
            <a:r>
              <a:rPr lang="fr-FR" dirty="0">
                <a:latin typeface="+mj-lt"/>
              </a:rPr>
              <a:t> pour les techniques d’intégration</a:t>
            </a:r>
            <a:endParaRPr lang="fr-FR" b="1" dirty="0">
              <a:latin typeface="+mj-lt"/>
            </a:endParaRPr>
          </a:p>
        </p:txBody>
      </p:sp>
    </p:spTree>
    <p:custDataLst>
      <p:tags r:id="rId1"/>
    </p:custDataLst>
    <p:extLst>
      <p:ext uri="{BB962C8B-B14F-4D97-AF65-F5344CB8AC3E}">
        <p14:creationId xmlns:p14="http://schemas.microsoft.com/office/powerpoint/2010/main" val="1445719555"/>
      </p:ext>
    </p:extLst>
  </p:cSld>
  <p:clrMapOvr>
    <a:masterClrMapping/>
  </p:clrMapOvr>
  <p:transition>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Text Box 9"/>
          <p:cNvSpPr txBox="1">
            <a:spLocks noChangeArrowheads="1"/>
          </p:cNvSpPr>
          <p:nvPr/>
        </p:nvSpPr>
        <p:spPr bwMode="auto">
          <a:xfrm>
            <a:off x="971550" y="58738"/>
            <a:ext cx="8172450" cy="369332"/>
          </a:xfrm>
          <a:prstGeom prst="rect">
            <a:avLst/>
          </a:prstGeom>
          <a:noFill/>
          <a:ln w="12700" algn="ctr">
            <a:noFill/>
            <a:miter lim="800000"/>
            <a:headEnd/>
            <a:tailEnd/>
          </a:ln>
        </p:spPr>
        <p:txBody>
          <a:bodyPr>
            <a:spAutoFit/>
          </a:bodyPr>
          <a:lstStyle/>
          <a:p>
            <a:pPr>
              <a:spcBef>
                <a:spcPct val="50000"/>
              </a:spcBef>
            </a:pPr>
            <a:r>
              <a:rPr lang="fr-FR" sz="1800" b="1" dirty="0" smtClean="0">
                <a:solidFill>
                  <a:srgbClr val="000000"/>
                </a:solidFill>
                <a:latin typeface="Arial" pitchFamily="34" charset="0"/>
              </a:rPr>
              <a:t>Les modules</a:t>
            </a:r>
            <a:endParaRPr lang="fr-FR" sz="1800" b="1" dirty="0">
              <a:solidFill>
                <a:srgbClr val="000000"/>
              </a:solidFill>
              <a:latin typeface="Arial" pitchFamily="34" charset="0"/>
            </a:endParaRPr>
          </a:p>
        </p:txBody>
      </p:sp>
      <p:cxnSp>
        <p:nvCxnSpPr>
          <p:cNvPr id="203781"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203782"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203783" name="Triangle isocèle 6"/>
          <p:cNvSpPr>
            <a:spLocks noChangeArrowheads="1"/>
          </p:cNvSpPr>
          <p:nvPr/>
        </p:nvSpPr>
        <p:spPr bwMode="auto">
          <a:xfrm>
            <a:off x="571500" y="1143000"/>
            <a:ext cx="500063" cy="357188"/>
          </a:xfrm>
          <a:prstGeom prst="triangle">
            <a:avLst>
              <a:gd name="adj" fmla="val 50000"/>
            </a:avLst>
          </a:prstGeom>
          <a:noFill/>
          <a:ln w="9525" algn="ctr">
            <a:noFill/>
            <a:round/>
            <a:headEnd/>
            <a:tailEnd/>
          </a:ln>
        </p:spPr>
        <p:txBody>
          <a:bodyPr lIns="90000" tIns="46800" rIns="90000" bIns="46800" anchor="ctr">
            <a:spAutoFit/>
          </a:bodyPr>
          <a:lstStyle/>
          <a:p>
            <a:pPr eaLnBrk="1" hangingPunct="1">
              <a:spcBef>
                <a:spcPct val="50000"/>
              </a:spcBef>
              <a:buClr>
                <a:srgbClr val="336666"/>
              </a:buClr>
              <a:buFont typeface="Wingdings" pitchFamily="2" charset="2"/>
              <a:buNone/>
            </a:pPr>
            <a:endParaRPr lang="fr-FR"/>
          </a:p>
        </p:txBody>
      </p:sp>
      <p:sp>
        <p:nvSpPr>
          <p:cNvPr id="203784" name="Triangle isocèle 8"/>
          <p:cNvSpPr>
            <a:spLocks noChangeArrowheads="1"/>
          </p:cNvSpPr>
          <p:nvPr/>
        </p:nvSpPr>
        <p:spPr bwMode="auto">
          <a:xfrm>
            <a:off x="785813" y="1500188"/>
            <a:ext cx="714375" cy="500062"/>
          </a:xfrm>
          <a:prstGeom prst="triangle">
            <a:avLst>
              <a:gd name="adj" fmla="val 50000"/>
            </a:avLst>
          </a:prstGeom>
          <a:noFill/>
          <a:ln w="9525" algn="ctr">
            <a:noFill/>
            <a:round/>
            <a:headEnd/>
            <a:tailEnd/>
          </a:ln>
        </p:spPr>
        <p:txBody>
          <a:bodyPr lIns="90000" tIns="46800" rIns="90000" bIns="46800" anchor="ctr">
            <a:spAutoFit/>
          </a:bodyPr>
          <a:lstStyle/>
          <a:p>
            <a:pPr eaLnBrk="1" hangingPunct="1">
              <a:spcBef>
                <a:spcPct val="50000"/>
              </a:spcBef>
              <a:buClr>
                <a:srgbClr val="336666"/>
              </a:buClr>
              <a:buFont typeface="Wingdings" pitchFamily="2" charset="2"/>
              <a:buNone/>
            </a:pPr>
            <a:endParaRPr lang="fr-FR"/>
          </a:p>
        </p:txBody>
      </p:sp>
      <p:graphicFrame>
        <p:nvGraphicFramePr>
          <p:cNvPr id="2" name="Tableau 1"/>
          <p:cNvGraphicFramePr>
            <a:graphicFrameLocks noGrp="1"/>
          </p:cNvGraphicFramePr>
          <p:nvPr>
            <p:extLst>
              <p:ext uri="{D42A27DB-BD31-4B8C-83A1-F6EECF244321}">
                <p14:modId xmlns:p14="http://schemas.microsoft.com/office/powerpoint/2010/main" val="3298865682"/>
              </p:ext>
            </p:extLst>
          </p:nvPr>
        </p:nvGraphicFramePr>
        <p:xfrm>
          <a:off x="755470" y="1340710"/>
          <a:ext cx="7777080" cy="2400140"/>
        </p:xfrm>
        <a:graphic>
          <a:graphicData uri="http://schemas.openxmlformats.org/drawingml/2006/table">
            <a:tbl>
              <a:tblPr firstRow="1" firstCol="1" bandRow="1">
                <a:tableStyleId>{284E427A-3D55-4303-BF80-6455036E1DE7}</a:tableStyleId>
              </a:tblPr>
              <a:tblGrid>
                <a:gridCol w="1681799"/>
                <a:gridCol w="6095281"/>
              </a:tblGrid>
              <a:tr h="309696">
                <a:tc>
                  <a:txBody>
                    <a:bodyPr/>
                    <a:lstStyle/>
                    <a:p>
                      <a:pPr>
                        <a:lnSpc>
                          <a:spcPct val="115000"/>
                        </a:lnSpc>
                        <a:spcBef>
                          <a:spcPts val="600"/>
                        </a:spcBef>
                        <a:spcAft>
                          <a:spcPts val="0"/>
                        </a:spcAft>
                      </a:pPr>
                      <a:r>
                        <a:rPr lang="fr-FR" sz="1600" b="1" dirty="0">
                          <a:solidFill>
                            <a:schemeClr val="tx1"/>
                          </a:solidFill>
                          <a:effectLst/>
                          <a:latin typeface="Arial(corps)"/>
                          <a:ea typeface="Calibri"/>
                          <a:cs typeface="Times New Roman"/>
                        </a:rPr>
                        <a:t>plot </a:t>
                      </a:r>
                      <a:endParaRPr lang="fr-FR" sz="2000" b="1" dirty="0">
                        <a:solidFill>
                          <a:schemeClr val="tx1"/>
                        </a:solidFill>
                        <a:effectLst/>
                        <a:latin typeface="Arial(corps)"/>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20955" algn="just">
                        <a:lnSpc>
                          <a:spcPct val="115000"/>
                        </a:lnSpc>
                        <a:spcBef>
                          <a:spcPts val="600"/>
                        </a:spcBef>
                        <a:spcAft>
                          <a:spcPts val="0"/>
                        </a:spcAft>
                      </a:pPr>
                      <a:r>
                        <a:rPr lang="fr-FR" sz="1400" b="1">
                          <a:solidFill>
                            <a:schemeClr val="tx1"/>
                          </a:solidFill>
                          <a:effectLst/>
                          <a:latin typeface="Arial(corps)"/>
                          <a:ea typeface="Calibri"/>
                          <a:cs typeface="Times New Roman"/>
                        </a:rPr>
                        <a:t>pour tracer une courbe à partir d’un tableau de valeurs</a:t>
                      </a:r>
                      <a:endParaRPr lang="fr-FR" sz="1800" b="1">
                        <a:solidFill>
                          <a:schemeClr val="tx1"/>
                        </a:solidFill>
                        <a:effectLst/>
                        <a:latin typeface="Arial(corps)"/>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309696">
                <a:tc>
                  <a:txBody>
                    <a:bodyPr/>
                    <a:lstStyle/>
                    <a:p>
                      <a:pPr>
                        <a:lnSpc>
                          <a:spcPct val="115000"/>
                        </a:lnSpc>
                        <a:spcBef>
                          <a:spcPts val="600"/>
                        </a:spcBef>
                        <a:spcAft>
                          <a:spcPts val="0"/>
                        </a:spcAft>
                      </a:pPr>
                      <a:r>
                        <a:rPr lang="fr-FR" sz="1600" b="1">
                          <a:solidFill>
                            <a:schemeClr val="tx1"/>
                          </a:solidFill>
                          <a:effectLst/>
                          <a:latin typeface="Arial(corps)"/>
                          <a:ea typeface="Calibri"/>
                          <a:cs typeface="Times New Roman"/>
                        </a:rPr>
                        <a:t>show </a:t>
                      </a:r>
                      <a:endParaRPr lang="fr-FR" sz="2000" b="1">
                        <a:solidFill>
                          <a:schemeClr val="tx1"/>
                        </a:solidFill>
                        <a:effectLst/>
                        <a:latin typeface="Arial(corps)"/>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20955" algn="just">
                        <a:lnSpc>
                          <a:spcPct val="115000"/>
                        </a:lnSpc>
                        <a:spcBef>
                          <a:spcPts val="600"/>
                        </a:spcBef>
                        <a:spcAft>
                          <a:spcPts val="0"/>
                        </a:spcAft>
                      </a:pPr>
                      <a:r>
                        <a:rPr lang="fr-FR" sz="1400" b="1" dirty="0">
                          <a:solidFill>
                            <a:schemeClr val="tx1"/>
                          </a:solidFill>
                          <a:effectLst/>
                          <a:latin typeface="Arial(corps)"/>
                          <a:ea typeface="Calibri"/>
                          <a:cs typeface="Times New Roman"/>
                        </a:rPr>
                        <a:t>pour ouvrir une fenêtre et afficher l’image créée</a:t>
                      </a:r>
                      <a:endParaRPr lang="fr-FR" sz="1800" b="1" dirty="0">
                        <a:solidFill>
                          <a:schemeClr val="tx1"/>
                        </a:solidFill>
                        <a:effectLst/>
                        <a:latin typeface="Arial(corps)"/>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309696">
                <a:tc>
                  <a:txBody>
                    <a:bodyPr/>
                    <a:lstStyle/>
                    <a:p>
                      <a:pPr>
                        <a:lnSpc>
                          <a:spcPct val="115000"/>
                        </a:lnSpc>
                        <a:spcBef>
                          <a:spcPts val="600"/>
                        </a:spcBef>
                        <a:spcAft>
                          <a:spcPts val="0"/>
                        </a:spcAft>
                      </a:pPr>
                      <a:r>
                        <a:rPr lang="fr-FR" sz="1600" b="1" dirty="0">
                          <a:solidFill>
                            <a:schemeClr val="tx1"/>
                          </a:solidFill>
                          <a:effectLst/>
                          <a:latin typeface="Arial(corps)"/>
                          <a:ea typeface="Calibri"/>
                          <a:cs typeface="Times New Roman"/>
                        </a:rPr>
                        <a:t>axis </a:t>
                      </a:r>
                      <a:endParaRPr lang="fr-FR" sz="2000" b="1" dirty="0">
                        <a:solidFill>
                          <a:schemeClr val="tx1"/>
                        </a:solidFill>
                        <a:effectLst/>
                        <a:latin typeface="Arial(corps)"/>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20955" algn="just">
                        <a:lnSpc>
                          <a:spcPct val="115000"/>
                        </a:lnSpc>
                        <a:spcBef>
                          <a:spcPts val="600"/>
                        </a:spcBef>
                        <a:spcAft>
                          <a:spcPts val="0"/>
                        </a:spcAft>
                      </a:pPr>
                      <a:r>
                        <a:rPr lang="fr-FR" sz="1400" b="1" dirty="0">
                          <a:solidFill>
                            <a:schemeClr val="tx1"/>
                          </a:solidFill>
                          <a:effectLst/>
                          <a:latin typeface="Arial(corps)"/>
                          <a:ea typeface="Calibri"/>
                          <a:cs typeface="Times New Roman"/>
                        </a:rPr>
                        <a:t>pour préciser la nature des axes</a:t>
                      </a:r>
                      <a:endParaRPr lang="fr-FR" sz="1800" b="1" dirty="0">
                        <a:solidFill>
                          <a:schemeClr val="tx1"/>
                        </a:solidFill>
                        <a:effectLst/>
                        <a:latin typeface="Arial(corps)"/>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309696">
                <a:tc>
                  <a:txBody>
                    <a:bodyPr/>
                    <a:lstStyle/>
                    <a:p>
                      <a:pPr>
                        <a:lnSpc>
                          <a:spcPct val="115000"/>
                        </a:lnSpc>
                        <a:spcBef>
                          <a:spcPts val="600"/>
                        </a:spcBef>
                        <a:spcAft>
                          <a:spcPts val="0"/>
                        </a:spcAft>
                      </a:pPr>
                      <a:r>
                        <a:rPr lang="fr-FR" sz="1600" b="1">
                          <a:solidFill>
                            <a:schemeClr val="tx1"/>
                          </a:solidFill>
                          <a:effectLst/>
                          <a:latin typeface="Arial(corps)"/>
                          <a:ea typeface="Calibri"/>
                          <a:cs typeface="Times New Roman"/>
                        </a:rPr>
                        <a:t>xlabel, ylabel </a:t>
                      </a:r>
                      <a:endParaRPr lang="fr-FR" sz="2000" b="1">
                        <a:solidFill>
                          <a:schemeClr val="tx1"/>
                        </a:solidFill>
                        <a:effectLst/>
                        <a:latin typeface="Arial(corps)"/>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20955" algn="just">
                        <a:lnSpc>
                          <a:spcPct val="115000"/>
                        </a:lnSpc>
                        <a:spcBef>
                          <a:spcPts val="600"/>
                        </a:spcBef>
                        <a:spcAft>
                          <a:spcPts val="0"/>
                        </a:spcAft>
                      </a:pPr>
                      <a:r>
                        <a:rPr lang="fr-FR" sz="1400" b="1">
                          <a:solidFill>
                            <a:schemeClr val="tx1"/>
                          </a:solidFill>
                          <a:effectLst/>
                          <a:latin typeface="Arial(corps)"/>
                          <a:ea typeface="Calibri"/>
                          <a:cs typeface="Times New Roman"/>
                        </a:rPr>
                        <a:t>pour donner un nom aux axes</a:t>
                      </a:r>
                      <a:endParaRPr lang="fr-FR" sz="1800" b="1">
                        <a:solidFill>
                          <a:schemeClr val="tx1"/>
                        </a:solidFill>
                        <a:effectLst/>
                        <a:latin typeface="Arial(corps)"/>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459568">
                <a:tc>
                  <a:txBody>
                    <a:bodyPr/>
                    <a:lstStyle/>
                    <a:p>
                      <a:pPr>
                        <a:lnSpc>
                          <a:spcPct val="115000"/>
                        </a:lnSpc>
                        <a:spcBef>
                          <a:spcPts val="600"/>
                        </a:spcBef>
                        <a:spcAft>
                          <a:spcPts val="0"/>
                        </a:spcAft>
                      </a:pPr>
                      <a:r>
                        <a:rPr lang="fr-FR" sz="1600" b="1">
                          <a:solidFill>
                            <a:schemeClr val="tx1"/>
                          </a:solidFill>
                          <a:effectLst/>
                          <a:latin typeface="Arial(corps)"/>
                          <a:ea typeface="Calibri"/>
                          <a:cs typeface="Times New Roman"/>
                        </a:rPr>
                        <a:t>grid </a:t>
                      </a:r>
                      <a:endParaRPr lang="fr-FR" sz="2000" b="1">
                        <a:solidFill>
                          <a:schemeClr val="tx1"/>
                        </a:solidFill>
                        <a:effectLst/>
                        <a:latin typeface="Arial(corps)"/>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20955" algn="just">
                        <a:lnSpc>
                          <a:spcPct val="115000"/>
                        </a:lnSpc>
                        <a:spcBef>
                          <a:spcPts val="600"/>
                        </a:spcBef>
                        <a:spcAft>
                          <a:spcPts val="0"/>
                        </a:spcAft>
                      </a:pPr>
                      <a:r>
                        <a:rPr lang="fr-FR" sz="1400" b="1">
                          <a:solidFill>
                            <a:schemeClr val="tx1"/>
                          </a:solidFill>
                          <a:effectLst/>
                          <a:latin typeface="Arial(corps)"/>
                          <a:ea typeface="Calibri"/>
                          <a:cs typeface="Times New Roman"/>
                        </a:rPr>
                        <a:t>pour ajouter une grille</a:t>
                      </a:r>
                      <a:endParaRPr lang="fr-FR" sz="1800" b="1">
                        <a:solidFill>
                          <a:schemeClr val="tx1"/>
                        </a:solidFill>
                        <a:effectLst/>
                        <a:latin typeface="Arial(corps)"/>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333228">
                <a:tc>
                  <a:txBody>
                    <a:bodyPr/>
                    <a:lstStyle/>
                    <a:p>
                      <a:pPr>
                        <a:lnSpc>
                          <a:spcPct val="115000"/>
                        </a:lnSpc>
                        <a:spcBef>
                          <a:spcPts val="600"/>
                        </a:spcBef>
                        <a:spcAft>
                          <a:spcPts val="0"/>
                        </a:spcAft>
                      </a:pPr>
                      <a:r>
                        <a:rPr lang="fr-FR" sz="1600" b="1">
                          <a:solidFill>
                            <a:schemeClr val="tx1"/>
                          </a:solidFill>
                          <a:effectLst/>
                          <a:latin typeface="Arial(corps)"/>
                          <a:ea typeface="Calibri"/>
                          <a:cs typeface="Times New Roman"/>
                        </a:rPr>
                        <a:t>legend </a:t>
                      </a:r>
                      <a:endParaRPr lang="fr-FR" sz="2000" b="1">
                        <a:solidFill>
                          <a:schemeClr val="tx1"/>
                        </a:solidFill>
                        <a:effectLst/>
                        <a:latin typeface="Arial(corps)"/>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20955" algn="just">
                        <a:lnSpc>
                          <a:spcPct val="115000"/>
                        </a:lnSpc>
                        <a:spcBef>
                          <a:spcPts val="600"/>
                        </a:spcBef>
                        <a:spcAft>
                          <a:spcPts val="0"/>
                        </a:spcAft>
                      </a:pPr>
                      <a:r>
                        <a:rPr lang="fr-FR" sz="1400" b="1" dirty="0">
                          <a:solidFill>
                            <a:schemeClr val="tx1"/>
                          </a:solidFill>
                          <a:effectLst/>
                          <a:latin typeface="Arial(corps)"/>
                          <a:ea typeface="Calibri"/>
                          <a:cs typeface="Times New Roman"/>
                        </a:rPr>
                        <a:t>pour ajouter une légende</a:t>
                      </a:r>
                      <a:endParaRPr lang="fr-FR" sz="1800" b="1" dirty="0">
                        <a:solidFill>
                          <a:schemeClr val="tx1"/>
                        </a:solidFill>
                        <a:effectLst/>
                        <a:latin typeface="Arial(corps)"/>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368560">
                <a:tc>
                  <a:txBody>
                    <a:bodyPr/>
                    <a:lstStyle/>
                    <a:p>
                      <a:pPr>
                        <a:lnSpc>
                          <a:spcPct val="115000"/>
                        </a:lnSpc>
                        <a:spcBef>
                          <a:spcPts val="600"/>
                        </a:spcBef>
                        <a:spcAft>
                          <a:spcPts val="0"/>
                        </a:spcAft>
                      </a:pPr>
                      <a:r>
                        <a:rPr lang="fr-FR" sz="1600" b="1" dirty="0" err="1">
                          <a:solidFill>
                            <a:schemeClr val="tx1"/>
                          </a:solidFill>
                          <a:effectLst/>
                          <a:latin typeface="Arial(corps)"/>
                          <a:ea typeface="Calibri"/>
                          <a:cs typeface="Times New Roman"/>
                        </a:rPr>
                        <a:t>savefig</a:t>
                      </a:r>
                      <a:r>
                        <a:rPr lang="fr-FR" sz="1600" b="1" dirty="0">
                          <a:solidFill>
                            <a:schemeClr val="tx1"/>
                          </a:solidFill>
                          <a:effectLst/>
                          <a:latin typeface="Arial(corps)"/>
                          <a:ea typeface="Calibri"/>
                          <a:cs typeface="Times New Roman"/>
                        </a:rPr>
                        <a:t> </a:t>
                      </a:r>
                      <a:endParaRPr lang="fr-FR" sz="2000" b="1" dirty="0">
                        <a:solidFill>
                          <a:schemeClr val="tx1"/>
                        </a:solidFill>
                        <a:effectLst/>
                        <a:latin typeface="Arial(corps)"/>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20955" algn="just">
                        <a:lnSpc>
                          <a:spcPct val="115000"/>
                        </a:lnSpc>
                        <a:spcBef>
                          <a:spcPts val="600"/>
                        </a:spcBef>
                        <a:spcAft>
                          <a:spcPts val="0"/>
                        </a:spcAft>
                      </a:pPr>
                      <a:r>
                        <a:rPr lang="fr-FR" sz="1400" b="1" dirty="0">
                          <a:solidFill>
                            <a:schemeClr val="tx1"/>
                          </a:solidFill>
                          <a:effectLst/>
                          <a:latin typeface="Arial(corps)"/>
                          <a:ea typeface="Calibri"/>
                          <a:cs typeface="Times New Roman"/>
                        </a:rPr>
                        <a:t>pour enregistrer la figure dans un fichier image</a:t>
                      </a:r>
                      <a:endParaRPr lang="fr-FR" sz="1800" b="1" dirty="0">
                        <a:solidFill>
                          <a:schemeClr val="tx1"/>
                        </a:solidFill>
                        <a:effectLst/>
                        <a:latin typeface="Arial(corps)"/>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bl>
          </a:graphicData>
        </a:graphic>
      </p:graphicFrame>
      <p:sp>
        <p:nvSpPr>
          <p:cNvPr id="11"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dirty="0" smtClean="0">
                <a:latin typeface="+mj-lt"/>
              </a:rPr>
              <a:t>Le </a:t>
            </a:r>
            <a:r>
              <a:rPr lang="fr-FR" dirty="0">
                <a:latin typeface="+mj-lt"/>
              </a:rPr>
              <a:t>module  </a:t>
            </a:r>
            <a:r>
              <a:rPr lang="fr-FR" b="1" dirty="0" err="1">
                <a:latin typeface="+mj-lt"/>
              </a:rPr>
              <a:t>matplotlib.pyplot</a:t>
            </a:r>
            <a:r>
              <a:rPr lang="fr-FR" dirty="0">
                <a:latin typeface="+mj-lt"/>
              </a:rPr>
              <a:t> </a:t>
            </a:r>
            <a:r>
              <a:rPr lang="fr-FR" dirty="0" smtClean="0">
                <a:latin typeface="+mj-lt"/>
              </a:rPr>
              <a:t> pour tracer </a:t>
            </a:r>
            <a:r>
              <a:rPr lang="fr-FR" dirty="0">
                <a:latin typeface="+mj-lt"/>
              </a:rPr>
              <a:t>des courbes</a:t>
            </a:r>
            <a:endParaRPr lang="fr-FR" b="1" dirty="0">
              <a:latin typeface="+mj-lt"/>
            </a:endParaRPr>
          </a:p>
        </p:txBody>
      </p:sp>
      <p:sp>
        <p:nvSpPr>
          <p:cNvPr id="3" name="Rectangle 2"/>
          <p:cNvSpPr/>
          <p:nvPr/>
        </p:nvSpPr>
        <p:spPr>
          <a:xfrm>
            <a:off x="107380" y="909823"/>
            <a:ext cx="3345788" cy="400110"/>
          </a:xfrm>
          <a:prstGeom prst="rect">
            <a:avLst/>
          </a:prstGeom>
        </p:spPr>
        <p:txBody>
          <a:bodyPr wrap="none">
            <a:spAutoFit/>
          </a:bodyPr>
          <a:lstStyle/>
          <a:p>
            <a:pPr marL="800100" lvl="1" indent="-342900">
              <a:buFont typeface="Wingdings" pitchFamily="2" charset="2"/>
              <a:buChar char="v"/>
            </a:pPr>
            <a:r>
              <a:rPr lang="fr-FR" dirty="0" smtClean="0">
                <a:solidFill>
                  <a:srgbClr val="0000FF"/>
                </a:solidFill>
                <a:latin typeface="Arial(corps)"/>
              </a:rPr>
              <a:t>Principales fonctions</a:t>
            </a:r>
            <a:endParaRPr lang="fr-FR" dirty="0">
              <a:solidFill>
                <a:srgbClr val="0000FF"/>
              </a:solidFill>
              <a:latin typeface="Arial(corps)"/>
            </a:endParaRPr>
          </a:p>
        </p:txBody>
      </p:sp>
      <p:sp>
        <p:nvSpPr>
          <p:cNvPr id="5" name="Rectangle 4"/>
          <p:cNvSpPr/>
          <p:nvPr/>
        </p:nvSpPr>
        <p:spPr>
          <a:xfrm>
            <a:off x="323410" y="4976336"/>
            <a:ext cx="2705381" cy="1231106"/>
          </a:xfrm>
          <a:prstGeom prst="rect">
            <a:avLst/>
          </a:prstGeom>
        </p:spPr>
        <p:txBody>
          <a:bodyPr wrap="square">
            <a:spAutoFit/>
          </a:bodyPr>
          <a:lstStyle/>
          <a:p>
            <a:pPr lvl="1" algn="ctr">
              <a:buClr>
                <a:srgbClr val="0000FF"/>
              </a:buClr>
            </a:pPr>
            <a:r>
              <a:rPr lang="fr-FR" dirty="0">
                <a:latin typeface="Arial(corps)"/>
              </a:rPr>
              <a:t>Exemple d’utilisation de </a:t>
            </a:r>
            <a:r>
              <a:rPr lang="fr-FR" b="1" dirty="0" err="1">
                <a:latin typeface="Arial(corps)"/>
              </a:rPr>
              <a:t>matplotlib.pyplot</a:t>
            </a:r>
            <a:endParaRPr lang="fr-FR" b="1" dirty="0">
              <a:latin typeface="Arial(corps)"/>
            </a:endParaRPr>
          </a:p>
          <a:p>
            <a:pPr lvl="1">
              <a:buClr>
                <a:srgbClr val="0000FF"/>
              </a:buClr>
            </a:pPr>
            <a:endParaRPr lang="fr-FR" sz="1400" dirty="0">
              <a:solidFill>
                <a:srgbClr val="0000FF"/>
              </a:solidFill>
              <a:latin typeface="Arial(corps)"/>
              <a:ea typeface="Verdana" pitchFamily="34" charset="0"/>
              <a:cs typeface="Verdana" pitchFamily="34" charset="0"/>
            </a:endParaRPr>
          </a:p>
        </p:txBody>
      </p:sp>
      <p:pic>
        <p:nvPicPr>
          <p:cNvPr id="15" name="Image 14"/>
          <p:cNvPicPr/>
          <p:nvPr/>
        </p:nvPicPr>
        <p:blipFill>
          <a:blip r:embed="rId4">
            <a:extLst>
              <a:ext uri="{28A0092B-C50C-407E-A947-70E740481C1C}">
                <a14:useLocalDpi xmlns:a14="http://schemas.microsoft.com/office/drawing/2010/main" val="0"/>
              </a:ext>
            </a:extLst>
          </a:blip>
          <a:srcRect/>
          <a:stretch>
            <a:fillRect/>
          </a:stretch>
        </p:blipFill>
        <p:spPr bwMode="auto">
          <a:xfrm>
            <a:off x="3028791" y="4005080"/>
            <a:ext cx="3443605" cy="2781300"/>
          </a:xfrm>
          <a:prstGeom prst="rect">
            <a:avLst/>
          </a:prstGeom>
          <a:noFill/>
          <a:ln>
            <a:noFill/>
          </a:ln>
        </p:spPr>
      </p:pic>
    </p:spTree>
    <p:custDataLst>
      <p:tags r:id="rId1"/>
    </p:custDataLst>
    <p:extLst>
      <p:ext uri="{BB962C8B-B14F-4D97-AF65-F5344CB8AC3E}">
        <p14:creationId xmlns:p14="http://schemas.microsoft.com/office/powerpoint/2010/main" val="1277469684"/>
      </p:ext>
    </p:extLst>
  </p:cSld>
  <p:clrMapOvr>
    <a:masterClrMapping/>
  </p:clrMapOvr>
  <p:transition>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Text Box 9"/>
          <p:cNvSpPr txBox="1">
            <a:spLocks noChangeArrowheads="1"/>
          </p:cNvSpPr>
          <p:nvPr/>
        </p:nvSpPr>
        <p:spPr bwMode="auto">
          <a:xfrm>
            <a:off x="971550" y="58738"/>
            <a:ext cx="8172450" cy="369332"/>
          </a:xfrm>
          <a:prstGeom prst="rect">
            <a:avLst/>
          </a:prstGeom>
          <a:noFill/>
          <a:ln w="12700" algn="ctr">
            <a:noFill/>
            <a:miter lim="800000"/>
            <a:headEnd/>
            <a:tailEnd/>
          </a:ln>
        </p:spPr>
        <p:txBody>
          <a:bodyPr>
            <a:spAutoFit/>
          </a:bodyPr>
          <a:lstStyle/>
          <a:p>
            <a:pPr>
              <a:spcBef>
                <a:spcPct val="50000"/>
              </a:spcBef>
            </a:pPr>
            <a:r>
              <a:rPr lang="fr-FR" sz="1800" b="1" dirty="0" smtClean="0">
                <a:solidFill>
                  <a:srgbClr val="000000"/>
                </a:solidFill>
                <a:latin typeface="Arial" pitchFamily="34" charset="0"/>
              </a:rPr>
              <a:t>Les modules</a:t>
            </a:r>
            <a:endParaRPr lang="fr-FR" sz="1800" b="1" dirty="0">
              <a:solidFill>
                <a:srgbClr val="000000"/>
              </a:solidFill>
              <a:latin typeface="Arial" pitchFamily="34" charset="0"/>
            </a:endParaRPr>
          </a:p>
        </p:txBody>
      </p:sp>
      <p:cxnSp>
        <p:nvCxnSpPr>
          <p:cNvPr id="203781"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203782"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203783" name="Triangle isocèle 6"/>
          <p:cNvSpPr>
            <a:spLocks noChangeArrowheads="1"/>
          </p:cNvSpPr>
          <p:nvPr/>
        </p:nvSpPr>
        <p:spPr bwMode="auto">
          <a:xfrm>
            <a:off x="571500" y="1143000"/>
            <a:ext cx="500063" cy="357188"/>
          </a:xfrm>
          <a:prstGeom prst="triangle">
            <a:avLst>
              <a:gd name="adj" fmla="val 50000"/>
            </a:avLst>
          </a:prstGeom>
          <a:noFill/>
          <a:ln w="9525" algn="ctr">
            <a:noFill/>
            <a:round/>
            <a:headEnd/>
            <a:tailEnd/>
          </a:ln>
        </p:spPr>
        <p:txBody>
          <a:bodyPr lIns="90000" tIns="46800" rIns="90000" bIns="46800" anchor="ctr">
            <a:spAutoFit/>
          </a:bodyPr>
          <a:lstStyle/>
          <a:p>
            <a:pPr eaLnBrk="1" hangingPunct="1">
              <a:spcBef>
                <a:spcPct val="50000"/>
              </a:spcBef>
              <a:buClr>
                <a:srgbClr val="336666"/>
              </a:buClr>
              <a:buFont typeface="Wingdings" pitchFamily="2" charset="2"/>
              <a:buNone/>
            </a:pPr>
            <a:endParaRPr lang="fr-FR"/>
          </a:p>
        </p:txBody>
      </p:sp>
      <p:sp>
        <p:nvSpPr>
          <p:cNvPr id="203784" name="Triangle isocèle 8"/>
          <p:cNvSpPr>
            <a:spLocks noChangeArrowheads="1"/>
          </p:cNvSpPr>
          <p:nvPr/>
        </p:nvSpPr>
        <p:spPr bwMode="auto">
          <a:xfrm>
            <a:off x="785813" y="1500188"/>
            <a:ext cx="714375" cy="500062"/>
          </a:xfrm>
          <a:prstGeom prst="triangle">
            <a:avLst>
              <a:gd name="adj" fmla="val 50000"/>
            </a:avLst>
          </a:prstGeom>
          <a:noFill/>
          <a:ln w="9525" algn="ctr">
            <a:noFill/>
            <a:round/>
            <a:headEnd/>
            <a:tailEnd/>
          </a:ln>
        </p:spPr>
        <p:txBody>
          <a:bodyPr lIns="90000" tIns="46800" rIns="90000" bIns="46800" anchor="ctr">
            <a:spAutoFit/>
          </a:bodyPr>
          <a:lstStyle/>
          <a:p>
            <a:pPr eaLnBrk="1" hangingPunct="1">
              <a:spcBef>
                <a:spcPct val="50000"/>
              </a:spcBef>
              <a:buClr>
                <a:srgbClr val="336666"/>
              </a:buClr>
              <a:buFont typeface="Wingdings" pitchFamily="2" charset="2"/>
              <a:buNone/>
            </a:pPr>
            <a:endParaRPr lang="fr-FR"/>
          </a:p>
        </p:txBody>
      </p:sp>
      <p:sp>
        <p:nvSpPr>
          <p:cNvPr id="11"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dirty="0" smtClean="0">
                <a:latin typeface="+mj-lt"/>
              </a:rPr>
              <a:t>Le </a:t>
            </a:r>
            <a:r>
              <a:rPr lang="fr-FR" dirty="0">
                <a:latin typeface="+mj-lt"/>
              </a:rPr>
              <a:t>module  </a:t>
            </a:r>
            <a:r>
              <a:rPr lang="fr-FR" b="1" dirty="0" err="1">
                <a:latin typeface="+mj-lt"/>
              </a:rPr>
              <a:t>matplotlib.pyplot</a:t>
            </a:r>
            <a:r>
              <a:rPr lang="fr-FR" dirty="0">
                <a:latin typeface="+mj-lt"/>
              </a:rPr>
              <a:t> </a:t>
            </a:r>
            <a:r>
              <a:rPr lang="fr-FR" dirty="0" smtClean="0">
                <a:latin typeface="+mj-lt"/>
              </a:rPr>
              <a:t> pour tracer </a:t>
            </a:r>
            <a:r>
              <a:rPr lang="fr-FR" dirty="0">
                <a:latin typeface="+mj-lt"/>
              </a:rPr>
              <a:t>des courbes</a:t>
            </a:r>
            <a:endParaRPr lang="fr-FR" b="1" dirty="0">
              <a:latin typeface="+mj-lt"/>
            </a:endParaRPr>
          </a:p>
        </p:txBody>
      </p:sp>
      <p:sp>
        <p:nvSpPr>
          <p:cNvPr id="5" name="Rectangle 4"/>
          <p:cNvSpPr/>
          <p:nvPr/>
        </p:nvSpPr>
        <p:spPr>
          <a:xfrm>
            <a:off x="107380" y="992874"/>
            <a:ext cx="5476179" cy="707886"/>
          </a:xfrm>
          <a:prstGeom prst="rect">
            <a:avLst/>
          </a:prstGeom>
        </p:spPr>
        <p:txBody>
          <a:bodyPr wrap="none">
            <a:spAutoFit/>
          </a:bodyPr>
          <a:lstStyle/>
          <a:p>
            <a:pPr lvl="1">
              <a:buClr>
                <a:srgbClr val="0000FF"/>
              </a:buClr>
            </a:pPr>
            <a:r>
              <a:rPr lang="fr-FR" dirty="0">
                <a:solidFill>
                  <a:srgbClr val="FF0000"/>
                </a:solidFill>
                <a:latin typeface="Arial(corps)"/>
              </a:rPr>
              <a:t>Exemple d’utilisation de </a:t>
            </a:r>
            <a:r>
              <a:rPr lang="fr-FR" b="1" dirty="0" err="1">
                <a:solidFill>
                  <a:srgbClr val="FF0000"/>
                </a:solidFill>
                <a:latin typeface="Arial(corps)"/>
              </a:rPr>
              <a:t>matplotlib.pyplot</a:t>
            </a:r>
            <a:endParaRPr lang="fr-FR" b="1" dirty="0">
              <a:solidFill>
                <a:srgbClr val="FF0000"/>
              </a:solidFill>
              <a:latin typeface="Arial(corps)"/>
            </a:endParaRPr>
          </a:p>
          <a:p>
            <a:pPr lvl="1">
              <a:buClr>
                <a:srgbClr val="0000FF"/>
              </a:buClr>
            </a:pPr>
            <a:endParaRPr lang="fr-FR" dirty="0">
              <a:solidFill>
                <a:srgbClr val="FF0000"/>
              </a:solidFill>
              <a:latin typeface="Arial(corps)"/>
              <a:ea typeface="Verdana" pitchFamily="34" charset="0"/>
              <a:cs typeface="Verdana" pitchFamily="34" charset="0"/>
            </a:endParaRPr>
          </a:p>
        </p:txBody>
      </p:sp>
      <p:sp>
        <p:nvSpPr>
          <p:cNvPr id="6" name="Rectangle 5"/>
          <p:cNvSpPr/>
          <p:nvPr/>
        </p:nvSpPr>
        <p:spPr>
          <a:xfrm>
            <a:off x="467430" y="1508672"/>
            <a:ext cx="8583244" cy="5016758"/>
          </a:xfrm>
          <a:prstGeom prst="rect">
            <a:avLst/>
          </a:prstGeom>
          <a:solidFill>
            <a:schemeClr val="accent6">
              <a:lumMod val="20000"/>
              <a:lumOff val="80000"/>
            </a:schemeClr>
          </a:solidFill>
        </p:spPr>
        <p:txBody>
          <a:bodyPr wrap="square">
            <a:spAutoFit/>
          </a:bodyPr>
          <a:lstStyle/>
          <a:p>
            <a:r>
              <a:rPr lang="en-US" b="1" dirty="0">
                <a:latin typeface="Courier New" pitchFamily="49" charset="0"/>
                <a:cs typeface="Courier New" pitchFamily="49" charset="0"/>
              </a:rPr>
              <a:t>import </a:t>
            </a:r>
            <a:r>
              <a:rPr lang="en-US" b="1" dirty="0" err="1">
                <a:latin typeface="Courier New" pitchFamily="49" charset="0"/>
                <a:cs typeface="Courier New" pitchFamily="49" charset="0"/>
              </a:rPr>
              <a:t>matplotlib.pyplot</a:t>
            </a:r>
            <a:r>
              <a:rPr lang="en-US" b="1" dirty="0">
                <a:latin typeface="Courier New" pitchFamily="49" charset="0"/>
                <a:cs typeface="Courier New" pitchFamily="49" charset="0"/>
              </a:rPr>
              <a:t> as </a:t>
            </a:r>
            <a:r>
              <a:rPr lang="en-US" b="1" dirty="0" err="1">
                <a:latin typeface="Courier New" pitchFamily="49" charset="0"/>
                <a:cs typeface="Courier New" pitchFamily="49" charset="0"/>
              </a:rPr>
              <a:t>plt</a:t>
            </a:r>
            <a:endParaRPr lang="fr-FR" b="1" dirty="0">
              <a:latin typeface="Courier New" pitchFamily="49" charset="0"/>
              <a:cs typeface="Courier New" pitchFamily="49" charset="0"/>
            </a:endParaRPr>
          </a:p>
          <a:p>
            <a:r>
              <a:rPr lang="en-US" b="1" dirty="0">
                <a:latin typeface="Courier New" pitchFamily="49" charset="0"/>
                <a:cs typeface="Courier New" pitchFamily="49" charset="0"/>
              </a:rPr>
              <a:t>import </a:t>
            </a:r>
            <a:r>
              <a:rPr lang="en-US" b="1" dirty="0" err="1">
                <a:latin typeface="Courier New" pitchFamily="49" charset="0"/>
                <a:cs typeface="Courier New" pitchFamily="49" charset="0"/>
              </a:rPr>
              <a:t>numpy</a:t>
            </a:r>
            <a:r>
              <a:rPr lang="en-US" b="1" dirty="0">
                <a:latin typeface="Courier New" pitchFamily="49" charset="0"/>
                <a:cs typeface="Courier New" pitchFamily="49" charset="0"/>
              </a:rPr>
              <a:t> as </a:t>
            </a:r>
            <a:r>
              <a:rPr lang="en-US" b="1" dirty="0" err="1" smtClean="0">
                <a:latin typeface="Courier New" pitchFamily="49" charset="0"/>
                <a:cs typeface="Courier New" pitchFamily="49" charset="0"/>
              </a:rPr>
              <a:t>np</a:t>
            </a:r>
            <a:endParaRPr lang="fr-FR" b="1" dirty="0">
              <a:latin typeface="Courier New" pitchFamily="49" charset="0"/>
              <a:cs typeface="Courier New" pitchFamily="49" charset="0"/>
            </a:endParaRPr>
          </a:p>
          <a:p>
            <a:endParaRPr lang="fr-FR" b="1" dirty="0">
              <a:latin typeface="Courier New" pitchFamily="49" charset="0"/>
              <a:cs typeface="Courier New" pitchFamily="49" charset="0"/>
            </a:endParaRPr>
          </a:p>
          <a:p>
            <a:endParaRPr lang="fr-FR" b="1" dirty="0">
              <a:latin typeface="Courier New" pitchFamily="49" charset="0"/>
              <a:cs typeface="Courier New" pitchFamily="49" charset="0"/>
            </a:endParaRPr>
          </a:p>
          <a:p>
            <a:r>
              <a:rPr lang="en-US" b="1" dirty="0">
                <a:latin typeface="Courier New" pitchFamily="49" charset="0"/>
                <a:cs typeface="Courier New" pitchFamily="49" charset="0"/>
              </a:rPr>
              <a:t>x=</a:t>
            </a:r>
            <a:r>
              <a:rPr lang="en-US" b="1" dirty="0" err="1">
                <a:latin typeface="Courier New" pitchFamily="49" charset="0"/>
                <a:cs typeface="Courier New" pitchFamily="49" charset="0"/>
              </a:rPr>
              <a:t>np.linspace</a:t>
            </a:r>
            <a:r>
              <a:rPr lang="en-US" b="1" dirty="0">
                <a:latin typeface="Courier New" pitchFamily="49" charset="0"/>
                <a:cs typeface="Courier New" pitchFamily="49" charset="0"/>
              </a:rPr>
              <a:t>(-5,5,100)</a:t>
            </a:r>
            <a:endParaRPr lang="fr-FR" b="1" dirty="0">
              <a:latin typeface="Courier New" pitchFamily="49" charset="0"/>
              <a:cs typeface="Courier New" pitchFamily="49" charset="0"/>
            </a:endParaRPr>
          </a:p>
          <a:p>
            <a:r>
              <a:rPr lang="fr-FR" b="1" dirty="0">
                <a:latin typeface="Courier New" pitchFamily="49" charset="0"/>
                <a:cs typeface="Courier New" pitchFamily="49" charset="0"/>
              </a:rPr>
              <a:t>y1=</a:t>
            </a:r>
            <a:r>
              <a:rPr lang="fr-FR" b="1" dirty="0" err="1">
                <a:latin typeface="Courier New" pitchFamily="49" charset="0"/>
                <a:cs typeface="Courier New" pitchFamily="49" charset="0"/>
              </a:rPr>
              <a:t>np.sin</a:t>
            </a:r>
            <a:r>
              <a:rPr lang="fr-FR" b="1" dirty="0">
                <a:latin typeface="Courier New" pitchFamily="49" charset="0"/>
                <a:cs typeface="Courier New" pitchFamily="49" charset="0"/>
              </a:rPr>
              <a:t>(x)</a:t>
            </a:r>
          </a:p>
          <a:p>
            <a:r>
              <a:rPr lang="fr-FR" b="1" dirty="0">
                <a:latin typeface="Courier New" pitchFamily="49" charset="0"/>
                <a:cs typeface="Courier New" pitchFamily="49" charset="0"/>
              </a:rPr>
              <a:t>y2=</a:t>
            </a:r>
            <a:r>
              <a:rPr lang="fr-FR" b="1" dirty="0" err="1">
                <a:latin typeface="Courier New" pitchFamily="49" charset="0"/>
                <a:cs typeface="Courier New" pitchFamily="49" charset="0"/>
              </a:rPr>
              <a:t>np.cos</a:t>
            </a:r>
            <a:r>
              <a:rPr lang="fr-FR" b="1" dirty="0">
                <a:latin typeface="Courier New" pitchFamily="49" charset="0"/>
                <a:cs typeface="Courier New" pitchFamily="49" charset="0"/>
              </a:rPr>
              <a:t>(x)</a:t>
            </a:r>
          </a:p>
          <a:p>
            <a:r>
              <a:rPr lang="fr-FR" b="1" dirty="0" err="1">
                <a:latin typeface="Courier New" pitchFamily="49" charset="0"/>
                <a:cs typeface="Courier New" pitchFamily="49" charset="0"/>
              </a:rPr>
              <a:t>plt.grid</a:t>
            </a:r>
            <a:r>
              <a:rPr lang="fr-FR" b="1" dirty="0">
                <a:latin typeface="Courier New" pitchFamily="49" charset="0"/>
                <a:cs typeface="Courier New" pitchFamily="49" charset="0"/>
              </a:rPr>
              <a:t>(</a:t>
            </a:r>
            <a:r>
              <a:rPr lang="fr-FR" b="1" dirty="0" err="1">
                <a:latin typeface="Courier New" pitchFamily="49" charset="0"/>
                <a:cs typeface="Courier New" pitchFamily="49" charset="0"/>
              </a:rPr>
              <a:t>True</a:t>
            </a:r>
            <a:r>
              <a:rPr lang="fr-FR" b="1" dirty="0">
                <a:latin typeface="Courier New" pitchFamily="49" charset="0"/>
                <a:cs typeface="Courier New" pitchFamily="49" charset="0"/>
              </a:rPr>
              <a:t>)                 </a:t>
            </a:r>
            <a:r>
              <a:rPr lang="fr-FR" dirty="0" smtClean="0">
                <a:latin typeface="Courier New" pitchFamily="49" charset="0"/>
                <a:cs typeface="Courier New" pitchFamily="49" charset="0"/>
              </a:rPr>
              <a:t>#</a:t>
            </a:r>
            <a:r>
              <a:rPr lang="fr-FR" dirty="0">
                <a:latin typeface="Courier New" pitchFamily="49" charset="0"/>
                <a:cs typeface="Courier New" pitchFamily="49" charset="0"/>
              </a:rPr>
              <a:t>Affichage de la grille</a:t>
            </a:r>
          </a:p>
          <a:p>
            <a:r>
              <a:rPr lang="fr-FR" b="1" dirty="0" err="1">
                <a:latin typeface="Courier New" pitchFamily="49" charset="0"/>
                <a:cs typeface="Courier New" pitchFamily="49" charset="0"/>
              </a:rPr>
              <a:t>plt.plot</a:t>
            </a:r>
            <a:r>
              <a:rPr lang="fr-FR" b="1" dirty="0">
                <a:latin typeface="Courier New" pitchFamily="49" charset="0"/>
                <a:cs typeface="Courier New" pitchFamily="49" charset="0"/>
              </a:rPr>
              <a:t>(x,y1,'b',x,y2,'g+')</a:t>
            </a:r>
            <a:r>
              <a:rPr lang="fr-FR" dirty="0">
                <a:latin typeface="Courier New" pitchFamily="49" charset="0"/>
                <a:cs typeface="Courier New" pitchFamily="49" charset="0"/>
              </a:rPr>
              <a:t>   </a:t>
            </a:r>
            <a:r>
              <a:rPr lang="fr-FR" dirty="0" smtClean="0">
                <a:latin typeface="Courier New" pitchFamily="49" charset="0"/>
                <a:cs typeface="Courier New" pitchFamily="49" charset="0"/>
              </a:rPr>
              <a:t>#</a:t>
            </a:r>
            <a:r>
              <a:rPr lang="fr-FR" dirty="0">
                <a:latin typeface="Courier New" pitchFamily="49" charset="0"/>
                <a:cs typeface="Courier New" pitchFamily="49" charset="0"/>
              </a:rPr>
              <a:t>tracer les courbes</a:t>
            </a:r>
          </a:p>
          <a:p>
            <a:r>
              <a:rPr lang="fr-FR" b="1" dirty="0" err="1">
                <a:latin typeface="Courier New" pitchFamily="49" charset="0"/>
                <a:cs typeface="Courier New" pitchFamily="49" charset="0"/>
              </a:rPr>
              <a:t>plt.legend</a:t>
            </a:r>
            <a:r>
              <a:rPr lang="fr-FR" b="1" dirty="0">
                <a:latin typeface="Courier New" pitchFamily="49" charset="0"/>
                <a:cs typeface="Courier New" pitchFamily="49" charset="0"/>
              </a:rPr>
              <a:t>(("Sinus", "Cosinus</a:t>
            </a:r>
            <a:r>
              <a:rPr lang="fr-FR" b="1" dirty="0" smtClean="0">
                <a:latin typeface="Courier New" pitchFamily="49" charset="0"/>
                <a:cs typeface="Courier New" pitchFamily="49" charset="0"/>
              </a:rPr>
              <a:t>"))</a:t>
            </a:r>
            <a:r>
              <a:rPr lang="fr-FR" dirty="0" smtClean="0">
                <a:latin typeface="Courier New" pitchFamily="49" charset="0"/>
                <a:cs typeface="Courier New" pitchFamily="49" charset="0"/>
              </a:rPr>
              <a:t>#</a:t>
            </a:r>
            <a:r>
              <a:rPr lang="fr-FR" dirty="0">
                <a:latin typeface="Courier New" pitchFamily="49" charset="0"/>
                <a:cs typeface="Courier New" pitchFamily="49" charset="0"/>
              </a:rPr>
              <a:t>afficher la légende</a:t>
            </a:r>
          </a:p>
          <a:p>
            <a:r>
              <a:rPr lang="fr-FR" b="1" dirty="0" err="1">
                <a:latin typeface="Courier New" pitchFamily="49" charset="0"/>
                <a:cs typeface="Courier New" pitchFamily="49" charset="0"/>
              </a:rPr>
              <a:t>plt.xlabel</a:t>
            </a:r>
            <a:r>
              <a:rPr lang="fr-FR" b="1" dirty="0">
                <a:latin typeface="Courier New" pitchFamily="49" charset="0"/>
                <a:cs typeface="Courier New" pitchFamily="49" charset="0"/>
              </a:rPr>
              <a:t>('axe </a:t>
            </a:r>
            <a:r>
              <a:rPr lang="fr-FR" b="1" dirty="0" err="1">
                <a:latin typeface="Courier New" pitchFamily="49" charset="0"/>
                <a:cs typeface="Courier New" pitchFamily="49" charset="0"/>
              </a:rPr>
              <a:t>dex</a:t>
            </a:r>
            <a:r>
              <a:rPr lang="fr-FR" b="1" dirty="0">
                <a:latin typeface="Courier New" pitchFamily="49" charset="0"/>
                <a:cs typeface="Courier New" pitchFamily="49" charset="0"/>
              </a:rPr>
              <a:t> x')      </a:t>
            </a:r>
            <a:r>
              <a:rPr lang="fr-FR" dirty="0" smtClean="0">
                <a:latin typeface="Courier New" pitchFamily="49" charset="0"/>
                <a:cs typeface="Courier New" pitchFamily="49" charset="0"/>
              </a:rPr>
              <a:t>#étiquette </a:t>
            </a:r>
            <a:r>
              <a:rPr lang="fr-FR" dirty="0">
                <a:latin typeface="Courier New" pitchFamily="49" charset="0"/>
                <a:cs typeface="Courier New" pitchFamily="49" charset="0"/>
              </a:rPr>
              <a:t>sue l'axe des x</a:t>
            </a:r>
          </a:p>
          <a:p>
            <a:r>
              <a:rPr lang="fr-FR" b="1" dirty="0" err="1">
                <a:latin typeface="Courier New" pitchFamily="49" charset="0"/>
                <a:cs typeface="Courier New" pitchFamily="49" charset="0"/>
              </a:rPr>
              <a:t>plt.ylabel</a:t>
            </a:r>
            <a:r>
              <a:rPr lang="fr-FR" b="1" dirty="0">
                <a:latin typeface="Courier New" pitchFamily="49" charset="0"/>
                <a:cs typeface="Courier New" pitchFamily="49" charset="0"/>
              </a:rPr>
              <a:t>('axe </a:t>
            </a:r>
            <a:r>
              <a:rPr lang="fr-FR" b="1" dirty="0" err="1">
                <a:latin typeface="Courier New" pitchFamily="49" charset="0"/>
                <a:cs typeface="Courier New" pitchFamily="49" charset="0"/>
              </a:rPr>
              <a:t>dex</a:t>
            </a:r>
            <a:r>
              <a:rPr lang="fr-FR" b="1" dirty="0">
                <a:latin typeface="Courier New" pitchFamily="49" charset="0"/>
                <a:cs typeface="Courier New" pitchFamily="49" charset="0"/>
              </a:rPr>
              <a:t> y')      </a:t>
            </a:r>
            <a:r>
              <a:rPr lang="fr-FR" dirty="0" smtClean="0">
                <a:latin typeface="Courier New" pitchFamily="49" charset="0"/>
                <a:cs typeface="Courier New" pitchFamily="49" charset="0"/>
              </a:rPr>
              <a:t>#</a:t>
            </a:r>
            <a:r>
              <a:rPr lang="fr-FR" dirty="0">
                <a:latin typeface="Courier New" pitchFamily="49" charset="0"/>
                <a:cs typeface="Courier New" pitchFamily="49" charset="0"/>
              </a:rPr>
              <a:t>étiquette sue l'axe des y</a:t>
            </a:r>
          </a:p>
          <a:p>
            <a:r>
              <a:rPr lang="fr-FR" b="1" dirty="0" err="1">
                <a:latin typeface="Courier New" pitchFamily="49" charset="0"/>
                <a:cs typeface="Courier New" pitchFamily="49" charset="0"/>
              </a:rPr>
              <a:t>plt.axis</a:t>
            </a:r>
            <a:r>
              <a:rPr lang="fr-FR" b="1" dirty="0">
                <a:latin typeface="Courier New" pitchFamily="49" charset="0"/>
                <a:cs typeface="Courier New" pitchFamily="49" charset="0"/>
              </a:rPr>
              <a:t>('</a:t>
            </a:r>
            <a:r>
              <a:rPr lang="fr-FR" b="1" dirty="0" err="1">
                <a:latin typeface="Courier New" pitchFamily="49" charset="0"/>
                <a:cs typeface="Courier New" pitchFamily="49" charset="0"/>
              </a:rPr>
              <a:t>equal</a:t>
            </a:r>
            <a:r>
              <a:rPr lang="fr-FR" b="1" dirty="0">
                <a:latin typeface="Courier New" pitchFamily="49" charset="0"/>
                <a:cs typeface="Courier New" pitchFamily="49" charset="0"/>
              </a:rPr>
              <a:t>')            </a:t>
            </a:r>
            <a:r>
              <a:rPr lang="fr-FR" dirty="0" smtClean="0">
                <a:latin typeface="Courier New" pitchFamily="49" charset="0"/>
                <a:cs typeface="Courier New" pitchFamily="49" charset="0"/>
              </a:rPr>
              <a:t>#choix </a:t>
            </a:r>
            <a:r>
              <a:rPr lang="fr-FR" dirty="0">
                <a:latin typeface="Courier New" pitchFamily="49" charset="0"/>
                <a:cs typeface="Courier New" pitchFamily="49" charset="0"/>
              </a:rPr>
              <a:t>d'échelle</a:t>
            </a:r>
          </a:p>
          <a:p>
            <a:r>
              <a:rPr lang="fr-FR" b="1" dirty="0" err="1">
                <a:latin typeface="Courier New" pitchFamily="49" charset="0"/>
                <a:cs typeface="Courier New" pitchFamily="49" charset="0"/>
              </a:rPr>
              <a:t>plt.title</a:t>
            </a:r>
            <a:r>
              <a:rPr lang="fr-FR" b="1" dirty="0">
                <a:latin typeface="Courier New" pitchFamily="49" charset="0"/>
                <a:cs typeface="Courier New" pitchFamily="49" charset="0"/>
              </a:rPr>
              <a:t>("Fonctions trigonométriques") </a:t>
            </a:r>
            <a:r>
              <a:rPr lang="fr-FR" dirty="0">
                <a:latin typeface="Courier New" pitchFamily="49" charset="0"/>
                <a:cs typeface="Courier New" pitchFamily="49" charset="0"/>
              </a:rPr>
              <a:t>#titre</a:t>
            </a:r>
          </a:p>
          <a:p>
            <a:r>
              <a:rPr lang="fr-FR" b="1" dirty="0" err="1">
                <a:latin typeface="Courier New" pitchFamily="49" charset="0"/>
                <a:cs typeface="Courier New" pitchFamily="49" charset="0"/>
              </a:rPr>
              <a:t>plt.savefig</a:t>
            </a:r>
            <a:r>
              <a:rPr lang="fr-FR" b="1" dirty="0">
                <a:latin typeface="Courier New" pitchFamily="49" charset="0"/>
                <a:cs typeface="Courier New" pitchFamily="49" charset="0"/>
              </a:rPr>
              <a:t>('Premier exemple')  </a:t>
            </a:r>
            <a:r>
              <a:rPr lang="fr-FR" dirty="0" smtClean="0">
                <a:latin typeface="Courier New" pitchFamily="49" charset="0"/>
                <a:cs typeface="Courier New" pitchFamily="49" charset="0"/>
              </a:rPr>
              <a:t>#</a:t>
            </a:r>
            <a:r>
              <a:rPr lang="fr-FR" dirty="0">
                <a:latin typeface="Courier New" pitchFamily="49" charset="0"/>
                <a:cs typeface="Courier New" pitchFamily="49" charset="0"/>
              </a:rPr>
              <a:t>on sauvegarde l'image</a:t>
            </a:r>
          </a:p>
          <a:p>
            <a:r>
              <a:rPr lang="fr-FR" b="1" dirty="0" err="1">
                <a:latin typeface="Courier New" pitchFamily="49" charset="0"/>
                <a:cs typeface="Courier New" pitchFamily="49" charset="0"/>
              </a:rPr>
              <a:t>plt.show</a:t>
            </a:r>
            <a:r>
              <a:rPr lang="fr-FR" b="1" dirty="0">
                <a:latin typeface="Courier New" pitchFamily="49" charset="0"/>
                <a:cs typeface="Courier New" pitchFamily="49" charset="0"/>
              </a:rPr>
              <a:t>()                      </a:t>
            </a:r>
            <a:r>
              <a:rPr lang="fr-FR" dirty="0" smtClean="0">
                <a:latin typeface="Courier New" pitchFamily="49" charset="0"/>
                <a:cs typeface="Courier New" pitchFamily="49" charset="0"/>
              </a:rPr>
              <a:t>#on </a:t>
            </a:r>
            <a:r>
              <a:rPr lang="fr-FR" dirty="0">
                <a:latin typeface="Courier New" pitchFamily="49" charset="0"/>
                <a:cs typeface="Courier New" pitchFamily="49" charset="0"/>
              </a:rPr>
              <a:t>montre le résultat</a:t>
            </a:r>
          </a:p>
        </p:txBody>
      </p:sp>
    </p:spTree>
    <p:custDataLst>
      <p:tags r:id="rId1"/>
    </p:custDataLst>
    <p:extLst>
      <p:ext uri="{BB962C8B-B14F-4D97-AF65-F5344CB8AC3E}">
        <p14:creationId xmlns:p14="http://schemas.microsoft.com/office/powerpoint/2010/main" val="433681633"/>
      </p:ext>
    </p:extLst>
  </p:cSld>
  <p:clrMapOvr>
    <a:masterClrMapping/>
  </p:clrMapOvr>
  <p:transition>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Text Box 9"/>
          <p:cNvSpPr txBox="1">
            <a:spLocks noChangeArrowheads="1"/>
          </p:cNvSpPr>
          <p:nvPr/>
        </p:nvSpPr>
        <p:spPr bwMode="auto">
          <a:xfrm>
            <a:off x="971550" y="58738"/>
            <a:ext cx="8172450" cy="369332"/>
          </a:xfrm>
          <a:prstGeom prst="rect">
            <a:avLst/>
          </a:prstGeom>
          <a:noFill/>
          <a:ln w="12700" algn="ctr">
            <a:noFill/>
            <a:miter lim="800000"/>
            <a:headEnd/>
            <a:tailEnd/>
          </a:ln>
        </p:spPr>
        <p:txBody>
          <a:bodyPr>
            <a:spAutoFit/>
          </a:bodyPr>
          <a:lstStyle/>
          <a:p>
            <a:pPr>
              <a:spcBef>
                <a:spcPct val="50000"/>
              </a:spcBef>
            </a:pPr>
            <a:r>
              <a:rPr lang="fr-FR" sz="1800" b="1" dirty="0" smtClean="0">
                <a:solidFill>
                  <a:srgbClr val="000000"/>
                </a:solidFill>
                <a:latin typeface="Arial" pitchFamily="34" charset="0"/>
              </a:rPr>
              <a:t>Les modules</a:t>
            </a:r>
            <a:endParaRPr lang="fr-FR" sz="1800" b="1" dirty="0">
              <a:solidFill>
                <a:srgbClr val="000000"/>
              </a:solidFill>
              <a:latin typeface="Arial" pitchFamily="34" charset="0"/>
            </a:endParaRPr>
          </a:p>
        </p:txBody>
      </p:sp>
      <p:cxnSp>
        <p:nvCxnSpPr>
          <p:cNvPr id="203781"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203782"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203783" name="Triangle isocèle 6"/>
          <p:cNvSpPr>
            <a:spLocks noChangeArrowheads="1"/>
          </p:cNvSpPr>
          <p:nvPr/>
        </p:nvSpPr>
        <p:spPr bwMode="auto">
          <a:xfrm>
            <a:off x="571500" y="1143000"/>
            <a:ext cx="500063" cy="357188"/>
          </a:xfrm>
          <a:prstGeom prst="triangle">
            <a:avLst>
              <a:gd name="adj" fmla="val 50000"/>
            </a:avLst>
          </a:prstGeom>
          <a:noFill/>
          <a:ln w="9525" algn="ctr">
            <a:noFill/>
            <a:round/>
            <a:headEnd/>
            <a:tailEnd/>
          </a:ln>
        </p:spPr>
        <p:txBody>
          <a:bodyPr lIns="90000" tIns="46800" rIns="90000" bIns="46800" anchor="ctr">
            <a:spAutoFit/>
          </a:bodyPr>
          <a:lstStyle/>
          <a:p>
            <a:pPr eaLnBrk="1" hangingPunct="1">
              <a:spcBef>
                <a:spcPct val="50000"/>
              </a:spcBef>
              <a:buClr>
                <a:srgbClr val="336666"/>
              </a:buClr>
              <a:buFont typeface="Wingdings" pitchFamily="2" charset="2"/>
              <a:buNone/>
            </a:pPr>
            <a:endParaRPr lang="fr-FR"/>
          </a:p>
        </p:txBody>
      </p:sp>
      <p:sp>
        <p:nvSpPr>
          <p:cNvPr id="203784" name="Triangle isocèle 8"/>
          <p:cNvSpPr>
            <a:spLocks noChangeArrowheads="1"/>
          </p:cNvSpPr>
          <p:nvPr/>
        </p:nvSpPr>
        <p:spPr bwMode="auto">
          <a:xfrm>
            <a:off x="785813" y="1500188"/>
            <a:ext cx="714375" cy="500062"/>
          </a:xfrm>
          <a:prstGeom prst="triangle">
            <a:avLst>
              <a:gd name="adj" fmla="val 50000"/>
            </a:avLst>
          </a:prstGeom>
          <a:noFill/>
          <a:ln w="9525" algn="ctr">
            <a:noFill/>
            <a:round/>
            <a:headEnd/>
            <a:tailEnd/>
          </a:ln>
        </p:spPr>
        <p:txBody>
          <a:bodyPr lIns="90000" tIns="46800" rIns="90000" bIns="46800" anchor="ctr">
            <a:spAutoFit/>
          </a:bodyPr>
          <a:lstStyle/>
          <a:p>
            <a:pPr eaLnBrk="1" hangingPunct="1">
              <a:spcBef>
                <a:spcPct val="50000"/>
              </a:spcBef>
              <a:buClr>
                <a:srgbClr val="336666"/>
              </a:buClr>
              <a:buFont typeface="Wingdings" pitchFamily="2" charset="2"/>
              <a:buNone/>
            </a:pPr>
            <a:endParaRPr lang="fr-FR"/>
          </a:p>
        </p:txBody>
      </p:sp>
      <p:sp>
        <p:nvSpPr>
          <p:cNvPr id="11"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dirty="0" smtClean="0">
                <a:latin typeface="+mj-lt"/>
              </a:rPr>
              <a:t>Le </a:t>
            </a:r>
            <a:r>
              <a:rPr lang="fr-FR" dirty="0">
                <a:latin typeface="+mj-lt"/>
              </a:rPr>
              <a:t>module  </a:t>
            </a:r>
            <a:r>
              <a:rPr lang="fr-FR" b="1" dirty="0" err="1">
                <a:latin typeface="+mj-lt"/>
              </a:rPr>
              <a:t>matplotlib.pyplot</a:t>
            </a:r>
            <a:r>
              <a:rPr lang="fr-FR" dirty="0">
                <a:latin typeface="+mj-lt"/>
              </a:rPr>
              <a:t> </a:t>
            </a:r>
            <a:r>
              <a:rPr lang="fr-FR" dirty="0" smtClean="0">
                <a:latin typeface="+mj-lt"/>
              </a:rPr>
              <a:t> pour tracer </a:t>
            </a:r>
            <a:r>
              <a:rPr lang="fr-FR" dirty="0">
                <a:latin typeface="+mj-lt"/>
              </a:rPr>
              <a:t>des courbes</a:t>
            </a:r>
            <a:endParaRPr lang="fr-FR" b="1" dirty="0">
              <a:latin typeface="+mj-lt"/>
            </a:endParaRPr>
          </a:p>
        </p:txBody>
      </p:sp>
      <p:sp>
        <p:nvSpPr>
          <p:cNvPr id="5" name="Rectangle 4"/>
          <p:cNvSpPr/>
          <p:nvPr/>
        </p:nvSpPr>
        <p:spPr>
          <a:xfrm>
            <a:off x="107380" y="992874"/>
            <a:ext cx="3993850" cy="400110"/>
          </a:xfrm>
          <a:prstGeom prst="rect">
            <a:avLst/>
          </a:prstGeom>
        </p:spPr>
        <p:txBody>
          <a:bodyPr wrap="none">
            <a:spAutoFit/>
          </a:bodyPr>
          <a:lstStyle/>
          <a:p>
            <a:pPr lvl="1">
              <a:buClr>
                <a:srgbClr val="0000FF"/>
              </a:buClr>
            </a:pPr>
            <a:r>
              <a:rPr lang="fr-FR" dirty="0" smtClean="0">
                <a:solidFill>
                  <a:srgbClr val="FF0000"/>
                </a:solidFill>
                <a:latin typeface="Arial(corps)"/>
                <a:ea typeface="Verdana" pitchFamily="34" charset="0"/>
                <a:cs typeface="Verdana" pitchFamily="34" charset="0"/>
              </a:rPr>
              <a:t>Tables </a:t>
            </a:r>
            <a:r>
              <a:rPr lang="fr-FR" dirty="0">
                <a:solidFill>
                  <a:srgbClr val="FF0000"/>
                </a:solidFill>
                <a:latin typeface="Arial(corps)"/>
                <a:ea typeface="Verdana" pitchFamily="34" charset="0"/>
                <a:cs typeface="Verdana" pitchFamily="34" charset="0"/>
              </a:rPr>
              <a:t>des Styles de traçage </a:t>
            </a:r>
          </a:p>
        </p:txBody>
      </p:sp>
      <p:graphicFrame>
        <p:nvGraphicFramePr>
          <p:cNvPr id="2" name="Tableau 1"/>
          <p:cNvGraphicFramePr>
            <a:graphicFrameLocks noGrp="1"/>
          </p:cNvGraphicFramePr>
          <p:nvPr>
            <p:extLst>
              <p:ext uri="{D42A27DB-BD31-4B8C-83A1-F6EECF244321}">
                <p14:modId xmlns:p14="http://schemas.microsoft.com/office/powerpoint/2010/main" val="2497636980"/>
              </p:ext>
            </p:extLst>
          </p:nvPr>
        </p:nvGraphicFramePr>
        <p:xfrm>
          <a:off x="571500" y="1604808"/>
          <a:ext cx="8033060" cy="4416552"/>
        </p:xfrm>
        <a:graphic>
          <a:graphicData uri="http://schemas.openxmlformats.org/drawingml/2006/table">
            <a:tbl>
              <a:tblPr firstRow="1" firstCol="1" bandRow="1">
                <a:tableStyleId>{284E427A-3D55-4303-BF80-6455036E1DE7}</a:tableStyleId>
              </a:tblPr>
              <a:tblGrid>
                <a:gridCol w="2560300"/>
                <a:gridCol w="5472760"/>
              </a:tblGrid>
              <a:tr h="144145">
                <a:tc>
                  <a:txBody>
                    <a:bodyPr/>
                    <a:lstStyle/>
                    <a:p>
                      <a:pPr>
                        <a:lnSpc>
                          <a:spcPct val="115000"/>
                        </a:lnSpc>
                        <a:spcBef>
                          <a:spcPts val="600"/>
                        </a:spcBef>
                        <a:spcAft>
                          <a:spcPts val="0"/>
                        </a:spcAft>
                      </a:pPr>
                      <a:r>
                        <a:rPr lang="fr-FR" sz="1800" dirty="0">
                          <a:solidFill>
                            <a:schemeClr val="tx1"/>
                          </a:solidFill>
                          <a:effectLst/>
                        </a:rPr>
                        <a:t>Caractère de traçage</a:t>
                      </a:r>
                      <a:endParaRPr lang="fr-FR" sz="2800" dirty="0">
                        <a:solidFill>
                          <a:schemeClr val="tx1"/>
                        </a:solidFill>
                        <a:effectLst/>
                        <a:latin typeface="Calibri"/>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15000"/>
                        </a:lnSpc>
                        <a:spcBef>
                          <a:spcPts val="600"/>
                        </a:spcBef>
                        <a:spcAft>
                          <a:spcPts val="0"/>
                        </a:spcAft>
                      </a:pPr>
                      <a:r>
                        <a:rPr lang="fr-FR" sz="1800" dirty="0">
                          <a:solidFill>
                            <a:schemeClr val="tx1"/>
                          </a:solidFill>
                          <a:effectLst/>
                        </a:rPr>
                        <a:t>description</a:t>
                      </a:r>
                      <a:endParaRPr lang="fr-FR" sz="2800" dirty="0">
                        <a:solidFill>
                          <a:schemeClr val="tx1"/>
                        </a:solidFill>
                        <a:effectLst/>
                        <a:latin typeface="Calibri"/>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144145">
                <a:tc>
                  <a:txBody>
                    <a:bodyPr/>
                    <a:lstStyle/>
                    <a:p>
                      <a:pPr>
                        <a:lnSpc>
                          <a:spcPct val="115000"/>
                        </a:lnSpc>
                        <a:spcBef>
                          <a:spcPts val="600"/>
                        </a:spcBef>
                        <a:spcAft>
                          <a:spcPts val="0"/>
                        </a:spcAft>
                      </a:pPr>
                      <a:r>
                        <a:rPr lang="fr-FR" sz="1800">
                          <a:effectLst/>
                        </a:rPr>
                        <a:t>'-'</a:t>
                      </a:r>
                      <a:endParaRPr lang="fr-FR" sz="2800">
                        <a:effectLst/>
                        <a:latin typeface="Calibri"/>
                        <a:ea typeface="Calibri"/>
                        <a:cs typeface="Arial"/>
                      </a:endParaRPr>
                    </a:p>
                  </a:txBody>
                  <a:tcPr marL="68580" marR="68580" marT="0" marB="0">
                    <a:lnT w="3175" cap="flat" cmpd="sng" algn="ctr">
                      <a:solidFill>
                        <a:schemeClr val="tx1"/>
                      </a:solidFill>
                      <a:prstDash val="solid"/>
                      <a:round/>
                      <a:headEnd type="none" w="med" len="med"/>
                      <a:tailEnd type="none" w="med" len="med"/>
                    </a:lnT>
                  </a:tcPr>
                </a:tc>
                <a:tc>
                  <a:txBody>
                    <a:bodyPr/>
                    <a:lstStyle/>
                    <a:p>
                      <a:pPr>
                        <a:lnSpc>
                          <a:spcPct val="115000"/>
                        </a:lnSpc>
                        <a:spcBef>
                          <a:spcPts val="600"/>
                        </a:spcBef>
                        <a:spcAft>
                          <a:spcPts val="0"/>
                        </a:spcAft>
                      </a:pPr>
                      <a:r>
                        <a:rPr lang="fr-FR" sz="1800">
                          <a:effectLst/>
                        </a:rPr>
                        <a:t>solid line</a:t>
                      </a:r>
                      <a:endParaRPr lang="fr-FR" sz="2800">
                        <a:effectLst/>
                        <a:latin typeface="Calibri"/>
                        <a:ea typeface="Calibri"/>
                        <a:cs typeface="Arial"/>
                      </a:endParaRPr>
                    </a:p>
                  </a:txBody>
                  <a:tcPr marL="68580" marR="68580" marT="0" marB="0">
                    <a:lnT w="3175" cap="flat" cmpd="sng" algn="ctr">
                      <a:solidFill>
                        <a:schemeClr val="tx1"/>
                      </a:solidFill>
                      <a:prstDash val="solid"/>
                      <a:round/>
                      <a:headEnd type="none" w="med" len="med"/>
                      <a:tailEnd type="none" w="med" len="med"/>
                    </a:lnT>
                  </a:tcPr>
                </a:tc>
              </a:tr>
              <a:tr h="144145">
                <a:tc>
                  <a:txBody>
                    <a:bodyPr/>
                    <a:lstStyle/>
                    <a:p>
                      <a:pPr>
                        <a:lnSpc>
                          <a:spcPct val="115000"/>
                        </a:lnSpc>
                        <a:spcBef>
                          <a:spcPts val="600"/>
                        </a:spcBef>
                        <a:spcAft>
                          <a:spcPts val="0"/>
                        </a:spcAft>
                      </a:pPr>
                      <a:r>
                        <a:rPr lang="fr-FR" sz="1800">
                          <a:effectLst/>
                        </a:rPr>
                        <a:t>'--'</a:t>
                      </a:r>
                      <a:endParaRPr lang="fr-FR" sz="2800">
                        <a:effectLst/>
                        <a:latin typeface="Calibri"/>
                        <a:ea typeface="Calibri"/>
                        <a:cs typeface="Arial"/>
                      </a:endParaRPr>
                    </a:p>
                  </a:txBody>
                  <a:tcPr marL="68580" marR="68580" marT="0" marB="0"/>
                </a:tc>
                <a:tc>
                  <a:txBody>
                    <a:bodyPr/>
                    <a:lstStyle/>
                    <a:p>
                      <a:pPr>
                        <a:lnSpc>
                          <a:spcPct val="115000"/>
                        </a:lnSpc>
                        <a:spcBef>
                          <a:spcPts val="600"/>
                        </a:spcBef>
                        <a:spcAft>
                          <a:spcPts val="0"/>
                        </a:spcAft>
                      </a:pPr>
                      <a:r>
                        <a:rPr lang="fr-FR" sz="1800">
                          <a:effectLst/>
                        </a:rPr>
                        <a:t>dashed line</a:t>
                      </a:r>
                      <a:endParaRPr lang="fr-FR" sz="2800">
                        <a:effectLst/>
                        <a:latin typeface="Calibri"/>
                        <a:ea typeface="Calibri"/>
                        <a:cs typeface="Arial"/>
                      </a:endParaRPr>
                    </a:p>
                  </a:txBody>
                  <a:tcPr marL="68580" marR="68580" marT="0" marB="0"/>
                </a:tc>
              </a:tr>
              <a:tr h="144145">
                <a:tc>
                  <a:txBody>
                    <a:bodyPr/>
                    <a:lstStyle/>
                    <a:p>
                      <a:pPr>
                        <a:lnSpc>
                          <a:spcPct val="115000"/>
                        </a:lnSpc>
                        <a:spcBef>
                          <a:spcPts val="600"/>
                        </a:spcBef>
                        <a:spcAft>
                          <a:spcPts val="0"/>
                        </a:spcAft>
                      </a:pPr>
                      <a:r>
                        <a:rPr lang="fr-FR" sz="1800">
                          <a:effectLst/>
                        </a:rPr>
                        <a:t>'-.'</a:t>
                      </a:r>
                      <a:endParaRPr lang="fr-FR" sz="2800">
                        <a:effectLst/>
                        <a:latin typeface="Calibri"/>
                        <a:ea typeface="Calibri"/>
                        <a:cs typeface="Arial"/>
                      </a:endParaRPr>
                    </a:p>
                  </a:txBody>
                  <a:tcPr marL="68580" marR="68580" marT="0" marB="0"/>
                </a:tc>
                <a:tc>
                  <a:txBody>
                    <a:bodyPr/>
                    <a:lstStyle/>
                    <a:p>
                      <a:pPr>
                        <a:lnSpc>
                          <a:spcPct val="115000"/>
                        </a:lnSpc>
                        <a:spcBef>
                          <a:spcPts val="600"/>
                        </a:spcBef>
                        <a:spcAft>
                          <a:spcPts val="0"/>
                        </a:spcAft>
                      </a:pPr>
                      <a:r>
                        <a:rPr lang="fr-FR" sz="1800">
                          <a:effectLst/>
                        </a:rPr>
                        <a:t>dash-dot line</a:t>
                      </a:r>
                      <a:endParaRPr lang="fr-FR" sz="2800">
                        <a:effectLst/>
                        <a:latin typeface="Calibri"/>
                        <a:ea typeface="Calibri"/>
                        <a:cs typeface="Arial"/>
                      </a:endParaRPr>
                    </a:p>
                  </a:txBody>
                  <a:tcPr marL="68580" marR="68580" marT="0" marB="0"/>
                </a:tc>
              </a:tr>
              <a:tr h="144145">
                <a:tc>
                  <a:txBody>
                    <a:bodyPr/>
                    <a:lstStyle/>
                    <a:p>
                      <a:pPr>
                        <a:lnSpc>
                          <a:spcPct val="115000"/>
                        </a:lnSpc>
                        <a:spcBef>
                          <a:spcPts val="600"/>
                        </a:spcBef>
                        <a:spcAft>
                          <a:spcPts val="0"/>
                        </a:spcAft>
                      </a:pPr>
                      <a:r>
                        <a:rPr lang="fr-FR" sz="1800">
                          <a:effectLst/>
                        </a:rPr>
                        <a:t>':'</a:t>
                      </a:r>
                      <a:endParaRPr lang="fr-FR" sz="2800">
                        <a:effectLst/>
                        <a:latin typeface="Calibri"/>
                        <a:ea typeface="Calibri"/>
                        <a:cs typeface="Arial"/>
                      </a:endParaRPr>
                    </a:p>
                  </a:txBody>
                  <a:tcPr marL="68580" marR="68580" marT="0" marB="0"/>
                </a:tc>
                <a:tc>
                  <a:txBody>
                    <a:bodyPr/>
                    <a:lstStyle/>
                    <a:p>
                      <a:pPr>
                        <a:lnSpc>
                          <a:spcPct val="115000"/>
                        </a:lnSpc>
                        <a:spcBef>
                          <a:spcPts val="600"/>
                        </a:spcBef>
                        <a:spcAft>
                          <a:spcPts val="0"/>
                        </a:spcAft>
                      </a:pPr>
                      <a:r>
                        <a:rPr lang="fr-FR" sz="1800">
                          <a:effectLst/>
                        </a:rPr>
                        <a:t>Dotted line</a:t>
                      </a:r>
                      <a:endParaRPr lang="fr-FR" sz="2800">
                        <a:effectLst/>
                        <a:latin typeface="Calibri"/>
                        <a:ea typeface="Calibri"/>
                        <a:cs typeface="Arial"/>
                      </a:endParaRPr>
                    </a:p>
                  </a:txBody>
                  <a:tcPr marL="68580" marR="68580" marT="0" marB="0"/>
                </a:tc>
              </a:tr>
              <a:tr h="144145">
                <a:tc>
                  <a:txBody>
                    <a:bodyPr/>
                    <a:lstStyle/>
                    <a:p>
                      <a:pPr>
                        <a:lnSpc>
                          <a:spcPct val="115000"/>
                        </a:lnSpc>
                        <a:spcBef>
                          <a:spcPts val="600"/>
                        </a:spcBef>
                        <a:spcAft>
                          <a:spcPts val="0"/>
                        </a:spcAft>
                      </a:pPr>
                      <a:r>
                        <a:rPr lang="fr-FR" sz="1800">
                          <a:effectLst/>
                        </a:rPr>
                        <a:t>'.'</a:t>
                      </a:r>
                      <a:endParaRPr lang="fr-FR" sz="2800">
                        <a:effectLst/>
                        <a:latin typeface="Calibri"/>
                        <a:ea typeface="Calibri"/>
                        <a:cs typeface="Arial"/>
                      </a:endParaRPr>
                    </a:p>
                  </a:txBody>
                  <a:tcPr marL="68580" marR="68580" marT="0" marB="0"/>
                </a:tc>
                <a:tc>
                  <a:txBody>
                    <a:bodyPr/>
                    <a:lstStyle/>
                    <a:p>
                      <a:pPr>
                        <a:lnSpc>
                          <a:spcPct val="115000"/>
                        </a:lnSpc>
                        <a:spcBef>
                          <a:spcPts val="600"/>
                        </a:spcBef>
                        <a:spcAft>
                          <a:spcPts val="0"/>
                        </a:spcAft>
                      </a:pPr>
                      <a:r>
                        <a:rPr lang="fr-FR" sz="1800" dirty="0">
                          <a:effectLst/>
                        </a:rPr>
                        <a:t>Point marker</a:t>
                      </a:r>
                      <a:endParaRPr lang="fr-FR" sz="2800" dirty="0">
                        <a:effectLst/>
                        <a:latin typeface="Calibri"/>
                        <a:ea typeface="Calibri"/>
                        <a:cs typeface="Arial"/>
                      </a:endParaRPr>
                    </a:p>
                  </a:txBody>
                  <a:tcPr marL="68580" marR="68580" marT="0" marB="0"/>
                </a:tc>
              </a:tr>
              <a:tr h="144145">
                <a:tc>
                  <a:txBody>
                    <a:bodyPr/>
                    <a:lstStyle/>
                    <a:p>
                      <a:pPr>
                        <a:lnSpc>
                          <a:spcPct val="115000"/>
                        </a:lnSpc>
                        <a:spcBef>
                          <a:spcPts val="600"/>
                        </a:spcBef>
                        <a:spcAft>
                          <a:spcPts val="0"/>
                        </a:spcAft>
                      </a:pPr>
                      <a:r>
                        <a:rPr lang="fr-FR" sz="1800">
                          <a:effectLst/>
                        </a:rPr>
                        <a:t>','</a:t>
                      </a:r>
                      <a:endParaRPr lang="fr-FR" sz="2800">
                        <a:effectLst/>
                        <a:latin typeface="Calibri"/>
                        <a:ea typeface="Calibri"/>
                        <a:cs typeface="Arial"/>
                      </a:endParaRPr>
                    </a:p>
                  </a:txBody>
                  <a:tcPr marL="68580" marR="68580" marT="0" marB="0"/>
                </a:tc>
                <a:tc>
                  <a:txBody>
                    <a:bodyPr/>
                    <a:lstStyle/>
                    <a:p>
                      <a:pPr>
                        <a:lnSpc>
                          <a:spcPct val="115000"/>
                        </a:lnSpc>
                        <a:spcBef>
                          <a:spcPts val="600"/>
                        </a:spcBef>
                        <a:spcAft>
                          <a:spcPts val="0"/>
                        </a:spcAft>
                      </a:pPr>
                      <a:r>
                        <a:rPr lang="fr-FR" sz="1800">
                          <a:effectLst/>
                        </a:rPr>
                        <a:t>pixel marker</a:t>
                      </a:r>
                      <a:endParaRPr lang="fr-FR" sz="2800">
                        <a:effectLst/>
                        <a:latin typeface="Calibri"/>
                        <a:ea typeface="Calibri"/>
                        <a:cs typeface="Arial"/>
                      </a:endParaRPr>
                    </a:p>
                  </a:txBody>
                  <a:tcPr marL="68580" marR="68580" marT="0" marB="0"/>
                </a:tc>
              </a:tr>
              <a:tr h="144145">
                <a:tc>
                  <a:txBody>
                    <a:bodyPr/>
                    <a:lstStyle/>
                    <a:p>
                      <a:pPr>
                        <a:lnSpc>
                          <a:spcPct val="115000"/>
                        </a:lnSpc>
                        <a:spcBef>
                          <a:spcPts val="600"/>
                        </a:spcBef>
                        <a:spcAft>
                          <a:spcPts val="0"/>
                        </a:spcAft>
                      </a:pPr>
                      <a:r>
                        <a:rPr lang="fr-FR" sz="1800">
                          <a:effectLst/>
                        </a:rPr>
                        <a:t>'o'</a:t>
                      </a:r>
                      <a:endParaRPr lang="fr-FR" sz="2800">
                        <a:effectLst/>
                        <a:latin typeface="Calibri"/>
                        <a:ea typeface="Calibri"/>
                        <a:cs typeface="Arial"/>
                      </a:endParaRPr>
                    </a:p>
                  </a:txBody>
                  <a:tcPr marL="68580" marR="68580" marT="0" marB="0"/>
                </a:tc>
                <a:tc>
                  <a:txBody>
                    <a:bodyPr/>
                    <a:lstStyle/>
                    <a:p>
                      <a:pPr>
                        <a:lnSpc>
                          <a:spcPct val="115000"/>
                        </a:lnSpc>
                        <a:spcBef>
                          <a:spcPts val="600"/>
                        </a:spcBef>
                        <a:spcAft>
                          <a:spcPts val="0"/>
                        </a:spcAft>
                      </a:pPr>
                      <a:r>
                        <a:rPr lang="fr-FR" sz="1800">
                          <a:effectLst/>
                        </a:rPr>
                        <a:t>Circle marker</a:t>
                      </a:r>
                      <a:endParaRPr lang="fr-FR" sz="2800">
                        <a:effectLst/>
                        <a:latin typeface="Calibri"/>
                        <a:ea typeface="Calibri"/>
                        <a:cs typeface="Arial"/>
                      </a:endParaRPr>
                    </a:p>
                  </a:txBody>
                  <a:tcPr marL="68580" marR="68580" marT="0" marB="0"/>
                </a:tc>
              </a:tr>
              <a:tr h="144145">
                <a:tc>
                  <a:txBody>
                    <a:bodyPr/>
                    <a:lstStyle/>
                    <a:p>
                      <a:pPr>
                        <a:lnSpc>
                          <a:spcPct val="115000"/>
                        </a:lnSpc>
                        <a:spcBef>
                          <a:spcPts val="600"/>
                        </a:spcBef>
                        <a:spcAft>
                          <a:spcPts val="0"/>
                        </a:spcAft>
                      </a:pPr>
                      <a:r>
                        <a:rPr lang="fr-FR" sz="1800">
                          <a:effectLst/>
                        </a:rPr>
                        <a:t>'v'</a:t>
                      </a:r>
                      <a:endParaRPr lang="fr-FR" sz="2800">
                        <a:effectLst/>
                        <a:latin typeface="Calibri"/>
                        <a:ea typeface="Calibri"/>
                        <a:cs typeface="Arial"/>
                      </a:endParaRPr>
                    </a:p>
                  </a:txBody>
                  <a:tcPr marL="68580" marR="68580" marT="0" marB="0"/>
                </a:tc>
                <a:tc>
                  <a:txBody>
                    <a:bodyPr/>
                    <a:lstStyle/>
                    <a:p>
                      <a:pPr>
                        <a:lnSpc>
                          <a:spcPct val="115000"/>
                        </a:lnSpc>
                        <a:spcBef>
                          <a:spcPts val="600"/>
                        </a:spcBef>
                        <a:spcAft>
                          <a:spcPts val="0"/>
                        </a:spcAft>
                      </a:pPr>
                      <a:r>
                        <a:rPr lang="fr-FR" sz="1800" dirty="0" err="1">
                          <a:effectLst/>
                        </a:rPr>
                        <a:t>triangle_down</a:t>
                      </a:r>
                      <a:r>
                        <a:rPr lang="fr-FR" sz="1800" dirty="0">
                          <a:effectLst/>
                        </a:rPr>
                        <a:t> marker</a:t>
                      </a:r>
                      <a:endParaRPr lang="fr-FR" sz="2800" dirty="0">
                        <a:effectLst/>
                        <a:latin typeface="Calibri"/>
                        <a:ea typeface="Calibri"/>
                        <a:cs typeface="Arial"/>
                      </a:endParaRPr>
                    </a:p>
                  </a:txBody>
                  <a:tcPr marL="68580" marR="68580" marT="0" marB="0"/>
                </a:tc>
              </a:tr>
              <a:tr h="144145">
                <a:tc>
                  <a:txBody>
                    <a:bodyPr/>
                    <a:lstStyle/>
                    <a:p>
                      <a:pPr>
                        <a:lnSpc>
                          <a:spcPct val="115000"/>
                        </a:lnSpc>
                        <a:spcBef>
                          <a:spcPts val="600"/>
                        </a:spcBef>
                        <a:spcAft>
                          <a:spcPts val="0"/>
                        </a:spcAft>
                      </a:pPr>
                      <a:r>
                        <a:rPr lang="fr-FR" sz="1800">
                          <a:effectLst/>
                        </a:rPr>
                        <a:t>'^'</a:t>
                      </a:r>
                      <a:endParaRPr lang="fr-FR" sz="2800">
                        <a:effectLst/>
                        <a:latin typeface="Calibri"/>
                        <a:ea typeface="Calibri"/>
                        <a:cs typeface="Arial"/>
                      </a:endParaRPr>
                    </a:p>
                  </a:txBody>
                  <a:tcPr marL="68580" marR="68580" marT="0" marB="0"/>
                </a:tc>
                <a:tc>
                  <a:txBody>
                    <a:bodyPr/>
                    <a:lstStyle/>
                    <a:p>
                      <a:pPr>
                        <a:lnSpc>
                          <a:spcPct val="115000"/>
                        </a:lnSpc>
                        <a:spcBef>
                          <a:spcPts val="600"/>
                        </a:spcBef>
                        <a:spcAft>
                          <a:spcPts val="0"/>
                        </a:spcAft>
                      </a:pPr>
                      <a:r>
                        <a:rPr lang="fr-FR" sz="1800" dirty="0" err="1">
                          <a:effectLst/>
                        </a:rPr>
                        <a:t>triangle_up</a:t>
                      </a:r>
                      <a:r>
                        <a:rPr lang="fr-FR" sz="1800" dirty="0">
                          <a:effectLst/>
                        </a:rPr>
                        <a:t> marker</a:t>
                      </a:r>
                      <a:endParaRPr lang="fr-FR" sz="2800" dirty="0">
                        <a:effectLst/>
                        <a:latin typeface="Calibri"/>
                        <a:ea typeface="Calibri"/>
                        <a:cs typeface="Arial"/>
                      </a:endParaRPr>
                    </a:p>
                  </a:txBody>
                  <a:tcPr marL="68580" marR="68580" marT="0" marB="0"/>
                </a:tc>
              </a:tr>
              <a:tr h="144145">
                <a:tc>
                  <a:txBody>
                    <a:bodyPr/>
                    <a:lstStyle/>
                    <a:p>
                      <a:pPr>
                        <a:lnSpc>
                          <a:spcPct val="115000"/>
                        </a:lnSpc>
                        <a:spcBef>
                          <a:spcPts val="600"/>
                        </a:spcBef>
                        <a:spcAft>
                          <a:spcPts val="0"/>
                        </a:spcAft>
                      </a:pPr>
                      <a:r>
                        <a:rPr lang="fr-FR" sz="1800">
                          <a:effectLst/>
                        </a:rPr>
                        <a:t>'&lt;'</a:t>
                      </a:r>
                      <a:endParaRPr lang="fr-FR" sz="2800">
                        <a:effectLst/>
                        <a:latin typeface="Calibri"/>
                        <a:ea typeface="Calibri"/>
                        <a:cs typeface="Arial"/>
                      </a:endParaRPr>
                    </a:p>
                  </a:txBody>
                  <a:tcPr marL="68580" marR="68580" marT="0" marB="0"/>
                </a:tc>
                <a:tc>
                  <a:txBody>
                    <a:bodyPr/>
                    <a:lstStyle/>
                    <a:p>
                      <a:pPr>
                        <a:lnSpc>
                          <a:spcPct val="115000"/>
                        </a:lnSpc>
                        <a:spcBef>
                          <a:spcPts val="600"/>
                        </a:spcBef>
                        <a:spcAft>
                          <a:spcPts val="0"/>
                        </a:spcAft>
                      </a:pPr>
                      <a:r>
                        <a:rPr lang="fr-FR" sz="1800">
                          <a:effectLst/>
                        </a:rPr>
                        <a:t>triangle_left marker</a:t>
                      </a:r>
                      <a:endParaRPr lang="fr-FR" sz="2800">
                        <a:effectLst/>
                        <a:latin typeface="Calibri"/>
                        <a:ea typeface="Calibri"/>
                        <a:cs typeface="Arial"/>
                      </a:endParaRPr>
                    </a:p>
                  </a:txBody>
                  <a:tcPr marL="68580" marR="68580" marT="0" marB="0"/>
                </a:tc>
              </a:tr>
              <a:tr h="144145">
                <a:tc>
                  <a:txBody>
                    <a:bodyPr/>
                    <a:lstStyle/>
                    <a:p>
                      <a:pPr>
                        <a:lnSpc>
                          <a:spcPct val="115000"/>
                        </a:lnSpc>
                        <a:spcBef>
                          <a:spcPts val="600"/>
                        </a:spcBef>
                        <a:spcAft>
                          <a:spcPts val="0"/>
                        </a:spcAft>
                      </a:pPr>
                      <a:r>
                        <a:rPr lang="fr-FR" sz="1800">
                          <a:effectLst/>
                        </a:rPr>
                        <a:t>'&gt;'</a:t>
                      </a:r>
                      <a:endParaRPr lang="fr-FR" sz="2800">
                        <a:effectLst/>
                        <a:latin typeface="Calibri"/>
                        <a:ea typeface="Calibri"/>
                        <a:cs typeface="Arial"/>
                      </a:endParaRPr>
                    </a:p>
                  </a:txBody>
                  <a:tcPr marL="68580" marR="68580" marT="0" marB="0"/>
                </a:tc>
                <a:tc>
                  <a:txBody>
                    <a:bodyPr/>
                    <a:lstStyle/>
                    <a:p>
                      <a:pPr>
                        <a:lnSpc>
                          <a:spcPct val="115000"/>
                        </a:lnSpc>
                        <a:spcBef>
                          <a:spcPts val="600"/>
                        </a:spcBef>
                        <a:spcAft>
                          <a:spcPts val="0"/>
                        </a:spcAft>
                      </a:pPr>
                      <a:r>
                        <a:rPr lang="fr-FR" sz="1800">
                          <a:effectLst/>
                        </a:rPr>
                        <a:t>triangle_right marker</a:t>
                      </a:r>
                      <a:endParaRPr lang="fr-FR" sz="2800">
                        <a:effectLst/>
                        <a:latin typeface="Calibri"/>
                        <a:ea typeface="Calibri"/>
                        <a:cs typeface="Arial"/>
                      </a:endParaRPr>
                    </a:p>
                  </a:txBody>
                  <a:tcPr marL="68580" marR="68580" marT="0" marB="0"/>
                </a:tc>
              </a:tr>
              <a:tr h="144145">
                <a:tc>
                  <a:txBody>
                    <a:bodyPr/>
                    <a:lstStyle/>
                    <a:p>
                      <a:pPr>
                        <a:lnSpc>
                          <a:spcPct val="115000"/>
                        </a:lnSpc>
                        <a:spcBef>
                          <a:spcPts val="600"/>
                        </a:spcBef>
                        <a:spcAft>
                          <a:spcPts val="0"/>
                        </a:spcAft>
                      </a:pPr>
                      <a:r>
                        <a:rPr lang="fr-FR" sz="1800">
                          <a:effectLst/>
                        </a:rPr>
                        <a:t>'s'</a:t>
                      </a:r>
                      <a:endParaRPr lang="fr-FR" sz="2800">
                        <a:effectLst/>
                        <a:latin typeface="Calibri"/>
                        <a:ea typeface="Calibri"/>
                        <a:cs typeface="Arial"/>
                      </a:endParaRPr>
                    </a:p>
                  </a:txBody>
                  <a:tcPr marL="68580" marR="68580" marT="0" marB="0"/>
                </a:tc>
                <a:tc>
                  <a:txBody>
                    <a:bodyPr/>
                    <a:lstStyle/>
                    <a:p>
                      <a:pPr>
                        <a:lnSpc>
                          <a:spcPct val="115000"/>
                        </a:lnSpc>
                        <a:spcBef>
                          <a:spcPts val="600"/>
                        </a:spcBef>
                        <a:spcAft>
                          <a:spcPts val="0"/>
                        </a:spcAft>
                      </a:pPr>
                      <a:r>
                        <a:rPr lang="fr-FR" sz="1800" dirty="0">
                          <a:effectLst/>
                        </a:rPr>
                        <a:t>Square marker</a:t>
                      </a:r>
                      <a:endParaRPr lang="fr-FR" sz="2800" dirty="0">
                        <a:effectLst/>
                        <a:latin typeface="Calibri"/>
                        <a:ea typeface="Calibri"/>
                        <a:cs typeface="Arial"/>
                      </a:endParaRPr>
                    </a:p>
                  </a:txBody>
                  <a:tcPr marL="68580" marR="68580" marT="0" marB="0"/>
                </a:tc>
              </a:tr>
              <a:tr h="144145">
                <a:tc>
                  <a:txBody>
                    <a:bodyPr/>
                    <a:lstStyle/>
                    <a:p>
                      <a:pPr>
                        <a:lnSpc>
                          <a:spcPct val="115000"/>
                        </a:lnSpc>
                        <a:spcBef>
                          <a:spcPts val="600"/>
                        </a:spcBef>
                        <a:spcAft>
                          <a:spcPts val="0"/>
                        </a:spcAft>
                      </a:pPr>
                      <a:r>
                        <a:rPr lang="fr-FR" sz="1800">
                          <a:effectLst/>
                        </a:rPr>
                        <a:t>'p'</a:t>
                      </a:r>
                      <a:endParaRPr lang="fr-FR" sz="2800">
                        <a:effectLst/>
                        <a:latin typeface="Calibri"/>
                        <a:ea typeface="Calibri"/>
                        <a:cs typeface="Arial"/>
                      </a:endParaRPr>
                    </a:p>
                  </a:txBody>
                  <a:tcPr marL="68580" marR="68580" marT="0" marB="0"/>
                </a:tc>
                <a:tc>
                  <a:txBody>
                    <a:bodyPr/>
                    <a:lstStyle/>
                    <a:p>
                      <a:pPr>
                        <a:lnSpc>
                          <a:spcPct val="115000"/>
                        </a:lnSpc>
                        <a:spcBef>
                          <a:spcPts val="600"/>
                        </a:spcBef>
                        <a:spcAft>
                          <a:spcPts val="0"/>
                        </a:spcAft>
                      </a:pPr>
                      <a:r>
                        <a:rPr lang="fr-FR" sz="1800" dirty="0" err="1">
                          <a:effectLst/>
                        </a:rPr>
                        <a:t>Pentagon</a:t>
                      </a:r>
                      <a:r>
                        <a:rPr lang="fr-FR" sz="1800" dirty="0">
                          <a:effectLst/>
                        </a:rPr>
                        <a:t> marker</a:t>
                      </a:r>
                      <a:endParaRPr lang="fr-FR" sz="2800" dirty="0">
                        <a:effectLst/>
                        <a:latin typeface="Calibri"/>
                        <a:ea typeface="Calibri"/>
                        <a:cs typeface="Arial"/>
                      </a:endParaRPr>
                    </a:p>
                  </a:txBody>
                  <a:tcPr marL="68580" marR="68580" marT="0" marB="0"/>
                </a:tc>
              </a:tr>
            </a:tbl>
          </a:graphicData>
        </a:graphic>
      </p:graphicFrame>
    </p:spTree>
    <p:custDataLst>
      <p:tags r:id="rId1"/>
    </p:custDataLst>
    <p:extLst>
      <p:ext uri="{BB962C8B-B14F-4D97-AF65-F5344CB8AC3E}">
        <p14:creationId xmlns:p14="http://schemas.microsoft.com/office/powerpoint/2010/main" val="203620238"/>
      </p:ext>
    </p:extLst>
  </p:cSld>
  <p:clrMapOvr>
    <a:masterClrMapping/>
  </p:clrMapOvr>
  <p:transition>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Text Box 9"/>
          <p:cNvSpPr txBox="1">
            <a:spLocks noChangeArrowheads="1"/>
          </p:cNvSpPr>
          <p:nvPr/>
        </p:nvSpPr>
        <p:spPr bwMode="auto">
          <a:xfrm>
            <a:off x="971550" y="58738"/>
            <a:ext cx="8172450" cy="369332"/>
          </a:xfrm>
          <a:prstGeom prst="rect">
            <a:avLst/>
          </a:prstGeom>
          <a:noFill/>
          <a:ln w="12700" algn="ctr">
            <a:noFill/>
            <a:miter lim="800000"/>
            <a:headEnd/>
            <a:tailEnd/>
          </a:ln>
        </p:spPr>
        <p:txBody>
          <a:bodyPr>
            <a:spAutoFit/>
          </a:bodyPr>
          <a:lstStyle/>
          <a:p>
            <a:pPr>
              <a:spcBef>
                <a:spcPct val="50000"/>
              </a:spcBef>
            </a:pPr>
            <a:r>
              <a:rPr lang="fr-FR" sz="1800" b="1" dirty="0" smtClean="0">
                <a:solidFill>
                  <a:srgbClr val="000000"/>
                </a:solidFill>
                <a:latin typeface="Arial" pitchFamily="34" charset="0"/>
              </a:rPr>
              <a:t>Les modules</a:t>
            </a:r>
            <a:endParaRPr lang="fr-FR" sz="1800" b="1" dirty="0">
              <a:solidFill>
                <a:srgbClr val="000000"/>
              </a:solidFill>
              <a:latin typeface="Arial" pitchFamily="34" charset="0"/>
            </a:endParaRPr>
          </a:p>
        </p:txBody>
      </p:sp>
      <p:cxnSp>
        <p:nvCxnSpPr>
          <p:cNvPr id="203781"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203782"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203783" name="Triangle isocèle 6"/>
          <p:cNvSpPr>
            <a:spLocks noChangeArrowheads="1"/>
          </p:cNvSpPr>
          <p:nvPr/>
        </p:nvSpPr>
        <p:spPr bwMode="auto">
          <a:xfrm>
            <a:off x="571500" y="1143000"/>
            <a:ext cx="500063" cy="357188"/>
          </a:xfrm>
          <a:prstGeom prst="triangle">
            <a:avLst>
              <a:gd name="adj" fmla="val 50000"/>
            </a:avLst>
          </a:prstGeom>
          <a:noFill/>
          <a:ln w="9525" algn="ctr">
            <a:noFill/>
            <a:round/>
            <a:headEnd/>
            <a:tailEnd/>
          </a:ln>
        </p:spPr>
        <p:txBody>
          <a:bodyPr lIns="90000" tIns="46800" rIns="90000" bIns="46800" anchor="ctr">
            <a:spAutoFit/>
          </a:bodyPr>
          <a:lstStyle/>
          <a:p>
            <a:pPr eaLnBrk="1" hangingPunct="1">
              <a:spcBef>
                <a:spcPct val="50000"/>
              </a:spcBef>
              <a:buClr>
                <a:srgbClr val="336666"/>
              </a:buClr>
              <a:buFont typeface="Wingdings" pitchFamily="2" charset="2"/>
              <a:buNone/>
            </a:pPr>
            <a:endParaRPr lang="fr-FR"/>
          </a:p>
        </p:txBody>
      </p:sp>
      <p:sp>
        <p:nvSpPr>
          <p:cNvPr id="203784" name="Triangle isocèle 8"/>
          <p:cNvSpPr>
            <a:spLocks noChangeArrowheads="1"/>
          </p:cNvSpPr>
          <p:nvPr/>
        </p:nvSpPr>
        <p:spPr bwMode="auto">
          <a:xfrm>
            <a:off x="785813" y="1500188"/>
            <a:ext cx="714375" cy="500062"/>
          </a:xfrm>
          <a:prstGeom prst="triangle">
            <a:avLst>
              <a:gd name="adj" fmla="val 50000"/>
            </a:avLst>
          </a:prstGeom>
          <a:noFill/>
          <a:ln w="9525" algn="ctr">
            <a:noFill/>
            <a:round/>
            <a:headEnd/>
            <a:tailEnd/>
          </a:ln>
        </p:spPr>
        <p:txBody>
          <a:bodyPr lIns="90000" tIns="46800" rIns="90000" bIns="46800" anchor="ctr">
            <a:spAutoFit/>
          </a:bodyPr>
          <a:lstStyle/>
          <a:p>
            <a:pPr eaLnBrk="1" hangingPunct="1">
              <a:spcBef>
                <a:spcPct val="50000"/>
              </a:spcBef>
              <a:buClr>
                <a:srgbClr val="336666"/>
              </a:buClr>
              <a:buFont typeface="Wingdings" pitchFamily="2" charset="2"/>
              <a:buNone/>
            </a:pPr>
            <a:endParaRPr lang="fr-FR"/>
          </a:p>
        </p:txBody>
      </p:sp>
      <p:sp>
        <p:nvSpPr>
          <p:cNvPr id="11"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dirty="0" smtClean="0">
                <a:latin typeface="+mj-lt"/>
              </a:rPr>
              <a:t>Le </a:t>
            </a:r>
            <a:r>
              <a:rPr lang="fr-FR" dirty="0">
                <a:latin typeface="+mj-lt"/>
              </a:rPr>
              <a:t>module  </a:t>
            </a:r>
            <a:r>
              <a:rPr lang="fr-FR" b="1" dirty="0" err="1">
                <a:latin typeface="+mj-lt"/>
              </a:rPr>
              <a:t>matplotlib.pyplot</a:t>
            </a:r>
            <a:r>
              <a:rPr lang="fr-FR" dirty="0">
                <a:latin typeface="+mj-lt"/>
              </a:rPr>
              <a:t> </a:t>
            </a:r>
            <a:r>
              <a:rPr lang="fr-FR" dirty="0" smtClean="0">
                <a:latin typeface="+mj-lt"/>
              </a:rPr>
              <a:t> pour tracer </a:t>
            </a:r>
            <a:r>
              <a:rPr lang="fr-FR" dirty="0">
                <a:latin typeface="+mj-lt"/>
              </a:rPr>
              <a:t>des courbes</a:t>
            </a:r>
            <a:endParaRPr lang="fr-FR" b="1" dirty="0">
              <a:latin typeface="+mj-lt"/>
            </a:endParaRPr>
          </a:p>
        </p:txBody>
      </p:sp>
      <p:sp>
        <p:nvSpPr>
          <p:cNvPr id="5" name="Rectangle 4"/>
          <p:cNvSpPr/>
          <p:nvPr/>
        </p:nvSpPr>
        <p:spPr>
          <a:xfrm>
            <a:off x="107380" y="1124680"/>
            <a:ext cx="4340099" cy="400110"/>
          </a:xfrm>
          <a:prstGeom prst="rect">
            <a:avLst/>
          </a:prstGeom>
        </p:spPr>
        <p:txBody>
          <a:bodyPr wrap="none">
            <a:spAutoFit/>
          </a:bodyPr>
          <a:lstStyle/>
          <a:p>
            <a:pPr marL="800100" lvl="1" indent="-342900">
              <a:buClr>
                <a:srgbClr val="008080"/>
              </a:buClr>
              <a:buFont typeface="Wingdings" pitchFamily="2" charset="2"/>
              <a:buChar char="v"/>
            </a:pPr>
            <a:r>
              <a:rPr lang="fr-FR" dirty="0" smtClean="0">
                <a:solidFill>
                  <a:srgbClr val="FF0000"/>
                </a:solidFill>
                <a:latin typeface="Arial(corps)"/>
                <a:ea typeface="Verdana" pitchFamily="34" charset="0"/>
                <a:cs typeface="Verdana" pitchFamily="34" charset="0"/>
              </a:rPr>
              <a:t>Tables </a:t>
            </a:r>
            <a:r>
              <a:rPr lang="fr-FR" dirty="0">
                <a:solidFill>
                  <a:srgbClr val="FF0000"/>
                </a:solidFill>
                <a:latin typeface="Arial(corps)"/>
                <a:ea typeface="Verdana" pitchFamily="34" charset="0"/>
                <a:cs typeface="Verdana" pitchFamily="34" charset="0"/>
              </a:rPr>
              <a:t>des Styles de traçage </a:t>
            </a:r>
          </a:p>
        </p:txBody>
      </p:sp>
      <p:graphicFrame>
        <p:nvGraphicFramePr>
          <p:cNvPr id="2" name="Tableau 1"/>
          <p:cNvGraphicFramePr>
            <a:graphicFrameLocks noGrp="1"/>
          </p:cNvGraphicFramePr>
          <p:nvPr>
            <p:extLst>
              <p:ext uri="{D42A27DB-BD31-4B8C-83A1-F6EECF244321}">
                <p14:modId xmlns:p14="http://schemas.microsoft.com/office/powerpoint/2010/main" val="3061959508"/>
              </p:ext>
            </p:extLst>
          </p:nvPr>
        </p:nvGraphicFramePr>
        <p:xfrm>
          <a:off x="571499" y="1604808"/>
          <a:ext cx="3928491" cy="4732020"/>
        </p:xfrm>
        <a:graphic>
          <a:graphicData uri="http://schemas.openxmlformats.org/drawingml/2006/table">
            <a:tbl>
              <a:tblPr firstRow="1" firstCol="1" bandRow="1">
                <a:tableStyleId>{284E427A-3D55-4303-BF80-6455036E1DE7}</a:tableStyleId>
              </a:tblPr>
              <a:tblGrid>
                <a:gridCol w="1636197"/>
                <a:gridCol w="2292294"/>
              </a:tblGrid>
              <a:tr h="144145">
                <a:tc>
                  <a:txBody>
                    <a:bodyPr/>
                    <a:lstStyle/>
                    <a:p>
                      <a:pPr>
                        <a:lnSpc>
                          <a:spcPct val="115000"/>
                        </a:lnSpc>
                        <a:spcBef>
                          <a:spcPts val="600"/>
                        </a:spcBef>
                        <a:spcAft>
                          <a:spcPts val="0"/>
                        </a:spcAft>
                      </a:pPr>
                      <a:r>
                        <a:rPr lang="fr-FR" sz="1800" dirty="0">
                          <a:solidFill>
                            <a:schemeClr val="tx1"/>
                          </a:solidFill>
                          <a:effectLst/>
                        </a:rPr>
                        <a:t>Caractère de traçage</a:t>
                      </a:r>
                      <a:endParaRPr lang="fr-FR" sz="2800" dirty="0">
                        <a:solidFill>
                          <a:schemeClr val="tx1"/>
                        </a:solidFill>
                        <a:effectLst/>
                        <a:latin typeface="Calibri"/>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15000"/>
                        </a:lnSpc>
                        <a:spcBef>
                          <a:spcPts val="600"/>
                        </a:spcBef>
                        <a:spcAft>
                          <a:spcPts val="0"/>
                        </a:spcAft>
                      </a:pPr>
                      <a:r>
                        <a:rPr lang="fr-FR" sz="1800" dirty="0">
                          <a:solidFill>
                            <a:schemeClr val="tx1"/>
                          </a:solidFill>
                          <a:effectLst/>
                        </a:rPr>
                        <a:t>description</a:t>
                      </a:r>
                      <a:endParaRPr lang="fr-FR" sz="2800" dirty="0">
                        <a:solidFill>
                          <a:schemeClr val="tx1"/>
                        </a:solidFill>
                        <a:effectLst/>
                        <a:latin typeface="Calibri"/>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144145">
                <a:tc>
                  <a:txBody>
                    <a:bodyPr/>
                    <a:lstStyle/>
                    <a:p>
                      <a:pPr>
                        <a:lnSpc>
                          <a:spcPct val="115000"/>
                        </a:lnSpc>
                        <a:spcBef>
                          <a:spcPts val="600"/>
                        </a:spcBef>
                        <a:spcAft>
                          <a:spcPts val="0"/>
                        </a:spcAft>
                      </a:pPr>
                      <a:r>
                        <a:rPr lang="fr-FR" sz="1800" dirty="0">
                          <a:effectLst/>
                          <a:latin typeface="Arial(corps)"/>
                          <a:ea typeface="Times New Roman"/>
                          <a:cs typeface="Times New Roman"/>
                        </a:rPr>
                        <a:t>'1'</a:t>
                      </a:r>
                      <a:endParaRPr lang="fr-FR" sz="2800" dirty="0">
                        <a:effectLst/>
                        <a:latin typeface="Arial(corps)"/>
                        <a:ea typeface="Calibri"/>
                        <a:cs typeface="Arial"/>
                      </a:endParaRPr>
                    </a:p>
                  </a:txBody>
                  <a:tcPr marL="68580" marR="68580" marT="0" marB="0">
                    <a:lnT w="3175" cap="flat" cmpd="sng" algn="ctr">
                      <a:solidFill>
                        <a:schemeClr val="tx1"/>
                      </a:solidFill>
                      <a:prstDash val="solid"/>
                      <a:round/>
                      <a:headEnd type="none" w="med" len="med"/>
                      <a:tailEnd type="none" w="med" len="med"/>
                    </a:lnT>
                  </a:tcPr>
                </a:tc>
                <a:tc>
                  <a:txBody>
                    <a:bodyPr/>
                    <a:lstStyle/>
                    <a:p>
                      <a:pPr>
                        <a:lnSpc>
                          <a:spcPct val="115000"/>
                        </a:lnSpc>
                        <a:spcBef>
                          <a:spcPts val="600"/>
                        </a:spcBef>
                        <a:spcAft>
                          <a:spcPts val="0"/>
                        </a:spcAft>
                      </a:pPr>
                      <a:r>
                        <a:rPr lang="fr-FR" sz="1800">
                          <a:effectLst/>
                          <a:latin typeface="Arial(corps)"/>
                          <a:ea typeface="Times New Roman"/>
                          <a:cs typeface="Times New Roman"/>
                        </a:rPr>
                        <a:t>tri_down marker</a:t>
                      </a:r>
                      <a:endParaRPr lang="fr-FR" sz="2800">
                        <a:effectLst/>
                        <a:latin typeface="Arial(corps)"/>
                        <a:ea typeface="Calibri"/>
                        <a:cs typeface="Arial"/>
                      </a:endParaRPr>
                    </a:p>
                  </a:txBody>
                  <a:tcPr marL="68580" marR="68580" marT="0" marB="0">
                    <a:lnT w="3175" cap="flat" cmpd="sng" algn="ctr">
                      <a:solidFill>
                        <a:schemeClr val="tx1"/>
                      </a:solidFill>
                      <a:prstDash val="solid"/>
                      <a:round/>
                      <a:headEnd type="none" w="med" len="med"/>
                      <a:tailEnd type="none" w="med" len="med"/>
                    </a:lnT>
                  </a:tcPr>
                </a:tc>
              </a:tr>
              <a:tr h="144145">
                <a:tc>
                  <a:txBody>
                    <a:bodyPr/>
                    <a:lstStyle/>
                    <a:p>
                      <a:pPr>
                        <a:lnSpc>
                          <a:spcPct val="115000"/>
                        </a:lnSpc>
                        <a:spcBef>
                          <a:spcPts val="600"/>
                        </a:spcBef>
                        <a:spcAft>
                          <a:spcPts val="0"/>
                        </a:spcAft>
                      </a:pPr>
                      <a:r>
                        <a:rPr lang="fr-FR" sz="1800">
                          <a:effectLst/>
                          <a:latin typeface="Arial(corps)"/>
                          <a:ea typeface="Times New Roman"/>
                          <a:cs typeface="Times New Roman"/>
                        </a:rPr>
                        <a:t>'2'</a:t>
                      </a:r>
                      <a:endParaRPr lang="fr-FR" sz="2800">
                        <a:effectLst/>
                        <a:latin typeface="Arial(corps)"/>
                        <a:ea typeface="Calibri"/>
                        <a:cs typeface="Arial"/>
                      </a:endParaRPr>
                    </a:p>
                  </a:txBody>
                  <a:tcPr marL="68580" marR="68580" marT="0" marB="0"/>
                </a:tc>
                <a:tc>
                  <a:txBody>
                    <a:bodyPr/>
                    <a:lstStyle/>
                    <a:p>
                      <a:pPr>
                        <a:lnSpc>
                          <a:spcPct val="115000"/>
                        </a:lnSpc>
                        <a:spcBef>
                          <a:spcPts val="600"/>
                        </a:spcBef>
                        <a:spcAft>
                          <a:spcPts val="0"/>
                        </a:spcAft>
                      </a:pPr>
                      <a:r>
                        <a:rPr lang="fr-FR" sz="1800">
                          <a:effectLst/>
                          <a:latin typeface="Arial(corps)"/>
                          <a:ea typeface="Times New Roman"/>
                          <a:cs typeface="Times New Roman"/>
                        </a:rPr>
                        <a:t>tri_up marker</a:t>
                      </a:r>
                      <a:endParaRPr lang="fr-FR" sz="2800">
                        <a:effectLst/>
                        <a:latin typeface="Arial(corps)"/>
                        <a:ea typeface="Calibri"/>
                        <a:cs typeface="Arial"/>
                      </a:endParaRPr>
                    </a:p>
                  </a:txBody>
                  <a:tcPr marL="68580" marR="68580" marT="0" marB="0"/>
                </a:tc>
              </a:tr>
              <a:tr h="144145">
                <a:tc>
                  <a:txBody>
                    <a:bodyPr/>
                    <a:lstStyle/>
                    <a:p>
                      <a:pPr>
                        <a:lnSpc>
                          <a:spcPct val="115000"/>
                        </a:lnSpc>
                        <a:spcBef>
                          <a:spcPts val="600"/>
                        </a:spcBef>
                        <a:spcAft>
                          <a:spcPts val="0"/>
                        </a:spcAft>
                      </a:pPr>
                      <a:r>
                        <a:rPr lang="fr-FR" sz="1800">
                          <a:effectLst/>
                          <a:latin typeface="Arial(corps)"/>
                          <a:ea typeface="Times New Roman"/>
                          <a:cs typeface="Times New Roman"/>
                        </a:rPr>
                        <a:t>'3'</a:t>
                      </a:r>
                      <a:endParaRPr lang="fr-FR" sz="2800">
                        <a:effectLst/>
                        <a:latin typeface="Arial(corps)"/>
                        <a:ea typeface="Calibri"/>
                        <a:cs typeface="Arial"/>
                      </a:endParaRPr>
                    </a:p>
                  </a:txBody>
                  <a:tcPr marL="68580" marR="68580" marT="0" marB="0"/>
                </a:tc>
                <a:tc>
                  <a:txBody>
                    <a:bodyPr/>
                    <a:lstStyle/>
                    <a:p>
                      <a:pPr>
                        <a:lnSpc>
                          <a:spcPct val="115000"/>
                        </a:lnSpc>
                        <a:spcBef>
                          <a:spcPts val="600"/>
                        </a:spcBef>
                        <a:spcAft>
                          <a:spcPts val="0"/>
                        </a:spcAft>
                      </a:pPr>
                      <a:r>
                        <a:rPr lang="fr-FR" sz="1800">
                          <a:effectLst/>
                          <a:latin typeface="Arial(corps)"/>
                          <a:ea typeface="Times New Roman"/>
                          <a:cs typeface="Times New Roman"/>
                        </a:rPr>
                        <a:t>tri_left marker</a:t>
                      </a:r>
                      <a:endParaRPr lang="fr-FR" sz="2800">
                        <a:effectLst/>
                        <a:latin typeface="Arial(corps)"/>
                        <a:ea typeface="Calibri"/>
                        <a:cs typeface="Arial"/>
                      </a:endParaRPr>
                    </a:p>
                  </a:txBody>
                  <a:tcPr marL="68580" marR="68580" marT="0" marB="0"/>
                </a:tc>
              </a:tr>
              <a:tr h="144145">
                <a:tc>
                  <a:txBody>
                    <a:bodyPr/>
                    <a:lstStyle/>
                    <a:p>
                      <a:pPr>
                        <a:lnSpc>
                          <a:spcPct val="115000"/>
                        </a:lnSpc>
                        <a:spcBef>
                          <a:spcPts val="600"/>
                        </a:spcBef>
                        <a:spcAft>
                          <a:spcPts val="0"/>
                        </a:spcAft>
                      </a:pPr>
                      <a:r>
                        <a:rPr lang="fr-FR" sz="1800">
                          <a:effectLst/>
                          <a:latin typeface="Arial(corps)"/>
                          <a:ea typeface="Times New Roman"/>
                          <a:cs typeface="Times New Roman"/>
                        </a:rPr>
                        <a:t>'4'</a:t>
                      </a:r>
                      <a:endParaRPr lang="fr-FR" sz="2800">
                        <a:effectLst/>
                        <a:latin typeface="Arial(corps)"/>
                        <a:ea typeface="Calibri"/>
                        <a:cs typeface="Arial"/>
                      </a:endParaRPr>
                    </a:p>
                  </a:txBody>
                  <a:tcPr marL="68580" marR="68580" marT="0" marB="0"/>
                </a:tc>
                <a:tc>
                  <a:txBody>
                    <a:bodyPr/>
                    <a:lstStyle/>
                    <a:p>
                      <a:pPr>
                        <a:lnSpc>
                          <a:spcPct val="115000"/>
                        </a:lnSpc>
                        <a:spcBef>
                          <a:spcPts val="600"/>
                        </a:spcBef>
                        <a:spcAft>
                          <a:spcPts val="0"/>
                        </a:spcAft>
                      </a:pPr>
                      <a:r>
                        <a:rPr lang="fr-FR" sz="1800">
                          <a:effectLst/>
                          <a:latin typeface="Arial(corps)"/>
                          <a:ea typeface="Times New Roman"/>
                          <a:cs typeface="Times New Roman"/>
                        </a:rPr>
                        <a:t>tri_right marker</a:t>
                      </a:r>
                      <a:endParaRPr lang="fr-FR" sz="2800">
                        <a:effectLst/>
                        <a:latin typeface="Arial(corps)"/>
                        <a:ea typeface="Calibri"/>
                        <a:cs typeface="Arial"/>
                      </a:endParaRPr>
                    </a:p>
                  </a:txBody>
                  <a:tcPr marL="68580" marR="68580" marT="0" marB="0"/>
                </a:tc>
              </a:tr>
              <a:tr h="144145">
                <a:tc>
                  <a:txBody>
                    <a:bodyPr/>
                    <a:lstStyle/>
                    <a:p>
                      <a:pPr>
                        <a:lnSpc>
                          <a:spcPct val="115000"/>
                        </a:lnSpc>
                        <a:spcBef>
                          <a:spcPts val="600"/>
                        </a:spcBef>
                        <a:spcAft>
                          <a:spcPts val="0"/>
                        </a:spcAft>
                      </a:pPr>
                      <a:r>
                        <a:rPr lang="fr-FR" sz="1800" dirty="0">
                          <a:effectLst/>
                          <a:latin typeface="Arial(corps)"/>
                          <a:ea typeface="Times New Roman"/>
                          <a:cs typeface="Times New Roman"/>
                        </a:rPr>
                        <a:t>'H'</a:t>
                      </a:r>
                      <a:endParaRPr lang="fr-FR" sz="2800" dirty="0">
                        <a:effectLst/>
                        <a:latin typeface="Arial(corps)"/>
                        <a:ea typeface="Calibri"/>
                        <a:cs typeface="Arial"/>
                      </a:endParaRPr>
                    </a:p>
                  </a:txBody>
                  <a:tcPr marL="68580" marR="68580" marT="0" marB="0"/>
                </a:tc>
                <a:tc>
                  <a:txBody>
                    <a:bodyPr/>
                    <a:lstStyle/>
                    <a:p>
                      <a:pPr>
                        <a:lnSpc>
                          <a:spcPct val="115000"/>
                        </a:lnSpc>
                        <a:spcBef>
                          <a:spcPts val="600"/>
                        </a:spcBef>
                        <a:spcAft>
                          <a:spcPts val="0"/>
                        </a:spcAft>
                      </a:pPr>
                      <a:r>
                        <a:rPr lang="fr-FR" sz="1800">
                          <a:effectLst/>
                          <a:latin typeface="Arial(corps)"/>
                          <a:ea typeface="Times New Roman"/>
                          <a:cs typeface="Times New Roman"/>
                        </a:rPr>
                        <a:t>hexagon2 marker</a:t>
                      </a:r>
                      <a:endParaRPr lang="fr-FR" sz="2800">
                        <a:effectLst/>
                        <a:latin typeface="Arial(corps)"/>
                        <a:ea typeface="Calibri"/>
                        <a:cs typeface="Arial"/>
                      </a:endParaRPr>
                    </a:p>
                  </a:txBody>
                  <a:tcPr marL="68580" marR="68580" marT="0" marB="0"/>
                </a:tc>
              </a:tr>
              <a:tr h="144145">
                <a:tc>
                  <a:txBody>
                    <a:bodyPr/>
                    <a:lstStyle/>
                    <a:p>
                      <a:pPr>
                        <a:lnSpc>
                          <a:spcPct val="115000"/>
                        </a:lnSpc>
                        <a:spcBef>
                          <a:spcPts val="600"/>
                        </a:spcBef>
                        <a:spcAft>
                          <a:spcPts val="0"/>
                        </a:spcAft>
                      </a:pPr>
                      <a:r>
                        <a:rPr lang="fr-FR" sz="1800" dirty="0">
                          <a:effectLst/>
                          <a:latin typeface="Arial(corps)"/>
                          <a:ea typeface="Times New Roman"/>
                          <a:cs typeface="Times New Roman"/>
                        </a:rPr>
                        <a:t>'+'</a:t>
                      </a:r>
                      <a:endParaRPr lang="fr-FR" sz="2800" dirty="0">
                        <a:effectLst/>
                        <a:latin typeface="Arial(corps)"/>
                        <a:ea typeface="Calibri"/>
                        <a:cs typeface="Arial"/>
                      </a:endParaRPr>
                    </a:p>
                  </a:txBody>
                  <a:tcPr marL="68580" marR="68580" marT="0" marB="0"/>
                </a:tc>
                <a:tc>
                  <a:txBody>
                    <a:bodyPr/>
                    <a:lstStyle/>
                    <a:p>
                      <a:pPr>
                        <a:lnSpc>
                          <a:spcPct val="115000"/>
                        </a:lnSpc>
                        <a:spcBef>
                          <a:spcPts val="600"/>
                        </a:spcBef>
                        <a:spcAft>
                          <a:spcPts val="0"/>
                        </a:spcAft>
                      </a:pPr>
                      <a:r>
                        <a:rPr lang="fr-FR" sz="1800">
                          <a:effectLst/>
                          <a:latin typeface="Arial(corps)"/>
                          <a:ea typeface="Times New Roman"/>
                          <a:cs typeface="Times New Roman"/>
                        </a:rPr>
                        <a:t>Plus marker</a:t>
                      </a:r>
                      <a:endParaRPr lang="fr-FR" sz="2800">
                        <a:effectLst/>
                        <a:latin typeface="Arial(corps)"/>
                        <a:ea typeface="Calibri"/>
                        <a:cs typeface="Arial"/>
                      </a:endParaRPr>
                    </a:p>
                  </a:txBody>
                  <a:tcPr marL="68580" marR="68580" marT="0" marB="0"/>
                </a:tc>
              </a:tr>
              <a:tr h="144145">
                <a:tc>
                  <a:txBody>
                    <a:bodyPr/>
                    <a:lstStyle/>
                    <a:p>
                      <a:pPr>
                        <a:lnSpc>
                          <a:spcPct val="115000"/>
                        </a:lnSpc>
                        <a:spcBef>
                          <a:spcPts val="600"/>
                        </a:spcBef>
                        <a:spcAft>
                          <a:spcPts val="0"/>
                        </a:spcAft>
                      </a:pPr>
                      <a:r>
                        <a:rPr lang="fr-FR" sz="1800">
                          <a:effectLst/>
                          <a:latin typeface="Arial(corps)"/>
                          <a:ea typeface="Times New Roman"/>
                          <a:cs typeface="Times New Roman"/>
                        </a:rPr>
                        <a:t>'x'</a:t>
                      </a:r>
                      <a:endParaRPr lang="fr-FR" sz="2800">
                        <a:effectLst/>
                        <a:latin typeface="Arial(corps)"/>
                        <a:ea typeface="Calibri"/>
                        <a:cs typeface="Arial"/>
                      </a:endParaRPr>
                    </a:p>
                  </a:txBody>
                  <a:tcPr marL="68580" marR="68580" marT="0" marB="0"/>
                </a:tc>
                <a:tc>
                  <a:txBody>
                    <a:bodyPr/>
                    <a:lstStyle/>
                    <a:p>
                      <a:pPr>
                        <a:lnSpc>
                          <a:spcPct val="115000"/>
                        </a:lnSpc>
                        <a:spcBef>
                          <a:spcPts val="600"/>
                        </a:spcBef>
                        <a:spcAft>
                          <a:spcPts val="0"/>
                        </a:spcAft>
                      </a:pPr>
                      <a:r>
                        <a:rPr lang="fr-FR" sz="1800">
                          <a:effectLst/>
                          <a:latin typeface="Arial(corps)"/>
                          <a:ea typeface="Times New Roman"/>
                          <a:cs typeface="Times New Roman"/>
                        </a:rPr>
                        <a:t>X marker</a:t>
                      </a:r>
                      <a:endParaRPr lang="fr-FR" sz="2800">
                        <a:effectLst/>
                        <a:latin typeface="Arial(corps)"/>
                        <a:ea typeface="Calibri"/>
                        <a:cs typeface="Arial"/>
                      </a:endParaRPr>
                    </a:p>
                  </a:txBody>
                  <a:tcPr marL="68580" marR="68580" marT="0" marB="0"/>
                </a:tc>
              </a:tr>
              <a:tr h="144145">
                <a:tc>
                  <a:txBody>
                    <a:bodyPr/>
                    <a:lstStyle/>
                    <a:p>
                      <a:pPr>
                        <a:lnSpc>
                          <a:spcPct val="115000"/>
                        </a:lnSpc>
                        <a:spcBef>
                          <a:spcPts val="600"/>
                        </a:spcBef>
                        <a:spcAft>
                          <a:spcPts val="0"/>
                        </a:spcAft>
                      </a:pPr>
                      <a:r>
                        <a:rPr lang="fr-FR" sz="1800">
                          <a:effectLst/>
                          <a:latin typeface="Arial(corps)"/>
                          <a:ea typeface="Times New Roman"/>
                          <a:cs typeface="Times New Roman"/>
                        </a:rPr>
                        <a:t>'D'</a:t>
                      </a:r>
                      <a:endParaRPr lang="fr-FR" sz="2800">
                        <a:effectLst/>
                        <a:latin typeface="Arial(corps)"/>
                        <a:ea typeface="Calibri"/>
                        <a:cs typeface="Arial"/>
                      </a:endParaRPr>
                    </a:p>
                  </a:txBody>
                  <a:tcPr marL="68580" marR="68580" marT="0" marB="0"/>
                </a:tc>
                <a:tc>
                  <a:txBody>
                    <a:bodyPr/>
                    <a:lstStyle/>
                    <a:p>
                      <a:pPr>
                        <a:lnSpc>
                          <a:spcPct val="115000"/>
                        </a:lnSpc>
                        <a:spcBef>
                          <a:spcPts val="600"/>
                        </a:spcBef>
                        <a:spcAft>
                          <a:spcPts val="0"/>
                        </a:spcAft>
                      </a:pPr>
                      <a:r>
                        <a:rPr lang="fr-FR" sz="1800" dirty="0" err="1">
                          <a:effectLst/>
                          <a:latin typeface="Arial(corps)"/>
                          <a:ea typeface="Times New Roman"/>
                          <a:cs typeface="Times New Roman"/>
                        </a:rPr>
                        <a:t>diamond</a:t>
                      </a:r>
                      <a:r>
                        <a:rPr lang="fr-FR" sz="1800" dirty="0">
                          <a:effectLst/>
                          <a:latin typeface="Arial(corps)"/>
                          <a:ea typeface="Times New Roman"/>
                          <a:cs typeface="Times New Roman"/>
                        </a:rPr>
                        <a:t> marker</a:t>
                      </a:r>
                      <a:endParaRPr lang="fr-FR" sz="2800" dirty="0">
                        <a:effectLst/>
                        <a:latin typeface="Arial(corps)"/>
                        <a:ea typeface="Calibri"/>
                        <a:cs typeface="Arial"/>
                      </a:endParaRPr>
                    </a:p>
                  </a:txBody>
                  <a:tcPr marL="68580" marR="68580" marT="0" marB="0"/>
                </a:tc>
              </a:tr>
              <a:tr h="144145">
                <a:tc>
                  <a:txBody>
                    <a:bodyPr/>
                    <a:lstStyle/>
                    <a:p>
                      <a:pPr>
                        <a:lnSpc>
                          <a:spcPct val="115000"/>
                        </a:lnSpc>
                        <a:spcBef>
                          <a:spcPts val="600"/>
                        </a:spcBef>
                        <a:spcAft>
                          <a:spcPts val="0"/>
                        </a:spcAft>
                      </a:pPr>
                      <a:r>
                        <a:rPr lang="fr-FR" sz="1800">
                          <a:effectLst/>
                          <a:latin typeface="Arial(corps)"/>
                          <a:ea typeface="Times New Roman"/>
                          <a:cs typeface="Times New Roman"/>
                        </a:rPr>
                        <a:t>'d'</a:t>
                      </a:r>
                      <a:endParaRPr lang="fr-FR" sz="2800">
                        <a:effectLst/>
                        <a:latin typeface="Arial(corps)"/>
                        <a:ea typeface="Calibri"/>
                        <a:cs typeface="Arial"/>
                      </a:endParaRPr>
                    </a:p>
                  </a:txBody>
                  <a:tcPr marL="68580" marR="68580" marT="0" marB="0"/>
                </a:tc>
                <a:tc>
                  <a:txBody>
                    <a:bodyPr/>
                    <a:lstStyle/>
                    <a:p>
                      <a:pPr>
                        <a:lnSpc>
                          <a:spcPct val="115000"/>
                        </a:lnSpc>
                        <a:spcBef>
                          <a:spcPts val="600"/>
                        </a:spcBef>
                        <a:spcAft>
                          <a:spcPts val="0"/>
                        </a:spcAft>
                      </a:pPr>
                      <a:r>
                        <a:rPr lang="fr-FR" sz="1800" dirty="0" err="1">
                          <a:effectLst/>
                          <a:latin typeface="Arial(corps)"/>
                          <a:ea typeface="Times New Roman"/>
                          <a:cs typeface="Times New Roman"/>
                        </a:rPr>
                        <a:t>thin_diamond</a:t>
                      </a:r>
                      <a:r>
                        <a:rPr lang="fr-FR" sz="1800" dirty="0">
                          <a:effectLst/>
                          <a:latin typeface="Arial(corps)"/>
                          <a:ea typeface="Times New Roman"/>
                          <a:cs typeface="Times New Roman"/>
                        </a:rPr>
                        <a:t> marker</a:t>
                      </a:r>
                      <a:endParaRPr lang="fr-FR" sz="2800" dirty="0">
                        <a:effectLst/>
                        <a:latin typeface="Arial(corps)"/>
                        <a:ea typeface="Calibri"/>
                        <a:cs typeface="Arial"/>
                      </a:endParaRPr>
                    </a:p>
                  </a:txBody>
                  <a:tcPr marL="68580" marR="68580" marT="0" marB="0"/>
                </a:tc>
              </a:tr>
              <a:tr h="144145">
                <a:tc>
                  <a:txBody>
                    <a:bodyPr/>
                    <a:lstStyle/>
                    <a:p>
                      <a:pPr>
                        <a:lnSpc>
                          <a:spcPct val="115000"/>
                        </a:lnSpc>
                        <a:spcBef>
                          <a:spcPts val="600"/>
                        </a:spcBef>
                        <a:spcAft>
                          <a:spcPts val="0"/>
                        </a:spcAft>
                      </a:pPr>
                      <a:r>
                        <a:rPr lang="fr-FR" sz="1800">
                          <a:effectLst/>
                          <a:latin typeface="Arial(corps)"/>
                          <a:ea typeface="Times New Roman"/>
                          <a:cs typeface="Times New Roman"/>
                        </a:rPr>
                        <a:t>'|'</a:t>
                      </a:r>
                      <a:endParaRPr lang="fr-FR" sz="2800">
                        <a:effectLst/>
                        <a:latin typeface="Arial(corps)"/>
                        <a:ea typeface="Calibri"/>
                        <a:cs typeface="Arial"/>
                      </a:endParaRPr>
                    </a:p>
                  </a:txBody>
                  <a:tcPr marL="68580" marR="68580" marT="0" marB="0"/>
                </a:tc>
                <a:tc>
                  <a:txBody>
                    <a:bodyPr/>
                    <a:lstStyle/>
                    <a:p>
                      <a:pPr>
                        <a:lnSpc>
                          <a:spcPct val="115000"/>
                        </a:lnSpc>
                        <a:spcBef>
                          <a:spcPts val="600"/>
                        </a:spcBef>
                        <a:spcAft>
                          <a:spcPts val="0"/>
                        </a:spcAft>
                      </a:pPr>
                      <a:r>
                        <a:rPr lang="fr-FR" sz="1800">
                          <a:effectLst/>
                          <a:latin typeface="Arial(corps)"/>
                          <a:ea typeface="Times New Roman"/>
                          <a:cs typeface="Times New Roman"/>
                        </a:rPr>
                        <a:t>Vline marker</a:t>
                      </a:r>
                      <a:endParaRPr lang="fr-FR" sz="2800">
                        <a:effectLst/>
                        <a:latin typeface="Arial(corps)"/>
                        <a:ea typeface="Calibri"/>
                        <a:cs typeface="Arial"/>
                      </a:endParaRPr>
                    </a:p>
                  </a:txBody>
                  <a:tcPr marL="68580" marR="68580" marT="0" marB="0"/>
                </a:tc>
              </a:tr>
              <a:tr h="144145">
                <a:tc>
                  <a:txBody>
                    <a:bodyPr/>
                    <a:lstStyle/>
                    <a:p>
                      <a:pPr>
                        <a:lnSpc>
                          <a:spcPct val="115000"/>
                        </a:lnSpc>
                        <a:spcBef>
                          <a:spcPts val="600"/>
                        </a:spcBef>
                        <a:spcAft>
                          <a:spcPts val="0"/>
                        </a:spcAft>
                      </a:pPr>
                      <a:r>
                        <a:rPr lang="fr-FR" sz="1800">
                          <a:effectLst/>
                          <a:latin typeface="Arial(corps)"/>
                          <a:ea typeface="Times New Roman"/>
                          <a:cs typeface="Times New Roman"/>
                        </a:rPr>
                        <a:t>'_'</a:t>
                      </a:r>
                      <a:endParaRPr lang="fr-FR" sz="2800">
                        <a:effectLst/>
                        <a:latin typeface="Arial(corps)"/>
                        <a:ea typeface="Calibri"/>
                        <a:cs typeface="Arial"/>
                      </a:endParaRPr>
                    </a:p>
                  </a:txBody>
                  <a:tcPr marL="68580" marR="68580" marT="0" marB="0"/>
                </a:tc>
                <a:tc>
                  <a:txBody>
                    <a:bodyPr/>
                    <a:lstStyle/>
                    <a:p>
                      <a:pPr>
                        <a:lnSpc>
                          <a:spcPct val="115000"/>
                        </a:lnSpc>
                        <a:spcBef>
                          <a:spcPts val="600"/>
                        </a:spcBef>
                        <a:spcAft>
                          <a:spcPts val="0"/>
                        </a:spcAft>
                      </a:pPr>
                      <a:r>
                        <a:rPr lang="fr-FR" sz="1800">
                          <a:effectLst/>
                          <a:latin typeface="Arial(corps)"/>
                          <a:ea typeface="Times New Roman"/>
                          <a:cs typeface="Times New Roman"/>
                        </a:rPr>
                        <a:t>Hline marker</a:t>
                      </a:r>
                      <a:endParaRPr lang="fr-FR" sz="2800">
                        <a:effectLst/>
                        <a:latin typeface="Arial(corps)"/>
                        <a:ea typeface="Calibri"/>
                        <a:cs typeface="Arial"/>
                      </a:endParaRPr>
                    </a:p>
                  </a:txBody>
                  <a:tcPr marL="68580" marR="68580" marT="0" marB="0"/>
                </a:tc>
              </a:tr>
              <a:tr h="144145">
                <a:tc>
                  <a:txBody>
                    <a:bodyPr/>
                    <a:lstStyle/>
                    <a:p>
                      <a:pPr>
                        <a:lnSpc>
                          <a:spcPct val="115000"/>
                        </a:lnSpc>
                        <a:spcBef>
                          <a:spcPts val="600"/>
                        </a:spcBef>
                        <a:spcAft>
                          <a:spcPts val="0"/>
                        </a:spcAft>
                      </a:pPr>
                      <a:r>
                        <a:rPr lang="fr-FR" sz="1800">
                          <a:effectLst/>
                          <a:latin typeface="Arial(corps)"/>
                          <a:ea typeface="Times New Roman"/>
                          <a:cs typeface="Times New Roman"/>
                        </a:rPr>
                        <a:t>'*'</a:t>
                      </a:r>
                      <a:endParaRPr lang="fr-FR" sz="2800">
                        <a:effectLst/>
                        <a:latin typeface="Arial(corps)"/>
                        <a:ea typeface="Calibri"/>
                        <a:cs typeface="Arial"/>
                      </a:endParaRPr>
                    </a:p>
                  </a:txBody>
                  <a:tcPr marL="68580" marR="68580" marT="0" marB="0"/>
                </a:tc>
                <a:tc>
                  <a:txBody>
                    <a:bodyPr/>
                    <a:lstStyle/>
                    <a:p>
                      <a:pPr>
                        <a:lnSpc>
                          <a:spcPct val="115000"/>
                        </a:lnSpc>
                        <a:spcBef>
                          <a:spcPts val="600"/>
                        </a:spcBef>
                        <a:spcAft>
                          <a:spcPts val="0"/>
                        </a:spcAft>
                      </a:pPr>
                      <a:r>
                        <a:rPr lang="fr-FR" sz="1800">
                          <a:effectLst/>
                          <a:latin typeface="Arial(corps)"/>
                          <a:ea typeface="Times New Roman"/>
                          <a:cs typeface="Times New Roman"/>
                        </a:rPr>
                        <a:t>Star marker</a:t>
                      </a:r>
                      <a:endParaRPr lang="fr-FR" sz="2800">
                        <a:effectLst/>
                        <a:latin typeface="Arial(corps)"/>
                        <a:ea typeface="Calibri"/>
                        <a:cs typeface="Arial"/>
                      </a:endParaRPr>
                    </a:p>
                  </a:txBody>
                  <a:tcPr marL="68580" marR="68580" marT="0" marB="0"/>
                </a:tc>
              </a:tr>
              <a:tr h="144145">
                <a:tc>
                  <a:txBody>
                    <a:bodyPr/>
                    <a:lstStyle/>
                    <a:p>
                      <a:pPr>
                        <a:lnSpc>
                          <a:spcPct val="115000"/>
                        </a:lnSpc>
                        <a:spcBef>
                          <a:spcPts val="600"/>
                        </a:spcBef>
                        <a:spcAft>
                          <a:spcPts val="0"/>
                        </a:spcAft>
                      </a:pPr>
                      <a:r>
                        <a:rPr lang="fr-FR" sz="1800">
                          <a:effectLst/>
                          <a:latin typeface="Arial(corps)"/>
                          <a:ea typeface="Times New Roman"/>
                          <a:cs typeface="Times New Roman"/>
                        </a:rPr>
                        <a:t>'h'</a:t>
                      </a:r>
                      <a:endParaRPr lang="fr-FR" sz="2800">
                        <a:effectLst/>
                        <a:latin typeface="Arial(corps)"/>
                        <a:ea typeface="Calibri"/>
                        <a:cs typeface="Arial"/>
                      </a:endParaRPr>
                    </a:p>
                  </a:txBody>
                  <a:tcPr marL="68580" marR="68580" marT="0" marB="0"/>
                </a:tc>
                <a:tc>
                  <a:txBody>
                    <a:bodyPr/>
                    <a:lstStyle/>
                    <a:p>
                      <a:pPr>
                        <a:lnSpc>
                          <a:spcPct val="115000"/>
                        </a:lnSpc>
                        <a:spcBef>
                          <a:spcPts val="600"/>
                        </a:spcBef>
                        <a:spcAft>
                          <a:spcPts val="0"/>
                        </a:spcAft>
                      </a:pPr>
                      <a:r>
                        <a:rPr lang="fr-FR" sz="1800" dirty="0">
                          <a:effectLst/>
                          <a:latin typeface="Arial(corps)"/>
                          <a:ea typeface="Times New Roman"/>
                          <a:cs typeface="Times New Roman"/>
                        </a:rPr>
                        <a:t>hexagon1 marker</a:t>
                      </a:r>
                      <a:endParaRPr lang="fr-FR" sz="2800" dirty="0">
                        <a:effectLst/>
                        <a:latin typeface="Arial(corps)"/>
                        <a:ea typeface="Calibri"/>
                        <a:cs typeface="Arial"/>
                      </a:endParaRPr>
                    </a:p>
                  </a:txBody>
                  <a:tcPr marL="68580" marR="68580" marT="0" marB="0"/>
                </a:tc>
              </a:tr>
            </a:tbl>
          </a:graphicData>
        </a:graphic>
      </p:graphicFrame>
      <p:sp>
        <p:nvSpPr>
          <p:cNvPr id="13" name="Rectangle 12"/>
          <p:cNvSpPr/>
          <p:nvPr/>
        </p:nvSpPr>
        <p:spPr>
          <a:xfrm>
            <a:off x="4716020" y="1221760"/>
            <a:ext cx="3131435" cy="400110"/>
          </a:xfrm>
          <a:prstGeom prst="rect">
            <a:avLst/>
          </a:prstGeom>
        </p:spPr>
        <p:txBody>
          <a:bodyPr wrap="none">
            <a:spAutoFit/>
          </a:bodyPr>
          <a:lstStyle/>
          <a:p>
            <a:pPr marL="800100" lvl="1" indent="-342900">
              <a:buClr>
                <a:srgbClr val="008080"/>
              </a:buClr>
              <a:buFont typeface="Wingdings" pitchFamily="2" charset="2"/>
              <a:buChar char="v"/>
            </a:pPr>
            <a:r>
              <a:rPr lang="fr-FR" dirty="0" smtClean="0">
                <a:solidFill>
                  <a:srgbClr val="FF0000"/>
                </a:solidFill>
                <a:latin typeface="Arial(corps)"/>
                <a:ea typeface="Verdana" pitchFamily="34" charset="0"/>
                <a:cs typeface="Verdana" pitchFamily="34" charset="0"/>
              </a:rPr>
              <a:t>Table </a:t>
            </a:r>
            <a:r>
              <a:rPr lang="fr-FR" dirty="0">
                <a:solidFill>
                  <a:srgbClr val="FF0000"/>
                </a:solidFill>
                <a:latin typeface="Arial(corps)"/>
                <a:ea typeface="Verdana" pitchFamily="34" charset="0"/>
                <a:cs typeface="Verdana" pitchFamily="34" charset="0"/>
              </a:rPr>
              <a:t>des couleurs</a:t>
            </a:r>
          </a:p>
        </p:txBody>
      </p:sp>
      <p:graphicFrame>
        <p:nvGraphicFramePr>
          <p:cNvPr id="15" name="Tableau 14"/>
          <p:cNvGraphicFramePr>
            <a:graphicFrameLocks noGrp="1"/>
          </p:cNvGraphicFramePr>
          <p:nvPr>
            <p:extLst>
              <p:ext uri="{D42A27DB-BD31-4B8C-83A1-F6EECF244321}">
                <p14:modId xmlns:p14="http://schemas.microsoft.com/office/powerpoint/2010/main" val="1863755022"/>
              </p:ext>
            </p:extLst>
          </p:nvPr>
        </p:nvGraphicFramePr>
        <p:xfrm>
          <a:off x="5180139" y="1669938"/>
          <a:ext cx="2920351" cy="2839212"/>
        </p:xfrm>
        <a:graphic>
          <a:graphicData uri="http://schemas.openxmlformats.org/drawingml/2006/table">
            <a:tbl>
              <a:tblPr firstRow="1" firstCol="1" bandRow="1">
                <a:tableStyleId>{284E427A-3D55-4303-BF80-6455036E1DE7}</a:tableStyleId>
              </a:tblPr>
              <a:tblGrid>
                <a:gridCol w="1192111"/>
                <a:gridCol w="1728240"/>
              </a:tblGrid>
              <a:tr h="144145">
                <a:tc>
                  <a:txBody>
                    <a:bodyPr/>
                    <a:lstStyle/>
                    <a:p>
                      <a:pPr>
                        <a:lnSpc>
                          <a:spcPct val="115000"/>
                        </a:lnSpc>
                        <a:spcBef>
                          <a:spcPts val="600"/>
                        </a:spcBef>
                        <a:spcAft>
                          <a:spcPts val="0"/>
                        </a:spcAft>
                      </a:pPr>
                      <a:r>
                        <a:rPr lang="fr-FR" sz="1800" b="1" dirty="0">
                          <a:solidFill>
                            <a:schemeClr val="tx1"/>
                          </a:solidFill>
                          <a:effectLst/>
                          <a:latin typeface="Arial(corps)"/>
                          <a:ea typeface="Times New Roman"/>
                          <a:cs typeface="Times New Roman"/>
                        </a:rPr>
                        <a:t>Caractère</a:t>
                      </a:r>
                      <a:endParaRPr lang="fr-FR" sz="2800" dirty="0">
                        <a:solidFill>
                          <a:schemeClr val="tx1"/>
                        </a:solidFill>
                        <a:effectLst/>
                        <a:latin typeface="Arial(corps)"/>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15000"/>
                        </a:lnSpc>
                        <a:spcBef>
                          <a:spcPts val="600"/>
                        </a:spcBef>
                        <a:spcAft>
                          <a:spcPts val="0"/>
                        </a:spcAft>
                      </a:pPr>
                      <a:r>
                        <a:rPr lang="fr-FR" sz="1800" b="1" dirty="0" err="1">
                          <a:solidFill>
                            <a:schemeClr val="tx1"/>
                          </a:solidFill>
                          <a:effectLst/>
                          <a:latin typeface="Arial(corps)"/>
                          <a:ea typeface="Times New Roman"/>
                          <a:cs typeface="Times New Roman"/>
                        </a:rPr>
                        <a:t>Coulour</a:t>
                      </a:r>
                      <a:endParaRPr lang="fr-FR" sz="2800" dirty="0">
                        <a:solidFill>
                          <a:schemeClr val="tx1"/>
                        </a:solidFill>
                        <a:effectLst/>
                        <a:latin typeface="Arial(corps)"/>
                        <a:ea typeface="Calibri"/>
                        <a:cs typeface="Arial"/>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r>
              <a:tr h="144145">
                <a:tc>
                  <a:txBody>
                    <a:bodyPr/>
                    <a:lstStyle/>
                    <a:p>
                      <a:pPr>
                        <a:lnSpc>
                          <a:spcPct val="115000"/>
                        </a:lnSpc>
                        <a:spcBef>
                          <a:spcPts val="600"/>
                        </a:spcBef>
                        <a:spcAft>
                          <a:spcPts val="0"/>
                        </a:spcAft>
                      </a:pPr>
                      <a:r>
                        <a:rPr lang="fr-FR" sz="1800">
                          <a:effectLst/>
                          <a:latin typeface="Arial(corps)"/>
                          <a:ea typeface="Times New Roman"/>
                          <a:cs typeface="Times New Roman"/>
                        </a:rPr>
                        <a:t>'b' </a:t>
                      </a:r>
                      <a:endParaRPr lang="fr-FR" sz="2800">
                        <a:effectLst/>
                        <a:latin typeface="Arial(corps)"/>
                        <a:ea typeface="Calibri"/>
                        <a:cs typeface="Arial"/>
                      </a:endParaRPr>
                    </a:p>
                  </a:txBody>
                  <a:tcPr marL="68580" marR="68580" marT="0" marB="0">
                    <a:lnT w="3175" cap="flat" cmpd="sng" algn="ctr">
                      <a:solidFill>
                        <a:schemeClr val="tx1"/>
                      </a:solidFill>
                      <a:prstDash val="solid"/>
                      <a:round/>
                      <a:headEnd type="none" w="med" len="med"/>
                      <a:tailEnd type="none" w="med" len="med"/>
                    </a:lnT>
                  </a:tcPr>
                </a:tc>
                <a:tc>
                  <a:txBody>
                    <a:bodyPr/>
                    <a:lstStyle/>
                    <a:p>
                      <a:pPr>
                        <a:lnSpc>
                          <a:spcPct val="115000"/>
                        </a:lnSpc>
                        <a:spcBef>
                          <a:spcPts val="600"/>
                        </a:spcBef>
                        <a:spcAft>
                          <a:spcPts val="0"/>
                        </a:spcAft>
                      </a:pPr>
                      <a:r>
                        <a:rPr lang="fr-FR" sz="1800" dirty="0" err="1">
                          <a:effectLst/>
                          <a:latin typeface="Arial(corps)"/>
                          <a:ea typeface="Times New Roman"/>
                          <a:cs typeface="Times New Roman"/>
                        </a:rPr>
                        <a:t>blue</a:t>
                      </a:r>
                      <a:endParaRPr lang="fr-FR" sz="2800" dirty="0">
                        <a:effectLst/>
                        <a:latin typeface="Arial(corps)"/>
                        <a:ea typeface="Calibri"/>
                        <a:cs typeface="Arial"/>
                      </a:endParaRPr>
                    </a:p>
                  </a:txBody>
                  <a:tcPr marL="68580" marR="68580" marT="0" marB="0">
                    <a:lnT w="3175" cap="flat" cmpd="sng" algn="ctr">
                      <a:solidFill>
                        <a:schemeClr val="tx1"/>
                      </a:solidFill>
                      <a:prstDash val="solid"/>
                      <a:round/>
                      <a:headEnd type="none" w="med" len="med"/>
                      <a:tailEnd type="none" w="med" len="med"/>
                    </a:lnT>
                  </a:tcPr>
                </a:tc>
              </a:tr>
              <a:tr h="144145">
                <a:tc>
                  <a:txBody>
                    <a:bodyPr/>
                    <a:lstStyle/>
                    <a:p>
                      <a:pPr>
                        <a:lnSpc>
                          <a:spcPct val="115000"/>
                        </a:lnSpc>
                        <a:spcBef>
                          <a:spcPts val="600"/>
                        </a:spcBef>
                        <a:spcAft>
                          <a:spcPts val="0"/>
                        </a:spcAft>
                      </a:pPr>
                      <a:r>
                        <a:rPr lang="fr-FR" sz="1800">
                          <a:effectLst/>
                          <a:latin typeface="Arial(corps)"/>
                          <a:ea typeface="Times New Roman"/>
                          <a:cs typeface="Times New Roman"/>
                        </a:rPr>
                        <a:t>'g' </a:t>
                      </a:r>
                      <a:endParaRPr lang="fr-FR" sz="2800">
                        <a:effectLst/>
                        <a:latin typeface="Arial(corps)"/>
                        <a:ea typeface="Calibri"/>
                        <a:cs typeface="Arial"/>
                      </a:endParaRPr>
                    </a:p>
                  </a:txBody>
                  <a:tcPr marL="68580" marR="68580" marT="0" marB="0"/>
                </a:tc>
                <a:tc>
                  <a:txBody>
                    <a:bodyPr/>
                    <a:lstStyle/>
                    <a:p>
                      <a:pPr>
                        <a:lnSpc>
                          <a:spcPct val="115000"/>
                        </a:lnSpc>
                        <a:spcBef>
                          <a:spcPts val="600"/>
                        </a:spcBef>
                        <a:spcAft>
                          <a:spcPts val="0"/>
                        </a:spcAft>
                      </a:pPr>
                      <a:r>
                        <a:rPr lang="fr-FR" sz="1800">
                          <a:effectLst/>
                          <a:latin typeface="Arial(corps)"/>
                          <a:ea typeface="Times New Roman"/>
                          <a:cs typeface="Times New Roman"/>
                        </a:rPr>
                        <a:t>green</a:t>
                      </a:r>
                      <a:endParaRPr lang="fr-FR" sz="2800">
                        <a:effectLst/>
                        <a:latin typeface="Arial(corps)"/>
                        <a:ea typeface="Calibri"/>
                        <a:cs typeface="Arial"/>
                      </a:endParaRPr>
                    </a:p>
                  </a:txBody>
                  <a:tcPr marL="68580" marR="68580" marT="0" marB="0"/>
                </a:tc>
              </a:tr>
              <a:tr h="144145">
                <a:tc>
                  <a:txBody>
                    <a:bodyPr/>
                    <a:lstStyle/>
                    <a:p>
                      <a:pPr>
                        <a:lnSpc>
                          <a:spcPct val="115000"/>
                        </a:lnSpc>
                        <a:spcBef>
                          <a:spcPts val="600"/>
                        </a:spcBef>
                        <a:spcAft>
                          <a:spcPts val="0"/>
                        </a:spcAft>
                      </a:pPr>
                      <a:r>
                        <a:rPr lang="fr-FR" sz="1800">
                          <a:effectLst/>
                          <a:latin typeface="Arial(corps)"/>
                          <a:ea typeface="Times New Roman"/>
                          <a:cs typeface="Times New Roman"/>
                        </a:rPr>
                        <a:t>'r' </a:t>
                      </a:r>
                      <a:endParaRPr lang="fr-FR" sz="2800">
                        <a:effectLst/>
                        <a:latin typeface="Arial(corps)"/>
                        <a:ea typeface="Calibri"/>
                        <a:cs typeface="Arial"/>
                      </a:endParaRPr>
                    </a:p>
                  </a:txBody>
                  <a:tcPr marL="68580" marR="68580" marT="0" marB="0"/>
                </a:tc>
                <a:tc>
                  <a:txBody>
                    <a:bodyPr/>
                    <a:lstStyle/>
                    <a:p>
                      <a:pPr>
                        <a:lnSpc>
                          <a:spcPct val="115000"/>
                        </a:lnSpc>
                        <a:spcBef>
                          <a:spcPts val="600"/>
                        </a:spcBef>
                        <a:spcAft>
                          <a:spcPts val="0"/>
                        </a:spcAft>
                      </a:pPr>
                      <a:r>
                        <a:rPr lang="fr-FR" sz="1800">
                          <a:effectLst/>
                          <a:latin typeface="Arial(corps)"/>
                          <a:ea typeface="Times New Roman"/>
                          <a:cs typeface="Times New Roman"/>
                        </a:rPr>
                        <a:t>red</a:t>
                      </a:r>
                      <a:endParaRPr lang="fr-FR" sz="2800">
                        <a:effectLst/>
                        <a:latin typeface="Arial(corps)"/>
                        <a:ea typeface="Calibri"/>
                        <a:cs typeface="Arial"/>
                      </a:endParaRPr>
                    </a:p>
                  </a:txBody>
                  <a:tcPr marL="68580" marR="68580" marT="0" marB="0"/>
                </a:tc>
              </a:tr>
              <a:tr h="144145">
                <a:tc>
                  <a:txBody>
                    <a:bodyPr/>
                    <a:lstStyle/>
                    <a:p>
                      <a:pPr>
                        <a:lnSpc>
                          <a:spcPct val="115000"/>
                        </a:lnSpc>
                        <a:spcBef>
                          <a:spcPts val="600"/>
                        </a:spcBef>
                        <a:spcAft>
                          <a:spcPts val="0"/>
                        </a:spcAft>
                      </a:pPr>
                      <a:r>
                        <a:rPr lang="fr-FR" sz="1800" dirty="0">
                          <a:effectLst/>
                          <a:latin typeface="Arial(corps)"/>
                          <a:ea typeface="Times New Roman"/>
                          <a:cs typeface="Times New Roman"/>
                        </a:rPr>
                        <a:t>'c' </a:t>
                      </a:r>
                      <a:endParaRPr lang="fr-FR" sz="2800" dirty="0">
                        <a:effectLst/>
                        <a:latin typeface="Arial(corps)"/>
                        <a:ea typeface="Calibri"/>
                        <a:cs typeface="Arial"/>
                      </a:endParaRPr>
                    </a:p>
                  </a:txBody>
                  <a:tcPr marL="68580" marR="68580" marT="0" marB="0"/>
                </a:tc>
                <a:tc>
                  <a:txBody>
                    <a:bodyPr/>
                    <a:lstStyle/>
                    <a:p>
                      <a:pPr>
                        <a:lnSpc>
                          <a:spcPct val="115000"/>
                        </a:lnSpc>
                        <a:spcBef>
                          <a:spcPts val="600"/>
                        </a:spcBef>
                        <a:spcAft>
                          <a:spcPts val="0"/>
                        </a:spcAft>
                      </a:pPr>
                      <a:r>
                        <a:rPr lang="fr-FR" sz="1800" dirty="0">
                          <a:effectLst/>
                          <a:latin typeface="Arial(corps)"/>
                          <a:ea typeface="Times New Roman"/>
                          <a:cs typeface="Times New Roman"/>
                        </a:rPr>
                        <a:t>cyan</a:t>
                      </a:r>
                      <a:endParaRPr lang="fr-FR" sz="2800" dirty="0">
                        <a:effectLst/>
                        <a:latin typeface="Arial(corps)"/>
                        <a:ea typeface="Calibri"/>
                        <a:cs typeface="Arial"/>
                      </a:endParaRPr>
                    </a:p>
                  </a:txBody>
                  <a:tcPr marL="68580" marR="68580" marT="0" marB="0"/>
                </a:tc>
              </a:tr>
              <a:tr h="144145">
                <a:tc>
                  <a:txBody>
                    <a:bodyPr/>
                    <a:lstStyle/>
                    <a:p>
                      <a:pPr>
                        <a:lnSpc>
                          <a:spcPct val="115000"/>
                        </a:lnSpc>
                        <a:spcBef>
                          <a:spcPts val="600"/>
                        </a:spcBef>
                        <a:spcAft>
                          <a:spcPts val="0"/>
                        </a:spcAft>
                      </a:pPr>
                      <a:r>
                        <a:rPr lang="fr-FR" sz="1800" b="1" kern="1200" dirty="0">
                          <a:solidFill>
                            <a:schemeClr val="dk1"/>
                          </a:solidFill>
                          <a:effectLst/>
                          <a:latin typeface="Arial(corps)"/>
                          <a:ea typeface="Times New Roman"/>
                          <a:cs typeface="Times New Roman"/>
                        </a:rPr>
                        <a:t>'m' </a:t>
                      </a:r>
                    </a:p>
                  </a:txBody>
                  <a:tcPr marL="68580" marR="68580" marT="0" marB="0"/>
                </a:tc>
                <a:tc>
                  <a:txBody>
                    <a:bodyPr/>
                    <a:lstStyle/>
                    <a:p>
                      <a:pPr>
                        <a:lnSpc>
                          <a:spcPct val="115000"/>
                        </a:lnSpc>
                        <a:spcBef>
                          <a:spcPts val="600"/>
                        </a:spcBef>
                        <a:spcAft>
                          <a:spcPts val="0"/>
                        </a:spcAft>
                      </a:pPr>
                      <a:r>
                        <a:rPr lang="fr-FR" sz="1800" kern="1200" dirty="0">
                          <a:solidFill>
                            <a:schemeClr val="dk1"/>
                          </a:solidFill>
                          <a:effectLst/>
                          <a:latin typeface="Arial(corps)"/>
                          <a:ea typeface="Times New Roman"/>
                          <a:cs typeface="Times New Roman"/>
                        </a:rPr>
                        <a:t>magenta</a:t>
                      </a:r>
                    </a:p>
                  </a:txBody>
                  <a:tcPr marL="68580" marR="68580" marT="0" marB="0"/>
                </a:tc>
              </a:tr>
              <a:tr h="144145">
                <a:tc>
                  <a:txBody>
                    <a:bodyPr/>
                    <a:lstStyle/>
                    <a:p>
                      <a:pPr>
                        <a:lnSpc>
                          <a:spcPct val="115000"/>
                        </a:lnSpc>
                        <a:spcBef>
                          <a:spcPts val="600"/>
                        </a:spcBef>
                        <a:spcAft>
                          <a:spcPts val="0"/>
                        </a:spcAft>
                      </a:pPr>
                      <a:r>
                        <a:rPr lang="fr-FR" sz="1800" b="1" kern="1200">
                          <a:solidFill>
                            <a:schemeClr val="dk1"/>
                          </a:solidFill>
                          <a:effectLst/>
                          <a:latin typeface="Arial(corps)"/>
                          <a:ea typeface="Times New Roman"/>
                          <a:cs typeface="Times New Roman"/>
                        </a:rPr>
                        <a:t>'y' </a:t>
                      </a:r>
                    </a:p>
                  </a:txBody>
                  <a:tcPr marL="68580" marR="68580" marT="0" marB="0"/>
                </a:tc>
                <a:tc>
                  <a:txBody>
                    <a:bodyPr/>
                    <a:lstStyle/>
                    <a:p>
                      <a:pPr>
                        <a:lnSpc>
                          <a:spcPct val="115000"/>
                        </a:lnSpc>
                        <a:spcBef>
                          <a:spcPts val="600"/>
                        </a:spcBef>
                        <a:spcAft>
                          <a:spcPts val="0"/>
                        </a:spcAft>
                      </a:pPr>
                      <a:r>
                        <a:rPr lang="fr-FR" sz="1800" kern="1200" dirty="0" err="1">
                          <a:solidFill>
                            <a:schemeClr val="dk1"/>
                          </a:solidFill>
                          <a:effectLst/>
                          <a:latin typeface="Arial(corps)"/>
                          <a:ea typeface="Times New Roman"/>
                          <a:cs typeface="Times New Roman"/>
                        </a:rPr>
                        <a:t>yellow</a:t>
                      </a:r>
                      <a:endParaRPr lang="fr-FR" sz="1800" kern="1200" dirty="0">
                        <a:solidFill>
                          <a:schemeClr val="dk1"/>
                        </a:solidFill>
                        <a:effectLst/>
                        <a:latin typeface="Arial(corps)"/>
                        <a:ea typeface="Times New Roman"/>
                        <a:cs typeface="Times New Roman"/>
                      </a:endParaRPr>
                    </a:p>
                  </a:txBody>
                  <a:tcPr marL="68580" marR="68580" marT="0" marB="0"/>
                </a:tc>
              </a:tr>
              <a:tr h="144145">
                <a:tc>
                  <a:txBody>
                    <a:bodyPr/>
                    <a:lstStyle/>
                    <a:p>
                      <a:pPr>
                        <a:lnSpc>
                          <a:spcPct val="115000"/>
                        </a:lnSpc>
                        <a:spcBef>
                          <a:spcPts val="600"/>
                        </a:spcBef>
                        <a:spcAft>
                          <a:spcPts val="0"/>
                        </a:spcAft>
                      </a:pPr>
                      <a:r>
                        <a:rPr lang="fr-FR" sz="1800" b="1" kern="1200">
                          <a:solidFill>
                            <a:schemeClr val="dk1"/>
                          </a:solidFill>
                          <a:effectLst/>
                          <a:latin typeface="Arial(corps)"/>
                          <a:ea typeface="Times New Roman"/>
                          <a:cs typeface="Times New Roman"/>
                        </a:rPr>
                        <a:t>'k' </a:t>
                      </a:r>
                    </a:p>
                  </a:txBody>
                  <a:tcPr marL="68580" marR="68580" marT="0" marB="0"/>
                </a:tc>
                <a:tc>
                  <a:txBody>
                    <a:bodyPr/>
                    <a:lstStyle/>
                    <a:p>
                      <a:pPr>
                        <a:lnSpc>
                          <a:spcPct val="115000"/>
                        </a:lnSpc>
                        <a:spcBef>
                          <a:spcPts val="600"/>
                        </a:spcBef>
                        <a:spcAft>
                          <a:spcPts val="0"/>
                        </a:spcAft>
                      </a:pPr>
                      <a:r>
                        <a:rPr lang="fr-FR" sz="1800" kern="1200" dirty="0">
                          <a:solidFill>
                            <a:schemeClr val="dk1"/>
                          </a:solidFill>
                          <a:effectLst/>
                          <a:latin typeface="Arial(corps)"/>
                          <a:ea typeface="Times New Roman"/>
                          <a:cs typeface="Times New Roman"/>
                        </a:rPr>
                        <a:t>black</a:t>
                      </a:r>
                    </a:p>
                  </a:txBody>
                  <a:tcPr marL="68580" marR="68580" marT="0" marB="0"/>
                </a:tc>
              </a:tr>
              <a:tr h="144145">
                <a:tc>
                  <a:txBody>
                    <a:bodyPr/>
                    <a:lstStyle/>
                    <a:p>
                      <a:pPr>
                        <a:lnSpc>
                          <a:spcPct val="115000"/>
                        </a:lnSpc>
                        <a:spcBef>
                          <a:spcPts val="600"/>
                        </a:spcBef>
                        <a:spcAft>
                          <a:spcPts val="0"/>
                        </a:spcAft>
                      </a:pPr>
                      <a:r>
                        <a:rPr lang="fr-FR" sz="1800" b="1" kern="1200" dirty="0">
                          <a:solidFill>
                            <a:schemeClr val="dk1"/>
                          </a:solidFill>
                          <a:effectLst/>
                          <a:latin typeface="Arial(corps)"/>
                          <a:ea typeface="Times New Roman"/>
                          <a:cs typeface="Times New Roman"/>
                        </a:rPr>
                        <a:t>'w' </a:t>
                      </a:r>
                    </a:p>
                  </a:txBody>
                  <a:tcPr marL="68580" marR="68580" marT="0" marB="0"/>
                </a:tc>
                <a:tc>
                  <a:txBody>
                    <a:bodyPr/>
                    <a:lstStyle/>
                    <a:p>
                      <a:pPr>
                        <a:lnSpc>
                          <a:spcPct val="115000"/>
                        </a:lnSpc>
                        <a:spcBef>
                          <a:spcPts val="600"/>
                        </a:spcBef>
                        <a:spcAft>
                          <a:spcPts val="0"/>
                        </a:spcAft>
                      </a:pPr>
                      <a:r>
                        <a:rPr lang="fr-FR" sz="1800" kern="1200" dirty="0">
                          <a:solidFill>
                            <a:schemeClr val="dk1"/>
                          </a:solidFill>
                          <a:effectLst/>
                          <a:latin typeface="Arial(corps)"/>
                          <a:ea typeface="Times New Roman"/>
                          <a:cs typeface="Times New Roman"/>
                        </a:rPr>
                        <a:t>white</a:t>
                      </a:r>
                    </a:p>
                  </a:txBody>
                  <a:tcPr marL="68580" marR="68580" marT="0" marB="0"/>
                </a:tc>
              </a:tr>
            </a:tbl>
          </a:graphicData>
        </a:graphic>
      </p:graphicFrame>
    </p:spTree>
    <p:custDataLst>
      <p:tags r:id="rId1"/>
    </p:custDataLst>
    <p:extLst>
      <p:ext uri="{BB962C8B-B14F-4D97-AF65-F5344CB8AC3E}">
        <p14:creationId xmlns:p14="http://schemas.microsoft.com/office/powerpoint/2010/main" val="2010164247"/>
      </p:ext>
    </p:extLst>
  </p:cSld>
  <p:clrMapOvr>
    <a:masterClrMapping/>
  </p:clrMapOvr>
  <p:transition>
    <p:wip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pc\Desktop\sphx_glr_marker_reference_002_2_00x.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400" y="533400"/>
            <a:ext cx="8128000" cy="609600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pc\Desktop\sphx_glr_marker_reference_001_2_00x.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400" y="533400"/>
            <a:ext cx="8128000" cy="609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687859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descr="C:\Users\pc\Desktop\sphx_glr_marker_reference_002_2_00x.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0" y="381000"/>
            <a:ext cx="8128000" cy="609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0219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3781"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203782"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203783" name="Triangle isocèle 6"/>
          <p:cNvSpPr>
            <a:spLocks noChangeArrowheads="1"/>
          </p:cNvSpPr>
          <p:nvPr/>
        </p:nvSpPr>
        <p:spPr bwMode="auto">
          <a:xfrm>
            <a:off x="571500" y="1143000"/>
            <a:ext cx="500063" cy="357188"/>
          </a:xfrm>
          <a:prstGeom prst="triangle">
            <a:avLst>
              <a:gd name="adj" fmla="val 50000"/>
            </a:avLst>
          </a:prstGeom>
          <a:noFill/>
          <a:ln w="9525" algn="ctr">
            <a:noFill/>
            <a:round/>
            <a:headEnd/>
            <a:tailEnd/>
          </a:ln>
        </p:spPr>
        <p:txBody>
          <a:bodyPr lIns="90000" tIns="46800" rIns="90000" bIns="46800" anchor="ctr">
            <a:spAutoFit/>
          </a:bodyPr>
          <a:lstStyle/>
          <a:p>
            <a:pPr eaLnBrk="1" hangingPunct="1">
              <a:spcBef>
                <a:spcPct val="50000"/>
              </a:spcBef>
              <a:buClr>
                <a:srgbClr val="336666"/>
              </a:buClr>
              <a:buFont typeface="Wingdings" pitchFamily="2" charset="2"/>
              <a:buNone/>
            </a:pPr>
            <a:endParaRPr lang="fr-FR"/>
          </a:p>
        </p:txBody>
      </p:sp>
      <p:sp>
        <p:nvSpPr>
          <p:cNvPr id="203784" name="Triangle isocèle 8"/>
          <p:cNvSpPr>
            <a:spLocks noChangeArrowheads="1"/>
          </p:cNvSpPr>
          <p:nvPr/>
        </p:nvSpPr>
        <p:spPr bwMode="auto">
          <a:xfrm>
            <a:off x="785813" y="1500188"/>
            <a:ext cx="714375" cy="500062"/>
          </a:xfrm>
          <a:prstGeom prst="triangle">
            <a:avLst>
              <a:gd name="adj" fmla="val 50000"/>
            </a:avLst>
          </a:prstGeom>
          <a:noFill/>
          <a:ln w="9525" algn="ctr">
            <a:noFill/>
            <a:round/>
            <a:headEnd/>
            <a:tailEnd/>
          </a:ln>
        </p:spPr>
        <p:txBody>
          <a:bodyPr lIns="90000" tIns="46800" rIns="90000" bIns="46800" anchor="ctr">
            <a:spAutoFit/>
          </a:bodyPr>
          <a:lstStyle/>
          <a:p>
            <a:pPr eaLnBrk="1" hangingPunct="1">
              <a:spcBef>
                <a:spcPct val="50000"/>
              </a:spcBef>
              <a:buClr>
                <a:srgbClr val="336666"/>
              </a:buClr>
              <a:buFont typeface="Wingdings" pitchFamily="2" charset="2"/>
              <a:buNone/>
            </a:pPr>
            <a:endParaRPr lang="fr-FR"/>
          </a:p>
        </p:txBody>
      </p:sp>
      <p:sp>
        <p:nvSpPr>
          <p:cNvPr id="3" name="Rectangle 2"/>
          <p:cNvSpPr/>
          <p:nvPr/>
        </p:nvSpPr>
        <p:spPr>
          <a:xfrm>
            <a:off x="414000" y="1097421"/>
            <a:ext cx="8478600" cy="1323439"/>
          </a:xfrm>
          <a:prstGeom prst="rect">
            <a:avLst/>
          </a:prstGeom>
        </p:spPr>
        <p:txBody>
          <a:bodyPr wrap="square">
            <a:spAutoFit/>
          </a:bodyPr>
          <a:lstStyle/>
          <a:p>
            <a:pPr algn="just"/>
            <a:r>
              <a:rPr lang="fr-FR" dirty="0">
                <a:latin typeface="+mj-lt"/>
              </a:rPr>
              <a:t>Une </a:t>
            </a:r>
            <a:r>
              <a:rPr lang="fr-FR" b="1" dirty="0">
                <a:solidFill>
                  <a:srgbClr val="FF0000"/>
                </a:solidFill>
              </a:rPr>
              <a:t>librairies </a:t>
            </a:r>
            <a:r>
              <a:rPr lang="fr-FR" dirty="0" smtClean="0">
                <a:latin typeface="+mj-lt"/>
              </a:rPr>
              <a:t>Python </a:t>
            </a:r>
            <a:r>
              <a:rPr lang="fr-FR" dirty="0">
                <a:latin typeface="+mj-lt"/>
              </a:rPr>
              <a:t>fournit des outils permettant de développer un programme informatique comme </a:t>
            </a:r>
            <a:r>
              <a:rPr lang="fr-FR" dirty="0" smtClean="0">
                <a:latin typeface="+mj-lt"/>
              </a:rPr>
              <a:t>l’Intelligence Artificielle (AI)  </a:t>
            </a:r>
            <a:r>
              <a:rPr lang="fr-FR" dirty="0">
                <a:latin typeface="+mj-lt"/>
              </a:rPr>
              <a:t>et le </a:t>
            </a:r>
            <a:r>
              <a:rPr lang="fr-FR" dirty="0" smtClean="0">
                <a:latin typeface="+mj-lt"/>
              </a:rPr>
              <a:t>Machine Learning (ML). Pour </a:t>
            </a:r>
            <a:r>
              <a:rPr lang="fr-FR" dirty="0">
                <a:latin typeface="+mj-lt"/>
              </a:rPr>
              <a:t>vos projets d’IA et de </a:t>
            </a:r>
            <a:r>
              <a:rPr lang="fr-FR" dirty="0" smtClean="0">
                <a:latin typeface="+mj-lt"/>
              </a:rPr>
              <a:t>ML, </a:t>
            </a:r>
            <a:r>
              <a:rPr lang="fr-FR" dirty="0">
                <a:latin typeface="+mj-lt"/>
              </a:rPr>
              <a:t>voici ce que Python a de mieux à vous proposer :</a:t>
            </a:r>
          </a:p>
        </p:txBody>
      </p:sp>
      <p:graphicFrame>
        <p:nvGraphicFramePr>
          <p:cNvPr id="4" name="Tableau 3"/>
          <p:cNvGraphicFramePr>
            <a:graphicFrameLocks noGrp="1"/>
          </p:cNvGraphicFramePr>
          <p:nvPr>
            <p:extLst>
              <p:ext uri="{D42A27DB-BD31-4B8C-83A1-F6EECF244321}">
                <p14:modId xmlns:p14="http://schemas.microsoft.com/office/powerpoint/2010/main" val="4125650678"/>
              </p:ext>
            </p:extLst>
          </p:nvPr>
        </p:nvGraphicFramePr>
        <p:xfrm>
          <a:off x="571500" y="2756960"/>
          <a:ext cx="8321099" cy="3840480"/>
        </p:xfrm>
        <a:graphic>
          <a:graphicData uri="http://schemas.openxmlformats.org/drawingml/2006/table">
            <a:tbl>
              <a:tblPr firstRow="1" bandRow="1">
                <a:tableStyleId>{5C22544A-7EE6-4342-B048-85BDC9FD1C3A}</a:tableStyleId>
              </a:tblPr>
              <a:tblGrid>
                <a:gridCol w="2481921"/>
                <a:gridCol w="5839178"/>
              </a:tblGrid>
              <a:tr h="115216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fr-FR" sz="2000" b="0" kern="1200" dirty="0" err="1" smtClean="0">
                          <a:solidFill>
                            <a:schemeClr val="tx1"/>
                          </a:solidFill>
                          <a:effectLst/>
                          <a:latin typeface="+mn-lt"/>
                          <a:ea typeface="+mn-ea"/>
                          <a:cs typeface="+mn-cs"/>
                        </a:rPr>
                        <a:t>NumPy</a:t>
                      </a:r>
                      <a:r>
                        <a:rPr lang="fr-FR" sz="2000" b="0" kern="1200" dirty="0" smtClean="0">
                          <a:solidFill>
                            <a:schemeClr val="tx1"/>
                          </a:solidFill>
                          <a:effectLst/>
                          <a:latin typeface="+mn-lt"/>
                          <a:ea typeface="+mn-ea"/>
                          <a:cs typeface="+mn-cs"/>
                        </a:rPr>
                        <a:t>, abréviation de </a:t>
                      </a:r>
                      <a:r>
                        <a:rPr lang="fr-FR" sz="2000" b="0" kern="1200" dirty="0" err="1" smtClean="0">
                          <a:solidFill>
                            <a:schemeClr val="tx1"/>
                          </a:solidFill>
                          <a:effectLst/>
                          <a:latin typeface="+mn-lt"/>
                          <a:ea typeface="+mn-ea"/>
                          <a:cs typeface="+mn-cs"/>
                        </a:rPr>
                        <a:t>Numerical</a:t>
                      </a:r>
                      <a:r>
                        <a:rPr lang="fr-FR" sz="2000" b="0" kern="1200" dirty="0" smtClean="0">
                          <a:solidFill>
                            <a:schemeClr val="tx1"/>
                          </a:solidFill>
                          <a:effectLst/>
                          <a:latin typeface="+mn-lt"/>
                          <a:ea typeface="+mn-ea"/>
                          <a:cs typeface="+mn-cs"/>
                        </a:rPr>
                        <a:t> Python, est une bibliothèque open source permettant d’effectuer diverses opérations mathématiques et logiques. Elle fournit des </a:t>
                      </a:r>
                      <a:r>
                        <a:rPr lang="fr-FR" sz="2000" b="1" kern="1200" dirty="0" smtClean="0">
                          <a:solidFill>
                            <a:schemeClr val="tx1"/>
                          </a:solidFill>
                          <a:effectLst/>
                          <a:latin typeface="+mn-lt"/>
                          <a:ea typeface="+mn-ea"/>
                          <a:cs typeface="+mn-cs"/>
                        </a:rPr>
                        <a:t>tableaux multidimensionnels</a:t>
                      </a:r>
                      <a:r>
                        <a:rPr lang="fr-FR" sz="2000" b="0" kern="1200" dirty="0" smtClean="0">
                          <a:solidFill>
                            <a:schemeClr val="tx1"/>
                          </a:solidFill>
                          <a:effectLst/>
                          <a:latin typeface="+mn-lt"/>
                          <a:ea typeface="+mn-ea"/>
                          <a:cs typeface="+mn-cs"/>
                        </a:rPr>
                        <a:t> et un ensemble d’outils pour traiter ces tableaux. Il intègre des fonctions d’algèbre linéaire,</a:t>
                      </a:r>
                      <a:r>
                        <a:rPr lang="fr-FR" sz="2000" b="0" kern="1200" baseline="0" dirty="0" smtClean="0">
                          <a:solidFill>
                            <a:schemeClr val="tx1"/>
                          </a:solidFill>
                          <a:effectLst/>
                          <a:latin typeface="+mn-lt"/>
                          <a:ea typeface="+mn-ea"/>
                          <a:cs typeface="+mn-cs"/>
                        </a:rPr>
                        <a:t> …</a:t>
                      </a:r>
                      <a:endParaRPr lang="fr-FR"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endParaRPr lang="fr-FR" dirty="0" smtClean="0"/>
                    </a:p>
                    <a:p>
                      <a:endParaRPr lang="fr-FR" dirty="0" smtClean="0"/>
                    </a:p>
                    <a:p>
                      <a:endParaRPr lang="fr-FR" dirty="0" smtClean="0"/>
                    </a:p>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fr-FR" sz="2000" b="0" kern="1200" dirty="0" smtClean="0">
                          <a:solidFill>
                            <a:schemeClr val="tx1"/>
                          </a:solidFill>
                          <a:effectLst/>
                          <a:latin typeface="+mn-lt"/>
                          <a:ea typeface="+mn-ea"/>
                          <a:cs typeface="+mn-cs"/>
                        </a:rPr>
                        <a:t>Utilisée pour le </a:t>
                      </a:r>
                      <a:r>
                        <a:rPr lang="fr-FR" sz="2000" b="1" kern="1200" dirty="0" smtClean="0">
                          <a:solidFill>
                            <a:schemeClr val="tx1"/>
                          </a:solidFill>
                          <a:effectLst/>
                          <a:latin typeface="+mn-lt"/>
                          <a:ea typeface="+mn-ea"/>
                          <a:cs typeface="+mn-cs"/>
                        </a:rPr>
                        <a:t>calcul scientifique et technique</a:t>
                      </a:r>
                      <a:r>
                        <a:rPr lang="fr-FR" sz="2000" b="0" kern="1200" dirty="0" smtClean="0">
                          <a:solidFill>
                            <a:schemeClr val="tx1"/>
                          </a:solidFill>
                          <a:effectLst/>
                          <a:latin typeface="+mn-lt"/>
                          <a:ea typeface="+mn-ea"/>
                          <a:cs typeface="+mn-cs"/>
                        </a:rPr>
                        <a:t>. Basée sur </a:t>
                      </a:r>
                      <a:r>
                        <a:rPr lang="fr-FR" sz="2000" b="0" kern="1200" dirty="0" err="1" smtClean="0">
                          <a:solidFill>
                            <a:schemeClr val="tx1"/>
                          </a:solidFill>
                          <a:effectLst/>
                          <a:latin typeface="+mn-lt"/>
                          <a:ea typeface="+mn-ea"/>
                          <a:cs typeface="+mn-cs"/>
                        </a:rPr>
                        <a:t>NumPy</a:t>
                      </a:r>
                      <a:r>
                        <a:rPr lang="fr-FR" sz="2000" b="0" kern="1200" dirty="0" smtClean="0">
                          <a:solidFill>
                            <a:schemeClr val="tx1"/>
                          </a:solidFill>
                          <a:effectLst/>
                          <a:latin typeface="+mn-lt"/>
                          <a:ea typeface="+mn-ea"/>
                          <a:cs typeface="+mn-cs"/>
                        </a:rPr>
                        <a:t>. Toutefois, </a:t>
                      </a:r>
                      <a:r>
                        <a:rPr lang="fr-FR" sz="2000" b="0" kern="1200" dirty="0" err="1" smtClean="0">
                          <a:solidFill>
                            <a:schemeClr val="tx1"/>
                          </a:solidFill>
                          <a:effectLst/>
                          <a:latin typeface="+mn-lt"/>
                          <a:ea typeface="+mn-ea"/>
                          <a:cs typeface="+mn-cs"/>
                        </a:rPr>
                        <a:t>SciPy</a:t>
                      </a:r>
                      <a:r>
                        <a:rPr lang="fr-FR" sz="2000" b="0" kern="1200" dirty="0" smtClean="0">
                          <a:solidFill>
                            <a:schemeClr val="tx1"/>
                          </a:solidFill>
                          <a:effectLst/>
                          <a:latin typeface="+mn-lt"/>
                          <a:ea typeface="+mn-ea"/>
                          <a:cs typeface="+mn-cs"/>
                        </a:rPr>
                        <a:t> complète les fonctionnalités de </a:t>
                      </a:r>
                      <a:r>
                        <a:rPr lang="fr-FR" sz="2000" b="0" kern="1200" dirty="0" err="1" smtClean="0">
                          <a:solidFill>
                            <a:schemeClr val="tx1"/>
                          </a:solidFill>
                          <a:effectLst/>
                          <a:latin typeface="+mn-lt"/>
                          <a:ea typeface="+mn-ea"/>
                          <a:cs typeface="+mn-cs"/>
                        </a:rPr>
                        <a:t>NumPy</a:t>
                      </a:r>
                      <a:r>
                        <a:rPr lang="fr-FR" sz="2000" b="0" kern="1200" dirty="0" smtClean="0">
                          <a:solidFill>
                            <a:schemeClr val="tx1"/>
                          </a:solidFill>
                          <a:effectLst/>
                          <a:latin typeface="+mn-lt"/>
                          <a:ea typeface="+mn-ea"/>
                          <a:cs typeface="+mn-cs"/>
                        </a:rPr>
                        <a:t> avec des outils scientifiques.</a:t>
                      </a:r>
                      <a:r>
                        <a:rPr lang="fr-FR" sz="2000" b="0" kern="1200" baseline="0" dirty="0" smtClean="0">
                          <a:solidFill>
                            <a:schemeClr val="tx1"/>
                          </a:solidFill>
                          <a:effectLst/>
                          <a:latin typeface="+mn-lt"/>
                          <a:ea typeface="+mn-ea"/>
                          <a:cs typeface="+mn-cs"/>
                        </a:rPr>
                        <a:t> L’analyse scientifique et l’ingénierie font de </a:t>
                      </a:r>
                      <a:r>
                        <a:rPr lang="fr-FR" sz="2000" b="0" kern="1200" baseline="0" dirty="0" err="1" smtClean="0">
                          <a:solidFill>
                            <a:schemeClr val="tx1"/>
                          </a:solidFill>
                          <a:effectLst/>
                          <a:latin typeface="+mn-lt"/>
                          <a:ea typeface="+mn-ea"/>
                          <a:cs typeface="+mn-cs"/>
                        </a:rPr>
                        <a:t>SciPy</a:t>
                      </a:r>
                      <a:r>
                        <a:rPr lang="fr-FR" sz="2000" b="0" kern="1200" baseline="0" dirty="0" smtClean="0">
                          <a:solidFill>
                            <a:schemeClr val="tx1"/>
                          </a:solidFill>
                          <a:effectLst/>
                          <a:latin typeface="+mn-lt"/>
                          <a:ea typeface="+mn-ea"/>
                          <a:cs typeface="+mn-cs"/>
                        </a:rPr>
                        <a:t> une bibliothèque Python fondamentale pour l’IA et le machine </a:t>
                      </a:r>
                      <a:r>
                        <a:rPr lang="fr-FR" sz="2000" b="0" kern="1200" baseline="0" dirty="0" err="1" smtClean="0">
                          <a:solidFill>
                            <a:schemeClr val="tx1"/>
                          </a:solidFill>
                          <a:effectLst/>
                          <a:latin typeface="+mn-lt"/>
                          <a:ea typeface="+mn-ea"/>
                          <a:cs typeface="+mn-cs"/>
                        </a:rPr>
                        <a:t>learning</a:t>
                      </a:r>
                      <a:r>
                        <a:rPr lang="fr-FR" sz="2000" b="0" kern="1200" baseline="0" dirty="0" smtClean="0">
                          <a:solidFill>
                            <a:schemeClr val="tx1"/>
                          </a:solidFill>
                          <a:effectLst/>
                          <a:latin typeface="+mn-lt"/>
                          <a:ea typeface="+mn-ea"/>
                          <a:cs typeface="+mn-cs"/>
                        </a:rPr>
                        <a:t>.</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pic>
        <p:nvPicPr>
          <p:cNvPr id="399363"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5520" y="3140960"/>
            <a:ext cx="1090015" cy="864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9936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470" y="5030395"/>
            <a:ext cx="2077428" cy="9909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 Box 9"/>
          <p:cNvSpPr txBox="1">
            <a:spLocks noChangeArrowheads="1"/>
          </p:cNvSpPr>
          <p:nvPr/>
        </p:nvSpPr>
        <p:spPr bwMode="auto">
          <a:xfrm>
            <a:off x="971550" y="260560"/>
            <a:ext cx="8172450" cy="400110"/>
          </a:xfrm>
          <a:prstGeom prst="rect">
            <a:avLst/>
          </a:prstGeom>
          <a:noFill/>
          <a:ln w="12700" algn="ctr">
            <a:noFill/>
            <a:miter lim="800000"/>
            <a:headEnd/>
            <a:tailEnd/>
          </a:ln>
        </p:spPr>
        <p:txBody>
          <a:bodyPr>
            <a:spAutoFit/>
          </a:bodyPr>
          <a:lstStyle/>
          <a:p>
            <a:pPr>
              <a:spcBef>
                <a:spcPct val="50000"/>
              </a:spcBef>
            </a:pPr>
            <a:r>
              <a:rPr lang="fr-FR" b="1" dirty="0" smtClean="0">
                <a:solidFill>
                  <a:srgbClr val="000000"/>
                </a:solidFill>
                <a:latin typeface="Arial" pitchFamily="34" charset="0"/>
              </a:rPr>
              <a:t>Quelques </a:t>
            </a:r>
            <a:r>
              <a:rPr lang="fr-FR" b="1" dirty="0">
                <a:solidFill>
                  <a:srgbClr val="000000"/>
                </a:solidFill>
                <a:latin typeface="Arial" pitchFamily="34" charset="0"/>
              </a:rPr>
              <a:t>librairies Python utilisées pour l’IA et le ML</a:t>
            </a:r>
          </a:p>
        </p:txBody>
      </p:sp>
    </p:spTree>
    <p:custDataLst>
      <p:tags r:id="rId1"/>
    </p:custDataLst>
    <p:extLst>
      <p:ext uri="{BB962C8B-B14F-4D97-AF65-F5344CB8AC3E}">
        <p14:creationId xmlns:p14="http://schemas.microsoft.com/office/powerpoint/2010/main" val="319719400"/>
      </p:ext>
    </p:extLst>
  </p:cSld>
  <p:clrMapOvr>
    <a:masterClrMapping/>
  </p:clrMapOvr>
  <p:transition>
    <p:wip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3781"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203782"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203783" name="Triangle isocèle 6"/>
          <p:cNvSpPr>
            <a:spLocks noChangeArrowheads="1"/>
          </p:cNvSpPr>
          <p:nvPr/>
        </p:nvSpPr>
        <p:spPr bwMode="auto">
          <a:xfrm>
            <a:off x="571500" y="1143000"/>
            <a:ext cx="500063" cy="357188"/>
          </a:xfrm>
          <a:prstGeom prst="triangle">
            <a:avLst>
              <a:gd name="adj" fmla="val 50000"/>
            </a:avLst>
          </a:prstGeom>
          <a:noFill/>
          <a:ln w="9525" algn="ctr">
            <a:noFill/>
            <a:round/>
            <a:headEnd/>
            <a:tailEnd/>
          </a:ln>
        </p:spPr>
        <p:txBody>
          <a:bodyPr lIns="90000" tIns="46800" rIns="90000" bIns="46800" anchor="ctr">
            <a:spAutoFit/>
          </a:bodyPr>
          <a:lstStyle/>
          <a:p>
            <a:pPr eaLnBrk="1" hangingPunct="1">
              <a:spcBef>
                <a:spcPct val="50000"/>
              </a:spcBef>
              <a:buClr>
                <a:srgbClr val="336666"/>
              </a:buClr>
              <a:buFont typeface="Wingdings" pitchFamily="2" charset="2"/>
              <a:buNone/>
            </a:pPr>
            <a:endParaRPr lang="fr-FR"/>
          </a:p>
        </p:txBody>
      </p:sp>
      <p:sp>
        <p:nvSpPr>
          <p:cNvPr id="203784" name="Triangle isocèle 8"/>
          <p:cNvSpPr>
            <a:spLocks noChangeArrowheads="1"/>
          </p:cNvSpPr>
          <p:nvPr/>
        </p:nvSpPr>
        <p:spPr bwMode="auto">
          <a:xfrm>
            <a:off x="785813" y="1500188"/>
            <a:ext cx="714375" cy="500062"/>
          </a:xfrm>
          <a:prstGeom prst="triangle">
            <a:avLst>
              <a:gd name="adj" fmla="val 50000"/>
            </a:avLst>
          </a:prstGeom>
          <a:noFill/>
          <a:ln w="9525" algn="ctr">
            <a:noFill/>
            <a:round/>
            <a:headEnd/>
            <a:tailEnd/>
          </a:ln>
        </p:spPr>
        <p:txBody>
          <a:bodyPr lIns="90000" tIns="46800" rIns="90000" bIns="46800" anchor="ctr">
            <a:spAutoFit/>
          </a:bodyPr>
          <a:lstStyle/>
          <a:p>
            <a:pPr eaLnBrk="1" hangingPunct="1">
              <a:spcBef>
                <a:spcPct val="50000"/>
              </a:spcBef>
              <a:buClr>
                <a:srgbClr val="336666"/>
              </a:buClr>
              <a:buFont typeface="Wingdings" pitchFamily="2" charset="2"/>
              <a:buNone/>
            </a:pPr>
            <a:endParaRPr lang="fr-FR"/>
          </a:p>
        </p:txBody>
      </p:sp>
      <p:graphicFrame>
        <p:nvGraphicFramePr>
          <p:cNvPr id="4" name="Tableau 3"/>
          <p:cNvGraphicFramePr>
            <a:graphicFrameLocks noGrp="1"/>
          </p:cNvGraphicFramePr>
          <p:nvPr>
            <p:extLst>
              <p:ext uri="{D42A27DB-BD31-4B8C-83A1-F6EECF244321}">
                <p14:modId xmlns:p14="http://schemas.microsoft.com/office/powerpoint/2010/main" val="3883299215"/>
              </p:ext>
            </p:extLst>
          </p:nvPr>
        </p:nvGraphicFramePr>
        <p:xfrm>
          <a:off x="571500" y="1052670"/>
          <a:ext cx="8321099" cy="4754880"/>
        </p:xfrm>
        <a:graphic>
          <a:graphicData uri="http://schemas.openxmlformats.org/drawingml/2006/table">
            <a:tbl>
              <a:tblPr firstRow="1" bandRow="1">
                <a:tableStyleId>{5C22544A-7EE6-4342-B048-85BDC9FD1C3A}</a:tableStyleId>
              </a:tblPr>
              <a:tblGrid>
                <a:gridCol w="2481921"/>
                <a:gridCol w="5839178"/>
              </a:tblGrid>
              <a:tr h="115216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fr-FR" sz="2000" b="0" kern="1200" dirty="0" smtClean="0">
                          <a:solidFill>
                            <a:schemeClr val="tx1"/>
                          </a:solidFill>
                          <a:effectLst/>
                          <a:latin typeface="+mn-lt"/>
                          <a:ea typeface="+mn-ea"/>
                          <a:cs typeface="+mn-cs"/>
                        </a:rPr>
                        <a:t>Spécialement conçu pour le machine </a:t>
                      </a:r>
                      <a:r>
                        <a:rPr lang="fr-FR" sz="2000" b="0" kern="1200" dirty="0" err="1" smtClean="0">
                          <a:solidFill>
                            <a:schemeClr val="tx1"/>
                          </a:solidFill>
                          <a:effectLst/>
                          <a:latin typeface="+mn-lt"/>
                          <a:ea typeface="+mn-ea"/>
                          <a:cs typeface="+mn-cs"/>
                        </a:rPr>
                        <a:t>learning</a:t>
                      </a:r>
                      <a:r>
                        <a:rPr lang="fr-FR" sz="2000" b="0" kern="1200" dirty="0" smtClean="0">
                          <a:solidFill>
                            <a:schemeClr val="tx1"/>
                          </a:solidFill>
                          <a:effectLst/>
                          <a:latin typeface="+mn-lt"/>
                          <a:ea typeface="+mn-ea"/>
                          <a:cs typeface="+mn-cs"/>
                        </a:rPr>
                        <a:t>, </a:t>
                      </a:r>
                      <a:r>
                        <a:rPr lang="fr-FR" sz="2000" b="0" kern="1200" dirty="0" err="1" smtClean="0">
                          <a:solidFill>
                            <a:schemeClr val="tx1"/>
                          </a:solidFill>
                          <a:effectLst/>
                          <a:latin typeface="+mn-lt"/>
                          <a:ea typeface="+mn-ea"/>
                          <a:cs typeface="+mn-cs"/>
                        </a:rPr>
                        <a:t>Theano</a:t>
                      </a:r>
                      <a:r>
                        <a:rPr lang="fr-FR" sz="2000" b="0" kern="1200" dirty="0" smtClean="0">
                          <a:solidFill>
                            <a:schemeClr val="tx1"/>
                          </a:solidFill>
                          <a:effectLst/>
                          <a:latin typeface="+mn-lt"/>
                          <a:ea typeface="+mn-ea"/>
                          <a:cs typeface="+mn-cs"/>
                        </a:rPr>
                        <a:t> est une bibliothèque pour le calcul numérique rapide. Autrement dit, elle fournit un compilateur d’expressions mathématiques. </a:t>
                      </a:r>
                      <a:r>
                        <a:rPr lang="fr-FR" sz="2000" b="0" kern="1200" dirty="0" err="1" smtClean="0">
                          <a:solidFill>
                            <a:schemeClr val="tx1"/>
                          </a:solidFill>
                          <a:effectLst/>
                          <a:latin typeface="+mn-lt"/>
                          <a:ea typeface="+mn-ea"/>
                          <a:cs typeface="+mn-cs"/>
                        </a:rPr>
                        <a:t>Theano</a:t>
                      </a:r>
                      <a:r>
                        <a:rPr lang="fr-FR" sz="2000" b="0" kern="1200" dirty="0" smtClean="0">
                          <a:solidFill>
                            <a:schemeClr val="tx1"/>
                          </a:solidFill>
                          <a:effectLst/>
                          <a:latin typeface="+mn-lt"/>
                          <a:ea typeface="+mn-ea"/>
                          <a:cs typeface="+mn-cs"/>
                        </a:rPr>
                        <a:t> est l’une des premières bibliothèques Python conçues pour gérer le calcul requis par les grands algorithmes de réseaux neuronaux profonds et se trouve être la norme industrielle pour le développement du </a:t>
                      </a:r>
                      <a:r>
                        <a:rPr lang="fr-FR" sz="2000" b="0" kern="1200" dirty="0" err="1" smtClean="0">
                          <a:solidFill>
                            <a:schemeClr val="tx1"/>
                          </a:solidFill>
                          <a:effectLst/>
                          <a:latin typeface="+mn-lt"/>
                          <a:ea typeface="+mn-ea"/>
                          <a:cs typeface="+mn-cs"/>
                        </a:rPr>
                        <a:t>deep</a:t>
                      </a:r>
                      <a:r>
                        <a:rPr lang="fr-FR" sz="2000" b="0" kern="1200" dirty="0" smtClean="0">
                          <a:solidFill>
                            <a:schemeClr val="tx1"/>
                          </a:solidFill>
                          <a:effectLst/>
                          <a:latin typeface="+mn-lt"/>
                          <a:ea typeface="+mn-ea"/>
                          <a:cs typeface="+mn-cs"/>
                        </a:rPr>
                        <a:t> </a:t>
                      </a:r>
                      <a:r>
                        <a:rPr lang="fr-FR" sz="2000" b="0" kern="1200" dirty="0" err="1" smtClean="0">
                          <a:solidFill>
                            <a:schemeClr val="tx1"/>
                          </a:solidFill>
                          <a:effectLst/>
                          <a:latin typeface="+mn-lt"/>
                          <a:ea typeface="+mn-ea"/>
                          <a:cs typeface="+mn-cs"/>
                        </a:rPr>
                        <a:t>learning</a:t>
                      </a:r>
                      <a:r>
                        <a:rPr lang="fr-FR" sz="2000" b="0" kern="1200" dirty="0" smtClean="0">
                          <a:solidFill>
                            <a:schemeClr val="tx1"/>
                          </a:solidFill>
                          <a:effectLst/>
                          <a:latin typeface="+mn-lt"/>
                          <a:ea typeface="+mn-ea"/>
                          <a:cs typeface="+mn-cs"/>
                        </a:rPr>
                        <a:t>.</a:t>
                      </a:r>
                      <a:endParaRPr lang="fr-FR"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endParaRPr lang="fr-FR" dirty="0" smtClean="0"/>
                    </a:p>
                    <a:p>
                      <a:endParaRPr lang="fr-FR" dirty="0" smtClean="0"/>
                    </a:p>
                    <a:p>
                      <a:endParaRPr lang="fr-FR" dirty="0" smtClean="0"/>
                    </a:p>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fr-FR" sz="2000" b="0" kern="1200" dirty="0" err="1" smtClean="0">
                          <a:solidFill>
                            <a:schemeClr val="tx1"/>
                          </a:solidFill>
                          <a:effectLst/>
                          <a:latin typeface="+mn-lt"/>
                          <a:ea typeface="+mn-ea"/>
                          <a:cs typeface="+mn-cs"/>
                        </a:rPr>
                        <a:t>Scikit-Learn</a:t>
                      </a:r>
                      <a:r>
                        <a:rPr lang="fr-FR" sz="2000" b="0" kern="1200" dirty="0" smtClean="0">
                          <a:solidFill>
                            <a:schemeClr val="tx1"/>
                          </a:solidFill>
                          <a:effectLst/>
                          <a:latin typeface="+mn-lt"/>
                          <a:ea typeface="+mn-ea"/>
                          <a:cs typeface="+mn-cs"/>
                        </a:rPr>
                        <a:t> </a:t>
                      </a:r>
                      <a:r>
                        <a:rPr lang="fr-FR" sz="2000" b="0" kern="1200" dirty="0" smtClean="0">
                          <a:solidFill>
                            <a:schemeClr val="dk1"/>
                          </a:solidFill>
                          <a:effectLst/>
                          <a:latin typeface="+mn-lt"/>
                          <a:ea typeface="+mn-ea"/>
                          <a:cs typeface="+mn-cs"/>
                        </a:rPr>
                        <a:t>est une autre bibliothèque Python spécifiquement conçue pour l’IA et le machine </a:t>
                      </a:r>
                      <a:r>
                        <a:rPr lang="fr-FR" sz="2000" b="0" kern="1200" dirty="0" err="1" smtClean="0">
                          <a:solidFill>
                            <a:schemeClr val="dk1"/>
                          </a:solidFill>
                          <a:effectLst/>
                          <a:latin typeface="+mn-lt"/>
                          <a:ea typeface="+mn-ea"/>
                          <a:cs typeface="+mn-cs"/>
                        </a:rPr>
                        <a:t>learning</a:t>
                      </a:r>
                      <a:r>
                        <a:rPr lang="fr-FR" sz="2000" b="0" kern="1200" dirty="0" smtClean="0">
                          <a:solidFill>
                            <a:schemeClr val="dk1"/>
                          </a:solidFill>
                          <a:effectLst/>
                          <a:latin typeface="+mn-lt"/>
                          <a:ea typeface="+mn-ea"/>
                          <a:cs typeface="+mn-cs"/>
                        </a:rPr>
                        <a:t>. Ses principales fonctionnalités incluent la </a:t>
                      </a:r>
                      <a:r>
                        <a:rPr lang="fr-FR" sz="2000" b="1" kern="1200" dirty="0" smtClean="0">
                          <a:solidFill>
                            <a:schemeClr val="dk1"/>
                          </a:solidFill>
                          <a:effectLst/>
                          <a:latin typeface="+mn-lt"/>
                          <a:ea typeface="+mn-ea"/>
                          <a:cs typeface="+mn-cs"/>
                        </a:rPr>
                        <a:t>classification</a:t>
                      </a:r>
                      <a:r>
                        <a:rPr lang="fr-FR" sz="2000" b="0" kern="1200" dirty="0" smtClean="0">
                          <a:solidFill>
                            <a:schemeClr val="dk1"/>
                          </a:solidFill>
                          <a:effectLst/>
                          <a:latin typeface="+mn-lt"/>
                          <a:ea typeface="+mn-ea"/>
                          <a:cs typeface="+mn-cs"/>
                        </a:rPr>
                        <a:t>, le </a:t>
                      </a:r>
                      <a:r>
                        <a:rPr lang="fr-FR" sz="2000" b="1" kern="1200" dirty="0" err="1" smtClean="0">
                          <a:solidFill>
                            <a:schemeClr val="dk1"/>
                          </a:solidFill>
                          <a:effectLst/>
                          <a:latin typeface="+mn-lt"/>
                          <a:ea typeface="+mn-ea"/>
                          <a:cs typeface="+mn-cs"/>
                        </a:rPr>
                        <a:t>pré-traitement</a:t>
                      </a:r>
                      <a:r>
                        <a:rPr lang="fr-FR" sz="2000" b="1" kern="1200" dirty="0" smtClean="0">
                          <a:solidFill>
                            <a:schemeClr val="dk1"/>
                          </a:solidFill>
                          <a:effectLst/>
                          <a:latin typeface="+mn-lt"/>
                          <a:ea typeface="+mn-ea"/>
                          <a:cs typeface="+mn-cs"/>
                        </a:rPr>
                        <a:t> </a:t>
                      </a:r>
                      <a:r>
                        <a:rPr lang="fr-FR" sz="2000" b="0" kern="1200" dirty="0" smtClean="0">
                          <a:solidFill>
                            <a:schemeClr val="dk1"/>
                          </a:solidFill>
                          <a:effectLst/>
                          <a:latin typeface="+mn-lt"/>
                          <a:ea typeface="+mn-ea"/>
                          <a:cs typeface="+mn-cs"/>
                        </a:rPr>
                        <a:t>et la </a:t>
                      </a:r>
                      <a:r>
                        <a:rPr lang="fr-FR" sz="2000" b="1" kern="1200" dirty="0" smtClean="0">
                          <a:solidFill>
                            <a:schemeClr val="dk1"/>
                          </a:solidFill>
                          <a:effectLst/>
                          <a:latin typeface="+mn-lt"/>
                          <a:ea typeface="+mn-ea"/>
                          <a:cs typeface="+mn-cs"/>
                        </a:rPr>
                        <a:t>modélisation </a:t>
                      </a:r>
                      <a:r>
                        <a:rPr lang="fr-FR" sz="2000" b="0" kern="1200" dirty="0" smtClean="0">
                          <a:solidFill>
                            <a:schemeClr val="dk1"/>
                          </a:solidFill>
                          <a:effectLst/>
                          <a:latin typeface="+mn-lt"/>
                          <a:ea typeface="+mn-ea"/>
                          <a:cs typeface="+mn-cs"/>
                        </a:rPr>
                        <a:t>des données ainsi que la sélection de modèles. En outre, </a:t>
                      </a:r>
                      <a:r>
                        <a:rPr lang="fr-FR" sz="2000" b="0" kern="1200" dirty="0" err="1" smtClean="0">
                          <a:solidFill>
                            <a:schemeClr val="dk1"/>
                          </a:solidFill>
                          <a:effectLst/>
                          <a:latin typeface="+mn-lt"/>
                          <a:ea typeface="+mn-ea"/>
                          <a:cs typeface="+mn-cs"/>
                        </a:rPr>
                        <a:t>Scikit-Learn</a:t>
                      </a:r>
                      <a:r>
                        <a:rPr lang="fr-FR" sz="2000" b="0" kern="1200" dirty="0" smtClean="0">
                          <a:solidFill>
                            <a:schemeClr val="dk1"/>
                          </a:solidFill>
                          <a:effectLst/>
                          <a:latin typeface="+mn-lt"/>
                          <a:ea typeface="+mn-ea"/>
                          <a:cs typeface="+mn-cs"/>
                        </a:rPr>
                        <a:t> est interopérable avec la pile </a:t>
                      </a:r>
                      <a:r>
                        <a:rPr lang="fr-FR" sz="2000" b="0" kern="1200" dirty="0" err="1" smtClean="0">
                          <a:solidFill>
                            <a:schemeClr val="dk1"/>
                          </a:solidFill>
                          <a:effectLst/>
                          <a:latin typeface="+mn-lt"/>
                          <a:ea typeface="+mn-ea"/>
                          <a:cs typeface="+mn-cs"/>
                        </a:rPr>
                        <a:t>SciPy</a:t>
                      </a:r>
                      <a:r>
                        <a:rPr lang="fr-FR" sz="2000" b="0" kern="1200" dirty="0" smtClean="0">
                          <a:solidFill>
                            <a:schemeClr val="dk1"/>
                          </a:solidFill>
                          <a:effectLst/>
                          <a:latin typeface="+mn-lt"/>
                          <a:ea typeface="+mn-ea"/>
                          <a:cs typeface="+mn-cs"/>
                        </a:rPr>
                        <a:t> qui inclut </a:t>
                      </a:r>
                      <a:r>
                        <a:rPr lang="fr-FR" sz="2000" b="0" kern="1200" dirty="0" err="1" smtClean="0">
                          <a:solidFill>
                            <a:schemeClr val="dk1"/>
                          </a:solidFill>
                          <a:effectLst/>
                          <a:latin typeface="+mn-lt"/>
                          <a:ea typeface="+mn-ea"/>
                          <a:cs typeface="+mn-cs"/>
                        </a:rPr>
                        <a:t>NumPy</a:t>
                      </a:r>
                      <a:r>
                        <a:rPr lang="fr-FR" sz="2000" b="0" kern="1200" dirty="0" smtClean="0">
                          <a:solidFill>
                            <a:schemeClr val="dk1"/>
                          </a:solidFill>
                          <a:effectLst/>
                          <a:latin typeface="+mn-lt"/>
                          <a:ea typeface="+mn-ea"/>
                          <a:cs typeface="+mn-cs"/>
                        </a:rPr>
                        <a:t>, </a:t>
                      </a:r>
                      <a:r>
                        <a:rPr lang="fr-FR" sz="2000" b="0" kern="1200" dirty="0" err="1" smtClean="0">
                          <a:solidFill>
                            <a:schemeClr val="dk1"/>
                          </a:solidFill>
                          <a:effectLst/>
                          <a:latin typeface="+mn-lt"/>
                          <a:ea typeface="+mn-ea"/>
                          <a:cs typeface="+mn-cs"/>
                        </a:rPr>
                        <a:t>Matplotlib</a:t>
                      </a:r>
                      <a:r>
                        <a:rPr lang="fr-FR" sz="2000" b="0" kern="1200" dirty="0" smtClean="0">
                          <a:solidFill>
                            <a:schemeClr val="dk1"/>
                          </a:solidFill>
                          <a:effectLst/>
                          <a:latin typeface="+mn-lt"/>
                          <a:ea typeface="+mn-ea"/>
                          <a:cs typeface="+mn-cs"/>
                        </a:rPr>
                        <a:t>, </a:t>
                      </a:r>
                      <a:r>
                        <a:rPr lang="fr-FR" sz="2000" b="0" kern="1200" dirty="0" err="1" smtClean="0">
                          <a:solidFill>
                            <a:schemeClr val="dk1"/>
                          </a:solidFill>
                          <a:effectLst/>
                          <a:latin typeface="+mn-lt"/>
                          <a:ea typeface="+mn-ea"/>
                          <a:cs typeface="+mn-cs"/>
                        </a:rPr>
                        <a:t>IPython</a:t>
                      </a:r>
                      <a:r>
                        <a:rPr lang="fr-FR" sz="2000" b="0" kern="1200" dirty="0" smtClean="0">
                          <a:solidFill>
                            <a:schemeClr val="dk1"/>
                          </a:solidFill>
                          <a:effectLst/>
                          <a:latin typeface="+mn-lt"/>
                          <a:ea typeface="+mn-ea"/>
                          <a:cs typeface="+mn-cs"/>
                        </a:rPr>
                        <a:t>, </a:t>
                      </a:r>
                      <a:r>
                        <a:rPr lang="fr-FR" sz="2000" b="0" kern="1200" dirty="0" err="1" smtClean="0">
                          <a:solidFill>
                            <a:schemeClr val="dk1"/>
                          </a:solidFill>
                          <a:effectLst/>
                          <a:latin typeface="+mn-lt"/>
                          <a:ea typeface="+mn-ea"/>
                          <a:cs typeface="+mn-cs"/>
                        </a:rPr>
                        <a:t>Sympy</a:t>
                      </a:r>
                      <a:r>
                        <a:rPr lang="fr-FR" sz="2000" b="0" kern="1200" dirty="0" smtClean="0">
                          <a:solidFill>
                            <a:schemeClr val="dk1"/>
                          </a:solidFill>
                          <a:effectLst/>
                          <a:latin typeface="+mn-lt"/>
                          <a:ea typeface="+mn-ea"/>
                          <a:cs typeface="+mn-cs"/>
                        </a:rPr>
                        <a:t> et Pandas.</a:t>
                      </a:r>
                      <a:endParaRPr lang="fr-FR"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pic>
        <p:nvPicPr>
          <p:cNvPr id="40038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8000" y="1500188"/>
            <a:ext cx="2090581" cy="1005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0387"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85813" y="4149100"/>
            <a:ext cx="2132768" cy="1393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 Box 9"/>
          <p:cNvSpPr txBox="1">
            <a:spLocks noChangeArrowheads="1"/>
          </p:cNvSpPr>
          <p:nvPr/>
        </p:nvSpPr>
        <p:spPr bwMode="auto">
          <a:xfrm>
            <a:off x="971550" y="260560"/>
            <a:ext cx="8172450" cy="400110"/>
          </a:xfrm>
          <a:prstGeom prst="rect">
            <a:avLst/>
          </a:prstGeom>
          <a:noFill/>
          <a:ln w="12700" algn="ctr">
            <a:noFill/>
            <a:miter lim="800000"/>
            <a:headEnd/>
            <a:tailEnd/>
          </a:ln>
        </p:spPr>
        <p:txBody>
          <a:bodyPr>
            <a:spAutoFit/>
          </a:bodyPr>
          <a:lstStyle/>
          <a:p>
            <a:pPr>
              <a:spcBef>
                <a:spcPct val="50000"/>
              </a:spcBef>
            </a:pPr>
            <a:r>
              <a:rPr lang="fr-FR" b="1" dirty="0">
                <a:solidFill>
                  <a:srgbClr val="000000"/>
                </a:solidFill>
                <a:latin typeface="Arial" pitchFamily="34" charset="0"/>
              </a:rPr>
              <a:t>Quelques</a:t>
            </a:r>
            <a:r>
              <a:rPr lang="fr-FR" b="1" dirty="0" smtClean="0">
                <a:solidFill>
                  <a:srgbClr val="000000"/>
                </a:solidFill>
                <a:latin typeface="Arial" pitchFamily="34" charset="0"/>
              </a:rPr>
              <a:t> </a:t>
            </a:r>
            <a:r>
              <a:rPr lang="fr-FR" b="1" dirty="0">
                <a:solidFill>
                  <a:srgbClr val="000000"/>
                </a:solidFill>
                <a:latin typeface="Arial" pitchFamily="34" charset="0"/>
              </a:rPr>
              <a:t>librairies Python utilisées pour l’IA et le ML</a:t>
            </a:r>
          </a:p>
        </p:txBody>
      </p:sp>
    </p:spTree>
    <p:custDataLst>
      <p:tags r:id="rId1"/>
    </p:custDataLst>
    <p:extLst>
      <p:ext uri="{BB962C8B-B14F-4D97-AF65-F5344CB8AC3E}">
        <p14:creationId xmlns:p14="http://schemas.microsoft.com/office/powerpoint/2010/main" val="3861488340"/>
      </p:ext>
    </p:extLst>
  </p:cSld>
  <p:clrMapOvr>
    <a:masterClrMapping/>
  </p:clrMapOvr>
  <p:transition>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3781"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203782"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203783" name="Triangle isocèle 6"/>
          <p:cNvSpPr>
            <a:spLocks noChangeArrowheads="1"/>
          </p:cNvSpPr>
          <p:nvPr/>
        </p:nvSpPr>
        <p:spPr bwMode="auto">
          <a:xfrm>
            <a:off x="571500" y="1143000"/>
            <a:ext cx="500063" cy="357188"/>
          </a:xfrm>
          <a:prstGeom prst="triangle">
            <a:avLst>
              <a:gd name="adj" fmla="val 50000"/>
            </a:avLst>
          </a:prstGeom>
          <a:noFill/>
          <a:ln w="9525" algn="ctr">
            <a:noFill/>
            <a:round/>
            <a:headEnd/>
            <a:tailEnd/>
          </a:ln>
        </p:spPr>
        <p:txBody>
          <a:bodyPr lIns="90000" tIns="46800" rIns="90000" bIns="46800" anchor="ctr">
            <a:spAutoFit/>
          </a:bodyPr>
          <a:lstStyle/>
          <a:p>
            <a:pPr eaLnBrk="1" hangingPunct="1">
              <a:spcBef>
                <a:spcPct val="50000"/>
              </a:spcBef>
              <a:buClr>
                <a:srgbClr val="336666"/>
              </a:buClr>
              <a:buFont typeface="Wingdings" pitchFamily="2" charset="2"/>
              <a:buNone/>
            </a:pPr>
            <a:endParaRPr lang="fr-FR"/>
          </a:p>
        </p:txBody>
      </p:sp>
      <p:sp>
        <p:nvSpPr>
          <p:cNvPr id="203784" name="Triangle isocèle 8"/>
          <p:cNvSpPr>
            <a:spLocks noChangeArrowheads="1"/>
          </p:cNvSpPr>
          <p:nvPr/>
        </p:nvSpPr>
        <p:spPr bwMode="auto">
          <a:xfrm>
            <a:off x="785813" y="1500188"/>
            <a:ext cx="714375" cy="500062"/>
          </a:xfrm>
          <a:prstGeom prst="triangle">
            <a:avLst>
              <a:gd name="adj" fmla="val 50000"/>
            </a:avLst>
          </a:prstGeom>
          <a:noFill/>
          <a:ln w="9525" algn="ctr">
            <a:noFill/>
            <a:round/>
            <a:headEnd/>
            <a:tailEnd/>
          </a:ln>
        </p:spPr>
        <p:txBody>
          <a:bodyPr lIns="90000" tIns="46800" rIns="90000" bIns="46800" anchor="ctr">
            <a:spAutoFit/>
          </a:bodyPr>
          <a:lstStyle/>
          <a:p>
            <a:pPr eaLnBrk="1" hangingPunct="1">
              <a:spcBef>
                <a:spcPct val="50000"/>
              </a:spcBef>
              <a:buClr>
                <a:srgbClr val="336666"/>
              </a:buClr>
              <a:buFont typeface="Wingdings" pitchFamily="2" charset="2"/>
              <a:buNone/>
            </a:pPr>
            <a:endParaRPr lang="fr-FR"/>
          </a:p>
        </p:txBody>
      </p:sp>
      <p:graphicFrame>
        <p:nvGraphicFramePr>
          <p:cNvPr id="4" name="Tableau 3"/>
          <p:cNvGraphicFramePr>
            <a:graphicFrameLocks noGrp="1"/>
          </p:cNvGraphicFramePr>
          <p:nvPr>
            <p:extLst>
              <p:ext uri="{D42A27DB-BD31-4B8C-83A1-F6EECF244321}">
                <p14:modId xmlns:p14="http://schemas.microsoft.com/office/powerpoint/2010/main" val="3774254268"/>
              </p:ext>
            </p:extLst>
          </p:nvPr>
        </p:nvGraphicFramePr>
        <p:xfrm>
          <a:off x="571500" y="908650"/>
          <a:ext cx="8321099" cy="5365504"/>
        </p:xfrm>
        <a:graphic>
          <a:graphicData uri="http://schemas.openxmlformats.org/drawingml/2006/table">
            <a:tbl>
              <a:tblPr firstRow="1" bandRow="1">
                <a:tableStyleId>{5C22544A-7EE6-4342-B048-85BDC9FD1C3A}</a:tableStyleId>
              </a:tblPr>
              <a:tblGrid>
                <a:gridCol w="2481921"/>
                <a:gridCol w="5839178"/>
              </a:tblGrid>
              <a:tr h="3030666">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fr-FR" sz="2000" b="1" kern="1200" dirty="0" smtClean="0">
                          <a:solidFill>
                            <a:schemeClr val="tx1"/>
                          </a:solidFill>
                          <a:effectLst/>
                          <a:latin typeface="+mn-lt"/>
                          <a:ea typeface="+mn-ea"/>
                          <a:cs typeface="+mn-cs"/>
                        </a:rPr>
                        <a:t>Pandas</a:t>
                      </a:r>
                      <a:r>
                        <a:rPr lang="fr-FR" sz="2000" b="0" kern="1200" dirty="0" smtClean="0">
                          <a:solidFill>
                            <a:schemeClr val="tx1"/>
                          </a:solidFill>
                          <a:effectLst/>
                          <a:latin typeface="+mn-lt"/>
                          <a:ea typeface="+mn-ea"/>
                          <a:cs typeface="+mn-cs"/>
                        </a:rPr>
                        <a:t> est une bibliothèque Python populaire dans le domaine de l’IA et du machine </a:t>
                      </a:r>
                      <a:r>
                        <a:rPr lang="fr-FR" sz="2000" b="0" kern="1200" dirty="0" err="1" smtClean="0">
                          <a:solidFill>
                            <a:schemeClr val="tx1"/>
                          </a:solidFill>
                          <a:effectLst/>
                          <a:latin typeface="+mn-lt"/>
                          <a:ea typeface="+mn-ea"/>
                          <a:cs typeface="+mn-cs"/>
                        </a:rPr>
                        <a:t>learning</a:t>
                      </a:r>
                      <a:r>
                        <a:rPr lang="fr-FR" sz="2000" b="0" kern="1200" dirty="0" smtClean="0">
                          <a:solidFill>
                            <a:schemeClr val="tx1"/>
                          </a:solidFill>
                          <a:effectLst/>
                          <a:latin typeface="+mn-lt"/>
                          <a:ea typeface="+mn-ea"/>
                          <a:cs typeface="+mn-cs"/>
                        </a:rPr>
                        <a:t>.</a:t>
                      </a:r>
                      <a:r>
                        <a:rPr lang="fr-FR" sz="2000" b="0" kern="1200" baseline="0" dirty="0" smtClean="0">
                          <a:solidFill>
                            <a:schemeClr val="tx1"/>
                          </a:solidFill>
                          <a:effectLst/>
                          <a:latin typeface="+mn-lt"/>
                          <a:ea typeface="+mn-ea"/>
                          <a:cs typeface="+mn-cs"/>
                        </a:rPr>
                        <a:t> </a:t>
                      </a:r>
                      <a:r>
                        <a:rPr lang="fr-FR" sz="2000" b="0" kern="1200" dirty="0" smtClean="0">
                          <a:solidFill>
                            <a:schemeClr val="tx1"/>
                          </a:solidFill>
                          <a:effectLst/>
                          <a:latin typeface="+mn-lt"/>
                          <a:ea typeface="+mn-ea"/>
                          <a:cs typeface="+mn-cs"/>
                        </a:rPr>
                        <a:t>Il s’agit, plus précisément, d’une bibliothèque logicielle qui intègre des fonctions de nettoyage, de transformation, de manipulation, de visualisation et d’analyse de données. Les développeurs IA/ML s’en servent généralement pour traiter les données multidimensionnelles. Pandas permet donc de regrouper, d’intégrer et d’indexer les données à l’aide de commandes minimales</a:t>
                      </a:r>
                      <a:endParaRPr lang="fr-FR"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226064">
                <a:tc>
                  <a:txBody>
                    <a:bodyPr/>
                    <a:lstStyle/>
                    <a:p>
                      <a:endParaRPr lang="fr-FR" dirty="0" smtClean="0"/>
                    </a:p>
                    <a:p>
                      <a:endParaRPr lang="fr-FR" dirty="0" smtClean="0"/>
                    </a:p>
                    <a:p>
                      <a:endParaRPr lang="fr-FR" dirty="0" smtClean="0"/>
                    </a:p>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fr-FR" sz="2000" b="0" kern="1200" dirty="0" smtClean="0">
                          <a:solidFill>
                            <a:schemeClr val="dk1"/>
                          </a:solidFill>
                          <a:effectLst/>
                          <a:latin typeface="+mn-lt"/>
                          <a:ea typeface="+mn-ea"/>
                          <a:cs typeface="+mn-cs"/>
                        </a:rPr>
                        <a:t>La prochaine sur notre liste est une autre bibliothèque open source de bout en bout pour le machine </a:t>
                      </a:r>
                      <a:r>
                        <a:rPr lang="fr-FR" sz="2000" b="0" kern="1200" dirty="0" err="1" smtClean="0">
                          <a:solidFill>
                            <a:schemeClr val="dk1"/>
                          </a:solidFill>
                          <a:effectLst/>
                          <a:latin typeface="+mn-lt"/>
                          <a:ea typeface="+mn-ea"/>
                          <a:cs typeface="+mn-cs"/>
                        </a:rPr>
                        <a:t>learning</a:t>
                      </a:r>
                      <a:r>
                        <a:rPr lang="fr-FR" sz="2000" b="0" kern="1200" dirty="0" smtClean="0">
                          <a:solidFill>
                            <a:schemeClr val="dk1"/>
                          </a:solidFill>
                          <a:effectLst/>
                          <a:latin typeface="+mn-lt"/>
                          <a:ea typeface="+mn-ea"/>
                          <a:cs typeface="+mn-cs"/>
                        </a:rPr>
                        <a:t>. </a:t>
                      </a:r>
                      <a:r>
                        <a:rPr lang="fr-FR" sz="2000" b="0" kern="1200" dirty="0" err="1" smtClean="0">
                          <a:solidFill>
                            <a:schemeClr val="dk1"/>
                          </a:solidFill>
                          <a:effectLst/>
                          <a:latin typeface="+mn-lt"/>
                          <a:ea typeface="+mn-ea"/>
                          <a:cs typeface="+mn-cs"/>
                        </a:rPr>
                        <a:t>TensorFlow</a:t>
                      </a:r>
                      <a:r>
                        <a:rPr lang="fr-FR" sz="2000" b="0" kern="1200" dirty="0" smtClean="0">
                          <a:solidFill>
                            <a:schemeClr val="dk1"/>
                          </a:solidFill>
                          <a:effectLst/>
                          <a:latin typeface="+mn-lt"/>
                          <a:ea typeface="+mn-ea"/>
                          <a:cs typeface="+mn-cs"/>
                        </a:rPr>
                        <a:t> est utilisée pour le calcul numérique et le flux de données et est spécialisée dans la </a:t>
                      </a:r>
                      <a:r>
                        <a:rPr lang="fr-FR" sz="2000" b="1" kern="1200" dirty="0" smtClean="0">
                          <a:solidFill>
                            <a:schemeClr val="dk1"/>
                          </a:solidFill>
                          <a:effectLst/>
                          <a:latin typeface="+mn-lt"/>
                          <a:ea typeface="+mn-ea"/>
                          <a:cs typeface="+mn-cs"/>
                        </a:rPr>
                        <a:t>programmation différentiable</a:t>
                      </a:r>
                      <a:r>
                        <a:rPr lang="fr-FR" sz="2000" b="0" kern="1200" dirty="0" smtClean="0">
                          <a:solidFill>
                            <a:schemeClr val="dk1"/>
                          </a:solidFill>
                          <a:effectLst/>
                          <a:latin typeface="+mn-lt"/>
                          <a:ea typeface="+mn-ea"/>
                          <a:cs typeface="+mn-cs"/>
                        </a:rPr>
                        <a:t>. Par ailleurs, elle fournit une collection d’outils pour la construction de modèles DL et ML</a:t>
                      </a:r>
                      <a:endParaRPr lang="fr-FR"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pic>
        <p:nvPicPr>
          <p:cNvPr id="40038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460" y="1758528"/>
            <a:ext cx="2231622" cy="105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038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5813" y="5008275"/>
            <a:ext cx="2083062" cy="1085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 Box 9"/>
          <p:cNvSpPr txBox="1">
            <a:spLocks noChangeArrowheads="1"/>
          </p:cNvSpPr>
          <p:nvPr/>
        </p:nvSpPr>
        <p:spPr bwMode="auto">
          <a:xfrm>
            <a:off x="971550" y="260560"/>
            <a:ext cx="8172450" cy="400110"/>
          </a:xfrm>
          <a:prstGeom prst="rect">
            <a:avLst/>
          </a:prstGeom>
          <a:noFill/>
          <a:ln w="12700" algn="ctr">
            <a:noFill/>
            <a:miter lim="800000"/>
            <a:headEnd/>
            <a:tailEnd/>
          </a:ln>
        </p:spPr>
        <p:txBody>
          <a:bodyPr>
            <a:spAutoFit/>
          </a:bodyPr>
          <a:lstStyle/>
          <a:p>
            <a:pPr>
              <a:spcBef>
                <a:spcPct val="50000"/>
              </a:spcBef>
            </a:pPr>
            <a:r>
              <a:rPr lang="fr-FR" b="1" dirty="0">
                <a:solidFill>
                  <a:srgbClr val="000000"/>
                </a:solidFill>
                <a:latin typeface="Arial" pitchFamily="34" charset="0"/>
              </a:rPr>
              <a:t>Quelques</a:t>
            </a:r>
            <a:r>
              <a:rPr lang="fr-FR" b="1" dirty="0" smtClean="0">
                <a:solidFill>
                  <a:srgbClr val="000000"/>
                </a:solidFill>
                <a:latin typeface="Arial" pitchFamily="34" charset="0"/>
              </a:rPr>
              <a:t> </a:t>
            </a:r>
            <a:r>
              <a:rPr lang="fr-FR" b="1" dirty="0">
                <a:solidFill>
                  <a:srgbClr val="000000"/>
                </a:solidFill>
                <a:latin typeface="Arial" pitchFamily="34" charset="0"/>
              </a:rPr>
              <a:t>librairies Python utilisées pour l’IA et le ML</a:t>
            </a:r>
          </a:p>
        </p:txBody>
      </p:sp>
    </p:spTree>
    <p:custDataLst>
      <p:tags r:id="rId1"/>
    </p:custDataLst>
    <p:extLst>
      <p:ext uri="{BB962C8B-B14F-4D97-AF65-F5344CB8AC3E}">
        <p14:creationId xmlns:p14="http://schemas.microsoft.com/office/powerpoint/2010/main" val="2733050444"/>
      </p:ext>
    </p:extLst>
  </p:cSld>
  <p:clrMapOvr>
    <a:masterClrMapping/>
  </p:clrMapOvr>
  <p:transition>
    <p:wip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3781"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203782"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203783" name="Triangle isocèle 6"/>
          <p:cNvSpPr>
            <a:spLocks noChangeArrowheads="1"/>
          </p:cNvSpPr>
          <p:nvPr/>
        </p:nvSpPr>
        <p:spPr bwMode="auto">
          <a:xfrm>
            <a:off x="571500" y="1143000"/>
            <a:ext cx="500063" cy="357188"/>
          </a:xfrm>
          <a:prstGeom prst="triangle">
            <a:avLst>
              <a:gd name="adj" fmla="val 50000"/>
            </a:avLst>
          </a:prstGeom>
          <a:noFill/>
          <a:ln w="9525" algn="ctr">
            <a:noFill/>
            <a:round/>
            <a:headEnd/>
            <a:tailEnd/>
          </a:ln>
        </p:spPr>
        <p:txBody>
          <a:bodyPr lIns="90000" tIns="46800" rIns="90000" bIns="46800" anchor="ctr">
            <a:spAutoFit/>
          </a:bodyPr>
          <a:lstStyle/>
          <a:p>
            <a:pPr eaLnBrk="1" hangingPunct="1">
              <a:spcBef>
                <a:spcPct val="50000"/>
              </a:spcBef>
              <a:buClr>
                <a:srgbClr val="336666"/>
              </a:buClr>
              <a:buFont typeface="Wingdings" pitchFamily="2" charset="2"/>
              <a:buNone/>
            </a:pPr>
            <a:endParaRPr lang="fr-FR"/>
          </a:p>
        </p:txBody>
      </p:sp>
      <p:sp>
        <p:nvSpPr>
          <p:cNvPr id="203784" name="Triangle isocèle 8"/>
          <p:cNvSpPr>
            <a:spLocks noChangeArrowheads="1"/>
          </p:cNvSpPr>
          <p:nvPr/>
        </p:nvSpPr>
        <p:spPr bwMode="auto">
          <a:xfrm>
            <a:off x="785813" y="1500188"/>
            <a:ext cx="714375" cy="500062"/>
          </a:xfrm>
          <a:prstGeom prst="triangle">
            <a:avLst>
              <a:gd name="adj" fmla="val 50000"/>
            </a:avLst>
          </a:prstGeom>
          <a:noFill/>
          <a:ln w="9525" algn="ctr">
            <a:noFill/>
            <a:round/>
            <a:headEnd/>
            <a:tailEnd/>
          </a:ln>
        </p:spPr>
        <p:txBody>
          <a:bodyPr lIns="90000" tIns="46800" rIns="90000" bIns="46800" anchor="ctr">
            <a:spAutoFit/>
          </a:bodyPr>
          <a:lstStyle/>
          <a:p>
            <a:pPr eaLnBrk="1" hangingPunct="1">
              <a:spcBef>
                <a:spcPct val="50000"/>
              </a:spcBef>
              <a:buClr>
                <a:srgbClr val="336666"/>
              </a:buClr>
              <a:buFont typeface="Wingdings" pitchFamily="2" charset="2"/>
              <a:buNone/>
            </a:pPr>
            <a:endParaRPr lang="fr-FR"/>
          </a:p>
        </p:txBody>
      </p:sp>
      <p:graphicFrame>
        <p:nvGraphicFramePr>
          <p:cNvPr id="4" name="Tableau 3"/>
          <p:cNvGraphicFramePr>
            <a:graphicFrameLocks noGrp="1"/>
          </p:cNvGraphicFramePr>
          <p:nvPr>
            <p:extLst>
              <p:ext uri="{D42A27DB-BD31-4B8C-83A1-F6EECF244321}">
                <p14:modId xmlns:p14="http://schemas.microsoft.com/office/powerpoint/2010/main" val="1344044794"/>
              </p:ext>
            </p:extLst>
          </p:nvPr>
        </p:nvGraphicFramePr>
        <p:xfrm>
          <a:off x="571500" y="1052670"/>
          <a:ext cx="8321099" cy="5151120"/>
        </p:xfrm>
        <a:graphic>
          <a:graphicData uri="http://schemas.openxmlformats.org/drawingml/2006/table">
            <a:tbl>
              <a:tblPr firstRow="1" bandRow="1">
                <a:tableStyleId>{5C22544A-7EE6-4342-B048-85BDC9FD1C3A}</a:tableStyleId>
              </a:tblPr>
              <a:tblGrid>
                <a:gridCol w="2481921"/>
                <a:gridCol w="5839178"/>
              </a:tblGrid>
              <a:tr h="115216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fr-FR" sz="2000" b="0" kern="1200" dirty="0" smtClean="0">
                          <a:solidFill>
                            <a:schemeClr val="tx1"/>
                          </a:solidFill>
                          <a:effectLst/>
                          <a:latin typeface="+mn-lt"/>
                          <a:ea typeface="+mn-ea"/>
                          <a:cs typeface="+mn-cs"/>
                        </a:rPr>
                        <a:t>Également développée par Google, </a:t>
                      </a:r>
                      <a:r>
                        <a:rPr lang="fr-FR" sz="2000" b="0" kern="1200" dirty="0" err="1" smtClean="0">
                          <a:solidFill>
                            <a:schemeClr val="tx1"/>
                          </a:solidFill>
                          <a:effectLst/>
                          <a:latin typeface="+mn-lt"/>
                          <a:ea typeface="+mn-ea"/>
                          <a:cs typeface="+mn-cs"/>
                        </a:rPr>
                        <a:t>Keras</a:t>
                      </a:r>
                      <a:r>
                        <a:rPr lang="fr-FR" sz="2000" b="0" kern="1200" dirty="0" smtClean="0">
                          <a:solidFill>
                            <a:schemeClr val="tx1"/>
                          </a:solidFill>
                          <a:effectLst/>
                          <a:latin typeface="+mn-lt"/>
                          <a:ea typeface="+mn-ea"/>
                          <a:cs typeface="+mn-cs"/>
                        </a:rPr>
                        <a:t> est aussi une bibliothèque Python pour le machine </a:t>
                      </a:r>
                      <a:r>
                        <a:rPr lang="fr-FR" sz="2000" b="0" kern="1200" dirty="0" err="1" smtClean="0">
                          <a:solidFill>
                            <a:schemeClr val="tx1"/>
                          </a:solidFill>
                          <a:effectLst/>
                          <a:latin typeface="+mn-lt"/>
                          <a:ea typeface="+mn-ea"/>
                          <a:cs typeface="+mn-cs"/>
                        </a:rPr>
                        <a:t>learning</a:t>
                      </a:r>
                      <a:r>
                        <a:rPr lang="fr-FR" sz="2000" b="0" kern="1200" dirty="0" smtClean="0">
                          <a:solidFill>
                            <a:schemeClr val="tx1"/>
                          </a:solidFill>
                          <a:effectLst/>
                          <a:latin typeface="+mn-lt"/>
                          <a:ea typeface="+mn-ea"/>
                          <a:cs typeface="+mn-cs"/>
                        </a:rPr>
                        <a:t> et l’IA. Elle propose une API de haut de niveau pour faciliter la mise en œuvre des réseaux neuronaux et prend en charge le calcul back-end</a:t>
                      </a:r>
                      <a:endParaRPr lang="fr-FR"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endParaRPr lang="fr-FR" dirty="0" smtClean="0"/>
                    </a:p>
                    <a:p>
                      <a:endParaRPr lang="fr-FR" dirty="0" smtClean="0"/>
                    </a:p>
                    <a:p>
                      <a:endParaRPr lang="fr-FR" dirty="0" smtClean="0"/>
                    </a:p>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fr-FR" sz="2000" b="0" kern="1200" dirty="0" err="1" smtClean="0">
                          <a:solidFill>
                            <a:schemeClr val="tx1"/>
                          </a:solidFill>
                          <a:effectLst/>
                          <a:latin typeface="+mn-lt"/>
                          <a:ea typeface="+mn-ea"/>
                          <a:cs typeface="+mn-cs"/>
                        </a:rPr>
                        <a:t>Matplotlib</a:t>
                      </a:r>
                      <a:r>
                        <a:rPr lang="fr-FR" sz="2000" b="0" kern="1200" dirty="0" smtClean="0">
                          <a:solidFill>
                            <a:schemeClr val="tx1"/>
                          </a:solidFill>
                          <a:effectLst/>
                          <a:latin typeface="+mn-lt"/>
                          <a:ea typeface="+mn-ea"/>
                          <a:cs typeface="+mn-cs"/>
                        </a:rPr>
                        <a:t> est la bibliothèque basique Python pour la </a:t>
                      </a:r>
                      <a:r>
                        <a:rPr lang="fr-FR" sz="2000" b="1" kern="1200" dirty="0" err="1" smtClean="0">
                          <a:solidFill>
                            <a:schemeClr val="tx1"/>
                          </a:solidFill>
                          <a:effectLst/>
                          <a:latin typeface="+mn-lt"/>
                          <a:ea typeface="+mn-ea"/>
                          <a:cs typeface="+mn-cs"/>
                        </a:rPr>
                        <a:t>Datavisualisation</a:t>
                      </a:r>
                      <a:r>
                        <a:rPr lang="fr-FR" sz="2000" b="0" kern="1200" dirty="0" smtClean="0">
                          <a:solidFill>
                            <a:schemeClr val="tx1"/>
                          </a:solidFill>
                          <a:effectLst/>
                          <a:latin typeface="+mn-lt"/>
                          <a:ea typeface="+mn-ea"/>
                          <a:cs typeface="+mn-cs"/>
                        </a:rPr>
                        <a:t>. En d’autres termes, elle prend en charge les différents graphiques pour la visualisation des données. Avec très peu de code, </a:t>
                      </a:r>
                      <a:r>
                        <a:rPr lang="fr-FR" sz="2000" b="0" kern="1200" dirty="0" err="1" smtClean="0">
                          <a:solidFill>
                            <a:schemeClr val="tx1"/>
                          </a:solidFill>
                          <a:effectLst/>
                          <a:latin typeface="+mn-lt"/>
                          <a:ea typeface="+mn-ea"/>
                          <a:cs typeface="+mn-cs"/>
                        </a:rPr>
                        <a:t>Matplotlib</a:t>
                      </a:r>
                      <a:r>
                        <a:rPr lang="fr-FR" sz="2000" b="0" kern="1200" dirty="0" smtClean="0">
                          <a:solidFill>
                            <a:schemeClr val="tx1"/>
                          </a:solidFill>
                          <a:effectLst/>
                          <a:latin typeface="+mn-lt"/>
                          <a:ea typeface="+mn-ea"/>
                          <a:cs typeface="+mn-cs"/>
                        </a:rPr>
                        <a:t> permet donc de générer différents types de graphiques, histogrammes et diagrammes</a:t>
                      </a:r>
                      <a:endParaRPr lang="fr-FR"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fr-FR" sz="2000" dirty="0" smtClean="0"/>
                        <a:t>Principalement développée par le laboratoire de recherche en IA de Meta, la bibliothèque </a:t>
                      </a:r>
                      <a:r>
                        <a:rPr lang="fr-FR" sz="2000" dirty="0" err="1" smtClean="0"/>
                        <a:t>PyTorch</a:t>
                      </a:r>
                      <a:r>
                        <a:rPr lang="fr-FR" sz="2000" dirty="0" smtClean="0"/>
                        <a:t> est aussi une bibliothèque de machine </a:t>
                      </a:r>
                      <a:r>
                        <a:rPr lang="fr-FR" sz="2000" dirty="0" err="1" smtClean="0"/>
                        <a:t>learning</a:t>
                      </a:r>
                      <a:r>
                        <a:rPr lang="fr-FR" sz="2000" dirty="0" smtClean="0"/>
                        <a:t> open source pour Python. Elle peut s’intégrer à d’autres bibliothèques telles que </a:t>
                      </a:r>
                      <a:r>
                        <a:rPr lang="fr-FR" sz="2000" dirty="0" err="1" smtClean="0"/>
                        <a:t>NumPy</a:t>
                      </a:r>
                      <a:r>
                        <a:rPr lang="fr-FR" sz="2000" dirty="0" smtClean="0"/>
                        <a:t>.</a:t>
                      </a:r>
                      <a:endParaRPr lang="fr-FR"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pic>
        <p:nvPicPr>
          <p:cNvPr id="4014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3179" y="1486219"/>
            <a:ext cx="2090581" cy="1006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141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1353" y="3284980"/>
            <a:ext cx="2066925" cy="1368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1412"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5813" y="5097111"/>
            <a:ext cx="1923270" cy="1235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 Box 9"/>
          <p:cNvSpPr txBox="1">
            <a:spLocks noChangeArrowheads="1"/>
          </p:cNvSpPr>
          <p:nvPr/>
        </p:nvSpPr>
        <p:spPr bwMode="auto">
          <a:xfrm>
            <a:off x="971550" y="260560"/>
            <a:ext cx="8172450" cy="400110"/>
          </a:xfrm>
          <a:prstGeom prst="rect">
            <a:avLst/>
          </a:prstGeom>
          <a:noFill/>
          <a:ln w="12700" algn="ctr">
            <a:noFill/>
            <a:miter lim="800000"/>
            <a:headEnd/>
            <a:tailEnd/>
          </a:ln>
        </p:spPr>
        <p:txBody>
          <a:bodyPr>
            <a:spAutoFit/>
          </a:bodyPr>
          <a:lstStyle/>
          <a:p>
            <a:pPr>
              <a:spcBef>
                <a:spcPct val="50000"/>
              </a:spcBef>
            </a:pPr>
            <a:r>
              <a:rPr lang="fr-FR" b="1" dirty="0">
                <a:solidFill>
                  <a:srgbClr val="000000"/>
                </a:solidFill>
                <a:latin typeface="Arial" pitchFamily="34" charset="0"/>
              </a:rPr>
              <a:t>Quelques</a:t>
            </a:r>
            <a:r>
              <a:rPr lang="fr-FR" b="1" dirty="0" smtClean="0">
                <a:solidFill>
                  <a:srgbClr val="000000"/>
                </a:solidFill>
                <a:latin typeface="Arial" pitchFamily="34" charset="0"/>
              </a:rPr>
              <a:t> </a:t>
            </a:r>
            <a:r>
              <a:rPr lang="fr-FR" b="1" dirty="0">
                <a:solidFill>
                  <a:srgbClr val="000000"/>
                </a:solidFill>
                <a:latin typeface="Arial" pitchFamily="34" charset="0"/>
              </a:rPr>
              <a:t>librairies Python utilisées pour l’IA et le ML</a:t>
            </a:r>
          </a:p>
        </p:txBody>
      </p:sp>
    </p:spTree>
    <p:custDataLst>
      <p:tags r:id="rId1"/>
    </p:custDataLst>
    <p:extLst>
      <p:ext uri="{BB962C8B-B14F-4D97-AF65-F5344CB8AC3E}">
        <p14:creationId xmlns:p14="http://schemas.microsoft.com/office/powerpoint/2010/main" val="55894201"/>
      </p:ext>
    </p:extLst>
  </p:cSld>
  <p:clrMapOvr>
    <a:masterClrMapping/>
  </p:clrMapOvr>
  <p:transition>
    <p:wip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Text Box 9"/>
          <p:cNvSpPr txBox="1">
            <a:spLocks noChangeArrowheads="1"/>
          </p:cNvSpPr>
          <p:nvPr/>
        </p:nvSpPr>
        <p:spPr bwMode="auto">
          <a:xfrm>
            <a:off x="971550" y="260560"/>
            <a:ext cx="8172450" cy="400110"/>
          </a:xfrm>
          <a:prstGeom prst="rect">
            <a:avLst/>
          </a:prstGeom>
          <a:noFill/>
          <a:ln w="12700" algn="ctr">
            <a:noFill/>
            <a:miter lim="800000"/>
            <a:headEnd/>
            <a:tailEnd/>
          </a:ln>
        </p:spPr>
        <p:txBody>
          <a:bodyPr>
            <a:spAutoFit/>
          </a:bodyPr>
          <a:lstStyle/>
          <a:p>
            <a:pPr>
              <a:spcBef>
                <a:spcPct val="50000"/>
              </a:spcBef>
            </a:pPr>
            <a:r>
              <a:rPr lang="fr-FR" b="1" dirty="0">
                <a:solidFill>
                  <a:srgbClr val="000000"/>
                </a:solidFill>
                <a:latin typeface="Arial" pitchFamily="34" charset="0"/>
              </a:rPr>
              <a:t>Quelques</a:t>
            </a:r>
            <a:r>
              <a:rPr lang="fr-FR" b="1" dirty="0" smtClean="0">
                <a:solidFill>
                  <a:srgbClr val="000000"/>
                </a:solidFill>
                <a:latin typeface="Arial" pitchFamily="34" charset="0"/>
              </a:rPr>
              <a:t> </a:t>
            </a:r>
            <a:r>
              <a:rPr lang="fr-FR" b="1" dirty="0">
                <a:solidFill>
                  <a:srgbClr val="000000"/>
                </a:solidFill>
                <a:latin typeface="Arial" pitchFamily="34" charset="0"/>
              </a:rPr>
              <a:t>librairies Python utilisées pour l’IA et le ML</a:t>
            </a:r>
          </a:p>
        </p:txBody>
      </p:sp>
      <p:cxnSp>
        <p:nvCxnSpPr>
          <p:cNvPr id="203781"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203782"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203783" name="Triangle isocèle 6"/>
          <p:cNvSpPr>
            <a:spLocks noChangeArrowheads="1"/>
          </p:cNvSpPr>
          <p:nvPr/>
        </p:nvSpPr>
        <p:spPr bwMode="auto">
          <a:xfrm>
            <a:off x="571500" y="1143000"/>
            <a:ext cx="500063" cy="357188"/>
          </a:xfrm>
          <a:prstGeom prst="triangle">
            <a:avLst>
              <a:gd name="adj" fmla="val 50000"/>
            </a:avLst>
          </a:prstGeom>
          <a:noFill/>
          <a:ln w="9525" algn="ctr">
            <a:noFill/>
            <a:round/>
            <a:headEnd/>
            <a:tailEnd/>
          </a:ln>
        </p:spPr>
        <p:txBody>
          <a:bodyPr lIns="90000" tIns="46800" rIns="90000" bIns="46800" anchor="ctr">
            <a:spAutoFit/>
          </a:bodyPr>
          <a:lstStyle/>
          <a:p>
            <a:pPr eaLnBrk="1" hangingPunct="1">
              <a:spcBef>
                <a:spcPct val="50000"/>
              </a:spcBef>
              <a:buClr>
                <a:srgbClr val="336666"/>
              </a:buClr>
              <a:buFont typeface="Wingdings" pitchFamily="2" charset="2"/>
              <a:buNone/>
            </a:pPr>
            <a:endParaRPr lang="fr-FR"/>
          </a:p>
        </p:txBody>
      </p:sp>
      <p:sp>
        <p:nvSpPr>
          <p:cNvPr id="203784" name="Triangle isocèle 8"/>
          <p:cNvSpPr>
            <a:spLocks noChangeArrowheads="1"/>
          </p:cNvSpPr>
          <p:nvPr/>
        </p:nvSpPr>
        <p:spPr bwMode="auto">
          <a:xfrm>
            <a:off x="785813" y="1500188"/>
            <a:ext cx="714375" cy="500062"/>
          </a:xfrm>
          <a:prstGeom prst="triangle">
            <a:avLst>
              <a:gd name="adj" fmla="val 50000"/>
            </a:avLst>
          </a:prstGeom>
          <a:noFill/>
          <a:ln w="9525" algn="ctr">
            <a:noFill/>
            <a:round/>
            <a:headEnd/>
            <a:tailEnd/>
          </a:ln>
        </p:spPr>
        <p:txBody>
          <a:bodyPr lIns="90000" tIns="46800" rIns="90000" bIns="46800" anchor="ctr">
            <a:spAutoFit/>
          </a:bodyPr>
          <a:lstStyle/>
          <a:p>
            <a:pPr eaLnBrk="1" hangingPunct="1">
              <a:spcBef>
                <a:spcPct val="50000"/>
              </a:spcBef>
              <a:buClr>
                <a:srgbClr val="336666"/>
              </a:buClr>
              <a:buFont typeface="Wingdings" pitchFamily="2" charset="2"/>
              <a:buNone/>
            </a:pPr>
            <a:endParaRPr lang="fr-FR"/>
          </a:p>
        </p:txBody>
      </p:sp>
      <p:graphicFrame>
        <p:nvGraphicFramePr>
          <p:cNvPr id="4" name="Tableau 3"/>
          <p:cNvGraphicFramePr>
            <a:graphicFrameLocks noGrp="1"/>
          </p:cNvGraphicFramePr>
          <p:nvPr>
            <p:extLst>
              <p:ext uri="{D42A27DB-BD31-4B8C-83A1-F6EECF244321}">
                <p14:modId xmlns:p14="http://schemas.microsoft.com/office/powerpoint/2010/main" val="3783500801"/>
              </p:ext>
            </p:extLst>
          </p:nvPr>
        </p:nvGraphicFramePr>
        <p:xfrm>
          <a:off x="571500" y="1052670"/>
          <a:ext cx="8321099" cy="4846320"/>
        </p:xfrm>
        <a:graphic>
          <a:graphicData uri="http://schemas.openxmlformats.org/drawingml/2006/table">
            <a:tbl>
              <a:tblPr firstRow="1" bandRow="1">
                <a:tableStyleId>{5C22544A-7EE6-4342-B048-85BDC9FD1C3A}</a:tableStyleId>
              </a:tblPr>
              <a:tblGrid>
                <a:gridCol w="2481921"/>
                <a:gridCol w="5839178"/>
              </a:tblGrid>
              <a:tr h="115216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fr-FR" sz="2000" b="0" kern="1200" dirty="0" smtClean="0">
                          <a:solidFill>
                            <a:schemeClr val="tx1"/>
                          </a:solidFill>
                          <a:effectLst/>
                          <a:latin typeface="+mn-lt"/>
                          <a:ea typeface="+mn-ea"/>
                          <a:cs typeface="+mn-cs"/>
                        </a:rPr>
                        <a:t>Après </a:t>
                      </a:r>
                      <a:r>
                        <a:rPr lang="fr-FR" sz="2000" b="0" kern="1200" dirty="0" err="1" smtClean="0">
                          <a:solidFill>
                            <a:schemeClr val="tx1"/>
                          </a:solidFill>
                          <a:effectLst/>
                          <a:latin typeface="+mn-lt"/>
                          <a:ea typeface="+mn-ea"/>
                          <a:cs typeface="+mn-cs"/>
                        </a:rPr>
                        <a:t>Matplotlib</a:t>
                      </a:r>
                      <a:r>
                        <a:rPr lang="fr-FR" sz="2000" b="0" kern="1200" dirty="0" smtClean="0">
                          <a:solidFill>
                            <a:schemeClr val="tx1"/>
                          </a:solidFill>
                          <a:effectLst/>
                          <a:latin typeface="+mn-lt"/>
                          <a:ea typeface="+mn-ea"/>
                          <a:cs typeface="+mn-cs"/>
                        </a:rPr>
                        <a:t>, </a:t>
                      </a:r>
                      <a:r>
                        <a:rPr lang="fr-FR" sz="2000" b="0" kern="1200" dirty="0" err="1" smtClean="0">
                          <a:solidFill>
                            <a:schemeClr val="tx1"/>
                          </a:solidFill>
                          <a:effectLst/>
                          <a:latin typeface="+mn-lt"/>
                          <a:ea typeface="+mn-ea"/>
                          <a:cs typeface="+mn-cs"/>
                        </a:rPr>
                        <a:t>Plotly</a:t>
                      </a:r>
                      <a:r>
                        <a:rPr lang="fr-FR" sz="2000" b="0" kern="1200" dirty="0" smtClean="0">
                          <a:solidFill>
                            <a:schemeClr val="tx1"/>
                          </a:solidFill>
                          <a:effectLst/>
                          <a:latin typeface="+mn-lt"/>
                          <a:ea typeface="+mn-ea"/>
                          <a:cs typeface="+mn-cs"/>
                        </a:rPr>
                        <a:t> est aussi l’une des meilleures bibliothèques de </a:t>
                      </a:r>
                      <a:r>
                        <a:rPr lang="fr-FR" sz="2000" b="0" kern="1200" dirty="0" err="1" smtClean="0">
                          <a:solidFill>
                            <a:schemeClr val="tx1"/>
                          </a:solidFill>
                          <a:effectLst/>
                          <a:latin typeface="+mn-lt"/>
                          <a:ea typeface="+mn-ea"/>
                          <a:cs typeface="+mn-cs"/>
                        </a:rPr>
                        <a:t>Dataviz</a:t>
                      </a:r>
                      <a:r>
                        <a:rPr lang="fr-FR" sz="2000" b="0" kern="1200" dirty="0" smtClean="0">
                          <a:solidFill>
                            <a:schemeClr val="tx1"/>
                          </a:solidFill>
                          <a:effectLst/>
                          <a:latin typeface="+mn-lt"/>
                          <a:ea typeface="+mn-ea"/>
                          <a:cs typeface="+mn-cs"/>
                        </a:rPr>
                        <a:t> en Python. Gratuite et en open source, elle doit sa popularité à ses graphiques interactifs de haute qualité. Les données peuvent être visualisées dans des notebooks </a:t>
                      </a:r>
                      <a:r>
                        <a:rPr lang="fr-FR" sz="2000" b="0" kern="1200" dirty="0" err="1" smtClean="0">
                          <a:solidFill>
                            <a:schemeClr val="tx1"/>
                          </a:solidFill>
                          <a:effectLst/>
                          <a:latin typeface="+mn-lt"/>
                          <a:ea typeface="+mn-ea"/>
                          <a:cs typeface="+mn-cs"/>
                        </a:rPr>
                        <a:t>Jupyter</a:t>
                      </a:r>
                      <a:r>
                        <a:rPr lang="fr-FR" sz="2000" b="0" kern="1200" dirty="0" smtClean="0">
                          <a:solidFill>
                            <a:schemeClr val="tx1"/>
                          </a:solidFill>
                          <a:effectLst/>
                          <a:latin typeface="+mn-lt"/>
                          <a:ea typeface="+mn-ea"/>
                          <a:cs typeface="+mn-cs"/>
                        </a:rPr>
                        <a:t> ou des fichiers HTML autonomes</a:t>
                      </a:r>
                      <a:endParaRPr lang="fr-FR"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endParaRPr lang="fr-FR" dirty="0" smtClean="0"/>
                    </a:p>
                    <a:p>
                      <a:endParaRPr lang="fr-FR" dirty="0" smtClean="0"/>
                    </a:p>
                    <a:p>
                      <a:endParaRPr lang="fr-FR" dirty="0" smtClean="0"/>
                    </a:p>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fr-FR" sz="2000" b="0" kern="1200" dirty="0" err="1" smtClean="0">
                          <a:solidFill>
                            <a:schemeClr val="tx1"/>
                          </a:solidFill>
                          <a:effectLst/>
                          <a:latin typeface="+mn-lt"/>
                          <a:ea typeface="+mn-ea"/>
                          <a:cs typeface="+mn-cs"/>
                        </a:rPr>
                        <a:t>PyCaret</a:t>
                      </a:r>
                      <a:r>
                        <a:rPr lang="fr-FR" sz="2000" b="0" kern="1200" dirty="0" smtClean="0">
                          <a:solidFill>
                            <a:schemeClr val="tx1"/>
                          </a:solidFill>
                          <a:effectLst/>
                          <a:latin typeface="+mn-lt"/>
                          <a:ea typeface="+mn-ea"/>
                          <a:cs typeface="+mn-cs"/>
                        </a:rPr>
                        <a:t> est une version Python de la bibliothèque d’IA et de machine </a:t>
                      </a:r>
                      <a:r>
                        <a:rPr lang="fr-FR" sz="2000" b="0" kern="1200" dirty="0" err="1" smtClean="0">
                          <a:solidFill>
                            <a:schemeClr val="tx1"/>
                          </a:solidFill>
                          <a:effectLst/>
                          <a:latin typeface="+mn-lt"/>
                          <a:ea typeface="+mn-ea"/>
                          <a:cs typeface="+mn-cs"/>
                        </a:rPr>
                        <a:t>learning</a:t>
                      </a:r>
                      <a:r>
                        <a:rPr lang="fr-FR" sz="2000" b="0" kern="1200" dirty="0" smtClean="0">
                          <a:solidFill>
                            <a:schemeClr val="tx1"/>
                          </a:solidFill>
                          <a:effectLst/>
                          <a:latin typeface="+mn-lt"/>
                          <a:ea typeface="+mn-ea"/>
                          <a:cs typeface="+mn-cs"/>
                        </a:rPr>
                        <a:t> Caret de R. Conçue pour exécuter les tâches standards dans des projets ML, elle automatise et simplifie l’évaluation, la comparaison et le réglage des modèles</a:t>
                      </a:r>
                      <a:endParaRPr lang="fr-FR"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fr-FR" sz="2000" dirty="0" err="1" smtClean="0"/>
                        <a:t>OpenCV</a:t>
                      </a:r>
                      <a:r>
                        <a:rPr lang="fr-FR" sz="2000" dirty="0" smtClean="0"/>
                        <a:t> est l’abréviation d’Open source Computer Vision. Cette bibliothèque a donc été créée pour les applications de </a:t>
                      </a:r>
                      <a:r>
                        <a:rPr lang="fr-FR" sz="2000" b="1" dirty="0" smtClean="0"/>
                        <a:t>vision par ordinateur</a:t>
                      </a:r>
                      <a:r>
                        <a:rPr lang="fr-FR" sz="2000" dirty="0" smtClean="0"/>
                        <a:t> et d’accélérer leur déploiement sur les différents appareils</a:t>
                      </a:r>
                      <a:endParaRPr lang="fr-FR"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pic>
        <p:nvPicPr>
          <p:cNvPr id="40243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5812" y="1474409"/>
            <a:ext cx="2072465" cy="1018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243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3460" y="3942985"/>
            <a:ext cx="2065780"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2437" name="Picture 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09880" y="5353805"/>
            <a:ext cx="2081576" cy="1008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Rectangle 17"/>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endParaRPr lang="fr-FR" b="1" dirty="0">
              <a:latin typeface="+mj-lt"/>
            </a:endParaRPr>
          </a:p>
        </p:txBody>
      </p:sp>
    </p:spTree>
    <p:custDataLst>
      <p:tags r:id="rId1"/>
    </p:custDataLst>
    <p:extLst>
      <p:ext uri="{BB962C8B-B14F-4D97-AF65-F5344CB8AC3E}">
        <p14:creationId xmlns:p14="http://schemas.microsoft.com/office/powerpoint/2010/main" val="1539710224"/>
      </p:ext>
    </p:extLst>
  </p:cSld>
  <p:clrMapOvr>
    <a:masterClrMapping/>
  </p:clrMapOvr>
  <p:transition>
    <p:wip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MA" dirty="0" smtClean="0"/>
              <a:t>Les tableaux</a:t>
            </a:r>
            <a:endParaRPr lang="en-US" dirty="0"/>
          </a:p>
        </p:txBody>
      </p:sp>
      <p:sp>
        <p:nvSpPr>
          <p:cNvPr id="3" name="Sous-titr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9935152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tableaux multi dimensionnels</a:t>
            </a:r>
          </a:p>
        </p:txBody>
      </p:sp>
      <p:cxnSp>
        <p:nvCxnSpPr>
          <p:cNvPr id="150533" name="Connecteur droit avec flèche 17"/>
          <p:cNvCxnSpPr>
            <a:cxnSpLocks noChangeShapeType="1"/>
          </p:cNvCxnSpPr>
          <p:nvPr/>
        </p:nvCxnSpPr>
        <p:spPr bwMode="auto">
          <a:xfrm>
            <a:off x="4071938" y="5643563"/>
            <a:ext cx="1285875" cy="1587"/>
          </a:xfrm>
          <a:prstGeom prst="straightConnector1">
            <a:avLst/>
          </a:prstGeom>
          <a:noFill/>
          <a:ln w="9525" algn="ctr">
            <a:noFill/>
            <a:round/>
            <a:headEnd/>
            <a:tailEnd type="arrow" w="med" len="med"/>
          </a:ln>
        </p:spPr>
      </p:cxnSp>
      <p:cxnSp>
        <p:nvCxnSpPr>
          <p:cNvPr id="150534" name="Connecteur droit avec flèche 19"/>
          <p:cNvCxnSpPr>
            <a:cxnSpLocks noChangeShapeType="1"/>
          </p:cNvCxnSpPr>
          <p:nvPr/>
        </p:nvCxnSpPr>
        <p:spPr bwMode="auto">
          <a:xfrm>
            <a:off x="4071938" y="5572125"/>
            <a:ext cx="1357312" cy="285750"/>
          </a:xfrm>
          <a:prstGeom prst="straightConnector1">
            <a:avLst/>
          </a:prstGeom>
          <a:noFill/>
          <a:ln w="9525" algn="ctr">
            <a:noFill/>
            <a:round/>
            <a:headEnd/>
            <a:tailEnd type="arrow" w="med" len="med"/>
          </a:ln>
        </p:spPr>
      </p:cxnSp>
      <p:sp>
        <p:nvSpPr>
          <p:cNvPr id="7" name="Rectangle 6"/>
          <p:cNvSpPr/>
          <p:nvPr/>
        </p:nvSpPr>
        <p:spPr>
          <a:xfrm>
            <a:off x="571500" y="1000125"/>
            <a:ext cx="8286750" cy="1323975"/>
          </a:xfrm>
          <a:prstGeom prst="rect">
            <a:avLst/>
          </a:prstGeom>
        </p:spPr>
        <p:txBody>
          <a:bodyPr>
            <a:spAutoFit/>
          </a:bodyPr>
          <a:lstStyle/>
          <a:p>
            <a:pPr algn="just" eaLnBrk="1" hangingPunct="1">
              <a:spcBef>
                <a:spcPct val="50000"/>
              </a:spcBef>
              <a:buClr>
                <a:srgbClr val="336666"/>
              </a:buClr>
              <a:buFont typeface="Wingdings" pitchFamily="2" charset="2"/>
              <a:buNone/>
              <a:defRPr/>
            </a:pPr>
            <a:r>
              <a:rPr lang="fr-FR" dirty="0">
                <a:latin typeface="+mn-lt"/>
              </a:rPr>
              <a:t>Pour travailler avec les tableaux de données multidimensionnels on utilise le module </a:t>
            </a:r>
            <a:r>
              <a:rPr lang="fr-FR" b="1" i="1" dirty="0" err="1">
                <a:latin typeface="+mn-lt"/>
              </a:rPr>
              <a:t>numpy</a:t>
            </a:r>
            <a:r>
              <a:rPr lang="fr-FR" b="1" i="1" dirty="0">
                <a:latin typeface="+mn-lt"/>
              </a:rPr>
              <a:t>.</a:t>
            </a:r>
            <a:r>
              <a:rPr lang="fr-FR" dirty="0">
                <a:latin typeface="+mn-lt"/>
              </a:rPr>
              <a:t> C’est un module utilisé dans presque tous les projets de calcul numérique sous Python. Il fournit des structures de données performantes pour la manipulation de vecteurs et matrices.</a:t>
            </a:r>
          </a:p>
        </p:txBody>
      </p:sp>
      <p:sp>
        <p:nvSpPr>
          <p:cNvPr id="85000" name="Rectangle 10"/>
          <p:cNvSpPr>
            <a:spLocks noChangeArrowheads="1"/>
          </p:cNvSpPr>
          <p:nvPr/>
        </p:nvSpPr>
        <p:spPr bwMode="auto">
          <a:xfrm>
            <a:off x="1000125" y="2357438"/>
            <a:ext cx="4714875" cy="401637"/>
          </a:xfrm>
          <a:prstGeom prst="rect">
            <a:avLst/>
          </a:prstGeom>
          <a:solidFill>
            <a:srgbClr val="DBE5F1"/>
          </a:solidFill>
          <a:ln w="9525" algn="ctr">
            <a:noFill/>
            <a:miter lim="800000"/>
            <a:headEnd/>
            <a:tailEnd/>
          </a:ln>
        </p:spPr>
        <p:txBody>
          <a:bodyPr lIns="180918" tIns="46800" rIns="90000" bIns="46800" anchor="ctr">
            <a:spAutoFit/>
          </a:bodyPr>
          <a:lstStyle/>
          <a:p>
            <a:pPr indent="215900">
              <a:spcBef>
                <a:spcPct val="50000"/>
              </a:spcBef>
              <a:buClr>
                <a:srgbClr val="336666"/>
              </a:buClr>
              <a:buFont typeface="Wingdings" pitchFamily="2" charset="2"/>
              <a:buNone/>
            </a:pPr>
            <a:r>
              <a:rPr lang="fr-FR" b="1" dirty="0">
                <a:latin typeface="Courier New" pitchFamily="49" charset="0"/>
                <a:ea typeface="MS Mincho" pitchFamily="49" charset="-128"/>
              </a:rPr>
              <a:t>import </a:t>
            </a:r>
            <a:r>
              <a:rPr lang="fr-FR" b="1" dirty="0" err="1">
                <a:latin typeface="Courier New" pitchFamily="49" charset="0"/>
                <a:ea typeface="MS Mincho" pitchFamily="49" charset="-128"/>
              </a:rPr>
              <a:t>numpy</a:t>
            </a:r>
            <a:r>
              <a:rPr lang="fr-FR" b="1" dirty="0">
                <a:latin typeface="Courier New" pitchFamily="49" charset="0"/>
                <a:ea typeface="MS Mincho" pitchFamily="49" charset="-128"/>
              </a:rPr>
              <a:t> as </a:t>
            </a:r>
            <a:r>
              <a:rPr lang="fr-FR" b="1" dirty="0" err="1">
                <a:latin typeface="Courier New" pitchFamily="49" charset="0"/>
                <a:ea typeface="MS Mincho" pitchFamily="49" charset="-128"/>
              </a:rPr>
              <a:t>np</a:t>
            </a:r>
            <a:endParaRPr lang="fr-FR" sz="4800" b="1" dirty="0">
              <a:ea typeface="MS Mincho" pitchFamily="49" charset="-128"/>
            </a:endParaRPr>
          </a:p>
        </p:txBody>
      </p:sp>
      <p:sp>
        <p:nvSpPr>
          <p:cNvPr id="12" name="Rectangle 11"/>
          <p:cNvSpPr/>
          <p:nvPr/>
        </p:nvSpPr>
        <p:spPr>
          <a:xfrm>
            <a:off x="571500" y="2814638"/>
            <a:ext cx="2846388" cy="400050"/>
          </a:xfrm>
          <a:prstGeom prst="rect">
            <a:avLst/>
          </a:prstGeom>
        </p:spPr>
        <p:txBody>
          <a:bodyPr wrap="none">
            <a:spAutoFit/>
          </a:bodyPr>
          <a:lstStyle/>
          <a:p>
            <a:pPr eaLnBrk="1" hangingPunct="1">
              <a:spcBef>
                <a:spcPct val="50000"/>
              </a:spcBef>
              <a:buClr>
                <a:srgbClr val="336666"/>
              </a:buClr>
              <a:buFont typeface="Wingdings" pitchFamily="2" charset="2"/>
              <a:buNone/>
              <a:defRPr/>
            </a:pPr>
            <a:r>
              <a:rPr lang="fr-FR" dirty="0">
                <a:latin typeface="+mn-lt"/>
              </a:rPr>
              <a:t>On pourrait aussi faire :</a:t>
            </a:r>
          </a:p>
        </p:txBody>
      </p:sp>
      <p:sp>
        <p:nvSpPr>
          <p:cNvPr id="85002" name="Rectangle 11"/>
          <p:cNvSpPr>
            <a:spLocks noChangeArrowheads="1"/>
          </p:cNvSpPr>
          <p:nvPr/>
        </p:nvSpPr>
        <p:spPr bwMode="auto">
          <a:xfrm>
            <a:off x="1000125" y="3200400"/>
            <a:ext cx="4572000" cy="401638"/>
          </a:xfrm>
          <a:prstGeom prst="rect">
            <a:avLst/>
          </a:prstGeom>
          <a:solidFill>
            <a:srgbClr val="DBE5F1"/>
          </a:solidFill>
          <a:ln w="9525" algn="ctr">
            <a:noFill/>
            <a:miter lim="800000"/>
            <a:headEnd/>
            <a:tailEnd/>
          </a:ln>
        </p:spPr>
        <p:txBody>
          <a:bodyPr lIns="180918" tIns="46800" rIns="90000" bIns="46800" anchor="ctr">
            <a:spAutoFit/>
          </a:bodyPr>
          <a:lstStyle/>
          <a:p>
            <a:pPr indent="215900">
              <a:spcBef>
                <a:spcPct val="50000"/>
              </a:spcBef>
              <a:buClr>
                <a:srgbClr val="336666"/>
              </a:buClr>
              <a:buFont typeface="Wingdings" pitchFamily="2" charset="2"/>
              <a:buNone/>
            </a:pPr>
            <a:r>
              <a:rPr lang="fr-FR" b="1">
                <a:latin typeface="Courier New" pitchFamily="49" charset="0"/>
                <a:ea typeface="MS Mincho" pitchFamily="49" charset="-128"/>
              </a:rPr>
              <a:t>from numpy import *</a:t>
            </a:r>
            <a:endParaRPr lang="fr-FR" sz="4800" b="1">
              <a:ea typeface="MS Mincho" pitchFamily="49" charset="-128"/>
            </a:endParaRPr>
          </a:p>
        </p:txBody>
      </p:sp>
      <p:sp>
        <p:nvSpPr>
          <p:cNvPr id="14" name="Rectangle 13"/>
          <p:cNvSpPr/>
          <p:nvPr/>
        </p:nvSpPr>
        <p:spPr>
          <a:xfrm>
            <a:off x="714375" y="3665538"/>
            <a:ext cx="8143875" cy="1477962"/>
          </a:xfrm>
          <a:prstGeom prst="rect">
            <a:avLst/>
          </a:prstGeom>
        </p:spPr>
        <p:txBody>
          <a:bodyPr>
            <a:spAutoFit/>
          </a:bodyPr>
          <a:lstStyle/>
          <a:p>
            <a:pPr eaLnBrk="1" hangingPunct="1">
              <a:spcBef>
                <a:spcPct val="50000"/>
              </a:spcBef>
              <a:buClr>
                <a:srgbClr val="336666"/>
              </a:buClr>
              <a:buFont typeface="Wingdings" pitchFamily="2" charset="2"/>
              <a:buNone/>
              <a:defRPr/>
            </a:pPr>
            <a:r>
              <a:rPr lang="fr-FR" dirty="0">
                <a:latin typeface="+mn-lt"/>
              </a:rPr>
              <a:t>Dans la terminologie </a:t>
            </a:r>
            <a:r>
              <a:rPr lang="fr-FR" dirty="0" err="1">
                <a:latin typeface="+mn-lt"/>
              </a:rPr>
              <a:t>numpy</a:t>
            </a:r>
            <a:r>
              <a:rPr lang="fr-FR" dirty="0">
                <a:latin typeface="+mn-lt"/>
              </a:rPr>
              <a:t>, les vecteurs et les matrices sont appelés </a:t>
            </a:r>
            <a:r>
              <a:rPr lang="fr-FR" b="1" i="1" dirty="0" err="1">
                <a:latin typeface="+mn-lt"/>
              </a:rPr>
              <a:t>arrays</a:t>
            </a:r>
            <a:r>
              <a:rPr lang="fr-FR" dirty="0">
                <a:latin typeface="+mn-lt"/>
              </a:rPr>
              <a:t>.</a:t>
            </a:r>
          </a:p>
          <a:p>
            <a:pPr eaLnBrk="1" hangingPunct="1">
              <a:spcBef>
                <a:spcPct val="50000"/>
              </a:spcBef>
              <a:buClr>
                <a:srgbClr val="336666"/>
              </a:buClr>
              <a:buFont typeface="Wingdings" pitchFamily="2" charset="2"/>
              <a:buNone/>
              <a:defRPr/>
            </a:pPr>
            <a:r>
              <a:rPr lang="fr-FR" dirty="0">
                <a:latin typeface="+mn-lt"/>
              </a:rPr>
              <a:t>Avec la première importation, on peut utiliser les fonctions du module </a:t>
            </a:r>
            <a:r>
              <a:rPr lang="fr-FR" b="1" i="1" dirty="0" err="1">
                <a:latin typeface="+mn-lt"/>
              </a:rPr>
              <a:t>numpy</a:t>
            </a:r>
            <a:r>
              <a:rPr lang="fr-FR" dirty="0">
                <a:latin typeface="+mn-lt"/>
              </a:rPr>
              <a:t> de la manière suivante :</a:t>
            </a:r>
          </a:p>
        </p:txBody>
      </p:sp>
      <p:sp>
        <p:nvSpPr>
          <p:cNvPr id="85004" name="Rectangle 12"/>
          <p:cNvSpPr>
            <a:spLocks noChangeArrowheads="1"/>
          </p:cNvSpPr>
          <p:nvPr/>
        </p:nvSpPr>
        <p:spPr bwMode="auto">
          <a:xfrm>
            <a:off x="928688" y="5129213"/>
            <a:ext cx="4857750" cy="401637"/>
          </a:xfrm>
          <a:prstGeom prst="rect">
            <a:avLst/>
          </a:prstGeom>
          <a:solidFill>
            <a:srgbClr val="DBE5F1"/>
          </a:solidFill>
          <a:ln w="9525" algn="ctr">
            <a:noFill/>
            <a:miter lim="800000"/>
            <a:headEnd/>
            <a:tailEnd/>
          </a:ln>
        </p:spPr>
        <p:txBody>
          <a:bodyPr lIns="180918" tIns="46800" rIns="90000" bIns="46800" anchor="ctr">
            <a:spAutoFit/>
          </a:bodyPr>
          <a:lstStyle/>
          <a:p>
            <a:pPr indent="215900">
              <a:spcBef>
                <a:spcPct val="50000"/>
              </a:spcBef>
              <a:buClr>
                <a:srgbClr val="336666"/>
              </a:buClr>
              <a:buFont typeface="Wingdings" pitchFamily="2" charset="2"/>
              <a:buNone/>
            </a:pPr>
            <a:r>
              <a:rPr lang="fr-FR" b="1">
                <a:latin typeface="Courier New" pitchFamily="49" charset="0"/>
                <a:ea typeface="MS Mincho" pitchFamily="49" charset="-128"/>
              </a:rPr>
              <a:t>np.nom_fonction(</a:t>
            </a:r>
            <a:r>
              <a:rPr lang="fr-FR" b="1">
                <a:ea typeface="MS Mincho" pitchFamily="49" charset="-128"/>
              </a:rPr>
              <a:t>…</a:t>
            </a:r>
            <a:r>
              <a:rPr lang="fr-FR" b="1">
                <a:latin typeface="Courier New" pitchFamily="49" charset="0"/>
                <a:ea typeface="MS Mincho" pitchFamily="49" charset="-128"/>
              </a:rPr>
              <a:t>)</a:t>
            </a:r>
            <a:endParaRPr lang="fr-FR" sz="4800" b="1">
              <a:ea typeface="MS Mincho" pitchFamily="49" charset="-128"/>
            </a:endParaRPr>
          </a:p>
        </p:txBody>
      </p:sp>
      <p:sp>
        <p:nvSpPr>
          <p:cNvPr id="16" name="Rectangle 15"/>
          <p:cNvSpPr/>
          <p:nvPr/>
        </p:nvSpPr>
        <p:spPr>
          <a:xfrm>
            <a:off x="714375" y="5649913"/>
            <a:ext cx="8286750" cy="708025"/>
          </a:xfrm>
          <a:prstGeom prst="rect">
            <a:avLst/>
          </a:prstGeom>
        </p:spPr>
        <p:txBody>
          <a:bodyPr>
            <a:spAutoFit/>
          </a:bodyPr>
          <a:lstStyle/>
          <a:p>
            <a:pPr eaLnBrk="1" hangingPunct="1">
              <a:spcBef>
                <a:spcPct val="50000"/>
              </a:spcBef>
              <a:buClr>
                <a:srgbClr val="336666"/>
              </a:buClr>
              <a:buFont typeface="Wingdings" pitchFamily="2" charset="2"/>
              <a:buNone/>
              <a:defRPr/>
            </a:pPr>
            <a:r>
              <a:rPr lang="fr-FR" dirty="0">
                <a:latin typeface="+mn-lt"/>
              </a:rPr>
              <a:t>Avec la deuxième importation, on peut utiliser directement ces fonctions sans les précéder par "</a:t>
            </a:r>
            <a:r>
              <a:rPr lang="fr-FR" dirty="0" err="1">
                <a:latin typeface="+mn-lt"/>
              </a:rPr>
              <a:t>np</a:t>
            </a:r>
            <a:r>
              <a:rPr lang="fr-FR" dirty="0">
                <a:latin typeface="+mn-lt"/>
              </a:rPr>
              <a:t>.".</a:t>
            </a:r>
          </a:p>
        </p:txBody>
      </p:sp>
    </p:spTree>
    <p:custDataLst>
      <p:tags r:id="rId1"/>
    </p:custDataLst>
    <p:extLst>
      <p:ext uri="{BB962C8B-B14F-4D97-AF65-F5344CB8AC3E}">
        <p14:creationId xmlns:p14="http://schemas.microsoft.com/office/powerpoint/2010/main" val="3294232388"/>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5000"/>
                                        </p:tgtEl>
                                        <p:attrNameLst>
                                          <p:attrName>style.visibility</p:attrName>
                                        </p:attrNameLst>
                                      </p:cBhvr>
                                      <p:to>
                                        <p:strVal val="visible"/>
                                      </p:to>
                                    </p:set>
                                    <p:animEffect transition="in" filter="checkerboard(across)">
                                      <p:cBhvr>
                                        <p:cTn id="7" dur="500"/>
                                        <p:tgtEl>
                                          <p:spTgt spid="850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85002"/>
                                        </p:tgtEl>
                                        <p:attrNameLst>
                                          <p:attrName>style.visibility</p:attrName>
                                        </p:attrNameLst>
                                      </p:cBhvr>
                                      <p:to>
                                        <p:strVal val="visible"/>
                                      </p:to>
                                    </p:set>
                                    <p:animEffect transition="in" filter="checkerboard(across)">
                                      <p:cBhvr>
                                        <p:cTn id="12" dur="500"/>
                                        <p:tgtEl>
                                          <p:spTgt spid="85002"/>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checkerboard(across)">
                                      <p:cBhvr>
                                        <p:cTn id="15" dur="500"/>
                                        <p:tgtEl>
                                          <p:spTgt spid="1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 presetClass="entr" presetSubtype="10" fill="hold" nodeType="clickEffect">
                                  <p:stCondLst>
                                    <p:cond delay="0"/>
                                  </p:stCondLst>
                                  <p:childTnLst>
                                    <p:set>
                                      <p:cBhvr>
                                        <p:cTn id="19" dur="1" fill="hold">
                                          <p:stCondLst>
                                            <p:cond delay="0"/>
                                          </p:stCondLst>
                                        </p:cTn>
                                        <p:tgtEl>
                                          <p:spTgt spid="14">
                                            <p:txEl>
                                              <p:pRg st="0" end="0"/>
                                            </p:txEl>
                                          </p:spTgt>
                                        </p:tgtEl>
                                        <p:attrNameLst>
                                          <p:attrName>style.visibility</p:attrName>
                                        </p:attrNameLst>
                                      </p:cBhvr>
                                      <p:to>
                                        <p:strVal val="visible"/>
                                      </p:to>
                                    </p:set>
                                    <p:animEffect transition="in" filter="checkerboard(across)">
                                      <p:cBhvr>
                                        <p:cTn id="20" dur="500"/>
                                        <p:tgtEl>
                                          <p:spTgt spid="14">
                                            <p:txEl>
                                              <p:pRg st="0" end="0"/>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 presetClass="entr" presetSubtype="10" fill="hold" nodeType="clickEffect">
                                  <p:stCondLst>
                                    <p:cond delay="0"/>
                                  </p:stCondLst>
                                  <p:childTnLst>
                                    <p:set>
                                      <p:cBhvr>
                                        <p:cTn id="24" dur="1" fill="hold">
                                          <p:stCondLst>
                                            <p:cond delay="0"/>
                                          </p:stCondLst>
                                        </p:cTn>
                                        <p:tgtEl>
                                          <p:spTgt spid="14">
                                            <p:txEl>
                                              <p:pRg st="1" end="1"/>
                                            </p:txEl>
                                          </p:spTgt>
                                        </p:tgtEl>
                                        <p:attrNameLst>
                                          <p:attrName>style.visibility</p:attrName>
                                        </p:attrNameLst>
                                      </p:cBhvr>
                                      <p:to>
                                        <p:strVal val="visible"/>
                                      </p:to>
                                    </p:set>
                                    <p:animEffect transition="in" filter="checkerboard(across)">
                                      <p:cBhvr>
                                        <p:cTn id="25" dur="500"/>
                                        <p:tgtEl>
                                          <p:spTgt spid="14">
                                            <p:txEl>
                                              <p:pRg st="1" end="1"/>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5" presetClass="entr" presetSubtype="10" fill="hold" grpId="0" nodeType="clickEffect">
                                  <p:stCondLst>
                                    <p:cond delay="0"/>
                                  </p:stCondLst>
                                  <p:childTnLst>
                                    <p:set>
                                      <p:cBhvr>
                                        <p:cTn id="29" dur="1" fill="hold">
                                          <p:stCondLst>
                                            <p:cond delay="0"/>
                                          </p:stCondLst>
                                        </p:cTn>
                                        <p:tgtEl>
                                          <p:spTgt spid="85004"/>
                                        </p:tgtEl>
                                        <p:attrNameLst>
                                          <p:attrName>style.visibility</p:attrName>
                                        </p:attrNameLst>
                                      </p:cBhvr>
                                      <p:to>
                                        <p:strVal val="visible"/>
                                      </p:to>
                                    </p:set>
                                    <p:animEffect transition="in" filter="checkerboard(across)">
                                      <p:cBhvr>
                                        <p:cTn id="30" dur="500"/>
                                        <p:tgtEl>
                                          <p:spTgt spid="8500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 presetClass="entr" presetSubtype="1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checkerboard(across)">
                                      <p:cBhvr>
                                        <p:cTn id="3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00" grpId="0" animBg="1"/>
      <p:bldP spid="12" grpId="0"/>
      <p:bldP spid="85002" grpId="0" animBg="1"/>
      <p:bldP spid="85004" grpId="0" animBg="1"/>
      <p:bldP spid="1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tableaux multi dimensionnels</a:t>
            </a:r>
          </a:p>
        </p:txBody>
      </p:sp>
      <p:sp>
        <p:nvSpPr>
          <p:cNvPr id="7" name="Rectangle 6"/>
          <p:cNvSpPr/>
          <p:nvPr/>
        </p:nvSpPr>
        <p:spPr>
          <a:xfrm>
            <a:off x="571500" y="1000125"/>
            <a:ext cx="8286750" cy="1323975"/>
          </a:xfrm>
          <a:prstGeom prst="rect">
            <a:avLst/>
          </a:prstGeom>
        </p:spPr>
        <p:txBody>
          <a:bodyPr>
            <a:spAutoFit/>
          </a:bodyPr>
          <a:lstStyle/>
          <a:p>
            <a:pPr eaLnBrk="1" hangingPunct="1">
              <a:spcBef>
                <a:spcPct val="50000"/>
              </a:spcBef>
              <a:buClr>
                <a:srgbClr val="336666"/>
              </a:buClr>
              <a:buFont typeface="Wingdings" pitchFamily="2" charset="2"/>
              <a:buChar char="§"/>
              <a:defRPr/>
            </a:pPr>
            <a:r>
              <a:rPr lang="fr-FR" dirty="0">
                <a:solidFill>
                  <a:srgbClr val="0000FF"/>
                </a:solidFill>
                <a:latin typeface="+mn-lt"/>
              </a:rPr>
              <a:t> </a:t>
            </a:r>
            <a:r>
              <a:rPr lang="x-none" b="1" u="sng">
                <a:solidFill>
                  <a:srgbClr val="FF0000"/>
                </a:solidFill>
                <a:latin typeface="+mn-lt"/>
              </a:rPr>
              <a:t>Création</a:t>
            </a:r>
            <a:r>
              <a:rPr lang="fr-FR" b="1" u="sng" dirty="0">
                <a:solidFill>
                  <a:srgbClr val="FF0000"/>
                </a:solidFill>
                <a:latin typeface="+mn-lt"/>
              </a:rPr>
              <a:t> des tableaux</a:t>
            </a:r>
          </a:p>
          <a:p>
            <a:pPr lvl="2" eaLnBrk="1" hangingPunct="1">
              <a:spcBef>
                <a:spcPct val="50000"/>
              </a:spcBef>
              <a:buClr>
                <a:srgbClr val="336666"/>
              </a:buClr>
              <a:buFont typeface="Arial" pitchFamily="34" charset="0"/>
              <a:buChar char="•"/>
              <a:defRPr/>
            </a:pPr>
            <a:r>
              <a:rPr lang="fr-FR" dirty="0">
                <a:solidFill>
                  <a:schemeClr val="tx2">
                    <a:lumMod val="10000"/>
                  </a:schemeClr>
                </a:solidFill>
                <a:latin typeface="+mn-lt"/>
              </a:rPr>
              <a:t> </a:t>
            </a:r>
            <a:r>
              <a:rPr lang="fr-FR" u="sng" dirty="0">
                <a:solidFill>
                  <a:schemeClr val="tx2">
                    <a:lumMod val="10000"/>
                  </a:schemeClr>
                </a:solidFill>
                <a:latin typeface="+mn-lt"/>
              </a:rPr>
              <a:t>Au moyen de la fonction </a:t>
            </a:r>
            <a:r>
              <a:rPr lang="fr-FR" b="1" u="sng" dirty="0" err="1">
                <a:solidFill>
                  <a:schemeClr val="tx2">
                    <a:lumMod val="10000"/>
                  </a:schemeClr>
                </a:solidFill>
                <a:latin typeface="+mn-lt"/>
              </a:rPr>
              <a:t>numpy.array</a:t>
            </a:r>
            <a:r>
              <a:rPr lang="fr-FR" u="sng" dirty="0">
                <a:solidFill>
                  <a:schemeClr val="tx2">
                    <a:lumMod val="10000"/>
                  </a:schemeClr>
                </a:solidFill>
                <a:latin typeface="+mn-lt"/>
              </a:rPr>
              <a:t> </a:t>
            </a:r>
          </a:p>
          <a:p>
            <a:pPr eaLnBrk="1" hangingPunct="1">
              <a:spcBef>
                <a:spcPct val="50000"/>
              </a:spcBef>
              <a:buClr>
                <a:srgbClr val="336666"/>
              </a:buClr>
              <a:buFont typeface="Wingdings" pitchFamily="2" charset="2"/>
              <a:buChar char="§"/>
              <a:defRPr/>
            </a:pPr>
            <a:endParaRPr lang="fr-FR" dirty="0">
              <a:solidFill>
                <a:srgbClr val="0000FF"/>
              </a:solidFill>
              <a:latin typeface="+mn-lt"/>
            </a:endParaRPr>
          </a:p>
        </p:txBody>
      </p:sp>
      <p:sp>
        <p:nvSpPr>
          <p:cNvPr id="86022" name="Rectangle 1"/>
          <p:cNvSpPr>
            <a:spLocks noChangeArrowheads="1"/>
          </p:cNvSpPr>
          <p:nvPr/>
        </p:nvSpPr>
        <p:spPr bwMode="auto">
          <a:xfrm>
            <a:off x="928688" y="1785938"/>
            <a:ext cx="7385050" cy="1495425"/>
          </a:xfrm>
          <a:prstGeom prst="rect">
            <a:avLst/>
          </a:prstGeom>
          <a:noFill/>
          <a:ln w="9525" algn="ctr">
            <a:noFill/>
            <a:miter lim="800000"/>
            <a:headEnd/>
            <a:tailEnd/>
          </a:ln>
        </p:spPr>
        <p:txBody>
          <a:bodyPr wrap="none" lIns="180918" tIns="46800" rIns="90000" bIns="46800" anchor="ctr">
            <a:spAutoFit/>
          </a:bodyPr>
          <a:lstStyle/>
          <a:p>
            <a:pPr indent="215900">
              <a:lnSpc>
                <a:spcPct val="150000"/>
              </a:lnSpc>
              <a:spcBef>
                <a:spcPct val="50000"/>
              </a:spcBef>
              <a:buClr>
                <a:srgbClr val="336666"/>
              </a:buClr>
              <a:buFont typeface="Wingdings" pitchFamily="2" charset="2"/>
              <a:buNone/>
            </a:pPr>
            <a:r>
              <a:rPr lang="fr-FR" sz="1800" b="1" dirty="0">
                <a:latin typeface="Courier New" pitchFamily="49" charset="0"/>
                <a:ea typeface="MS Mincho" pitchFamily="49" charset="-128"/>
              </a:rPr>
              <a:t>V = </a:t>
            </a:r>
            <a:r>
              <a:rPr lang="fr-FR" sz="1800" b="1" dirty="0" err="1">
                <a:latin typeface="Courier New" pitchFamily="49" charset="0"/>
                <a:ea typeface="MS Mincho" pitchFamily="49" charset="-128"/>
              </a:rPr>
              <a:t>np.array</a:t>
            </a:r>
            <a:r>
              <a:rPr lang="fr-FR" sz="1800" b="1" dirty="0">
                <a:latin typeface="Courier New" pitchFamily="49" charset="0"/>
                <a:ea typeface="MS Mincho" pitchFamily="49" charset="-128"/>
              </a:rPr>
              <a:t>([1,2,3,4])</a:t>
            </a:r>
            <a:endParaRPr lang="fr-FR" sz="1800" dirty="0">
              <a:ea typeface="MS Mincho" pitchFamily="49" charset="-128"/>
            </a:endParaRPr>
          </a:p>
          <a:p>
            <a:pPr indent="215900">
              <a:lnSpc>
                <a:spcPct val="150000"/>
              </a:lnSpc>
              <a:spcBef>
                <a:spcPts val="1200"/>
              </a:spcBef>
            </a:pPr>
            <a:r>
              <a:rPr lang="fr-FR" sz="1800" dirty="0">
                <a:latin typeface="Georgia" pitchFamily="18" charset="0"/>
                <a:ea typeface="MS Mincho" pitchFamily="49" charset="-128"/>
              </a:rPr>
              <a:t>Matrice M 4×3</a:t>
            </a:r>
            <a:endParaRPr lang="fr-FR" sz="1800" dirty="0">
              <a:ea typeface="MS Mincho" pitchFamily="49" charset="-128"/>
            </a:endParaRPr>
          </a:p>
          <a:p>
            <a:pPr indent="215900">
              <a:lnSpc>
                <a:spcPct val="150000"/>
              </a:lnSpc>
            </a:pPr>
            <a:r>
              <a:rPr lang="fr-FR" sz="1800" b="1" dirty="0">
                <a:latin typeface="Courier New" pitchFamily="49" charset="0"/>
                <a:ea typeface="MS Mincho" pitchFamily="49" charset="-128"/>
              </a:rPr>
              <a:t>M = </a:t>
            </a:r>
            <a:r>
              <a:rPr lang="fr-FR" sz="1800" b="1" dirty="0" err="1">
                <a:latin typeface="Courier New" pitchFamily="49" charset="0"/>
                <a:ea typeface="MS Mincho" pitchFamily="49" charset="-128"/>
              </a:rPr>
              <a:t>np.array</a:t>
            </a:r>
            <a:r>
              <a:rPr lang="fr-FR" sz="1800" b="1" dirty="0">
                <a:latin typeface="Courier New" pitchFamily="49" charset="0"/>
                <a:ea typeface="MS Mincho" pitchFamily="49" charset="-128"/>
              </a:rPr>
              <a:t>([[16,2,3],[0,8,3],[1,72,83],[1,3,3]])</a:t>
            </a:r>
            <a:endParaRPr lang="fr-FR" sz="1800" dirty="0"/>
          </a:p>
        </p:txBody>
      </p:sp>
      <p:sp>
        <p:nvSpPr>
          <p:cNvPr id="166914" name="Rectangle 2"/>
          <p:cNvSpPr>
            <a:spLocks noChangeArrowheads="1"/>
          </p:cNvSpPr>
          <p:nvPr/>
        </p:nvSpPr>
        <p:spPr bwMode="auto">
          <a:xfrm>
            <a:off x="571500" y="3571875"/>
            <a:ext cx="8215313" cy="2817813"/>
          </a:xfrm>
          <a:prstGeom prst="rect">
            <a:avLst/>
          </a:prstGeom>
          <a:noFill/>
          <a:ln w="9525" cap="flat" cmpd="sng" algn="ctr">
            <a:noFill/>
            <a:prstDash val="solid"/>
            <a:miter lim="800000"/>
            <a:headEnd/>
            <a:tailEnd/>
          </a:ln>
          <a:effectLst/>
        </p:spPr>
        <p:txBody>
          <a:bodyPr lIns="90000" tIns="46800" rIns="90000" bIns="76176" anchor="ctr">
            <a:spAutoFit/>
          </a:bodyPr>
          <a:lstStyle/>
          <a:p>
            <a:pPr>
              <a:spcBef>
                <a:spcPct val="50000"/>
              </a:spcBef>
              <a:buClr>
                <a:srgbClr val="336666"/>
              </a:buClr>
              <a:buFont typeface="Wingdings" pitchFamily="2" charset="2"/>
              <a:buNone/>
              <a:defRPr/>
            </a:pPr>
            <a:r>
              <a:rPr lang="fr-FR" b="1" i="1" u="sng" dirty="0">
                <a:solidFill>
                  <a:srgbClr val="943634"/>
                </a:solidFill>
                <a:latin typeface="+mn-lt"/>
                <a:ea typeface="Times New Roman" pitchFamily="18" charset="0"/>
              </a:rPr>
              <a:t>Remarques</a:t>
            </a:r>
          </a:p>
          <a:p>
            <a:pPr>
              <a:spcAft>
                <a:spcPts val="1200"/>
              </a:spcAft>
              <a:buFontTx/>
              <a:buChar char="•"/>
              <a:defRPr/>
            </a:pPr>
            <a:r>
              <a:rPr lang="fr-FR" dirty="0">
                <a:latin typeface="+mn-lt"/>
                <a:ea typeface="MS Mincho" pitchFamily="49" charset="-128"/>
              </a:rPr>
              <a:t> Dans ce cas, Les tableaux </a:t>
            </a:r>
            <a:r>
              <a:rPr lang="fr-FR" b="1" dirty="0">
                <a:latin typeface="+mn-lt"/>
                <a:ea typeface="MS Mincho" pitchFamily="49" charset="-128"/>
              </a:rPr>
              <a:t>V</a:t>
            </a:r>
            <a:r>
              <a:rPr lang="fr-FR" dirty="0">
                <a:latin typeface="+mn-lt"/>
                <a:ea typeface="MS Mincho" pitchFamily="49" charset="-128"/>
              </a:rPr>
              <a:t> et </a:t>
            </a:r>
            <a:r>
              <a:rPr lang="fr-FR" b="1" dirty="0">
                <a:latin typeface="+mn-lt"/>
                <a:ea typeface="MS Mincho" pitchFamily="49" charset="-128"/>
              </a:rPr>
              <a:t>M</a:t>
            </a:r>
            <a:r>
              <a:rPr lang="fr-FR" dirty="0">
                <a:latin typeface="+mn-lt"/>
                <a:ea typeface="MS Mincho" pitchFamily="49" charset="-128"/>
              </a:rPr>
              <a:t> sont tous deux du type </a:t>
            </a:r>
            <a:r>
              <a:rPr lang="fr-FR" b="1" i="1" dirty="0" err="1">
                <a:latin typeface="+mn-lt"/>
                <a:ea typeface="MS Mincho" pitchFamily="49" charset="-128"/>
              </a:rPr>
              <a:t>ndarray</a:t>
            </a:r>
            <a:r>
              <a:rPr lang="fr-FR" dirty="0">
                <a:latin typeface="+mn-lt"/>
                <a:ea typeface="MS Mincho" pitchFamily="49" charset="-128"/>
              </a:rPr>
              <a:t> (fourni par </a:t>
            </a:r>
            <a:r>
              <a:rPr lang="fr-FR" b="1" i="1" dirty="0" err="1">
                <a:latin typeface="+mn-lt"/>
                <a:ea typeface="MS Mincho" pitchFamily="49" charset="-128"/>
              </a:rPr>
              <a:t>numpy</a:t>
            </a:r>
            <a:r>
              <a:rPr lang="fr-FR" dirty="0">
                <a:latin typeface="+mn-lt"/>
                <a:ea typeface="MS Mincho" pitchFamily="49" charset="-128"/>
              </a:rPr>
              <a:t>)</a:t>
            </a:r>
            <a:endParaRPr lang="fr-FR" dirty="0">
              <a:latin typeface="+mn-lt"/>
            </a:endParaRPr>
          </a:p>
          <a:p>
            <a:pPr>
              <a:spcAft>
                <a:spcPts val="600"/>
              </a:spcAft>
              <a:buFontTx/>
              <a:buChar char="•"/>
              <a:defRPr/>
            </a:pPr>
            <a:r>
              <a:rPr lang="fr-FR" dirty="0">
                <a:latin typeface="+mn-lt"/>
                <a:ea typeface="MS Mincho" pitchFamily="49" charset="-128"/>
              </a:rPr>
              <a:t> On peut définir le type de manière explicite en utilisant le mot clé </a:t>
            </a:r>
            <a:r>
              <a:rPr lang="fr-FR" b="1" i="1" dirty="0" err="1">
                <a:latin typeface="+mn-lt"/>
                <a:ea typeface="MS Mincho" pitchFamily="49" charset="-128"/>
              </a:rPr>
              <a:t>dtype</a:t>
            </a:r>
            <a:r>
              <a:rPr lang="fr-FR" dirty="0">
                <a:latin typeface="+mn-lt"/>
                <a:ea typeface="MS Mincho" pitchFamily="49" charset="-128"/>
              </a:rPr>
              <a:t> en argument:</a:t>
            </a:r>
            <a:endParaRPr lang="fr-FR" dirty="0">
              <a:latin typeface="+mn-lt"/>
            </a:endParaRPr>
          </a:p>
          <a:p>
            <a:pPr lvl="1">
              <a:spcBef>
                <a:spcPts val="1200"/>
              </a:spcBef>
              <a:spcAft>
                <a:spcPts val="1200"/>
              </a:spcAft>
              <a:defRPr/>
            </a:pPr>
            <a:r>
              <a:rPr lang="en-US" sz="1800" b="1" dirty="0">
                <a:solidFill>
                  <a:srgbClr val="00B050"/>
                </a:solidFill>
                <a:latin typeface="Courier New" pitchFamily="49" charset="0"/>
                <a:ea typeface="MS Mincho" pitchFamily="49" charset="-128"/>
                <a:cs typeface="Courier New" pitchFamily="49" charset="0"/>
              </a:rPr>
              <a:t>M = </a:t>
            </a:r>
            <a:r>
              <a:rPr lang="en-US" sz="1800" b="1" dirty="0" err="1">
                <a:solidFill>
                  <a:srgbClr val="00B050"/>
                </a:solidFill>
                <a:latin typeface="Courier New" pitchFamily="49" charset="0"/>
                <a:ea typeface="MS Mincho" pitchFamily="49" charset="-128"/>
                <a:cs typeface="Courier New" pitchFamily="49" charset="0"/>
              </a:rPr>
              <a:t>np.array</a:t>
            </a:r>
            <a:r>
              <a:rPr lang="en-US" sz="1800" b="1" dirty="0">
                <a:solidFill>
                  <a:srgbClr val="00B050"/>
                </a:solidFill>
                <a:latin typeface="Courier New" pitchFamily="49" charset="0"/>
                <a:ea typeface="MS Mincho" pitchFamily="49" charset="-128"/>
                <a:cs typeface="Courier New" pitchFamily="49" charset="0"/>
              </a:rPr>
              <a:t>([[1, 2], [3, 4]], </a:t>
            </a:r>
            <a:r>
              <a:rPr lang="en-US" sz="1800" b="1" dirty="0" err="1">
                <a:solidFill>
                  <a:srgbClr val="00B050"/>
                </a:solidFill>
                <a:latin typeface="Courier New" pitchFamily="49" charset="0"/>
                <a:ea typeface="MS Mincho" pitchFamily="49" charset="-128"/>
                <a:cs typeface="Courier New" pitchFamily="49" charset="0"/>
              </a:rPr>
              <a:t>dtype</a:t>
            </a:r>
            <a:r>
              <a:rPr lang="en-US" sz="1800" b="1" dirty="0">
                <a:solidFill>
                  <a:srgbClr val="00B050"/>
                </a:solidFill>
                <a:latin typeface="Courier New" pitchFamily="49" charset="0"/>
                <a:ea typeface="MS Mincho" pitchFamily="49" charset="-128"/>
                <a:cs typeface="Courier New" pitchFamily="49" charset="0"/>
              </a:rPr>
              <a:t>=complex)</a:t>
            </a:r>
            <a:endParaRPr lang="fr-FR" sz="1800" b="1" dirty="0">
              <a:solidFill>
                <a:srgbClr val="00B050"/>
              </a:solidFill>
              <a:latin typeface="Courier New" pitchFamily="49" charset="0"/>
              <a:cs typeface="Courier New" pitchFamily="49" charset="0"/>
            </a:endParaRPr>
          </a:p>
          <a:p>
            <a:pPr>
              <a:spcAft>
                <a:spcPts val="600"/>
              </a:spcAft>
              <a:buFontTx/>
              <a:buChar char="•"/>
              <a:defRPr/>
            </a:pPr>
            <a:r>
              <a:rPr lang="fr-FR" dirty="0">
                <a:latin typeface="+mn-lt"/>
                <a:ea typeface="MS Mincho" pitchFamily="49" charset="-128"/>
              </a:rPr>
              <a:t> Autres types possibles avec </a:t>
            </a:r>
            <a:r>
              <a:rPr lang="fr-FR" dirty="0" err="1">
                <a:latin typeface="+mn-lt"/>
                <a:ea typeface="MS Mincho" pitchFamily="49" charset="-128"/>
              </a:rPr>
              <a:t>dtype</a:t>
            </a:r>
            <a:r>
              <a:rPr lang="fr-FR" dirty="0">
                <a:latin typeface="+mn-lt"/>
                <a:ea typeface="MS Mincho" pitchFamily="49" charset="-128"/>
              </a:rPr>
              <a:t> : </a:t>
            </a:r>
            <a:r>
              <a:rPr lang="fr-FR" b="1" dirty="0" err="1">
                <a:latin typeface="+mn-lt"/>
                <a:ea typeface="MS Mincho" pitchFamily="49" charset="-128"/>
              </a:rPr>
              <a:t>int</a:t>
            </a:r>
            <a:r>
              <a:rPr lang="fr-FR" b="1" dirty="0">
                <a:latin typeface="+mn-lt"/>
                <a:ea typeface="MS Mincho" pitchFamily="49" charset="-128"/>
              </a:rPr>
              <a:t>, </a:t>
            </a:r>
            <a:r>
              <a:rPr lang="fr-FR" b="1" dirty="0" err="1">
                <a:latin typeface="+mn-lt"/>
                <a:ea typeface="MS Mincho" pitchFamily="49" charset="-128"/>
              </a:rPr>
              <a:t>float</a:t>
            </a:r>
            <a:r>
              <a:rPr lang="fr-FR" b="1" dirty="0">
                <a:latin typeface="+mn-lt"/>
                <a:ea typeface="MS Mincho" pitchFamily="49" charset="-128"/>
              </a:rPr>
              <a:t>, </a:t>
            </a:r>
            <a:r>
              <a:rPr lang="fr-FR" b="1" dirty="0" err="1">
                <a:latin typeface="+mn-lt"/>
                <a:ea typeface="MS Mincho" pitchFamily="49" charset="-128"/>
              </a:rPr>
              <a:t>complex</a:t>
            </a:r>
            <a:r>
              <a:rPr lang="fr-FR" b="1" dirty="0">
                <a:latin typeface="+mn-lt"/>
                <a:ea typeface="MS Mincho" pitchFamily="49" charset="-128"/>
              </a:rPr>
              <a:t>, </a:t>
            </a:r>
            <a:r>
              <a:rPr lang="fr-FR" b="1" dirty="0" err="1">
                <a:latin typeface="+mn-lt"/>
                <a:ea typeface="MS Mincho" pitchFamily="49" charset="-128"/>
              </a:rPr>
              <a:t>bool</a:t>
            </a:r>
            <a:r>
              <a:rPr lang="fr-FR" b="1" dirty="0">
                <a:latin typeface="+mn-lt"/>
                <a:ea typeface="MS Mincho" pitchFamily="49" charset="-128"/>
              </a:rPr>
              <a:t>, etc.</a:t>
            </a:r>
            <a:endParaRPr lang="fr-FR" b="1" dirty="0">
              <a:latin typeface="+mn-lt"/>
            </a:endParaRPr>
          </a:p>
        </p:txBody>
      </p:sp>
    </p:spTree>
    <p:custDataLst>
      <p:tags r:id="rId1"/>
    </p:custDataLst>
    <p:extLst>
      <p:ext uri="{BB962C8B-B14F-4D97-AF65-F5344CB8AC3E}">
        <p14:creationId xmlns:p14="http://schemas.microsoft.com/office/powerpoint/2010/main" val="2508565624"/>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checkerboard(across)">
                                      <p:cBhvr>
                                        <p:cTn id="7" dur="500"/>
                                        <p:tgtEl>
                                          <p:spTgt spid="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86022">
                                            <p:txEl>
                                              <p:pRg st="0" end="0"/>
                                            </p:txEl>
                                          </p:spTgt>
                                        </p:tgtEl>
                                        <p:attrNameLst>
                                          <p:attrName>style.visibility</p:attrName>
                                        </p:attrNameLst>
                                      </p:cBhvr>
                                      <p:to>
                                        <p:strVal val="visible"/>
                                      </p:to>
                                    </p:set>
                                    <p:animEffect transition="in" filter="checkerboard(across)">
                                      <p:cBhvr>
                                        <p:cTn id="12" dur="500"/>
                                        <p:tgtEl>
                                          <p:spTgt spid="86022">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86022">
                                            <p:txEl>
                                              <p:pRg st="1" end="1"/>
                                            </p:txEl>
                                          </p:spTgt>
                                        </p:tgtEl>
                                        <p:attrNameLst>
                                          <p:attrName>style.visibility</p:attrName>
                                        </p:attrNameLst>
                                      </p:cBhvr>
                                      <p:to>
                                        <p:strVal val="visible"/>
                                      </p:to>
                                    </p:set>
                                    <p:animEffect transition="in" filter="checkerboard(across)">
                                      <p:cBhvr>
                                        <p:cTn id="17" dur="500"/>
                                        <p:tgtEl>
                                          <p:spTgt spid="86022">
                                            <p:txEl>
                                              <p:pRg st="1" end="1"/>
                                            </p:txEl>
                                          </p:spTgt>
                                        </p:tgtEl>
                                      </p:cBhvr>
                                    </p:animEffect>
                                  </p:childTnLst>
                                </p:cTn>
                              </p:par>
                              <p:par>
                                <p:cTn id="18" presetID="5" presetClass="entr" presetSubtype="10" fill="hold" nodeType="withEffect">
                                  <p:stCondLst>
                                    <p:cond delay="0"/>
                                  </p:stCondLst>
                                  <p:childTnLst>
                                    <p:set>
                                      <p:cBhvr>
                                        <p:cTn id="19" dur="1" fill="hold">
                                          <p:stCondLst>
                                            <p:cond delay="0"/>
                                          </p:stCondLst>
                                        </p:cTn>
                                        <p:tgtEl>
                                          <p:spTgt spid="86022">
                                            <p:txEl>
                                              <p:pRg st="2" end="2"/>
                                            </p:txEl>
                                          </p:spTgt>
                                        </p:tgtEl>
                                        <p:attrNameLst>
                                          <p:attrName>style.visibility</p:attrName>
                                        </p:attrNameLst>
                                      </p:cBhvr>
                                      <p:to>
                                        <p:strVal val="visible"/>
                                      </p:to>
                                    </p:set>
                                    <p:animEffect transition="in" filter="checkerboard(across)">
                                      <p:cBhvr>
                                        <p:cTn id="20" dur="500"/>
                                        <p:tgtEl>
                                          <p:spTgt spid="86022">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 presetClass="entr" presetSubtype="10" fill="hold" nodeType="clickEffect">
                                  <p:stCondLst>
                                    <p:cond delay="0"/>
                                  </p:stCondLst>
                                  <p:childTnLst>
                                    <p:set>
                                      <p:cBhvr>
                                        <p:cTn id="24" dur="1" fill="hold">
                                          <p:stCondLst>
                                            <p:cond delay="0"/>
                                          </p:stCondLst>
                                        </p:cTn>
                                        <p:tgtEl>
                                          <p:spTgt spid="166914">
                                            <p:txEl>
                                              <p:pRg st="0" end="0"/>
                                            </p:txEl>
                                          </p:spTgt>
                                        </p:tgtEl>
                                        <p:attrNameLst>
                                          <p:attrName>style.visibility</p:attrName>
                                        </p:attrNameLst>
                                      </p:cBhvr>
                                      <p:to>
                                        <p:strVal val="visible"/>
                                      </p:to>
                                    </p:set>
                                    <p:animEffect transition="in" filter="checkerboard(across)">
                                      <p:cBhvr>
                                        <p:cTn id="25" dur="500"/>
                                        <p:tgtEl>
                                          <p:spTgt spid="166914">
                                            <p:txEl>
                                              <p:pRg st="0" end="0"/>
                                            </p:txEl>
                                          </p:spTgt>
                                        </p:tgtEl>
                                      </p:cBhvr>
                                    </p:animEffect>
                                  </p:childTnLst>
                                </p:cTn>
                              </p:par>
                              <p:par>
                                <p:cTn id="26" presetID="5" presetClass="entr" presetSubtype="10" fill="hold" nodeType="withEffect">
                                  <p:stCondLst>
                                    <p:cond delay="0"/>
                                  </p:stCondLst>
                                  <p:childTnLst>
                                    <p:set>
                                      <p:cBhvr>
                                        <p:cTn id="27" dur="1" fill="hold">
                                          <p:stCondLst>
                                            <p:cond delay="0"/>
                                          </p:stCondLst>
                                        </p:cTn>
                                        <p:tgtEl>
                                          <p:spTgt spid="166914">
                                            <p:txEl>
                                              <p:pRg st="1" end="1"/>
                                            </p:txEl>
                                          </p:spTgt>
                                        </p:tgtEl>
                                        <p:attrNameLst>
                                          <p:attrName>style.visibility</p:attrName>
                                        </p:attrNameLst>
                                      </p:cBhvr>
                                      <p:to>
                                        <p:strVal val="visible"/>
                                      </p:to>
                                    </p:set>
                                    <p:animEffect transition="in" filter="checkerboard(across)">
                                      <p:cBhvr>
                                        <p:cTn id="28" dur="500"/>
                                        <p:tgtEl>
                                          <p:spTgt spid="166914">
                                            <p:txEl>
                                              <p:pRg st="1" end="1"/>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 presetClass="entr" presetSubtype="10" fill="hold" nodeType="clickEffect">
                                  <p:stCondLst>
                                    <p:cond delay="0"/>
                                  </p:stCondLst>
                                  <p:childTnLst>
                                    <p:set>
                                      <p:cBhvr>
                                        <p:cTn id="32" dur="1" fill="hold">
                                          <p:stCondLst>
                                            <p:cond delay="0"/>
                                          </p:stCondLst>
                                        </p:cTn>
                                        <p:tgtEl>
                                          <p:spTgt spid="166914">
                                            <p:txEl>
                                              <p:pRg st="2" end="2"/>
                                            </p:txEl>
                                          </p:spTgt>
                                        </p:tgtEl>
                                        <p:attrNameLst>
                                          <p:attrName>style.visibility</p:attrName>
                                        </p:attrNameLst>
                                      </p:cBhvr>
                                      <p:to>
                                        <p:strVal val="visible"/>
                                      </p:to>
                                    </p:set>
                                    <p:animEffect transition="in" filter="checkerboard(across)">
                                      <p:cBhvr>
                                        <p:cTn id="33" dur="500"/>
                                        <p:tgtEl>
                                          <p:spTgt spid="166914">
                                            <p:txEl>
                                              <p:pRg st="2" end="2"/>
                                            </p:txEl>
                                          </p:spTgt>
                                        </p:tgtEl>
                                      </p:cBhvr>
                                    </p:animEffect>
                                  </p:childTnLst>
                                </p:cTn>
                              </p:par>
                              <p:par>
                                <p:cTn id="34" presetID="5" presetClass="entr" presetSubtype="10" fill="hold" nodeType="withEffect">
                                  <p:stCondLst>
                                    <p:cond delay="0"/>
                                  </p:stCondLst>
                                  <p:childTnLst>
                                    <p:set>
                                      <p:cBhvr>
                                        <p:cTn id="35" dur="1" fill="hold">
                                          <p:stCondLst>
                                            <p:cond delay="0"/>
                                          </p:stCondLst>
                                        </p:cTn>
                                        <p:tgtEl>
                                          <p:spTgt spid="166914">
                                            <p:txEl>
                                              <p:pRg st="3" end="3"/>
                                            </p:txEl>
                                          </p:spTgt>
                                        </p:tgtEl>
                                        <p:attrNameLst>
                                          <p:attrName>style.visibility</p:attrName>
                                        </p:attrNameLst>
                                      </p:cBhvr>
                                      <p:to>
                                        <p:strVal val="visible"/>
                                      </p:to>
                                    </p:set>
                                    <p:animEffect transition="in" filter="checkerboard(across)">
                                      <p:cBhvr>
                                        <p:cTn id="36" dur="500"/>
                                        <p:tgtEl>
                                          <p:spTgt spid="166914">
                                            <p:txEl>
                                              <p:pRg st="3" end="3"/>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5" presetClass="entr" presetSubtype="10" fill="hold" nodeType="clickEffect">
                                  <p:stCondLst>
                                    <p:cond delay="0"/>
                                  </p:stCondLst>
                                  <p:childTnLst>
                                    <p:set>
                                      <p:cBhvr>
                                        <p:cTn id="40" dur="1" fill="hold">
                                          <p:stCondLst>
                                            <p:cond delay="0"/>
                                          </p:stCondLst>
                                        </p:cTn>
                                        <p:tgtEl>
                                          <p:spTgt spid="166914">
                                            <p:txEl>
                                              <p:pRg st="4" end="4"/>
                                            </p:txEl>
                                          </p:spTgt>
                                        </p:tgtEl>
                                        <p:attrNameLst>
                                          <p:attrName>style.visibility</p:attrName>
                                        </p:attrNameLst>
                                      </p:cBhvr>
                                      <p:to>
                                        <p:strVal val="visible"/>
                                      </p:to>
                                    </p:set>
                                    <p:animEffect transition="in" filter="checkerboard(across)">
                                      <p:cBhvr>
                                        <p:cTn id="41" dur="500"/>
                                        <p:tgtEl>
                                          <p:spTgt spid="16691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tableaux multi dimensionnels</a:t>
            </a:r>
          </a:p>
        </p:txBody>
      </p:sp>
      <p:sp>
        <p:nvSpPr>
          <p:cNvPr id="7" name="Rectangle 6"/>
          <p:cNvSpPr/>
          <p:nvPr/>
        </p:nvSpPr>
        <p:spPr>
          <a:xfrm>
            <a:off x="571500" y="1000125"/>
            <a:ext cx="8286750" cy="1784350"/>
          </a:xfrm>
          <a:prstGeom prst="rect">
            <a:avLst/>
          </a:prstGeom>
        </p:spPr>
        <p:txBody>
          <a:bodyPr>
            <a:spAutoFit/>
          </a:bodyPr>
          <a:lstStyle/>
          <a:p>
            <a:pPr eaLnBrk="1" hangingPunct="1">
              <a:spcBef>
                <a:spcPct val="50000"/>
              </a:spcBef>
              <a:buClr>
                <a:srgbClr val="336666"/>
              </a:buClr>
              <a:buFont typeface="Wingdings" pitchFamily="2" charset="2"/>
              <a:buChar char="§"/>
              <a:defRPr/>
            </a:pPr>
            <a:r>
              <a:rPr lang="fr-FR" dirty="0">
                <a:solidFill>
                  <a:srgbClr val="0000FF"/>
                </a:solidFill>
                <a:latin typeface="+mn-lt"/>
              </a:rPr>
              <a:t> </a:t>
            </a:r>
            <a:r>
              <a:rPr lang="x-none" b="1" u="sng">
                <a:solidFill>
                  <a:srgbClr val="FF0000"/>
                </a:solidFill>
                <a:latin typeface="+mn-lt"/>
              </a:rPr>
              <a:t>Création</a:t>
            </a:r>
            <a:r>
              <a:rPr lang="fr-FR" b="1" u="sng" dirty="0">
                <a:solidFill>
                  <a:srgbClr val="FF0000"/>
                </a:solidFill>
                <a:latin typeface="+mn-lt"/>
              </a:rPr>
              <a:t> des tableaux</a:t>
            </a:r>
          </a:p>
          <a:p>
            <a:pPr lvl="2" eaLnBrk="1" hangingPunct="1">
              <a:spcBef>
                <a:spcPct val="50000"/>
              </a:spcBef>
              <a:buClr>
                <a:srgbClr val="336666"/>
              </a:buClr>
              <a:buFont typeface="Arial" pitchFamily="34" charset="0"/>
              <a:buChar char="•"/>
              <a:defRPr/>
            </a:pPr>
            <a:r>
              <a:rPr lang="fr-FR" dirty="0">
                <a:solidFill>
                  <a:schemeClr val="tx2">
                    <a:lumMod val="10000"/>
                  </a:schemeClr>
                </a:solidFill>
                <a:latin typeface="+mn-lt"/>
              </a:rPr>
              <a:t> </a:t>
            </a:r>
            <a:r>
              <a:rPr lang="fr-FR" u="sng" dirty="0">
                <a:solidFill>
                  <a:schemeClr val="tx2">
                    <a:lumMod val="10000"/>
                  </a:schemeClr>
                </a:solidFill>
                <a:latin typeface="+mn-lt"/>
              </a:rPr>
              <a:t>Au moyen de la fonction </a:t>
            </a:r>
            <a:r>
              <a:rPr lang="fr-FR" b="1" u="sng" dirty="0" err="1">
                <a:solidFill>
                  <a:schemeClr val="tx2">
                    <a:lumMod val="10000"/>
                  </a:schemeClr>
                </a:solidFill>
                <a:latin typeface="+mn-lt"/>
              </a:rPr>
              <a:t>numpy.arange</a:t>
            </a:r>
            <a:r>
              <a:rPr lang="fr-FR" u="sng" dirty="0">
                <a:solidFill>
                  <a:schemeClr val="tx2">
                    <a:lumMod val="10000"/>
                  </a:schemeClr>
                </a:solidFill>
                <a:latin typeface="+mn-lt"/>
              </a:rPr>
              <a:t> </a:t>
            </a:r>
          </a:p>
          <a:p>
            <a:pPr lvl="2" eaLnBrk="1" hangingPunct="1">
              <a:spcBef>
                <a:spcPct val="50000"/>
              </a:spcBef>
              <a:buClr>
                <a:srgbClr val="336666"/>
              </a:buClr>
              <a:buFont typeface="Arial" pitchFamily="34" charset="0"/>
              <a:buChar char="•"/>
              <a:defRPr/>
            </a:pPr>
            <a:endParaRPr lang="fr-FR" u="sng" dirty="0">
              <a:solidFill>
                <a:schemeClr val="tx2">
                  <a:lumMod val="10000"/>
                </a:schemeClr>
              </a:solidFill>
              <a:latin typeface="+mn-lt"/>
            </a:endParaRPr>
          </a:p>
          <a:p>
            <a:pPr eaLnBrk="1" hangingPunct="1">
              <a:spcBef>
                <a:spcPct val="50000"/>
              </a:spcBef>
              <a:buClr>
                <a:srgbClr val="336666"/>
              </a:buClr>
              <a:buFont typeface="Wingdings" pitchFamily="2" charset="2"/>
              <a:buChar char="§"/>
              <a:defRPr/>
            </a:pPr>
            <a:endParaRPr lang="fr-FR" dirty="0">
              <a:solidFill>
                <a:srgbClr val="0000FF"/>
              </a:solidFill>
              <a:latin typeface="+mn-lt"/>
            </a:endParaRPr>
          </a:p>
        </p:txBody>
      </p:sp>
      <p:sp>
        <p:nvSpPr>
          <p:cNvPr id="166913" name="Rectangle 1"/>
          <p:cNvSpPr>
            <a:spLocks noChangeArrowheads="1"/>
          </p:cNvSpPr>
          <p:nvPr/>
        </p:nvSpPr>
        <p:spPr bwMode="auto">
          <a:xfrm>
            <a:off x="571500" y="1857375"/>
            <a:ext cx="8143875" cy="1709738"/>
          </a:xfrm>
          <a:prstGeom prst="rect">
            <a:avLst/>
          </a:prstGeom>
          <a:noFill/>
          <a:ln w="9525" cap="flat" cmpd="sng" algn="ctr">
            <a:noFill/>
            <a:prstDash val="solid"/>
            <a:miter lim="800000"/>
            <a:headEnd/>
            <a:tailEnd/>
          </a:ln>
          <a:effectLst/>
        </p:spPr>
        <p:txBody>
          <a:bodyPr lIns="180918" tIns="46800" rIns="90000" bIns="46800" anchor="ctr">
            <a:spAutoFit/>
          </a:bodyPr>
          <a:lstStyle/>
          <a:p>
            <a:pPr>
              <a:spcBef>
                <a:spcPts val="0"/>
              </a:spcBef>
              <a:spcAft>
                <a:spcPts val="600"/>
              </a:spcAft>
              <a:buClr>
                <a:srgbClr val="336666"/>
              </a:buClr>
              <a:buFont typeface="Wingdings" pitchFamily="2" charset="2"/>
              <a:buNone/>
              <a:defRPr/>
            </a:pPr>
            <a:r>
              <a:rPr lang="fr-FR" dirty="0">
                <a:latin typeface="+mn-lt"/>
                <a:ea typeface="MS Mincho" pitchFamily="49" charset="-128"/>
              </a:rPr>
              <a:t>On peut créer un vecteur à l’aide de la fonction </a:t>
            </a:r>
            <a:r>
              <a:rPr lang="fr-FR" b="1" dirty="0" err="1">
                <a:latin typeface="+mn-lt"/>
                <a:ea typeface="MS Mincho" pitchFamily="49" charset="-128"/>
              </a:rPr>
              <a:t>arange</a:t>
            </a:r>
            <a:r>
              <a:rPr lang="fr-FR" dirty="0">
                <a:latin typeface="+mn-lt"/>
                <a:ea typeface="MS Mincho" pitchFamily="49" charset="-128"/>
              </a:rPr>
              <a:t>, c’est une fonction similaire à la fonction </a:t>
            </a:r>
            <a:r>
              <a:rPr lang="fr-FR" b="1" dirty="0">
                <a:latin typeface="+mn-lt"/>
                <a:ea typeface="MS Mincho" pitchFamily="49" charset="-128"/>
              </a:rPr>
              <a:t>range</a:t>
            </a:r>
            <a:r>
              <a:rPr lang="fr-FR" dirty="0">
                <a:latin typeface="+mn-lt"/>
                <a:ea typeface="MS Mincho" pitchFamily="49" charset="-128"/>
              </a:rPr>
              <a:t> de Python :</a:t>
            </a:r>
          </a:p>
          <a:p>
            <a:pPr>
              <a:spcBef>
                <a:spcPts val="0"/>
              </a:spcBef>
              <a:spcAft>
                <a:spcPts val="1200"/>
              </a:spcAft>
              <a:buClr>
                <a:srgbClr val="336666"/>
              </a:buClr>
              <a:buFont typeface="Wingdings" pitchFamily="2" charset="2"/>
              <a:buNone/>
              <a:defRPr/>
            </a:pPr>
            <a:r>
              <a:rPr lang="fr-FR" b="1" dirty="0" err="1">
                <a:latin typeface="+mn-lt"/>
                <a:ea typeface="MS Mincho" pitchFamily="49" charset="-128"/>
              </a:rPr>
              <a:t>np.arange</a:t>
            </a:r>
            <a:r>
              <a:rPr lang="fr-FR" b="1" dirty="0">
                <a:latin typeface="+mn-lt"/>
                <a:ea typeface="MS Mincho" pitchFamily="49" charset="-128"/>
              </a:rPr>
              <a:t>(M,N,P) </a:t>
            </a:r>
            <a:r>
              <a:rPr lang="fr-FR" dirty="0">
                <a:latin typeface="+mn-lt"/>
                <a:ea typeface="MS Mincho" pitchFamily="49" charset="-128"/>
              </a:rPr>
              <a:t>: tableau contenant les éléments de M à N avec pas P (M et P sont optionnels. Dans ce cas les valeurs par défaut sont M=0 et P=1)</a:t>
            </a:r>
          </a:p>
        </p:txBody>
      </p:sp>
      <p:sp>
        <p:nvSpPr>
          <p:cNvPr id="152583" name="Double flèche horizontale 9"/>
          <p:cNvSpPr>
            <a:spLocks noChangeArrowheads="1"/>
          </p:cNvSpPr>
          <p:nvPr/>
        </p:nvSpPr>
        <p:spPr bwMode="auto">
          <a:xfrm>
            <a:off x="3500438" y="4286250"/>
            <a:ext cx="428625" cy="71438"/>
          </a:xfrm>
          <a:prstGeom prst="leftRightArrow">
            <a:avLst>
              <a:gd name="adj1" fmla="val 50000"/>
              <a:gd name="adj2" fmla="val 50000"/>
            </a:avLst>
          </a:prstGeom>
          <a:noFill/>
          <a:ln w="9525" algn="ctr">
            <a:noFill/>
            <a:round/>
            <a:headEnd/>
            <a:tailEnd/>
          </a:ln>
        </p:spPr>
        <p:txBody>
          <a:bodyPr lIns="90000" tIns="46800" rIns="90000" bIns="46800" anchor="ctr">
            <a:spAutoFit/>
          </a:bodyPr>
          <a:lstStyle/>
          <a:p>
            <a:pPr eaLnBrk="1" hangingPunct="1">
              <a:spcBef>
                <a:spcPct val="50000"/>
              </a:spcBef>
              <a:buClr>
                <a:srgbClr val="336666"/>
              </a:buClr>
              <a:buFont typeface="Wingdings" pitchFamily="2" charset="2"/>
              <a:buNone/>
            </a:pPr>
            <a:endParaRPr lang="fr-FR"/>
          </a:p>
        </p:txBody>
      </p:sp>
      <p:sp>
        <p:nvSpPr>
          <p:cNvPr id="11" name="Rectangle 10"/>
          <p:cNvSpPr/>
          <p:nvPr/>
        </p:nvSpPr>
        <p:spPr>
          <a:xfrm>
            <a:off x="1643063" y="4600575"/>
            <a:ext cx="6572250" cy="400050"/>
          </a:xfrm>
          <a:prstGeom prst="rect">
            <a:avLst/>
          </a:prstGeom>
        </p:spPr>
        <p:txBody>
          <a:bodyPr>
            <a:spAutoFit/>
          </a:bodyPr>
          <a:lstStyle/>
          <a:p>
            <a:pPr eaLnBrk="1" hangingPunct="1">
              <a:spcBef>
                <a:spcPct val="50000"/>
              </a:spcBef>
              <a:buClr>
                <a:srgbClr val="336666"/>
              </a:buClr>
              <a:buFont typeface="Arial" pitchFamily="34" charset="0"/>
              <a:buChar char="•"/>
              <a:defRPr/>
            </a:pPr>
            <a:r>
              <a:rPr lang="fr-FR" u="sng" dirty="0">
                <a:latin typeface="+mn-lt"/>
              </a:rPr>
              <a:t> </a:t>
            </a:r>
            <a:r>
              <a:rPr lang="x-none" u="sng">
                <a:latin typeface="+mn-lt"/>
              </a:rPr>
              <a:t>Au moyen de la fonction </a:t>
            </a:r>
            <a:r>
              <a:rPr lang="x-none" b="1" u="sng">
                <a:latin typeface="+mn-lt"/>
              </a:rPr>
              <a:t>numpy. empty</a:t>
            </a:r>
            <a:endParaRPr lang="fr-FR" b="1" u="sng" dirty="0">
              <a:latin typeface="+mn-lt"/>
            </a:endParaRPr>
          </a:p>
        </p:txBody>
      </p:sp>
      <p:sp>
        <p:nvSpPr>
          <p:cNvPr id="87049" name="Rectangle 1"/>
          <p:cNvSpPr>
            <a:spLocks noChangeArrowheads="1"/>
          </p:cNvSpPr>
          <p:nvPr/>
        </p:nvSpPr>
        <p:spPr bwMode="auto">
          <a:xfrm>
            <a:off x="500063" y="5076825"/>
            <a:ext cx="8429625" cy="709613"/>
          </a:xfrm>
          <a:prstGeom prst="rect">
            <a:avLst/>
          </a:prstGeom>
          <a:solidFill>
            <a:srgbClr val="DBE5F1"/>
          </a:solidFill>
          <a:ln w="9525" algn="ctr">
            <a:noFill/>
            <a:miter lim="800000"/>
            <a:headEnd/>
            <a:tailEnd/>
          </a:ln>
        </p:spPr>
        <p:txBody>
          <a:bodyPr lIns="180918" tIns="46800" rIns="90000" bIns="46800" anchor="ctr">
            <a:spAutoFit/>
          </a:bodyPr>
          <a:lstStyle/>
          <a:p>
            <a:pPr indent="215900">
              <a:spcBef>
                <a:spcPct val="50000"/>
              </a:spcBef>
              <a:buClr>
                <a:srgbClr val="336666"/>
              </a:buClr>
              <a:buFont typeface="Wingdings" pitchFamily="2" charset="2"/>
              <a:buNone/>
            </a:pPr>
            <a:r>
              <a:rPr lang="fr-FR" b="1" dirty="0" err="1">
                <a:latin typeface="Courier New" pitchFamily="49" charset="0"/>
                <a:ea typeface="MS Mincho" pitchFamily="49" charset="-128"/>
              </a:rPr>
              <a:t>np.empty</a:t>
            </a:r>
            <a:r>
              <a:rPr lang="fr-FR" b="1" dirty="0">
                <a:latin typeface="Courier New" pitchFamily="49" charset="0"/>
                <a:ea typeface="MS Mincho" pitchFamily="49" charset="-128"/>
              </a:rPr>
              <a:t>(</a:t>
            </a:r>
            <a:r>
              <a:rPr lang="fr-FR" b="1" dirty="0" err="1">
                <a:latin typeface="Courier New" pitchFamily="49" charset="0"/>
                <a:ea typeface="MS Mincho" pitchFamily="49" charset="-128"/>
              </a:rPr>
              <a:t>N,dtype</a:t>
            </a:r>
            <a:r>
              <a:rPr lang="fr-FR" b="1" dirty="0">
                <a:latin typeface="Courier New" pitchFamily="49" charset="0"/>
                <a:ea typeface="MS Mincho" pitchFamily="49" charset="-128"/>
              </a:rPr>
              <a:t>='</a:t>
            </a:r>
            <a:r>
              <a:rPr lang="fr-FR" b="1" dirty="0" err="1">
                <a:latin typeface="Courier New" pitchFamily="49" charset="0"/>
                <a:ea typeface="MS Mincho" pitchFamily="49" charset="-128"/>
              </a:rPr>
              <a:t>int</a:t>
            </a:r>
            <a:r>
              <a:rPr lang="fr-FR" b="1" dirty="0">
                <a:latin typeface="Courier New" pitchFamily="49" charset="0"/>
                <a:ea typeface="MS Mincho" pitchFamily="49" charset="-128"/>
              </a:rPr>
              <a:t>') : tableau vide de N entiers</a:t>
            </a:r>
            <a:endParaRPr lang="fr-FR" b="1" dirty="0">
              <a:ea typeface="MS Mincho" pitchFamily="49" charset="-128"/>
            </a:endParaRPr>
          </a:p>
          <a:p>
            <a:pPr indent="215900"/>
            <a:r>
              <a:rPr lang="fr-FR" b="1" dirty="0" err="1">
                <a:latin typeface="Courier New" pitchFamily="49" charset="0"/>
                <a:ea typeface="MS Mincho" pitchFamily="49" charset="-128"/>
              </a:rPr>
              <a:t>np.empty</a:t>
            </a:r>
            <a:r>
              <a:rPr lang="fr-FR" b="1" dirty="0">
                <a:latin typeface="Courier New" pitchFamily="49" charset="0"/>
                <a:ea typeface="MS Mincho" pitchFamily="49" charset="-128"/>
              </a:rPr>
              <a:t>(</a:t>
            </a:r>
            <a:r>
              <a:rPr lang="fr-FR" b="1" dirty="0" err="1">
                <a:latin typeface="Courier New" pitchFamily="49" charset="0"/>
                <a:ea typeface="MS Mincho" pitchFamily="49" charset="-128"/>
              </a:rPr>
              <a:t>N,dtype</a:t>
            </a:r>
            <a:r>
              <a:rPr lang="fr-FR" b="1" dirty="0">
                <a:latin typeface="Courier New" pitchFamily="49" charset="0"/>
                <a:ea typeface="MS Mincho" pitchFamily="49" charset="-128"/>
              </a:rPr>
              <a:t>='</a:t>
            </a:r>
            <a:r>
              <a:rPr lang="fr-FR" b="1" dirty="0" err="1">
                <a:latin typeface="Courier New" pitchFamily="49" charset="0"/>
                <a:ea typeface="MS Mincho" pitchFamily="49" charset="-128"/>
              </a:rPr>
              <a:t>float</a:t>
            </a:r>
            <a:r>
              <a:rPr lang="fr-FR" b="1" dirty="0">
                <a:latin typeface="Courier New" pitchFamily="49" charset="0"/>
                <a:ea typeface="MS Mincho" pitchFamily="49" charset="-128"/>
              </a:rPr>
              <a:t>') : tableau vide de N r</a:t>
            </a:r>
            <a:r>
              <a:rPr lang="fr-FR" b="1" dirty="0">
                <a:ea typeface="MS Mincho" pitchFamily="49" charset="-128"/>
              </a:rPr>
              <a:t>é</a:t>
            </a:r>
            <a:r>
              <a:rPr lang="fr-FR" b="1" dirty="0">
                <a:latin typeface="Courier New" pitchFamily="49" charset="0"/>
                <a:ea typeface="MS Mincho" pitchFamily="49" charset="-128"/>
              </a:rPr>
              <a:t>els</a:t>
            </a:r>
            <a:endParaRPr lang="fr-FR" b="1" dirty="0">
              <a:ea typeface="MS Mincho" pitchFamily="49" charset="-128"/>
            </a:endParaRPr>
          </a:p>
        </p:txBody>
      </p:sp>
      <p:sp>
        <p:nvSpPr>
          <p:cNvPr id="87050" name="Rectangle 2"/>
          <p:cNvSpPr>
            <a:spLocks noChangeArrowheads="1"/>
          </p:cNvSpPr>
          <p:nvPr/>
        </p:nvSpPr>
        <p:spPr bwMode="auto">
          <a:xfrm>
            <a:off x="714375" y="3636963"/>
            <a:ext cx="8215313" cy="649287"/>
          </a:xfrm>
          <a:prstGeom prst="rect">
            <a:avLst/>
          </a:prstGeom>
          <a:solidFill>
            <a:srgbClr val="DBE5F1"/>
          </a:solidFill>
          <a:ln w="9525" algn="ctr">
            <a:noFill/>
            <a:miter lim="800000"/>
            <a:headEnd/>
            <a:tailEnd/>
          </a:ln>
        </p:spPr>
        <p:txBody>
          <a:bodyPr lIns="180918" tIns="46800" rIns="90000" bIns="46800" anchor="ctr">
            <a:spAutoFit/>
          </a:bodyPr>
          <a:lstStyle/>
          <a:p>
            <a:pPr indent="215900">
              <a:spcBef>
                <a:spcPct val="50000"/>
              </a:spcBef>
              <a:buClr>
                <a:srgbClr val="336666"/>
              </a:buClr>
              <a:buFont typeface="Wingdings" pitchFamily="2" charset="2"/>
              <a:buNone/>
            </a:pPr>
            <a:r>
              <a:rPr lang="en-US" sz="1800" b="1">
                <a:latin typeface="Courier New" pitchFamily="49" charset="0"/>
                <a:ea typeface="MS Mincho" pitchFamily="49" charset="-128"/>
              </a:rPr>
              <a:t>a = np.arange(10)  </a:t>
            </a:r>
            <a:r>
              <a:rPr lang="en-US" sz="1800" b="1">
                <a:latin typeface="Courier New" pitchFamily="49" charset="0"/>
                <a:ea typeface="MS Mincho" pitchFamily="49" charset="-128"/>
                <a:sym typeface="Wingdings" pitchFamily="2" charset="2"/>
              </a:rPr>
              <a:t></a:t>
            </a:r>
            <a:r>
              <a:rPr lang="en-US" sz="1800" b="1">
                <a:latin typeface="Courier New" pitchFamily="49" charset="0"/>
                <a:ea typeface="MS Mincho" pitchFamily="49" charset="-128"/>
              </a:rPr>
              <a:t> </a:t>
            </a:r>
            <a:r>
              <a:rPr lang="en-US" sz="1800" b="1">
                <a:latin typeface="Courier New" pitchFamily="49" charset="0"/>
                <a:ea typeface="MS Mincho" pitchFamily="49" charset="-128"/>
                <a:sym typeface="Wingdings" pitchFamily="2" charset="2"/>
              </a:rPr>
              <a:t>a = np.array([0, 1, 2, 3, 4, 5, 6, 7, 8, 9])</a:t>
            </a:r>
          </a:p>
        </p:txBody>
      </p:sp>
      <p:sp>
        <p:nvSpPr>
          <p:cNvPr id="13" name="Rectangle 12"/>
          <p:cNvSpPr/>
          <p:nvPr/>
        </p:nvSpPr>
        <p:spPr>
          <a:xfrm>
            <a:off x="714375" y="5864225"/>
            <a:ext cx="8072438" cy="708025"/>
          </a:xfrm>
          <a:prstGeom prst="rect">
            <a:avLst/>
          </a:prstGeom>
        </p:spPr>
        <p:txBody>
          <a:bodyPr>
            <a:spAutoFit/>
          </a:bodyPr>
          <a:lstStyle/>
          <a:p>
            <a:pPr eaLnBrk="1" hangingPunct="1">
              <a:spcBef>
                <a:spcPct val="50000"/>
              </a:spcBef>
              <a:buClr>
                <a:srgbClr val="336666"/>
              </a:buClr>
              <a:buFont typeface="Wingdings" pitchFamily="2" charset="2"/>
              <a:buNone/>
              <a:defRPr/>
            </a:pPr>
            <a:r>
              <a:rPr lang="fr-FR" b="1" i="1" dirty="0" err="1">
                <a:latin typeface="+mn-lt"/>
              </a:rPr>
              <a:t>dtype</a:t>
            </a:r>
            <a:r>
              <a:rPr lang="fr-FR" dirty="0">
                <a:latin typeface="+mn-lt"/>
              </a:rPr>
              <a:t> est optionnel dans toutes les créations de tableaux et fixé par défaut à </a:t>
            </a:r>
            <a:r>
              <a:rPr lang="fr-FR" b="1" i="1" dirty="0" err="1">
                <a:latin typeface="+mn-lt"/>
              </a:rPr>
              <a:t>float</a:t>
            </a:r>
            <a:endParaRPr lang="fr-FR" dirty="0">
              <a:latin typeface="+mn-lt"/>
            </a:endParaRPr>
          </a:p>
        </p:txBody>
      </p:sp>
    </p:spTree>
    <p:custDataLst>
      <p:tags r:id="rId1"/>
    </p:custDataLst>
    <p:extLst>
      <p:ext uri="{BB962C8B-B14F-4D97-AF65-F5344CB8AC3E}">
        <p14:creationId xmlns:p14="http://schemas.microsoft.com/office/powerpoint/2010/main" val="3200705465"/>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66913">
                                            <p:txEl>
                                              <p:pRg st="1" end="1"/>
                                            </p:txEl>
                                          </p:spTgt>
                                        </p:tgtEl>
                                        <p:attrNameLst>
                                          <p:attrName>style.visibility</p:attrName>
                                        </p:attrNameLst>
                                      </p:cBhvr>
                                      <p:to>
                                        <p:strVal val="visible"/>
                                      </p:to>
                                    </p:set>
                                    <p:animEffect transition="in" filter="checkerboard(across)">
                                      <p:cBhvr>
                                        <p:cTn id="7" dur="500"/>
                                        <p:tgtEl>
                                          <p:spTgt spid="16691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87050"/>
                                        </p:tgtEl>
                                        <p:attrNameLst>
                                          <p:attrName>style.visibility</p:attrName>
                                        </p:attrNameLst>
                                      </p:cBhvr>
                                      <p:to>
                                        <p:strVal val="visible"/>
                                      </p:to>
                                    </p:set>
                                    <p:animEffect transition="in" filter="checkerboard(across)">
                                      <p:cBhvr>
                                        <p:cTn id="12" dur="500"/>
                                        <p:tgtEl>
                                          <p:spTgt spid="870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checkerboard(across)">
                                      <p:cBhvr>
                                        <p:cTn id="17" dur="500"/>
                                        <p:tgtEl>
                                          <p:spTgt spid="11"/>
                                        </p:tgtEl>
                                      </p:cBhvr>
                                    </p:animEffect>
                                  </p:childTnLst>
                                </p:cTn>
                              </p:par>
                              <p:par>
                                <p:cTn id="18" presetID="5" presetClass="entr" presetSubtype="10" fill="hold" grpId="0" nodeType="withEffect">
                                  <p:stCondLst>
                                    <p:cond delay="0"/>
                                  </p:stCondLst>
                                  <p:childTnLst>
                                    <p:set>
                                      <p:cBhvr>
                                        <p:cTn id="19" dur="1" fill="hold">
                                          <p:stCondLst>
                                            <p:cond delay="0"/>
                                          </p:stCondLst>
                                        </p:cTn>
                                        <p:tgtEl>
                                          <p:spTgt spid="87049"/>
                                        </p:tgtEl>
                                        <p:attrNameLst>
                                          <p:attrName>style.visibility</p:attrName>
                                        </p:attrNameLst>
                                      </p:cBhvr>
                                      <p:to>
                                        <p:strVal val="visible"/>
                                      </p:to>
                                    </p:set>
                                    <p:animEffect transition="in" filter="checkerboard(across)">
                                      <p:cBhvr>
                                        <p:cTn id="20" dur="500"/>
                                        <p:tgtEl>
                                          <p:spTgt spid="8704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 presetClass="entr" presetSubtype="1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checkerboard(across)">
                                      <p:cBhvr>
                                        <p:cTn id="2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87049" grpId="0" animBg="1"/>
      <p:bldP spid="87050" grpId="0" animBg="1"/>
      <p:bldP spid="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tableaux multi dimensionnels</a:t>
            </a:r>
          </a:p>
        </p:txBody>
      </p:sp>
      <p:sp>
        <p:nvSpPr>
          <p:cNvPr id="7" name="Rectangle 6"/>
          <p:cNvSpPr/>
          <p:nvPr/>
        </p:nvSpPr>
        <p:spPr>
          <a:xfrm>
            <a:off x="571500" y="1028700"/>
            <a:ext cx="8286750" cy="400050"/>
          </a:xfrm>
          <a:prstGeom prst="rect">
            <a:avLst/>
          </a:prstGeom>
        </p:spPr>
        <p:txBody>
          <a:bodyPr>
            <a:spAutoFit/>
          </a:bodyPr>
          <a:lstStyle/>
          <a:p>
            <a:pPr eaLnBrk="1" hangingPunct="1">
              <a:spcBef>
                <a:spcPct val="50000"/>
              </a:spcBef>
              <a:buClr>
                <a:srgbClr val="336666"/>
              </a:buClr>
              <a:buFont typeface="Wingdings" pitchFamily="2" charset="2"/>
              <a:buChar char="§"/>
              <a:defRPr/>
            </a:pPr>
            <a:r>
              <a:rPr lang="fr-FR" dirty="0">
                <a:solidFill>
                  <a:srgbClr val="0000FF"/>
                </a:solidFill>
                <a:latin typeface="+mn-lt"/>
              </a:rPr>
              <a:t> </a:t>
            </a:r>
            <a:r>
              <a:rPr lang="fr-FR" b="1" u="sng" dirty="0">
                <a:solidFill>
                  <a:srgbClr val="FF0000"/>
                </a:solidFill>
                <a:latin typeface="+mn-lt"/>
              </a:rPr>
              <a:t>La méthode </a:t>
            </a:r>
            <a:r>
              <a:rPr lang="fr-FR" b="1" u="sng" dirty="0" err="1">
                <a:solidFill>
                  <a:srgbClr val="FF0000"/>
                </a:solidFill>
                <a:latin typeface="+mn-lt"/>
              </a:rPr>
              <a:t>reshape</a:t>
            </a:r>
            <a:endParaRPr lang="fr-FR" dirty="0">
              <a:solidFill>
                <a:srgbClr val="FF0000"/>
              </a:solidFill>
              <a:latin typeface="+mn-lt"/>
            </a:endParaRPr>
          </a:p>
        </p:txBody>
      </p:sp>
      <p:sp>
        <p:nvSpPr>
          <p:cNvPr id="12" name="Rectangle 11"/>
          <p:cNvSpPr/>
          <p:nvPr/>
        </p:nvSpPr>
        <p:spPr>
          <a:xfrm>
            <a:off x="642938" y="1435100"/>
            <a:ext cx="8001000" cy="708025"/>
          </a:xfrm>
          <a:prstGeom prst="rect">
            <a:avLst/>
          </a:prstGeom>
        </p:spPr>
        <p:txBody>
          <a:bodyPr>
            <a:spAutoFit/>
          </a:bodyPr>
          <a:lstStyle/>
          <a:p>
            <a:pPr eaLnBrk="1" hangingPunct="1">
              <a:spcBef>
                <a:spcPct val="50000"/>
              </a:spcBef>
              <a:buClr>
                <a:srgbClr val="336666"/>
              </a:buClr>
              <a:buFont typeface="Wingdings" pitchFamily="2" charset="2"/>
              <a:buNone/>
              <a:defRPr/>
            </a:pPr>
            <a:r>
              <a:rPr lang="fr-FR" dirty="0">
                <a:latin typeface="+mn-lt"/>
              </a:rPr>
              <a:t>C’est une méthode qui permet de redimensionner un tableau selon les paramètres communiqués à cette méthode :</a:t>
            </a:r>
          </a:p>
        </p:txBody>
      </p:sp>
      <p:sp>
        <p:nvSpPr>
          <p:cNvPr id="14" name="Rectangle 13"/>
          <p:cNvSpPr/>
          <p:nvPr/>
        </p:nvSpPr>
        <p:spPr>
          <a:xfrm>
            <a:off x="714375" y="2600325"/>
            <a:ext cx="1309688" cy="400050"/>
          </a:xfrm>
          <a:prstGeom prst="rect">
            <a:avLst/>
          </a:prstGeom>
        </p:spPr>
        <p:txBody>
          <a:bodyPr wrap="none">
            <a:spAutoFit/>
          </a:bodyPr>
          <a:lstStyle/>
          <a:p>
            <a:pPr eaLnBrk="1" hangingPunct="1">
              <a:spcBef>
                <a:spcPct val="50000"/>
              </a:spcBef>
              <a:buClr>
                <a:srgbClr val="336666"/>
              </a:buClr>
              <a:buFont typeface="Wingdings" pitchFamily="2" charset="2"/>
              <a:buNone/>
              <a:defRPr/>
            </a:pPr>
            <a:r>
              <a:rPr lang="fr-FR" b="1" dirty="0">
                <a:latin typeface="+mn-lt"/>
              </a:rPr>
              <a:t>Exemple</a:t>
            </a:r>
            <a:r>
              <a:rPr lang="fr-FR" dirty="0">
                <a:latin typeface="+mn-lt"/>
              </a:rPr>
              <a:t> </a:t>
            </a:r>
          </a:p>
        </p:txBody>
      </p:sp>
      <p:sp>
        <p:nvSpPr>
          <p:cNvPr id="171009" name="Rectangle 1"/>
          <p:cNvSpPr>
            <a:spLocks noChangeArrowheads="1"/>
          </p:cNvSpPr>
          <p:nvPr/>
        </p:nvSpPr>
        <p:spPr bwMode="auto">
          <a:xfrm>
            <a:off x="571500" y="3071813"/>
            <a:ext cx="8001000" cy="2033587"/>
          </a:xfrm>
          <a:prstGeom prst="rect">
            <a:avLst/>
          </a:prstGeom>
          <a:solidFill>
            <a:srgbClr val="DBE5F1"/>
          </a:solidFill>
          <a:ln w="9525" cap="flat" cmpd="sng" algn="ctr">
            <a:noFill/>
            <a:prstDash val="solid"/>
            <a:miter lim="800000"/>
            <a:headEnd/>
            <a:tailEnd/>
          </a:ln>
          <a:effectLst/>
        </p:spPr>
        <p:txBody>
          <a:bodyPr lIns="90000" tIns="46800" rIns="90000" bIns="46800" anchor="ctr">
            <a:spAutoFit/>
          </a:bodyPr>
          <a:lstStyle/>
          <a:p>
            <a:pPr marL="4040188" indent="-3824288">
              <a:spcBef>
                <a:spcPct val="50000"/>
              </a:spcBef>
              <a:buClr>
                <a:srgbClr val="336666"/>
              </a:buClr>
              <a:buFont typeface="Wingdings" pitchFamily="2" charset="2"/>
              <a:buNone/>
              <a:defRPr/>
            </a:pPr>
            <a:r>
              <a:rPr lang="fr-FR" sz="1800" b="1" dirty="0">
                <a:latin typeface="Courier New" pitchFamily="49" charset="0"/>
                <a:ea typeface="MS Mincho" pitchFamily="49" charset="-128"/>
              </a:rPr>
              <a:t>A=</a:t>
            </a:r>
            <a:r>
              <a:rPr lang="fr-FR" sz="1800" b="1" dirty="0" err="1">
                <a:latin typeface="Courier New" pitchFamily="49" charset="0"/>
                <a:ea typeface="MS Mincho" pitchFamily="49" charset="-128"/>
              </a:rPr>
              <a:t>np.empty</a:t>
            </a:r>
            <a:r>
              <a:rPr lang="fr-FR" sz="1800" b="1" dirty="0">
                <a:latin typeface="Courier New" pitchFamily="49" charset="0"/>
                <a:ea typeface="MS Mincho" pitchFamily="49" charset="-128"/>
              </a:rPr>
              <a:t>(8,</a:t>
            </a:r>
            <a:r>
              <a:rPr lang="fr-FR" sz="1800" b="1" dirty="0" err="1">
                <a:latin typeface="Courier New" pitchFamily="49" charset="0"/>
                <a:ea typeface="MS Mincho" pitchFamily="49" charset="-128"/>
              </a:rPr>
              <a:t>dtype</a:t>
            </a:r>
            <a:r>
              <a:rPr lang="fr-FR" sz="1800" b="1" dirty="0">
                <a:latin typeface="Courier New" pitchFamily="49" charset="0"/>
                <a:ea typeface="MS Mincho" pitchFamily="49" charset="-128"/>
              </a:rPr>
              <a:t>='</a:t>
            </a:r>
            <a:r>
              <a:rPr lang="fr-FR" sz="1800" b="1" dirty="0" err="1">
                <a:latin typeface="Courier New" pitchFamily="49" charset="0"/>
                <a:ea typeface="MS Mincho" pitchFamily="49" charset="-128"/>
              </a:rPr>
              <a:t>float</a:t>
            </a:r>
            <a:r>
              <a:rPr lang="fr-FR" sz="1800" b="1" dirty="0">
                <a:latin typeface="Courier New" pitchFamily="49" charset="0"/>
                <a:ea typeface="MS Mincho" pitchFamily="49" charset="-128"/>
              </a:rPr>
              <a:t>') </a:t>
            </a:r>
            <a:r>
              <a:rPr lang="fr-FR" sz="1800" dirty="0">
                <a:latin typeface="Courier New" pitchFamily="49" charset="0"/>
                <a:ea typeface="MS Mincho" pitchFamily="49" charset="-128"/>
              </a:rPr>
              <a:t>#A est </a:t>
            </a:r>
            <a:r>
              <a:rPr lang="fr-FR" sz="1800" dirty="0">
                <a:latin typeface="Verdana"/>
                <a:ea typeface="MS Mincho" pitchFamily="49" charset="-128"/>
              </a:rPr>
              <a:t>à</a:t>
            </a:r>
            <a:r>
              <a:rPr lang="fr-FR" sz="1800" dirty="0">
                <a:latin typeface="Courier New" pitchFamily="49" charset="0"/>
                <a:ea typeface="MS Mincho" pitchFamily="49" charset="-128"/>
              </a:rPr>
              <a:t> pr</a:t>
            </a:r>
            <a:r>
              <a:rPr lang="fr-FR" sz="1800" dirty="0">
                <a:latin typeface="Verdana"/>
                <a:ea typeface="MS Mincho" pitchFamily="49" charset="-128"/>
              </a:rPr>
              <a:t>é</a:t>
            </a:r>
            <a:r>
              <a:rPr lang="fr-FR" sz="1800" dirty="0">
                <a:latin typeface="Courier New" pitchFamily="49" charset="0"/>
                <a:ea typeface="MS Mincho" pitchFamily="49" charset="-128"/>
              </a:rPr>
              <a:t>sent un vecteur de 8 r</a:t>
            </a:r>
            <a:r>
              <a:rPr lang="fr-FR" sz="1800" dirty="0">
                <a:latin typeface="Verdana"/>
                <a:ea typeface="MS Mincho" pitchFamily="49" charset="-128"/>
              </a:rPr>
              <a:t>é</a:t>
            </a:r>
            <a:r>
              <a:rPr lang="fr-FR" sz="1800" dirty="0">
                <a:latin typeface="Courier New" pitchFamily="49" charset="0"/>
                <a:ea typeface="MS Mincho" pitchFamily="49" charset="-128"/>
              </a:rPr>
              <a:t>els</a:t>
            </a:r>
            <a:endParaRPr lang="fr-FR" sz="1800" dirty="0"/>
          </a:p>
          <a:p>
            <a:pPr marL="4040188" indent="-3824288">
              <a:defRPr/>
            </a:pPr>
            <a:r>
              <a:rPr lang="fr-FR" sz="1800" b="1" dirty="0">
                <a:latin typeface="Courier New" pitchFamily="49" charset="0"/>
                <a:ea typeface="MS Mincho" pitchFamily="49" charset="-128"/>
              </a:rPr>
              <a:t>A=</a:t>
            </a:r>
            <a:r>
              <a:rPr lang="fr-FR" sz="1800" b="1" dirty="0" err="1">
                <a:latin typeface="Courier New" pitchFamily="49" charset="0"/>
                <a:ea typeface="MS Mincho" pitchFamily="49" charset="-128"/>
              </a:rPr>
              <a:t>A.reshape</a:t>
            </a:r>
            <a:r>
              <a:rPr lang="fr-FR" sz="1800" b="1" dirty="0">
                <a:latin typeface="Courier New" pitchFamily="49" charset="0"/>
                <a:ea typeface="MS Mincho" pitchFamily="49" charset="-128"/>
              </a:rPr>
              <a:t>(4,2)</a:t>
            </a:r>
            <a:r>
              <a:rPr lang="fr-FR" sz="1800" dirty="0">
                <a:latin typeface="Courier New" pitchFamily="49" charset="0"/>
                <a:ea typeface="MS Mincho" pitchFamily="49" charset="-128"/>
              </a:rPr>
              <a:t>            #A devient maintenant une matrice 4×2 de r</a:t>
            </a:r>
            <a:r>
              <a:rPr lang="fr-FR" sz="1800" dirty="0">
                <a:latin typeface="Verdana"/>
                <a:ea typeface="MS Mincho" pitchFamily="49" charset="-128"/>
              </a:rPr>
              <a:t>é</a:t>
            </a:r>
            <a:r>
              <a:rPr lang="fr-FR" sz="1800" dirty="0">
                <a:latin typeface="Courier New" pitchFamily="49" charset="0"/>
                <a:ea typeface="MS Mincho" pitchFamily="49" charset="-128"/>
              </a:rPr>
              <a:t>els</a:t>
            </a:r>
            <a:endParaRPr lang="fr-FR" sz="1800" dirty="0"/>
          </a:p>
          <a:p>
            <a:pPr indent="215900">
              <a:defRPr/>
            </a:pPr>
            <a:r>
              <a:rPr lang="en-US" sz="1800" b="1" dirty="0">
                <a:latin typeface="Courier New" pitchFamily="49" charset="0"/>
                <a:ea typeface="MS Mincho" pitchFamily="49" charset="-128"/>
              </a:rPr>
              <a:t>for </a:t>
            </a:r>
            <a:r>
              <a:rPr lang="en-US" sz="1800" b="1" dirty="0" err="1">
                <a:latin typeface="Courier New" pitchFamily="49" charset="0"/>
                <a:ea typeface="MS Mincho" pitchFamily="49" charset="-128"/>
              </a:rPr>
              <a:t>i</a:t>
            </a:r>
            <a:r>
              <a:rPr lang="en-US" sz="1800" b="1" dirty="0">
                <a:latin typeface="Courier New" pitchFamily="49" charset="0"/>
                <a:ea typeface="MS Mincho" pitchFamily="49" charset="-128"/>
              </a:rPr>
              <a:t> in range(4):</a:t>
            </a:r>
            <a:endParaRPr lang="fr-FR" sz="1800" b="1" dirty="0"/>
          </a:p>
          <a:p>
            <a:pPr indent="215900">
              <a:defRPr/>
            </a:pPr>
            <a:r>
              <a:rPr lang="en-US" sz="1800" b="1" dirty="0">
                <a:latin typeface="Courier New" pitchFamily="49" charset="0"/>
                <a:ea typeface="MS Mincho" pitchFamily="49" charset="-128"/>
              </a:rPr>
              <a:t>    for j in range(2):</a:t>
            </a:r>
            <a:endParaRPr lang="fr-FR" sz="1800" b="1" dirty="0"/>
          </a:p>
          <a:p>
            <a:pPr indent="215900">
              <a:defRPr/>
            </a:pPr>
            <a:r>
              <a:rPr lang="fr-FR" sz="1800" b="1" dirty="0">
                <a:latin typeface="Courier New" pitchFamily="49" charset="0"/>
                <a:ea typeface="MS Mincho" pitchFamily="49" charset="-128"/>
              </a:rPr>
              <a:t>        A[i][j]=i*j</a:t>
            </a:r>
            <a:endParaRPr lang="fr-FR" sz="1800" b="1" dirty="0"/>
          </a:p>
        </p:txBody>
      </p:sp>
    </p:spTree>
    <p:custDataLst>
      <p:tags r:id="rId1"/>
    </p:custDataLst>
    <p:extLst>
      <p:ext uri="{BB962C8B-B14F-4D97-AF65-F5344CB8AC3E}">
        <p14:creationId xmlns:p14="http://schemas.microsoft.com/office/powerpoint/2010/main" val="4101904333"/>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71009"/>
                                        </p:tgtEl>
                                        <p:attrNameLst>
                                          <p:attrName>style.visibility</p:attrName>
                                        </p:attrNameLst>
                                      </p:cBhvr>
                                      <p:to>
                                        <p:strVal val="visible"/>
                                      </p:to>
                                    </p:set>
                                    <p:animEffect transition="in" filter="checkerboard(across)">
                                      <p:cBhvr>
                                        <p:cTn id="7" dur="500"/>
                                        <p:tgtEl>
                                          <p:spTgt spid="171009"/>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checkerboard(across)">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100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Text Box 9"/>
          <p:cNvSpPr txBox="1">
            <a:spLocks noChangeArrowheads="1"/>
          </p:cNvSpPr>
          <p:nvPr/>
        </p:nvSpPr>
        <p:spPr bwMode="auto">
          <a:xfrm>
            <a:off x="971550" y="58738"/>
            <a:ext cx="8172450" cy="369887"/>
          </a:xfrm>
          <a:prstGeom prst="rect">
            <a:avLst/>
          </a:prstGeom>
          <a:noFill/>
          <a:ln w="12700" algn="ctr">
            <a:noFill/>
            <a:miter lim="800000"/>
            <a:headEnd/>
            <a:tailEnd/>
          </a:ln>
        </p:spPr>
        <p:txBody>
          <a:bodyPr>
            <a:spAutoFit/>
          </a:bodyPr>
          <a:lstStyle/>
          <a:p>
            <a:pPr>
              <a:spcBef>
                <a:spcPct val="50000"/>
              </a:spcBef>
            </a:pPr>
            <a:r>
              <a:rPr lang="fr-FR" sz="1800" b="1">
                <a:solidFill>
                  <a:srgbClr val="000000"/>
                </a:solidFill>
                <a:latin typeface="Arial" pitchFamily="34" charset="0"/>
              </a:rPr>
              <a:t>Structures de données et leurs utilisations</a:t>
            </a:r>
          </a:p>
        </p:txBody>
      </p:sp>
      <p:sp>
        <p:nvSpPr>
          <p:cNvPr id="62467" name="Rectangle 10"/>
          <p:cNvSpPr>
            <a:spLocks noChangeArrowheads="1"/>
          </p:cNvSpPr>
          <p:nvPr/>
        </p:nvSpPr>
        <p:spPr bwMode="auto">
          <a:xfrm>
            <a:off x="1033463" y="404813"/>
            <a:ext cx="8110537" cy="452437"/>
          </a:xfrm>
          <a:prstGeom prst="rect">
            <a:avLst/>
          </a:prstGeom>
          <a:noFill/>
          <a:ln w="9525">
            <a:noFill/>
            <a:miter lim="800000"/>
            <a:headEnd/>
            <a:tailEnd/>
          </a:ln>
        </p:spPr>
        <p:txBody>
          <a:bodyPr anchor="ctr"/>
          <a:lstStyle/>
          <a:p>
            <a:pPr eaLnBrk="1" hangingPunct="1">
              <a:spcBef>
                <a:spcPct val="50000"/>
              </a:spcBef>
              <a:buClr>
                <a:srgbClr val="336666"/>
              </a:buClr>
              <a:buFont typeface="Wingdings" pitchFamily="2" charset="2"/>
              <a:buNone/>
              <a:defRPr/>
            </a:pPr>
            <a:r>
              <a:rPr lang="fr-FR" sz="2400" b="1" dirty="0">
                <a:latin typeface="+mj-lt"/>
              </a:rPr>
              <a:t>Les tableaux multi dimensionnels</a:t>
            </a:r>
          </a:p>
        </p:txBody>
      </p:sp>
      <p:sp>
        <p:nvSpPr>
          <p:cNvPr id="7" name="Rectangle 6"/>
          <p:cNvSpPr/>
          <p:nvPr/>
        </p:nvSpPr>
        <p:spPr>
          <a:xfrm>
            <a:off x="571500" y="957263"/>
            <a:ext cx="8286750" cy="400050"/>
          </a:xfrm>
          <a:prstGeom prst="rect">
            <a:avLst/>
          </a:prstGeom>
        </p:spPr>
        <p:txBody>
          <a:bodyPr>
            <a:spAutoFit/>
          </a:bodyPr>
          <a:lstStyle/>
          <a:p>
            <a:pPr eaLnBrk="1" hangingPunct="1">
              <a:spcBef>
                <a:spcPct val="50000"/>
              </a:spcBef>
              <a:buClr>
                <a:srgbClr val="336666"/>
              </a:buClr>
              <a:buFont typeface="Wingdings" pitchFamily="2" charset="2"/>
              <a:buChar char="§"/>
              <a:defRPr/>
            </a:pPr>
            <a:r>
              <a:rPr lang="fr-FR" dirty="0">
                <a:solidFill>
                  <a:srgbClr val="FF0000"/>
                </a:solidFill>
                <a:latin typeface="+mn-lt"/>
              </a:rPr>
              <a:t> </a:t>
            </a:r>
            <a:r>
              <a:rPr lang="fr-FR" b="1" u="sng" dirty="0">
                <a:solidFill>
                  <a:srgbClr val="FF0000"/>
                </a:solidFill>
                <a:latin typeface="+mn-lt"/>
              </a:rPr>
              <a:t>La méthode </a:t>
            </a:r>
            <a:r>
              <a:rPr lang="fr-FR" b="1" u="sng" dirty="0" err="1">
                <a:solidFill>
                  <a:srgbClr val="FF0000"/>
                </a:solidFill>
                <a:latin typeface="+mn-lt"/>
              </a:rPr>
              <a:t>reshape</a:t>
            </a:r>
            <a:endParaRPr lang="fr-FR" dirty="0">
              <a:solidFill>
                <a:srgbClr val="FF0000"/>
              </a:solidFill>
              <a:latin typeface="+mn-lt"/>
            </a:endParaRPr>
          </a:p>
        </p:txBody>
      </p:sp>
      <p:sp>
        <p:nvSpPr>
          <p:cNvPr id="171010" name="Rectangle 2"/>
          <p:cNvSpPr>
            <a:spLocks noChangeArrowheads="1"/>
          </p:cNvSpPr>
          <p:nvPr/>
        </p:nvSpPr>
        <p:spPr bwMode="auto">
          <a:xfrm>
            <a:off x="714375" y="2133450"/>
            <a:ext cx="7929563" cy="3154661"/>
          </a:xfrm>
          <a:prstGeom prst="rect">
            <a:avLst/>
          </a:prstGeom>
          <a:noFill/>
          <a:ln w="9525" cap="flat" cmpd="sng" algn="ctr">
            <a:noFill/>
            <a:prstDash val="solid"/>
            <a:miter lim="800000"/>
            <a:headEnd/>
            <a:tailEnd/>
          </a:ln>
          <a:effectLst/>
        </p:spPr>
        <p:txBody>
          <a:bodyPr lIns="90000" tIns="76176" rIns="90000" bIns="76176" anchor="ctr">
            <a:spAutoFit/>
          </a:bodyPr>
          <a:lstStyle/>
          <a:p>
            <a:pPr indent="215900">
              <a:spcBef>
                <a:spcPct val="50000"/>
              </a:spcBef>
              <a:spcAft>
                <a:spcPts val="600"/>
              </a:spcAft>
              <a:buClr>
                <a:srgbClr val="336666"/>
              </a:buClr>
              <a:buFont typeface="Wingdings" pitchFamily="2" charset="2"/>
              <a:buNone/>
              <a:defRPr/>
            </a:pPr>
            <a:r>
              <a:rPr lang="fr-FR" sz="1800" b="1" u="sng" dirty="0">
                <a:solidFill>
                  <a:srgbClr val="943634"/>
                </a:solidFill>
                <a:latin typeface="+mn-lt"/>
                <a:ea typeface="Times New Roman" pitchFamily="18" charset="0"/>
              </a:rPr>
              <a:t>Autres possibilités:</a:t>
            </a:r>
          </a:p>
          <a:p>
            <a:pPr indent="215900">
              <a:defRPr/>
            </a:pPr>
            <a:r>
              <a:rPr lang="fr-FR" sz="1800" b="1" dirty="0" err="1">
                <a:latin typeface="+mn-lt"/>
                <a:ea typeface="MS Mincho" pitchFamily="49" charset="-128"/>
              </a:rPr>
              <a:t>np.zeros</a:t>
            </a:r>
            <a:r>
              <a:rPr lang="fr-FR" sz="1800" b="1" dirty="0">
                <a:latin typeface="+mn-lt"/>
                <a:ea typeface="MS Mincho" pitchFamily="49" charset="-128"/>
              </a:rPr>
              <a:t>(N) :</a:t>
            </a:r>
            <a:r>
              <a:rPr lang="fr-FR" sz="1800" dirty="0">
                <a:latin typeface="+mn-lt"/>
                <a:ea typeface="MS Mincho" pitchFamily="49" charset="-128"/>
              </a:rPr>
              <a:t> tableau de N zéros.</a:t>
            </a:r>
            <a:endParaRPr lang="fr-FR" sz="1600" dirty="0">
              <a:latin typeface="+mn-lt"/>
            </a:endParaRPr>
          </a:p>
          <a:p>
            <a:pPr indent="215900">
              <a:defRPr/>
            </a:pPr>
            <a:r>
              <a:rPr lang="fr-FR" sz="1800" b="1" dirty="0" err="1">
                <a:latin typeface="+mn-lt"/>
                <a:ea typeface="MS Mincho" pitchFamily="49" charset="-128"/>
              </a:rPr>
              <a:t>np.ones</a:t>
            </a:r>
            <a:r>
              <a:rPr lang="fr-FR" sz="1800" b="1" dirty="0">
                <a:latin typeface="+mn-lt"/>
                <a:ea typeface="MS Mincho" pitchFamily="49" charset="-128"/>
              </a:rPr>
              <a:t>((N,M)) :</a:t>
            </a:r>
            <a:r>
              <a:rPr lang="fr-FR" sz="1800" dirty="0">
                <a:latin typeface="+mn-lt"/>
                <a:ea typeface="MS Mincho" pitchFamily="49" charset="-128"/>
              </a:rPr>
              <a:t> tableau de dimension (N,M) </a:t>
            </a:r>
            <a:r>
              <a:rPr lang="fr-FR" sz="1800" dirty="0" smtClean="0">
                <a:latin typeface="+mn-lt"/>
                <a:ea typeface="MS Mincho" pitchFamily="49" charset="-128"/>
              </a:rPr>
              <a:t>des </a:t>
            </a:r>
            <a:r>
              <a:rPr lang="fr-FR" sz="1800" dirty="0">
                <a:latin typeface="+mn-lt"/>
                <a:ea typeface="MS Mincho" pitchFamily="49" charset="-128"/>
              </a:rPr>
              <a:t>uns (matrice).</a:t>
            </a:r>
            <a:endParaRPr lang="fr-FR" sz="1600" dirty="0">
              <a:latin typeface="+mn-lt"/>
            </a:endParaRPr>
          </a:p>
          <a:p>
            <a:pPr marL="2155825" indent="-1939925">
              <a:defRPr/>
            </a:pPr>
            <a:r>
              <a:rPr lang="fr-FR" sz="1800" b="1" dirty="0" err="1">
                <a:latin typeface="+mn-lt"/>
                <a:ea typeface="MS Mincho" pitchFamily="49" charset="-128"/>
              </a:rPr>
              <a:t>np.zeros_like</a:t>
            </a:r>
            <a:r>
              <a:rPr lang="fr-FR" sz="1800" b="1" dirty="0">
                <a:latin typeface="+mn-lt"/>
                <a:ea typeface="MS Mincho" pitchFamily="49" charset="-128"/>
              </a:rPr>
              <a:t>(a) :</a:t>
            </a:r>
            <a:r>
              <a:rPr lang="fr-FR" sz="1800" dirty="0">
                <a:latin typeface="+mn-lt"/>
                <a:ea typeface="MS Mincho" pitchFamily="49" charset="-128"/>
              </a:rPr>
              <a:t> tableau de zéros de même dimension et type que le tableau a.</a:t>
            </a:r>
            <a:endParaRPr lang="fr-FR" sz="1600" dirty="0">
              <a:latin typeface="+mn-lt"/>
            </a:endParaRPr>
          </a:p>
          <a:p>
            <a:pPr marL="2060575" indent="-1844675">
              <a:defRPr/>
            </a:pPr>
            <a:r>
              <a:rPr lang="fr-FR" sz="1800" b="1" dirty="0" err="1">
                <a:latin typeface="+mn-lt"/>
                <a:ea typeface="MS Mincho" pitchFamily="49" charset="-128"/>
              </a:rPr>
              <a:t>np.ones_like</a:t>
            </a:r>
            <a:r>
              <a:rPr lang="fr-FR" sz="1800" b="1" dirty="0">
                <a:latin typeface="+mn-lt"/>
                <a:ea typeface="MS Mincho" pitchFamily="49" charset="-128"/>
              </a:rPr>
              <a:t>(a) :</a:t>
            </a:r>
            <a:r>
              <a:rPr lang="fr-FR" sz="1800" dirty="0">
                <a:latin typeface="+mn-lt"/>
                <a:ea typeface="MS Mincho" pitchFamily="49" charset="-128"/>
              </a:rPr>
              <a:t> tableau de uns de même dimension et type que le tableau a.</a:t>
            </a:r>
            <a:endParaRPr lang="fr-FR" sz="1600" dirty="0">
              <a:latin typeface="+mn-lt"/>
            </a:endParaRPr>
          </a:p>
          <a:p>
            <a:pPr marL="2333625" indent="-2117725">
              <a:defRPr/>
            </a:pPr>
            <a:r>
              <a:rPr lang="fr-FR" sz="1800" b="1" dirty="0" err="1">
                <a:latin typeface="+mn-lt"/>
                <a:ea typeface="MS Mincho" pitchFamily="49" charset="-128"/>
              </a:rPr>
              <a:t>np</a:t>
            </a:r>
            <a:r>
              <a:rPr lang="fr-FR" sz="1800" b="1" dirty="0">
                <a:latin typeface="+mn-lt"/>
                <a:ea typeface="MS Mincho" pitchFamily="49" charset="-128"/>
              </a:rPr>
              <a:t>. </a:t>
            </a:r>
            <a:r>
              <a:rPr lang="fr-FR" sz="1800" b="1" dirty="0" err="1">
                <a:latin typeface="+mn-lt"/>
                <a:ea typeface="MS Mincho" pitchFamily="49" charset="-128"/>
              </a:rPr>
              <a:t>empty</a:t>
            </a:r>
            <a:r>
              <a:rPr lang="fr-FR" sz="1800" b="1" dirty="0">
                <a:latin typeface="+mn-lt"/>
                <a:ea typeface="MS Mincho" pitchFamily="49" charset="-128"/>
              </a:rPr>
              <a:t> </a:t>
            </a:r>
            <a:r>
              <a:rPr lang="fr-FR" sz="1800" b="1" dirty="0" err="1">
                <a:latin typeface="+mn-lt"/>
                <a:ea typeface="MS Mincho" pitchFamily="49" charset="-128"/>
              </a:rPr>
              <a:t>_like</a:t>
            </a:r>
            <a:r>
              <a:rPr lang="fr-FR" sz="1800" b="1" dirty="0">
                <a:latin typeface="+mn-lt"/>
                <a:ea typeface="MS Mincho" pitchFamily="49" charset="-128"/>
              </a:rPr>
              <a:t>(a) :</a:t>
            </a:r>
            <a:r>
              <a:rPr lang="fr-FR" sz="1800" dirty="0">
                <a:latin typeface="+mn-lt"/>
                <a:ea typeface="MS Mincho" pitchFamily="49" charset="-128"/>
              </a:rPr>
              <a:t> tableau vide de même dimension et type que le tableau a.</a:t>
            </a:r>
            <a:endParaRPr lang="fr-FR" sz="1600" dirty="0">
              <a:latin typeface="+mn-lt"/>
            </a:endParaRPr>
          </a:p>
          <a:p>
            <a:pPr marL="2333625" indent="-2117725">
              <a:defRPr/>
            </a:pPr>
            <a:r>
              <a:rPr lang="fr-FR" sz="1800" b="1" dirty="0" err="1">
                <a:latin typeface="+mn-lt"/>
                <a:ea typeface="MS Mincho" pitchFamily="49" charset="-128"/>
              </a:rPr>
              <a:t>np.linspace</a:t>
            </a:r>
            <a:r>
              <a:rPr lang="fr-FR" sz="1800" b="1" dirty="0">
                <a:latin typeface="+mn-lt"/>
                <a:ea typeface="MS Mincho" pitchFamily="49" charset="-128"/>
              </a:rPr>
              <a:t>(</a:t>
            </a:r>
            <a:r>
              <a:rPr lang="fr-FR" sz="1800" b="1" dirty="0" err="1">
                <a:latin typeface="+mn-lt"/>
                <a:ea typeface="MS Mincho" pitchFamily="49" charset="-128"/>
              </a:rPr>
              <a:t>a,b,N</a:t>
            </a:r>
            <a:r>
              <a:rPr lang="fr-FR" sz="1800" b="1" dirty="0">
                <a:latin typeface="+mn-lt"/>
                <a:ea typeface="MS Mincho" pitchFamily="49" charset="-128"/>
              </a:rPr>
              <a:t>) :</a:t>
            </a:r>
            <a:r>
              <a:rPr lang="fr-FR" sz="1800" dirty="0">
                <a:latin typeface="+mn-lt"/>
                <a:ea typeface="MS Mincho" pitchFamily="49" charset="-128"/>
              </a:rPr>
              <a:t> tableau contenant N éléments uniformément répartis de a à b. (a et b sont compris)</a:t>
            </a:r>
            <a:endParaRPr lang="fr-FR" sz="1600" dirty="0">
              <a:latin typeface="+mn-lt"/>
            </a:endParaRPr>
          </a:p>
          <a:p>
            <a:pPr indent="215900">
              <a:spcAft>
                <a:spcPts val="1200"/>
              </a:spcAft>
              <a:defRPr/>
            </a:pPr>
            <a:r>
              <a:rPr lang="fr-FR" sz="1800" b="1" dirty="0">
                <a:latin typeface="+mn-lt"/>
                <a:ea typeface="MS Mincho" pitchFamily="49" charset="-128"/>
              </a:rPr>
              <a:t>b=</a:t>
            </a:r>
            <a:r>
              <a:rPr lang="fr-FR" sz="1800" b="1" dirty="0" err="1">
                <a:latin typeface="+mn-lt"/>
                <a:ea typeface="MS Mincho" pitchFamily="49" charset="-128"/>
              </a:rPr>
              <a:t>a.copy</a:t>
            </a:r>
            <a:r>
              <a:rPr lang="fr-FR" sz="1800" b="1" dirty="0">
                <a:latin typeface="+mn-lt"/>
                <a:ea typeface="MS Mincho" pitchFamily="49" charset="-128"/>
              </a:rPr>
              <a:t>() :</a:t>
            </a:r>
            <a:r>
              <a:rPr lang="fr-FR" sz="1800" dirty="0">
                <a:latin typeface="+mn-lt"/>
                <a:ea typeface="MS Mincho" pitchFamily="49" charset="-128"/>
              </a:rPr>
              <a:t> copie d'un tableau a dans un tableau b</a:t>
            </a:r>
            <a:endParaRPr lang="fr-FR" sz="1600" dirty="0">
              <a:latin typeface="+mn-lt"/>
            </a:endParaRPr>
          </a:p>
          <a:p>
            <a:pPr indent="215900">
              <a:defRPr/>
            </a:pPr>
            <a:r>
              <a:rPr lang="fr-FR" sz="1800" b="1" i="1" u="sng" dirty="0">
                <a:latin typeface="+mn-lt"/>
                <a:ea typeface="MS Mincho" pitchFamily="49" charset="-128"/>
              </a:rPr>
              <a:t>Rem :</a:t>
            </a:r>
            <a:r>
              <a:rPr lang="fr-FR" sz="1800" dirty="0">
                <a:latin typeface="+mn-lt"/>
                <a:ea typeface="MS Mincho" pitchFamily="49" charset="-128"/>
              </a:rPr>
              <a:t> b=a ne copie pas les éléments, mais crée juste une </a:t>
            </a:r>
            <a:r>
              <a:rPr lang="fr-FR" sz="1800" dirty="0" smtClean="0">
                <a:latin typeface="+mn-lt"/>
                <a:ea typeface="MS Mincho" pitchFamily="49" charset="-128"/>
              </a:rPr>
              <a:t>référence.</a:t>
            </a:r>
            <a:endParaRPr lang="fr-FR" sz="4400" dirty="0"/>
          </a:p>
        </p:txBody>
      </p:sp>
    </p:spTree>
    <p:custDataLst>
      <p:tags r:id="rId1"/>
    </p:custDataLst>
    <p:extLst>
      <p:ext uri="{BB962C8B-B14F-4D97-AF65-F5344CB8AC3E}">
        <p14:creationId xmlns:p14="http://schemas.microsoft.com/office/powerpoint/2010/main" val="2302440380"/>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71010">
                                            <p:txEl>
                                              <p:pRg st="2" end="2"/>
                                            </p:txEl>
                                          </p:spTgt>
                                        </p:tgtEl>
                                        <p:attrNameLst>
                                          <p:attrName>style.visibility</p:attrName>
                                        </p:attrNameLst>
                                      </p:cBhvr>
                                      <p:to>
                                        <p:strVal val="visible"/>
                                      </p:to>
                                    </p:set>
                                    <p:animEffect transition="in" filter="checkerboard(across)">
                                      <p:cBhvr>
                                        <p:cTn id="7" dur="500"/>
                                        <p:tgtEl>
                                          <p:spTgt spid="171010">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71010">
                                            <p:txEl>
                                              <p:pRg st="3" end="3"/>
                                            </p:txEl>
                                          </p:spTgt>
                                        </p:tgtEl>
                                        <p:attrNameLst>
                                          <p:attrName>style.visibility</p:attrName>
                                        </p:attrNameLst>
                                      </p:cBhvr>
                                      <p:to>
                                        <p:strVal val="visible"/>
                                      </p:to>
                                    </p:set>
                                    <p:animEffect transition="in" filter="checkerboard(across)">
                                      <p:cBhvr>
                                        <p:cTn id="12" dur="500"/>
                                        <p:tgtEl>
                                          <p:spTgt spid="171010">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171010">
                                            <p:txEl>
                                              <p:pRg st="4" end="4"/>
                                            </p:txEl>
                                          </p:spTgt>
                                        </p:tgtEl>
                                        <p:attrNameLst>
                                          <p:attrName>style.visibility</p:attrName>
                                        </p:attrNameLst>
                                      </p:cBhvr>
                                      <p:to>
                                        <p:strVal val="visible"/>
                                      </p:to>
                                    </p:set>
                                    <p:animEffect transition="in" filter="checkerboard(across)">
                                      <p:cBhvr>
                                        <p:cTn id="17" dur="500"/>
                                        <p:tgtEl>
                                          <p:spTgt spid="171010">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171010">
                                            <p:txEl>
                                              <p:pRg st="5" end="5"/>
                                            </p:txEl>
                                          </p:spTgt>
                                        </p:tgtEl>
                                        <p:attrNameLst>
                                          <p:attrName>style.visibility</p:attrName>
                                        </p:attrNameLst>
                                      </p:cBhvr>
                                      <p:to>
                                        <p:strVal val="visible"/>
                                      </p:to>
                                    </p:set>
                                    <p:animEffect transition="in" filter="checkerboard(across)">
                                      <p:cBhvr>
                                        <p:cTn id="22" dur="500"/>
                                        <p:tgtEl>
                                          <p:spTgt spid="171010">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171010">
                                            <p:txEl>
                                              <p:pRg st="6" end="6"/>
                                            </p:txEl>
                                          </p:spTgt>
                                        </p:tgtEl>
                                        <p:attrNameLst>
                                          <p:attrName>style.visibility</p:attrName>
                                        </p:attrNameLst>
                                      </p:cBhvr>
                                      <p:to>
                                        <p:strVal val="visible"/>
                                      </p:to>
                                    </p:set>
                                    <p:animEffect transition="in" filter="checkerboard(across)">
                                      <p:cBhvr>
                                        <p:cTn id="27" dur="500"/>
                                        <p:tgtEl>
                                          <p:spTgt spid="171010">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171010">
                                            <p:txEl>
                                              <p:pRg st="7" end="7"/>
                                            </p:txEl>
                                          </p:spTgt>
                                        </p:tgtEl>
                                        <p:attrNameLst>
                                          <p:attrName>style.visibility</p:attrName>
                                        </p:attrNameLst>
                                      </p:cBhvr>
                                      <p:to>
                                        <p:strVal val="visible"/>
                                      </p:to>
                                    </p:set>
                                    <p:animEffect transition="in" filter="checkerboard(across)">
                                      <p:cBhvr>
                                        <p:cTn id="32" dur="500"/>
                                        <p:tgtEl>
                                          <p:spTgt spid="171010">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nodeType="clickEffect">
                                  <p:stCondLst>
                                    <p:cond delay="0"/>
                                  </p:stCondLst>
                                  <p:childTnLst>
                                    <p:set>
                                      <p:cBhvr>
                                        <p:cTn id="36" dur="1" fill="hold">
                                          <p:stCondLst>
                                            <p:cond delay="0"/>
                                          </p:stCondLst>
                                        </p:cTn>
                                        <p:tgtEl>
                                          <p:spTgt spid="171010">
                                            <p:txEl>
                                              <p:pRg st="8" end="8"/>
                                            </p:txEl>
                                          </p:spTgt>
                                        </p:tgtEl>
                                        <p:attrNameLst>
                                          <p:attrName>style.visibility</p:attrName>
                                        </p:attrNameLst>
                                      </p:cBhvr>
                                      <p:to>
                                        <p:strVal val="visible"/>
                                      </p:to>
                                    </p:set>
                                    <p:animEffect transition="in" filter="checkerboard(across)">
                                      <p:cBhvr>
                                        <p:cTn id="37" dur="500"/>
                                        <p:tgtEl>
                                          <p:spTgt spid="17101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4.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5.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6.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7.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8.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9.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0.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1.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2.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3.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4.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5.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6.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7.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8.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9.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0.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1.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2.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3.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4.xml><?xml version="1.0" encoding="utf-8"?>
<p:tagLst xmlns:a="http://schemas.openxmlformats.org/drawingml/2006/main" xmlns:r="http://schemas.openxmlformats.org/officeDocument/2006/relationships" xmlns:p="http://schemas.openxmlformats.org/presentationml/2006/main">
  <p:tag name="ARTICULATE_SLIDE_PAUSE" val="0"/>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29554</TotalTime>
  <Words>3448</Words>
  <Application>Microsoft Office PowerPoint</Application>
  <PresentationFormat>Affichage à l'écran (4:3)</PresentationFormat>
  <Paragraphs>639</Paragraphs>
  <Slides>28</Slides>
  <Notes>24</Notes>
  <HiddenSlides>0</HiddenSlides>
  <MMClips>0</MMClips>
  <ScaleCrop>false</ScaleCrop>
  <HeadingPairs>
    <vt:vector size="4" baseType="variant">
      <vt:variant>
        <vt:lpstr>Thème</vt:lpstr>
      </vt:variant>
      <vt:variant>
        <vt:i4>1</vt:i4>
      </vt:variant>
      <vt:variant>
        <vt:lpstr>Titres des diapositives</vt:lpstr>
      </vt:variant>
      <vt:variant>
        <vt:i4>28</vt:i4>
      </vt:variant>
    </vt:vector>
  </HeadingPairs>
  <TitlesOfParts>
    <vt:vector size="29" baseType="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Les tableaux</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 tableaux</dc:title>
  <dc:creator>Utilisateur Windows</dc:creator>
  <cp:lastModifiedBy>Utilisateur Windows</cp:lastModifiedBy>
  <cp:revision>59</cp:revision>
  <dcterms:created xsi:type="dcterms:W3CDTF">2024-11-25T12:41:31Z</dcterms:created>
  <dcterms:modified xsi:type="dcterms:W3CDTF">2025-10-13T20:56:22Z</dcterms:modified>
</cp:coreProperties>
</file>
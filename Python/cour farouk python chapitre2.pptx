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notesSlides/notesSlide32.xml" ContentType="application/vnd.openxmlformats-officedocument.presentationml.notesSlide+xml"/>
  <Override PartName="/ppt/tags/tag33.xml" ContentType="application/vnd.openxmlformats-officedocument.presentationml.tags+xml"/>
  <Override PartName="/ppt/notesSlides/notesSlide33.xml" ContentType="application/vnd.openxmlformats-officedocument.presentationml.notesSlide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ppt/tags/tag35.xml" ContentType="application/vnd.openxmlformats-officedocument.presentationml.tags+xml"/>
  <Override PartName="/ppt/notesSlides/notesSlide35.xml" ContentType="application/vnd.openxmlformats-officedocument.presentationml.notesSlide+xml"/>
  <Override PartName="/ppt/tags/tag36.xml" ContentType="application/vnd.openxmlformats-officedocument.presentationml.tags+xml"/>
  <Override PartName="/ppt/notesSlides/notesSlide36.xml" ContentType="application/vnd.openxmlformats-officedocument.presentationml.notesSlide+xml"/>
  <Override PartName="/ppt/tags/tag37.xml" ContentType="application/vnd.openxmlformats-officedocument.presentationml.tags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68"/>
  </p:notesMasterIdLst>
  <p:handoutMasterIdLst>
    <p:handoutMasterId r:id="rId69"/>
  </p:handoutMasterIdLst>
  <p:sldIdLst>
    <p:sldId id="410" r:id="rId2"/>
    <p:sldId id="364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67" r:id="rId12"/>
    <p:sldId id="343" r:id="rId13"/>
    <p:sldId id="344" r:id="rId14"/>
    <p:sldId id="345" r:id="rId15"/>
    <p:sldId id="346" r:id="rId16"/>
    <p:sldId id="347" r:id="rId17"/>
    <p:sldId id="369" r:id="rId18"/>
    <p:sldId id="348" r:id="rId19"/>
    <p:sldId id="349" r:id="rId20"/>
    <p:sldId id="350" r:id="rId21"/>
    <p:sldId id="351" r:id="rId22"/>
    <p:sldId id="352" r:id="rId23"/>
    <p:sldId id="354" r:id="rId24"/>
    <p:sldId id="355" r:id="rId25"/>
    <p:sldId id="356" r:id="rId26"/>
    <p:sldId id="357" r:id="rId27"/>
    <p:sldId id="371" r:id="rId28"/>
    <p:sldId id="361" r:id="rId29"/>
    <p:sldId id="372" r:id="rId30"/>
    <p:sldId id="373" r:id="rId31"/>
    <p:sldId id="374" r:id="rId32"/>
    <p:sldId id="375" r:id="rId33"/>
    <p:sldId id="376" r:id="rId34"/>
    <p:sldId id="377" r:id="rId35"/>
    <p:sldId id="378" r:id="rId36"/>
    <p:sldId id="379" r:id="rId37"/>
    <p:sldId id="380" r:id="rId38"/>
    <p:sldId id="381" r:id="rId39"/>
    <p:sldId id="382" r:id="rId40"/>
    <p:sldId id="383" r:id="rId41"/>
    <p:sldId id="384" r:id="rId42"/>
    <p:sldId id="385" r:id="rId43"/>
    <p:sldId id="386" r:id="rId44"/>
    <p:sldId id="411" r:id="rId45"/>
    <p:sldId id="387" r:id="rId46"/>
    <p:sldId id="388" r:id="rId47"/>
    <p:sldId id="389" r:id="rId48"/>
    <p:sldId id="390" r:id="rId49"/>
    <p:sldId id="391" r:id="rId50"/>
    <p:sldId id="392" r:id="rId51"/>
    <p:sldId id="393" r:id="rId52"/>
    <p:sldId id="394" r:id="rId53"/>
    <p:sldId id="395" r:id="rId54"/>
    <p:sldId id="396" r:id="rId55"/>
    <p:sldId id="397" r:id="rId56"/>
    <p:sldId id="398" r:id="rId57"/>
    <p:sldId id="399" r:id="rId58"/>
    <p:sldId id="400" r:id="rId59"/>
    <p:sldId id="401" r:id="rId60"/>
    <p:sldId id="402" r:id="rId61"/>
    <p:sldId id="408" r:id="rId62"/>
    <p:sldId id="403" r:id="rId63"/>
    <p:sldId id="404" r:id="rId64"/>
    <p:sldId id="405" r:id="rId65"/>
    <p:sldId id="406" r:id="rId66"/>
    <p:sldId id="407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708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9E74B-673F-45A3-B0DD-F27D096A2B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68CF6-1C2D-493A-A4FA-6E140C869E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24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E1C0F-78B9-4B1E-B5CA-7D0ED91592B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C1066-85F1-4CE4-B053-4EBCEE210A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9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27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27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29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29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30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30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31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31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32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32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33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33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34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34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35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35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36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36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37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37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38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38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39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39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40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40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41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41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42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42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098A-9D90-4848-9D19-6D4F0AF64C71}" type="slidenum">
              <a:rPr lang="fr-FR" smtClean="0"/>
              <a:pPr/>
              <a:t>43</a:t>
            </a:fld>
            <a:endParaRPr lang="fr-FR" smtClean="0"/>
          </a:p>
        </p:txBody>
      </p:sp>
      <p:sp>
        <p:nvSpPr>
          <p:cNvPr id="2887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5F05A50-0CC5-440A-A0DC-543549588B1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DCDCE83A-D6C7-4730-ADAB-84BD872A2CB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43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887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887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887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887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45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45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46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46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47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47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48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48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49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49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50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50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51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51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52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52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53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53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54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54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55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55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56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56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57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57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58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58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59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59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60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60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62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62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63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63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64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64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65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65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518FC-D790-4E51-8B04-9E8007309BBA}" type="slidenum">
              <a:rPr lang="fr-FR" smtClean="0"/>
              <a:pPr/>
              <a:t>66</a:t>
            </a:fld>
            <a:endParaRPr lang="fr-FR" smtClean="0"/>
          </a:p>
        </p:txBody>
      </p:sp>
      <p:sp>
        <p:nvSpPr>
          <p:cNvPr id="29081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1D932E64-C3EF-42DB-9189-700222B965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10-Oct-25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4EE811B-77E3-4A43-87CE-DFA1982C7ECC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66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29082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29082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29082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29082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1622425"/>
            <a:ext cx="9144000" cy="2263775"/>
          </a:xfrm>
          <a:prstGeom prst="rect">
            <a:avLst/>
          </a:prstGeom>
          <a:gradFill rotWithShape="1">
            <a:gsLst>
              <a:gs pos="0">
                <a:schemeClr val="accent2">
                  <a:alpha val="7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anose="05000000000000000000" pitchFamily="2" charset="2"/>
              <a:buNone/>
              <a:defRPr/>
            </a:pPr>
            <a:endParaRPr lang="fr-FR" smtClean="0"/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14600" y="3962400"/>
            <a:ext cx="6248400" cy="14478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28938" y="6500813"/>
            <a:ext cx="6357937" cy="357187"/>
          </a:xfr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it-IT"/>
              <a:t>A.DARIF            SUPMTI / ISI                      2015 / 2016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7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A5B856B-B249-4829-BBCF-6908D320782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2A3A7B91-66D6-4F62-A1A2-173C5CDB10CF}" type="slidenum">
              <a:rPr lang="en-US" smtClean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4" Type="http://schemas.openxmlformats.org/officeDocument/2006/relationships/image" Target="../media/image2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Relationship Id="rId4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Relationship Id="rId4" Type="http://schemas.openxmlformats.org/officeDocument/2006/relationships/image" Target="../media/image2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Relationship Id="rId4" Type="http://schemas.openxmlformats.org/officeDocument/2006/relationships/image" Target="../media/image3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4" Type="http://schemas.openxmlformats.org/officeDocument/2006/relationships/image" Target="../media/image3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4" Type="http://schemas.openxmlformats.org/officeDocument/2006/relationships/image" Target="../media/image3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Relationship Id="rId4" Type="http://schemas.openxmlformats.org/officeDocument/2006/relationships/image" Target="../media/image3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>
          <a:xfrm>
            <a:off x="1259632" y="1772816"/>
            <a:ext cx="6248400" cy="1447800"/>
          </a:xfrm>
        </p:spPr>
        <p:txBody>
          <a:bodyPr>
            <a:noAutofit/>
          </a:bodyPr>
          <a:lstStyle/>
          <a:p>
            <a:pPr algn="ctr"/>
            <a:r>
              <a:rPr lang="fr-FR" sz="4000" dirty="0">
                <a:ea typeface="+mj-ea"/>
                <a:cs typeface="+mj-cs"/>
              </a:rPr>
              <a:t>Chapitre </a:t>
            </a:r>
            <a:r>
              <a:rPr lang="fr-FR" sz="4000" dirty="0" smtClean="0">
                <a:ea typeface="+mj-ea"/>
                <a:cs typeface="+mj-cs"/>
              </a:rPr>
              <a:t>2 :</a:t>
            </a:r>
          </a:p>
          <a:p>
            <a:pPr algn="ctr"/>
            <a:r>
              <a:rPr lang="fr-FR" sz="4000" dirty="0" smtClean="0">
                <a:solidFill>
                  <a:srgbClr val="C00000"/>
                </a:solidFill>
                <a:ea typeface="+mj-ea"/>
                <a:cs typeface="+mj-cs"/>
              </a:rPr>
              <a:t> Structure de contrôle et fonctions</a:t>
            </a:r>
          </a:p>
        </p:txBody>
      </p:sp>
    </p:spTree>
    <p:extLst>
      <p:ext uri="{BB962C8B-B14F-4D97-AF65-F5344CB8AC3E}">
        <p14:creationId xmlns:p14="http://schemas.microsoft.com/office/powerpoint/2010/main" val="374653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000000"/>
                </a:solidFill>
                <a:latin typeface="Arial" pitchFamily="34" charset="0"/>
              </a:rPr>
              <a:t>Indentation</a:t>
            </a:r>
            <a:br>
              <a:rPr lang="fr-FR" b="1" dirty="0">
                <a:solidFill>
                  <a:srgbClr val="000000"/>
                </a:solidFill>
                <a:latin typeface="Arial" pitchFamily="34" charset="0"/>
              </a:rPr>
            </a:b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lvl="1" indent="0" algn="just">
              <a:buNone/>
            </a:pPr>
            <a:r>
              <a:rPr lang="fr-FR" sz="2000" dirty="0">
                <a:cs typeface="Arial" charset="0"/>
              </a:rPr>
              <a:t>Les blocs de code (</a:t>
            </a:r>
            <a:r>
              <a:rPr lang="fr-FR" sz="2000" dirty="0">
                <a:solidFill>
                  <a:srgbClr val="0000FF"/>
                </a:solidFill>
                <a:cs typeface="Arial" charset="0"/>
              </a:rPr>
              <a:t>fonctions, instructions if, boucles for ou </a:t>
            </a:r>
            <a:r>
              <a:rPr lang="fr-FR" sz="2000" dirty="0" err="1">
                <a:solidFill>
                  <a:srgbClr val="0000FF"/>
                </a:solidFill>
                <a:cs typeface="Arial" charset="0"/>
              </a:rPr>
              <a:t>while</a:t>
            </a:r>
            <a:r>
              <a:rPr lang="fr-FR" sz="2000" dirty="0">
                <a:solidFill>
                  <a:srgbClr val="0000FF"/>
                </a:solidFill>
                <a:cs typeface="Arial" charset="0"/>
              </a:rPr>
              <a:t> </a:t>
            </a:r>
            <a:r>
              <a:rPr lang="fr-FR" sz="2000" dirty="0">
                <a:cs typeface="Arial" charset="0"/>
              </a:rPr>
              <a:t>etc.) sont définis par leur indentation. L'indentation démarre le bloc et la </a:t>
            </a:r>
            <a:r>
              <a:rPr lang="fr-FR" sz="2000" dirty="0" err="1">
                <a:cs typeface="Arial" charset="0"/>
              </a:rPr>
              <a:t>désindendation</a:t>
            </a:r>
            <a:r>
              <a:rPr lang="fr-FR" sz="2000" dirty="0">
                <a:cs typeface="Arial" charset="0"/>
              </a:rPr>
              <a:t> le termine. Il n'y a pas d'accolades, de crochets ou de mots clés spécifiques. Cela signifie que les espaces blancs sont significatifs et qu'ils doivent être cohérents. </a:t>
            </a:r>
          </a:p>
          <a:p>
            <a:endParaRPr lang="en-US" sz="20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584" y="3212976"/>
            <a:ext cx="2952750" cy="3508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256584" y="3281239"/>
            <a:ext cx="4071938" cy="101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latin typeface="Caurier new"/>
              </a:rPr>
              <a:t>a = -150</a:t>
            </a:r>
          </a:p>
          <a:p>
            <a:pPr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latin typeface="Caurier new"/>
              </a:rPr>
              <a:t>if a&lt;0:</a:t>
            </a:r>
          </a:p>
          <a:p>
            <a:pPr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latin typeface="Caurier new"/>
              </a:rPr>
              <a:t>    </a:t>
            </a:r>
            <a:r>
              <a:rPr lang="fr-FR" sz="1600" b="1" dirty="0" err="1">
                <a:latin typeface="Caurier new"/>
              </a:rPr>
              <a:t>print</a:t>
            </a:r>
            <a:r>
              <a:rPr lang="fr-FR" sz="1600" b="1" dirty="0">
                <a:latin typeface="Caurier new"/>
              </a:rPr>
              <a:t> 'a est négatif</a:t>
            </a:r>
            <a:r>
              <a:rPr lang="fr-FR" sz="1800" b="1" dirty="0">
                <a:latin typeface="Caurier new"/>
              </a:rPr>
              <a:t>'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6584" y="4589339"/>
            <a:ext cx="4071938" cy="1308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latin typeface="Caurier new"/>
              </a:rPr>
              <a:t>Ligne d'en-tête: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latin typeface="Caurier new"/>
              </a:rPr>
              <a:t>première instruction du bloc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latin typeface="Caurier new"/>
              </a:rPr>
              <a:t>...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latin typeface="Caurier new"/>
              </a:rPr>
              <a:t>dernière instruction du bloc</a:t>
            </a:r>
            <a:endParaRPr lang="fr-FR" sz="1800" b="1" dirty="0">
              <a:latin typeface="Ca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03963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</a:t>
            </a:r>
            <a:r>
              <a:rPr lang="en-US" dirty="0" err="1"/>
              <a:t>conditionnelle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/>
              <a:t>Condition </a:t>
            </a:r>
            <a:r>
              <a:rPr lang="en-US" sz="2800" b="1" dirty="0" err="1"/>
              <a:t>si</a:t>
            </a:r>
            <a:endParaRPr lang="en-US" sz="2800" b="1" dirty="0"/>
          </a:p>
          <a:p>
            <a:pPr marL="0" indent="0" algn="just">
              <a:buNone/>
            </a:pPr>
            <a:r>
              <a:rPr lang="fr-MA" sz="2000" dirty="0"/>
              <a:t>Les structures conditionnelles permettent d’exécuter différentes opérations en fonction </a:t>
            </a:r>
            <a:r>
              <a:rPr lang="fr-MA" sz="2000" dirty="0" smtClean="0"/>
              <a:t>de l’évaluation </a:t>
            </a:r>
            <a:r>
              <a:rPr lang="fr-MA" sz="2000" dirty="0"/>
              <a:t>d’une condition spécifique. Par exemple, supposons que nous </a:t>
            </a:r>
            <a:r>
              <a:rPr lang="fr-MA" sz="2000" dirty="0" smtClean="0"/>
              <a:t>avons </a:t>
            </a:r>
            <a:r>
              <a:rPr lang="fr-MA" sz="2000" dirty="0"/>
              <a:t>deux </a:t>
            </a:r>
            <a:r>
              <a:rPr lang="fr-MA" sz="2000" dirty="0" smtClean="0"/>
              <a:t>nombres quelconques </a:t>
            </a:r>
            <a:r>
              <a:rPr lang="fr-MA" sz="2000" dirty="0"/>
              <a:t>stockés dans les variables "x" et "y" ; nous voulons un programme qui retourne </a:t>
            </a:r>
            <a:r>
              <a:rPr lang="fr-MA" sz="2000" dirty="0" smtClean="0"/>
              <a:t>la chaîne </a:t>
            </a:r>
            <a:r>
              <a:rPr lang="fr-MA" sz="2000" dirty="0"/>
              <a:t>de caractère "x est plus grand que y" seulement si c’est le cas. Dans le cas contraire, </a:t>
            </a:r>
            <a:r>
              <a:rPr lang="fr-MA" sz="2000" dirty="0" smtClean="0"/>
              <a:t>rien </a:t>
            </a:r>
            <a:r>
              <a:rPr lang="en-US" sz="2000" dirty="0" smtClean="0"/>
              <a:t>ne </a:t>
            </a:r>
            <a:r>
              <a:rPr lang="en-US" sz="2000" dirty="0"/>
              <a:t>se </a:t>
            </a:r>
            <a:r>
              <a:rPr lang="en-US" sz="2000" dirty="0" err="1"/>
              <a:t>passe</a:t>
            </a:r>
            <a:r>
              <a:rPr lang="en-US" sz="2000" dirty="0"/>
              <a:t>.</a:t>
            </a:r>
          </a:p>
          <a:p>
            <a:pPr marL="0" indent="0" algn="just">
              <a:buNone/>
            </a:pPr>
            <a:r>
              <a:rPr lang="fr-MA" sz="2000" dirty="0"/>
              <a:t>Voici comment l’écrire en python </a:t>
            </a:r>
            <a:r>
              <a:rPr lang="fr-MA" sz="2000" dirty="0" smtClean="0"/>
              <a:t>:</a:t>
            </a:r>
          </a:p>
          <a:p>
            <a:endParaRPr lang="fr-MA" sz="1800" dirty="0"/>
          </a:p>
          <a:p>
            <a:endParaRPr lang="fr-MA" sz="1800" dirty="0" smtClean="0"/>
          </a:p>
          <a:p>
            <a:endParaRPr lang="fr-MA" sz="1800" dirty="0"/>
          </a:p>
          <a:p>
            <a:pPr marL="0" indent="0">
              <a:buNone/>
            </a:pPr>
            <a:r>
              <a:rPr lang="fr-MA" sz="2000" dirty="0"/>
              <a:t>En algorithmique :</a:t>
            </a:r>
          </a:p>
          <a:p>
            <a:pPr marL="0" indent="0">
              <a:buNone/>
            </a:pPr>
            <a:r>
              <a:rPr lang="fr-MA" sz="2000" dirty="0"/>
              <a:t>si </a:t>
            </a:r>
            <a:r>
              <a:rPr lang="fr-MA" sz="2000" dirty="0" smtClean="0"/>
              <a:t>(x&gt;y) </a:t>
            </a:r>
            <a:r>
              <a:rPr lang="fr-MA" sz="2000" dirty="0"/>
              <a:t>alors </a:t>
            </a:r>
          </a:p>
          <a:p>
            <a:pPr marL="0" indent="0">
              <a:buNone/>
            </a:pPr>
            <a:r>
              <a:rPr lang="fr-MA" sz="2000" dirty="0"/>
              <a:t>	</a:t>
            </a:r>
            <a:r>
              <a:rPr lang="fr-MA" sz="2000" dirty="0" smtClean="0"/>
              <a:t>afficher </a:t>
            </a:r>
            <a:r>
              <a:rPr lang="en-US" sz="2000" dirty="0" smtClean="0"/>
              <a:t>“x </a:t>
            </a:r>
            <a:r>
              <a:rPr lang="en-US" sz="2000" dirty="0" err="1" smtClean="0"/>
              <a:t>est</a:t>
            </a:r>
            <a:r>
              <a:rPr lang="en-US" sz="2000" dirty="0" smtClean="0"/>
              <a:t> plus grand </a:t>
            </a:r>
            <a:r>
              <a:rPr lang="en-US" sz="2000" dirty="0" err="1" smtClean="0"/>
              <a:t>que</a:t>
            </a:r>
            <a:r>
              <a:rPr lang="en-US" sz="2000" dirty="0"/>
              <a:t> y"</a:t>
            </a:r>
            <a:endParaRPr lang="fr-MA" sz="2000" dirty="0"/>
          </a:p>
          <a:p>
            <a:pPr marL="0" indent="0">
              <a:buNone/>
            </a:pPr>
            <a:r>
              <a:rPr lang="fr-MA" sz="2000" dirty="0"/>
              <a:t> fin si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251945"/>
            <a:ext cx="644842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038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</a:t>
            </a:r>
            <a:r>
              <a:rPr lang="en-US" dirty="0" err="1"/>
              <a:t>conditionnelle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MA" sz="2000" dirty="0"/>
              <a:t>Évidemment il faut au préalable avoir affecté des valeurs à x et </a:t>
            </a:r>
            <a:r>
              <a:rPr lang="fr-MA" sz="2000" dirty="0" smtClean="0"/>
              <a:t>y. Analysons </a:t>
            </a:r>
            <a:r>
              <a:rPr lang="fr-MA" sz="2000" dirty="0"/>
              <a:t>la structure de cette condition </a:t>
            </a:r>
            <a:r>
              <a:rPr lang="fr-MA" sz="2000" dirty="0" smtClean="0"/>
              <a:t>:</a:t>
            </a:r>
          </a:p>
          <a:p>
            <a:pPr marL="0" indent="0" algn="just">
              <a:buNone/>
            </a:pPr>
            <a:endParaRPr lang="fr-MA" sz="2000" dirty="0"/>
          </a:p>
          <a:p>
            <a:pPr marL="0" indent="0" algn="just">
              <a:buNone/>
            </a:pPr>
            <a:r>
              <a:rPr lang="fr-MA" sz="2000" dirty="0" smtClean="0"/>
              <a:t>Le </a:t>
            </a:r>
            <a:r>
              <a:rPr lang="fr-MA" sz="2000" dirty="0"/>
              <a:t>mot clef if doit être suivi d’une condition. Généralement cela passe par une </a:t>
            </a:r>
            <a:r>
              <a:rPr lang="fr-MA" sz="2000" dirty="0" smtClean="0"/>
              <a:t>proposition logique </a:t>
            </a:r>
            <a:r>
              <a:rPr lang="fr-MA" sz="2000" dirty="0"/>
              <a:t>mettant en jeu un opérateur de comparaison (par exemple a + b &gt; 0 ou x! = 1</a:t>
            </a:r>
            <a:r>
              <a:rPr lang="fr-MA" sz="2000" dirty="0" smtClean="0"/>
              <a:t>). En </a:t>
            </a:r>
            <a:r>
              <a:rPr lang="fr-MA" sz="2000" dirty="0"/>
              <a:t>d’autres termes, le mot clef if doit être suivi d’un </a:t>
            </a:r>
            <a:r>
              <a:rPr lang="fr-MA" sz="2000" dirty="0" smtClean="0"/>
              <a:t>booléen. En </a:t>
            </a:r>
            <a:r>
              <a:rPr lang="fr-MA" sz="2000" dirty="0"/>
              <a:t>effet, le résultat d’une comparaison renvoie bien soit </a:t>
            </a:r>
            <a:r>
              <a:rPr lang="fr-MA" sz="2000" dirty="0" err="1"/>
              <a:t>True</a:t>
            </a:r>
            <a:r>
              <a:rPr lang="fr-MA" sz="2000" dirty="0"/>
              <a:t> soit </a:t>
            </a:r>
            <a:r>
              <a:rPr lang="fr-MA" sz="2000" dirty="0" smtClean="0"/>
              <a:t>False.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21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</a:t>
            </a:r>
            <a:r>
              <a:rPr lang="en-US" dirty="0" err="1"/>
              <a:t>conditionnelle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MA" sz="2000" dirty="0"/>
              <a:t>Dans ce cas, le programme afficherait toujours "c’est vrai", mais n’afficherait jamais "</a:t>
            </a:r>
            <a:r>
              <a:rPr lang="fr-MA" sz="2000" dirty="0" smtClean="0"/>
              <a:t>c’est </a:t>
            </a:r>
            <a:r>
              <a:rPr lang="en-US" sz="2000" dirty="0" smtClean="0"/>
              <a:t>faux</a:t>
            </a:r>
            <a:r>
              <a:rPr lang="en-US" sz="2000" dirty="0"/>
              <a:t>".</a:t>
            </a:r>
          </a:p>
          <a:p>
            <a:pPr marL="0" indent="0" algn="just">
              <a:buNone/>
            </a:pPr>
            <a:r>
              <a:rPr lang="fr-MA" sz="2000" dirty="0" smtClean="0"/>
              <a:t>la </a:t>
            </a:r>
            <a:r>
              <a:rPr lang="fr-MA" sz="2000" dirty="0"/>
              <a:t>condition après le if doit être suivie de " :" </a:t>
            </a:r>
            <a:r>
              <a:rPr lang="fr-MA" sz="2000" dirty="0" smtClean="0"/>
              <a:t>.</a:t>
            </a:r>
          </a:p>
          <a:p>
            <a:pPr marL="0" indent="0" algn="just">
              <a:buNone/>
            </a:pPr>
            <a:r>
              <a:rPr lang="fr-MA" sz="2000" dirty="0" smtClean="0"/>
              <a:t>l’ensemble </a:t>
            </a:r>
            <a:r>
              <a:rPr lang="fr-MA" sz="2000" dirty="0"/>
              <a:t>des instructions à effectuer si la condition est vraie (ici seulement le </a:t>
            </a:r>
            <a:r>
              <a:rPr lang="fr-MA" sz="2000" dirty="0" err="1"/>
              <a:t>print</a:t>
            </a:r>
            <a:r>
              <a:rPr lang="fr-MA" sz="2000" dirty="0" smtClean="0"/>
              <a:t>), doit </a:t>
            </a:r>
            <a:r>
              <a:rPr lang="fr-MA" sz="2000" dirty="0"/>
              <a:t>être indenté sous le if.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717032"/>
            <a:ext cx="599122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119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</a:t>
            </a:r>
            <a:r>
              <a:rPr lang="en-US" dirty="0" err="1"/>
              <a:t>conditionnelle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/>
              <a:t>Condition </a:t>
            </a:r>
            <a:r>
              <a:rPr lang="en-US" sz="2400" b="1" dirty="0" err="1"/>
              <a:t>si</a:t>
            </a:r>
            <a:r>
              <a:rPr lang="en-US" sz="2400" b="1" dirty="0"/>
              <a:t> ... </a:t>
            </a:r>
            <a:r>
              <a:rPr lang="en-US" sz="2400" b="1" dirty="0" err="1"/>
              <a:t>sinon</a:t>
            </a:r>
            <a:endParaRPr lang="en-US" sz="2400" b="1" dirty="0"/>
          </a:p>
          <a:p>
            <a:pPr marL="0" indent="0" algn="just">
              <a:buNone/>
            </a:pPr>
            <a:r>
              <a:rPr lang="fr-MA" sz="2000" dirty="0"/>
              <a:t>Nous venons de voir comment faire pour effectuer une action seulement si une condition </a:t>
            </a:r>
            <a:r>
              <a:rPr lang="fr-MA" sz="2000" dirty="0" smtClean="0"/>
              <a:t>est vraie</a:t>
            </a:r>
            <a:r>
              <a:rPr lang="fr-MA" sz="2000" dirty="0"/>
              <a:t>. Mais comment faire pour effectuer une autre action dans le cas où la condition est fausse ?</a:t>
            </a:r>
          </a:p>
          <a:p>
            <a:pPr marL="0" indent="0" algn="just">
              <a:buNone/>
            </a:pPr>
            <a:r>
              <a:rPr lang="fr-MA" sz="2000" dirty="0" smtClean="0"/>
              <a:t> Ceci </a:t>
            </a:r>
            <a:r>
              <a:rPr lang="fr-MA" sz="2000" dirty="0"/>
              <a:t>se fait grâce au mot clef </a:t>
            </a:r>
            <a:r>
              <a:rPr lang="fr-MA" sz="2000" dirty="0" err="1"/>
              <a:t>else</a:t>
            </a:r>
            <a:r>
              <a:rPr lang="fr-MA" sz="2000" dirty="0"/>
              <a:t> </a:t>
            </a:r>
            <a:r>
              <a:rPr lang="fr-MA" sz="2000" dirty="0" smtClean="0"/>
              <a:t>:</a:t>
            </a:r>
          </a:p>
          <a:p>
            <a:pPr marL="0" indent="0">
              <a:buNone/>
            </a:pPr>
            <a:endParaRPr lang="fr-MA" sz="1600" dirty="0"/>
          </a:p>
          <a:p>
            <a:pPr marL="0" indent="0">
              <a:buNone/>
            </a:pPr>
            <a:endParaRPr lang="fr-MA" sz="1600" dirty="0" smtClean="0"/>
          </a:p>
          <a:p>
            <a:pPr marL="0" indent="0">
              <a:buNone/>
            </a:pPr>
            <a:endParaRPr lang="fr-MA" sz="1600" dirty="0"/>
          </a:p>
          <a:p>
            <a:pPr algn="just"/>
            <a:endParaRPr lang="fr-MA" sz="2000" dirty="0" smtClean="0"/>
          </a:p>
          <a:p>
            <a:pPr marL="0" indent="0" algn="just">
              <a:buNone/>
            </a:pPr>
            <a:r>
              <a:rPr lang="fr-MA" sz="2000" dirty="0" smtClean="0"/>
              <a:t>Dans </a:t>
            </a:r>
            <a:r>
              <a:rPr lang="fr-MA" sz="2000" dirty="0"/>
              <a:t>ce cas là, une seule des deux phrases sera affichée en fonction du résultat de x &gt; </a:t>
            </a:r>
            <a:r>
              <a:rPr lang="fr-MA" sz="2000" dirty="0" smtClean="0"/>
              <a:t>y. Vous </a:t>
            </a:r>
            <a:r>
              <a:rPr lang="fr-MA" sz="2000" dirty="0"/>
              <a:t>noterez que le mot clef </a:t>
            </a:r>
            <a:r>
              <a:rPr lang="fr-MA" sz="2000" dirty="0" err="1"/>
              <a:t>else</a:t>
            </a:r>
            <a:r>
              <a:rPr lang="fr-MA" sz="2000" dirty="0"/>
              <a:t> doit être au même niveau que le if et doit être suivi des " </a:t>
            </a:r>
            <a:r>
              <a:rPr lang="fr-MA" sz="2000" dirty="0" smtClean="0"/>
              <a:t>:". Comme </a:t>
            </a:r>
            <a:r>
              <a:rPr lang="fr-MA" sz="2000" dirty="0"/>
              <a:t>toujours, l’ensemble des instructions à effectuer dans le cas </a:t>
            </a:r>
            <a:r>
              <a:rPr lang="fr-MA" sz="2000" dirty="0" err="1"/>
              <a:t>else</a:t>
            </a:r>
            <a:r>
              <a:rPr lang="fr-MA" sz="2000" dirty="0"/>
              <a:t> doit être indenté sous </a:t>
            </a:r>
            <a:r>
              <a:rPr lang="fr-MA" sz="2000" dirty="0" smtClean="0"/>
              <a:t>le </a:t>
            </a:r>
            <a:r>
              <a:rPr lang="en-US" sz="2000" dirty="0" smtClean="0"/>
              <a:t>else</a:t>
            </a:r>
            <a:r>
              <a:rPr lang="en-US" sz="2000" dirty="0"/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501008"/>
            <a:ext cx="644842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068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</a:t>
            </a:r>
            <a:r>
              <a:rPr lang="en-US" dirty="0" err="1"/>
              <a:t>conditionnelle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2000" b="1" dirty="0"/>
              <a:t>Condition si ... sinon si ... sinon</a:t>
            </a:r>
          </a:p>
          <a:p>
            <a:pPr marL="0" indent="0">
              <a:buNone/>
            </a:pPr>
            <a:r>
              <a:rPr lang="fr-MA" sz="1900" dirty="0"/>
              <a:t>Enfin, que faire dans le cas d’une condition plus complexe ? Reprenons l’exemple </a:t>
            </a:r>
            <a:r>
              <a:rPr lang="fr-MA" sz="1900" dirty="0" smtClean="0"/>
              <a:t>précédent avec </a:t>
            </a:r>
            <a:r>
              <a:rPr lang="fr-MA" sz="1900" dirty="0"/>
              <a:t>la condition initiale x &gt; y. Trois cas peuvent se produire :</a:t>
            </a:r>
          </a:p>
          <a:p>
            <a:r>
              <a:rPr lang="fr-MA" sz="1900" dirty="0" smtClean="0"/>
              <a:t> </a:t>
            </a:r>
            <a:r>
              <a:rPr lang="fr-MA" sz="1900" dirty="0"/>
              <a:t>x est strictement plus grand que y</a:t>
            </a:r>
          </a:p>
          <a:p>
            <a:r>
              <a:rPr lang="fr-MA" sz="1900" dirty="0" smtClean="0"/>
              <a:t> </a:t>
            </a:r>
            <a:r>
              <a:rPr lang="fr-MA" sz="1900" dirty="0"/>
              <a:t>x est strictement plus petit que y</a:t>
            </a:r>
          </a:p>
          <a:p>
            <a:r>
              <a:rPr lang="fr-MA" sz="1900" dirty="0" smtClean="0"/>
              <a:t> </a:t>
            </a:r>
            <a:r>
              <a:rPr lang="fr-MA" sz="1900" dirty="0"/>
              <a:t>x est égal à y</a:t>
            </a:r>
          </a:p>
          <a:p>
            <a:pPr marL="0" indent="0">
              <a:buNone/>
            </a:pPr>
            <a:r>
              <a:rPr lang="fr-MA" sz="1900" dirty="0"/>
              <a:t>Si nous voulons que le programme indique dans quel cas nous somme, nous avons </a:t>
            </a:r>
            <a:r>
              <a:rPr lang="fr-MA" sz="1900" dirty="0" smtClean="0"/>
              <a:t>besoin d’un </a:t>
            </a:r>
            <a:r>
              <a:rPr lang="fr-MA" sz="1900" dirty="0"/>
              <a:t>nouveau mot clef : </a:t>
            </a:r>
            <a:r>
              <a:rPr lang="fr-MA" sz="1900" dirty="0" err="1"/>
              <a:t>elif</a:t>
            </a:r>
            <a:r>
              <a:rPr lang="fr-MA" sz="1900" dirty="0"/>
              <a:t> (contraction de </a:t>
            </a:r>
            <a:r>
              <a:rPr lang="fr-MA" sz="1900" dirty="0" err="1"/>
              <a:t>else</a:t>
            </a:r>
            <a:r>
              <a:rPr lang="fr-MA" sz="1900" dirty="0"/>
              <a:t> if </a:t>
            </a:r>
            <a:r>
              <a:rPr lang="fr-MA" sz="1900" dirty="0" smtClean="0"/>
              <a:t>).</a:t>
            </a:r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653136"/>
            <a:ext cx="6457950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969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</a:t>
            </a:r>
            <a:r>
              <a:rPr lang="en-US" dirty="0" err="1"/>
              <a:t>conditionnelle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/>
            <a:r>
              <a:rPr lang="fr-MA" sz="2000" dirty="0"/>
              <a:t>Le mot clef </a:t>
            </a:r>
            <a:r>
              <a:rPr lang="fr-MA" sz="2000" dirty="0" err="1"/>
              <a:t>elif</a:t>
            </a:r>
            <a:r>
              <a:rPr lang="fr-MA" sz="2000" dirty="0"/>
              <a:t> doit lui aussi être suivi d’une condition (c’est à dire d’un booléen). Lors </a:t>
            </a:r>
            <a:r>
              <a:rPr lang="fr-MA" sz="2000" dirty="0" smtClean="0"/>
              <a:t>de l’exécution </a:t>
            </a:r>
            <a:r>
              <a:rPr lang="fr-MA" sz="2000" dirty="0"/>
              <a:t>du programme, la condition du </a:t>
            </a:r>
            <a:r>
              <a:rPr lang="fr-MA" sz="2000" dirty="0" err="1"/>
              <a:t>elif</a:t>
            </a:r>
            <a:r>
              <a:rPr lang="fr-MA" sz="2000" dirty="0"/>
              <a:t> n’est évaluée que si la condition précédente (</a:t>
            </a:r>
            <a:r>
              <a:rPr lang="fr-MA" sz="2000" dirty="0" smtClean="0"/>
              <a:t>ici celle </a:t>
            </a:r>
            <a:r>
              <a:rPr lang="fr-MA" sz="2000" dirty="0"/>
              <a:t>du if ) est fausse.</a:t>
            </a:r>
          </a:p>
          <a:p>
            <a:pPr algn="just"/>
            <a:r>
              <a:rPr lang="fr-MA" sz="2000" dirty="0"/>
              <a:t>La figure ci-après est un diagramme des possibilités pour cet exemple </a:t>
            </a:r>
            <a:r>
              <a:rPr lang="fr-MA" sz="2000" dirty="0" smtClean="0"/>
              <a:t>:</a:t>
            </a:r>
          </a:p>
          <a:p>
            <a:endParaRPr lang="fr-MA" sz="2000" dirty="0"/>
          </a:p>
          <a:p>
            <a:endParaRPr lang="fr-MA" sz="2000" dirty="0" smtClean="0"/>
          </a:p>
          <a:p>
            <a:endParaRPr lang="fr-MA" sz="2000" dirty="0"/>
          </a:p>
          <a:p>
            <a:endParaRPr lang="fr-MA" sz="2000" dirty="0" smtClean="0"/>
          </a:p>
          <a:p>
            <a:pPr marL="0" indent="0">
              <a:buNone/>
            </a:pPr>
            <a:endParaRPr lang="fr-MA" sz="2000" dirty="0" smtClean="0"/>
          </a:p>
          <a:p>
            <a:pPr marL="0" indent="0">
              <a:buNone/>
            </a:pPr>
            <a:endParaRPr lang="fr-MA" sz="2000" dirty="0" smtClean="0"/>
          </a:p>
          <a:p>
            <a:pPr algn="just"/>
            <a:r>
              <a:rPr lang="fr-MA" sz="2000" dirty="0"/>
              <a:t>Dans cet exemple, un seul </a:t>
            </a:r>
            <a:r>
              <a:rPr lang="fr-MA" sz="2000" dirty="0" err="1"/>
              <a:t>elif</a:t>
            </a:r>
            <a:r>
              <a:rPr lang="fr-MA" sz="2000" dirty="0"/>
              <a:t> est requis, mais autant de </a:t>
            </a:r>
            <a:r>
              <a:rPr lang="fr-MA" sz="2000" dirty="0" err="1"/>
              <a:t>elif</a:t>
            </a:r>
            <a:r>
              <a:rPr lang="fr-MA" sz="2000" dirty="0"/>
              <a:t> que nécessaire peuvent </a:t>
            </a:r>
            <a:r>
              <a:rPr lang="fr-MA" sz="2000" dirty="0" smtClean="0"/>
              <a:t>être ajoutés </a:t>
            </a:r>
            <a:r>
              <a:rPr lang="fr-MA" sz="2000" dirty="0"/>
              <a:t>après un if. Chaque </a:t>
            </a:r>
            <a:r>
              <a:rPr lang="fr-MA" sz="2000" dirty="0" err="1"/>
              <a:t>elif</a:t>
            </a:r>
            <a:r>
              <a:rPr lang="fr-MA" sz="2000" dirty="0"/>
              <a:t> est alors évalué seulement si toutes les conditions précédentes </a:t>
            </a:r>
            <a:r>
              <a:rPr lang="fr-MA" sz="2000" dirty="0" smtClean="0"/>
              <a:t>ont </a:t>
            </a:r>
            <a:r>
              <a:rPr lang="en-US" sz="2000" dirty="0" err="1" smtClean="0"/>
              <a:t>été</a:t>
            </a:r>
            <a:r>
              <a:rPr lang="en-US" sz="2000" dirty="0" smtClean="0"/>
              <a:t> </a:t>
            </a:r>
            <a:r>
              <a:rPr lang="en-US" sz="2000" dirty="0" err="1"/>
              <a:t>évaluées</a:t>
            </a:r>
            <a:r>
              <a:rPr lang="en-US" sz="2000" dirty="0"/>
              <a:t> </a:t>
            </a:r>
            <a:r>
              <a:rPr lang="en-US" sz="2000" dirty="0" err="1"/>
              <a:t>comme</a:t>
            </a:r>
            <a:r>
              <a:rPr lang="en-US" sz="2000" dirty="0"/>
              <a:t> </a:t>
            </a:r>
            <a:r>
              <a:rPr lang="en-US" sz="2000" dirty="0" err="1"/>
              <a:t>fausses</a:t>
            </a:r>
            <a:r>
              <a:rPr lang="en-US" sz="2000" dirty="0"/>
              <a:t>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202" y="2924944"/>
            <a:ext cx="4448175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539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</a:t>
            </a:r>
            <a:r>
              <a:rPr lang="en-US" dirty="0" err="1"/>
              <a:t>conditionnelle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 err="1"/>
              <a:t>Différence</a:t>
            </a:r>
            <a:r>
              <a:rPr lang="en-US" sz="2000" b="1" dirty="0"/>
              <a:t> entre if ... if et if ... </a:t>
            </a:r>
            <a:r>
              <a:rPr lang="en-US" sz="2000" b="1" dirty="0" err="1"/>
              <a:t>elif</a:t>
            </a:r>
            <a:endParaRPr lang="en-US" sz="2000" b="1" dirty="0"/>
          </a:p>
          <a:p>
            <a:pPr marL="0" indent="0" algn="just">
              <a:buNone/>
            </a:pPr>
            <a:r>
              <a:rPr lang="fr-MA" sz="2000" dirty="0"/>
              <a:t>Lorsque vous écrivez un programme, il est important de bien réfléchir au type de </a:t>
            </a:r>
            <a:r>
              <a:rPr lang="fr-MA" sz="2000" dirty="0" smtClean="0"/>
              <a:t>structure conditionnelle </a:t>
            </a:r>
            <a:r>
              <a:rPr lang="fr-MA" sz="2000" dirty="0"/>
              <a:t>que vous allez utiliser. </a:t>
            </a:r>
          </a:p>
          <a:p>
            <a:pPr marL="0" indent="0" algn="just">
              <a:buNone/>
            </a:pPr>
            <a:r>
              <a:rPr lang="fr-MA" sz="2000" dirty="0"/>
              <a:t>Prenons les deux exemples suivant :</a:t>
            </a:r>
            <a:endParaRPr lang="en-US" sz="2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734" y="3284984"/>
            <a:ext cx="6438900" cy="290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474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</a:t>
            </a:r>
            <a:r>
              <a:rPr lang="en-US" dirty="0" err="1"/>
              <a:t>conditionnelle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pPr marL="0" indent="0" algn="just">
              <a:buNone/>
            </a:pPr>
            <a:r>
              <a:rPr lang="fr-MA" sz="2000" dirty="0"/>
              <a:t>Dans le deuxième cas, la condition dans le </a:t>
            </a:r>
            <a:r>
              <a:rPr lang="fr-MA" sz="2000" dirty="0" err="1"/>
              <a:t>elif</a:t>
            </a:r>
            <a:r>
              <a:rPr lang="fr-MA" sz="2000" dirty="0"/>
              <a:t> est pourtant bien </a:t>
            </a:r>
            <a:r>
              <a:rPr lang="fr-MA" sz="2000" dirty="0" err="1"/>
              <a:t>True</a:t>
            </a:r>
            <a:r>
              <a:rPr lang="fr-MA" sz="2000" dirty="0"/>
              <a:t>. Seulement, le </a:t>
            </a:r>
            <a:r>
              <a:rPr lang="fr-MA" sz="2000" dirty="0" smtClean="0"/>
              <a:t>programme ne </a:t>
            </a:r>
            <a:r>
              <a:rPr lang="fr-MA" sz="2000" dirty="0"/>
              <a:t>l’a jamais évalué. Il a dans un premier temps évalué la condition du if. Comme </a:t>
            </a:r>
            <a:r>
              <a:rPr lang="fr-MA" sz="2000" dirty="0" smtClean="0"/>
              <a:t>cette dernière </a:t>
            </a:r>
            <a:r>
              <a:rPr lang="fr-MA" sz="2000" dirty="0"/>
              <a:t>est vraie, il a exécuté les lignes de code indentées sous le if puis est sorti de la </a:t>
            </a:r>
            <a:r>
              <a:rPr lang="fr-MA" sz="2000" dirty="0" smtClean="0"/>
              <a:t>structure </a:t>
            </a:r>
            <a:r>
              <a:rPr lang="en-US" sz="2000" dirty="0" err="1" smtClean="0"/>
              <a:t>conditionnelle</a:t>
            </a:r>
            <a:r>
              <a:rPr lang="en-US" sz="2000" dirty="0"/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76872"/>
            <a:ext cx="64579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62" y="3181350"/>
            <a:ext cx="645795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646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ct val="30000"/>
              </a:spcAft>
              <a:buClr>
                <a:schemeClr val="hlink"/>
              </a:buClr>
              <a:buNone/>
              <a:defRPr/>
            </a:pPr>
            <a:r>
              <a:rPr lang="fr-FR" sz="2400" kern="0" dirty="0"/>
              <a:t>Dans certaines situations, on est amené à </a:t>
            </a:r>
            <a:r>
              <a:rPr lang="fr-FR" sz="2400" b="1" kern="0" dirty="0">
                <a:solidFill>
                  <a:srgbClr val="0000FF"/>
                </a:solidFill>
              </a:rPr>
              <a:t>exécuter plusieurs fois des actions identiques</a:t>
            </a:r>
            <a:r>
              <a:rPr lang="fr-FR" sz="2400" kern="0" dirty="0"/>
              <a:t> ou du moins de même nature</a:t>
            </a:r>
            <a:r>
              <a:rPr lang="fr-FR" sz="2400" kern="0" dirty="0" smtClean="0"/>
              <a:t>.</a:t>
            </a:r>
            <a:endParaRPr lang="fr-FR" sz="2400" kern="0" dirty="0"/>
          </a:p>
          <a:p>
            <a:pPr algn="just">
              <a:spcAft>
                <a:spcPct val="30000"/>
              </a:spcAft>
              <a:buClr>
                <a:schemeClr val="hlink"/>
              </a:buClr>
              <a:buNone/>
              <a:defRPr/>
            </a:pPr>
            <a:r>
              <a:rPr lang="fr-FR" sz="2400" kern="0" dirty="0"/>
              <a:t>Une</a:t>
            </a:r>
            <a:r>
              <a:rPr lang="fr-FR" sz="2400" b="1" kern="0" dirty="0">
                <a:solidFill>
                  <a:srgbClr val="0000FF"/>
                </a:solidFill>
              </a:rPr>
              <a:t> Itération</a:t>
            </a:r>
            <a:r>
              <a:rPr lang="fr-FR" sz="2400" kern="0" dirty="0">
                <a:solidFill>
                  <a:srgbClr val="0000FF"/>
                </a:solidFill>
              </a:rPr>
              <a:t> </a:t>
            </a:r>
            <a:r>
              <a:rPr lang="fr-FR" sz="2400" kern="0" dirty="0"/>
              <a:t>est une séquence d</a:t>
            </a:r>
            <a:r>
              <a:rPr lang="fr-FR" altLang="fr-FR" sz="2400" kern="0" dirty="0"/>
              <a:t>’</a:t>
            </a:r>
            <a:r>
              <a:rPr lang="fr-FR" sz="2400" kern="0" dirty="0"/>
              <a:t>instructions destinée à être exécutée plusieurs fois</a:t>
            </a:r>
            <a:r>
              <a:rPr lang="fr-FR" sz="2400" kern="0" dirty="0" smtClean="0"/>
              <a:t>.</a:t>
            </a:r>
            <a:endParaRPr lang="fr-FR" sz="2400" kern="0" dirty="0"/>
          </a:p>
          <a:p>
            <a:pPr algn="just">
              <a:spcAft>
                <a:spcPct val="30000"/>
              </a:spcAft>
              <a:buClr>
                <a:schemeClr val="hlink"/>
              </a:buClr>
              <a:buNone/>
              <a:defRPr/>
            </a:pPr>
            <a:r>
              <a:rPr lang="fr-FR" sz="2400" kern="0" dirty="0"/>
              <a:t>Selon que le nombre de répétitions soit connu à l</a:t>
            </a:r>
            <a:r>
              <a:rPr lang="fr-FR" altLang="fr-FR" sz="2400" kern="0" dirty="0"/>
              <a:t>’</a:t>
            </a:r>
            <a:r>
              <a:rPr lang="fr-FR" sz="2400" kern="0" dirty="0"/>
              <a:t>écriture du programme ou pas, on utilisera une structure «</a:t>
            </a:r>
            <a:r>
              <a:rPr lang="fr-FR" sz="2400" b="1" kern="0" dirty="0">
                <a:solidFill>
                  <a:srgbClr val="0000FF"/>
                </a:solidFill>
              </a:rPr>
              <a:t> for</a:t>
            </a:r>
            <a:r>
              <a:rPr lang="fr-FR" sz="2400" kern="0" dirty="0"/>
              <a:t> » ou une structure « </a:t>
            </a:r>
            <a:r>
              <a:rPr lang="fr-FR" sz="2400" b="1" kern="0" dirty="0" err="1">
                <a:solidFill>
                  <a:srgbClr val="0000FF"/>
                </a:solidFill>
              </a:rPr>
              <a:t>while</a:t>
            </a:r>
            <a:r>
              <a:rPr lang="fr-FR" sz="2400" kern="0" dirty="0"/>
              <a:t> ».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88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fr-MA" b="1" dirty="0"/>
              <a:t>for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fr-MA" sz="2000" dirty="0" smtClean="0"/>
              <a:t>La </a:t>
            </a:r>
            <a:r>
              <a:rPr lang="fr-MA" sz="2000" dirty="0"/>
              <a:t>boucle for permet de répéter un ensemble d’instructions. Cette </a:t>
            </a:r>
            <a:r>
              <a:rPr lang="fr-MA" sz="2000" dirty="0" smtClean="0"/>
              <a:t>boucle prend </a:t>
            </a:r>
            <a:r>
              <a:rPr lang="fr-MA" sz="2000" dirty="0"/>
              <a:t>la forme générale suivante </a:t>
            </a:r>
            <a:r>
              <a:rPr lang="fr-MA" sz="2000" dirty="0" smtClean="0"/>
              <a:t>:</a:t>
            </a:r>
          </a:p>
          <a:p>
            <a:endParaRPr lang="fr-MA" sz="1400" dirty="0"/>
          </a:p>
          <a:p>
            <a:endParaRPr lang="fr-MA" sz="1400" dirty="0" smtClean="0"/>
          </a:p>
          <a:p>
            <a:endParaRPr lang="fr-MA" sz="1400" dirty="0"/>
          </a:p>
          <a:p>
            <a:endParaRPr lang="fr-MA" sz="1400" dirty="0" smtClean="0"/>
          </a:p>
          <a:p>
            <a:endParaRPr lang="fr-MA" sz="1400" dirty="0"/>
          </a:p>
          <a:p>
            <a:endParaRPr lang="fr-MA" sz="1400" dirty="0" smtClean="0"/>
          </a:p>
          <a:p>
            <a:pPr marL="0" indent="0" algn="just">
              <a:buNone/>
            </a:pPr>
            <a:endParaRPr lang="fr-MA" sz="2000" dirty="0" smtClean="0"/>
          </a:p>
          <a:p>
            <a:pPr marL="0" indent="0" algn="just">
              <a:buNone/>
            </a:pPr>
            <a:r>
              <a:rPr lang="fr-MA" sz="2000" dirty="0" smtClean="0"/>
              <a:t>L’interpréteur </a:t>
            </a:r>
            <a:r>
              <a:rPr lang="fr-MA" sz="2000" dirty="0"/>
              <a:t>python s’attend à ce que :</a:t>
            </a:r>
          </a:p>
          <a:p>
            <a:pPr algn="just"/>
            <a:r>
              <a:rPr lang="fr-MA" sz="2000" dirty="0" smtClean="0"/>
              <a:t>l’instruction </a:t>
            </a:r>
            <a:r>
              <a:rPr lang="fr-MA" sz="2000" dirty="0"/>
              <a:t>for se termine par le caractère ’:’</a:t>
            </a:r>
          </a:p>
          <a:p>
            <a:pPr algn="just"/>
            <a:r>
              <a:rPr lang="fr-MA" sz="2000" dirty="0" smtClean="0"/>
              <a:t>une </a:t>
            </a:r>
            <a:r>
              <a:rPr lang="fr-MA" sz="2000" dirty="0"/>
              <a:t>ou plusieurs des instructions suivantes commencent par un caractère tabulation ;</a:t>
            </a:r>
          </a:p>
          <a:p>
            <a:pPr algn="just"/>
            <a:r>
              <a:rPr lang="fr-MA" sz="2000" dirty="0" smtClean="0"/>
              <a:t>une </a:t>
            </a:r>
            <a:r>
              <a:rPr lang="fr-MA" sz="2000" dirty="0"/>
              <a:t>suite de caractères espace n’est pas équivalent à un caractère tabulation ;</a:t>
            </a:r>
          </a:p>
          <a:p>
            <a:pPr algn="just"/>
            <a:r>
              <a:rPr lang="fr-MA" sz="2000" dirty="0" smtClean="0"/>
              <a:t>si </a:t>
            </a:r>
            <a:r>
              <a:rPr lang="fr-MA" sz="2000" dirty="0"/>
              <a:t>l’instruction for commence déjà par un certain nombre de tabulations, alors les </a:t>
            </a:r>
            <a:r>
              <a:rPr lang="fr-MA" sz="2000" dirty="0" smtClean="0"/>
              <a:t>instructions suivantes </a:t>
            </a:r>
            <a:r>
              <a:rPr lang="fr-MA" sz="2000" dirty="0"/>
              <a:t>devront en avoir un de plus ;</a:t>
            </a:r>
            <a:endParaRPr lang="fr-MA" sz="2000" dirty="0" smtClean="0"/>
          </a:p>
          <a:p>
            <a:endParaRPr lang="en-US" sz="1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420888"/>
            <a:ext cx="6467475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958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fr-MA" b="1" dirty="0"/>
              <a:t>for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MA" sz="2000" dirty="0"/>
              <a:t>Dans ce cas, toutes les instructions suivant for et commençant par une tabulation </a:t>
            </a:r>
            <a:r>
              <a:rPr lang="fr-MA" sz="2000" dirty="0" smtClean="0"/>
              <a:t>supplémentaire seront </a:t>
            </a:r>
            <a:r>
              <a:rPr lang="fr-MA" sz="2000" dirty="0"/>
              <a:t>exécutées N fois. Dans l’exemple ci-dessus, &lt;</a:t>
            </a:r>
            <a:r>
              <a:rPr lang="fr-MA" sz="2000" dirty="0" err="1"/>
              <a:t>instructionM</a:t>
            </a:r>
            <a:r>
              <a:rPr lang="fr-MA" sz="2000" dirty="0"/>
              <a:t>&gt; ne fait pas </a:t>
            </a:r>
            <a:r>
              <a:rPr lang="fr-MA" sz="2000" dirty="0" smtClean="0"/>
              <a:t>partie de la </a:t>
            </a:r>
            <a:r>
              <a:rPr lang="fr-MA" sz="2000" dirty="0"/>
              <a:t>boucle et n’est pas répétée. Par exemple </a:t>
            </a:r>
            <a:r>
              <a:rPr lang="fr-MA" sz="2000" dirty="0" smtClean="0"/>
              <a:t>:</a:t>
            </a:r>
          </a:p>
          <a:p>
            <a:endParaRPr lang="fr-MA" sz="1800" dirty="0"/>
          </a:p>
          <a:p>
            <a:endParaRPr lang="fr-MA" sz="1800" dirty="0" smtClean="0"/>
          </a:p>
          <a:p>
            <a:endParaRPr lang="fr-MA" sz="1800" dirty="0"/>
          </a:p>
          <a:p>
            <a:pPr marL="0" indent="0">
              <a:buNone/>
            </a:pPr>
            <a:r>
              <a:rPr lang="en-US" sz="2000" dirty="0"/>
              <a:t>bonjour</a:t>
            </a:r>
          </a:p>
          <a:p>
            <a:pPr marL="0" indent="0">
              <a:buNone/>
            </a:pPr>
            <a:r>
              <a:rPr lang="en-US" sz="2000" dirty="0"/>
              <a:t>bonjour</a:t>
            </a:r>
          </a:p>
          <a:p>
            <a:pPr marL="0" indent="0">
              <a:buNone/>
            </a:pPr>
            <a:r>
              <a:rPr lang="en-US" sz="2000" dirty="0"/>
              <a:t>bonjour</a:t>
            </a:r>
          </a:p>
          <a:p>
            <a:pPr marL="0" indent="0">
              <a:buNone/>
            </a:pPr>
            <a:r>
              <a:rPr lang="en-US" sz="2000" dirty="0"/>
              <a:t>Tout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bien</a:t>
            </a:r>
            <a:r>
              <a:rPr lang="en-US" sz="2000" dirty="0"/>
              <a:t> </a:t>
            </a:r>
            <a:r>
              <a:rPr lang="en-US" sz="2000" dirty="0" smtClean="0"/>
              <a:t>?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fr-MA" sz="2000" dirty="0"/>
              <a:t>Ce programme a répété l’exécution de </a:t>
            </a:r>
            <a:r>
              <a:rPr lang="fr-MA" sz="2000" dirty="0" err="1"/>
              <a:t>print</a:t>
            </a:r>
            <a:r>
              <a:rPr lang="fr-MA" sz="2000" dirty="0"/>
              <a:t>("bonjour") trois fois. On dit qu’il y a </a:t>
            </a:r>
            <a:r>
              <a:rPr lang="fr-MA" sz="2000" dirty="0" smtClean="0"/>
              <a:t>eu </a:t>
            </a:r>
            <a:r>
              <a:rPr lang="en-US" sz="2000" dirty="0" smtClean="0"/>
              <a:t>3 </a:t>
            </a:r>
            <a:r>
              <a:rPr lang="en-US" sz="2000" dirty="0" err="1"/>
              <a:t>itérations</a:t>
            </a:r>
            <a:r>
              <a:rPr lang="en-US" sz="2000" dirty="0"/>
              <a:t>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26670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271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fr-MA" b="1" dirty="0"/>
              <a:t>for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fr-MA" sz="1600" b="1" dirty="0"/>
              <a:t>Le compteur de la </a:t>
            </a:r>
            <a:r>
              <a:rPr lang="fr-MA" sz="1600" b="1" dirty="0" smtClean="0"/>
              <a:t>boucle</a:t>
            </a:r>
          </a:p>
          <a:p>
            <a:pPr marL="0" indent="0" algn="ctr">
              <a:buNone/>
            </a:pPr>
            <a:endParaRPr lang="fr-MA" sz="1600" b="1" dirty="0"/>
          </a:p>
          <a:p>
            <a:pPr marL="0" indent="0" algn="just">
              <a:buNone/>
            </a:pPr>
            <a:r>
              <a:rPr lang="fr-MA" sz="2200" dirty="0"/>
              <a:t>L’identificateur qui suit for n’a pas besoin d’avoir été défini auparavant. Python fait de </a:t>
            </a:r>
            <a:r>
              <a:rPr lang="fr-MA" sz="2200" dirty="0" smtClean="0"/>
              <a:t>cet </a:t>
            </a:r>
            <a:r>
              <a:rPr lang="en-US" sz="2200" dirty="0" err="1" smtClean="0"/>
              <a:t>identificateur</a:t>
            </a:r>
            <a:r>
              <a:rPr lang="en-US" sz="2200" dirty="0" smtClean="0"/>
              <a:t> </a:t>
            </a:r>
            <a:r>
              <a:rPr lang="en-US" sz="2200" dirty="0" err="1"/>
              <a:t>une</a:t>
            </a:r>
            <a:r>
              <a:rPr lang="en-US" sz="2200" dirty="0"/>
              <a:t> variable.</a:t>
            </a:r>
          </a:p>
          <a:p>
            <a:pPr algn="just"/>
            <a:r>
              <a:rPr lang="fr-MA" sz="2200" dirty="0" smtClean="0"/>
              <a:t>À </a:t>
            </a:r>
            <a:r>
              <a:rPr lang="fr-MA" sz="2200" dirty="0"/>
              <a:t>la première itération, cette variable vaut 0 ;</a:t>
            </a:r>
          </a:p>
          <a:p>
            <a:pPr algn="just"/>
            <a:r>
              <a:rPr lang="fr-MA" sz="2200" dirty="0" smtClean="0"/>
              <a:t>à </a:t>
            </a:r>
            <a:r>
              <a:rPr lang="fr-MA" sz="2200" dirty="0"/>
              <a:t>la deuxième itération, cette variable vaut 1 ;</a:t>
            </a:r>
          </a:p>
          <a:p>
            <a:pPr algn="just"/>
            <a:r>
              <a:rPr lang="en-US" sz="2200" dirty="0" smtClean="0"/>
              <a:t> </a:t>
            </a:r>
            <a:r>
              <a:rPr lang="en-US" sz="2200" dirty="0"/>
              <a:t>...</a:t>
            </a:r>
          </a:p>
          <a:p>
            <a:pPr algn="just"/>
            <a:r>
              <a:rPr lang="fr-MA" sz="2200" dirty="0" smtClean="0"/>
              <a:t>à </a:t>
            </a:r>
            <a:r>
              <a:rPr lang="fr-MA" sz="2200" dirty="0"/>
              <a:t>la dernière itération, cette variable vaut n-1.</a:t>
            </a:r>
          </a:p>
          <a:p>
            <a:pPr marL="0" indent="0" algn="just">
              <a:buNone/>
            </a:pPr>
            <a:r>
              <a:rPr lang="fr-MA" sz="2200" dirty="0"/>
              <a:t>On l’appelle le compteur de la boucle</a:t>
            </a:r>
            <a:r>
              <a:rPr lang="fr-MA" sz="2200" dirty="0" smtClean="0"/>
              <a:t>.</a:t>
            </a:r>
          </a:p>
          <a:p>
            <a:pPr marL="0" indent="0">
              <a:buNone/>
            </a:pPr>
            <a:endParaRPr lang="fr-MA" sz="1600" dirty="0"/>
          </a:p>
          <a:p>
            <a:pPr marL="0" indent="0">
              <a:buNone/>
            </a:pPr>
            <a:endParaRPr lang="fr-MA" sz="1600" dirty="0" smtClean="0"/>
          </a:p>
          <a:p>
            <a:pPr marL="0" indent="0">
              <a:buNone/>
            </a:pPr>
            <a:endParaRPr lang="fr-MA" sz="1600" dirty="0"/>
          </a:p>
          <a:p>
            <a:pPr marL="0" indent="0">
              <a:buNone/>
            </a:pPr>
            <a:endParaRPr lang="fr-MA" sz="1600" dirty="0" smtClean="0"/>
          </a:p>
          <a:p>
            <a:pPr marL="0" indent="0">
              <a:buNone/>
            </a:pPr>
            <a:r>
              <a:rPr lang="en-US" sz="1600" dirty="0"/>
              <a:t>0</a:t>
            </a:r>
          </a:p>
          <a:p>
            <a:pPr marL="0" indent="0">
              <a:buNone/>
            </a:pPr>
            <a:r>
              <a:rPr lang="en-US" sz="1600" dirty="0"/>
              <a:t>1</a:t>
            </a:r>
          </a:p>
          <a:p>
            <a:pPr marL="0" indent="0">
              <a:buNone/>
            </a:pPr>
            <a:r>
              <a:rPr lang="en-US" sz="1600" dirty="0"/>
              <a:t>2</a:t>
            </a:r>
          </a:p>
          <a:p>
            <a:pPr marL="0" indent="0">
              <a:buNone/>
            </a:pPr>
            <a:r>
              <a:rPr lang="en-US" sz="1600" dirty="0" err="1"/>
              <a:t>Apres</a:t>
            </a:r>
            <a:r>
              <a:rPr lang="en-US" sz="1600" dirty="0"/>
              <a:t> :</a:t>
            </a:r>
          </a:p>
          <a:p>
            <a:pPr marL="0" indent="0">
              <a:buNone/>
            </a:pPr>
            <a:r>
              <a:rPr lang="en-US" sz="1600" dirty="0"/>
              <a:t>2</a:t>
            </a:r>
            <a:endParaRPr lang="fr-MA" sz="1600" dirty="0" smtClean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077072"/>
            <a:ext cx="26765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079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fr-MA" b="1" dirty="0"/>
              <a:t>for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fr-MA" sz="2000" dirty="0"/>
              <a:t>Il est possible de commencer les itérations avec un compteur non-nul, en donnant un </a:t>
            </a:r>
            <a:r>
              <a:rPr lang="fr-MA" sz="2000" dirty="0" smtClean="0"/>
              <a:t>deuxième </a:t>
            </a:r>
            <a:r>
              <a:rPr lang="en-US" sz="2000" dirty="0" smtClean="0"/>
              <a:t>argument </a:t>
            </a:r>
            <a:r>
              <a:rPr lang="en-US" sz="2000" dirty="0"/>
              <a:t>à </a:t>
            </a:r>
            <a:r>
              <a:rPr lang="en-US" sz="2000" dirty="0" err="1"/>
              <a:t>l’opérateur</a:t>
            </a:r>
            <a:r>
              <a:rPr lang="en-US" sz="2000" dirty="0"/>
              <a:t> range</a:t>
            </a:r>
            <a:r>
              <a:rPr lang="en-US" sz="2000" dirty="0" smtClean="0"/>
              <a:t>.</a:t>
            </a:r>
          </a:p>
          <a:p>
            <a:endParaRPr lang="fr-FR" sz="1400" dirty="0" smtClean="0"/>
          </a:p>
          <a:p>
            <a:endParaRPr lang="fr-FR" sz="1400" dirty="0"/>
          </a:p>
          <a:p>
            <a:endParaRPr lang="fr-FR" sz="1400" dirty="0" smtClean="0"/>
          </a:p>
          <a:p>
            <a:endParaRPr lang="fr-FR" sz="1400" dirty="0"/>
          </a:p>
          <a:p>
            <a:endParaRPr lang="fr-FR" sz="1400" dirty="0" smtClean="0"/>
          </a:p>
          <a:p>
            <a:pPr marL="0" indent="0">
              <a:buNone/>
            </a:pPr>
            <a:r>
              <a:rPr lang="en-US" sz="1400" dirty="0"/>
              <a:t>1</a:t>
            </a:r>
          </a:p>
          <a:p>
            <a:pPr marL="0" indent="0">
              <a:buNone/>
            </a:pPr>
            <a:r>
              <a:rPr lang="en-US" sz="1400" dirty="0"/>
              <a:t>2</a:t>
            </a:r>
          </a:p>
          <a:p>
            <a:pPr marL="0" indent="0">
              <a:buNone/>
            </a:pPr>
            <a:r>
              <a:rPr lang="en-US" sz="1400" dirty="0"/>
              <a:t>3</a:t>
            </a:r>
          </a:p>
          <a:p>
            <a:pPr marL="0" indent="0">
              <a:buNone/>
            </a:pPr>
            <a:r>
              <a:rPr lang="en-US" sz="1400" dirty="0" err="1"/>
              <a:t>Apres</a:t>
            </a:r>
            <a:r>
              <a:rPr lang="en-US" sz="1400" dirty="0"/>
              <a:t> :</a:t>
            </a:r>
          </a:p>
          <a:p>
            <a:pPr marL="0" indent="0">
              <a:buNone/>
            </a:pPr>
            <a:r>
              <a:rPr lang="en-US" sz="1400" dirty="0"/>
              <a:t>3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492896"/>
            <a:ext cx="2676525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252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fr-MA" b="1" dirty="0"/>
              <a:t>for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 err="1"/>
              <a:t>Boucles</a:t>
            </a:r>
            <a:r>
              <a:rPr lang="en-US" sz="1800" b="1" dirty="0"/>
              <a:t> for </a:t>
            </a:r>
            <a:r>
              <a:rPr lang="en-US" sz="1800" b="1" dirty="0" err="1"/>
              <a:t>imbriquées</a:t>
            </a:r>
            <a:endParaRPr lang="en-US" sz="1800" b="1" dirty="0"/>
          </a:p>
          <a:p>
            <a:pPr marL="0" indent="0" algn="just">
              <a:buNone/>
            </a:pPr>
            <a:r>
              <a:rPr lang="fr-MA" sz="2000" dirty="0"/>
              <a:t>À l’intérieur d’une boucle, on peut faire une deuxième boucle (voire une troisième ou </a:t>
            </a:r>
            <a:r>
              <a:rPr lang="fr-MA" sz="2000" dirty="0" smtClean="0"/>
              <a:t>une quatrième </a:t>
            </a:r>
            <a:r>
              <a:rPr lang="fr-MA" sz="2000" dirty="0"/>
              <a:t>si nécessaire). Par exemple </a:t>
            </a:r>
            <a:r>
              <a:rPr lang="fr-MA" sz="2000" dirty="0" smtClean="0"/>
              <a:t>:</a:t>
            </a:r>
          </a:p>
          <a:p>
            <a:endParaRPr lang="fr-MA" sz="1800" dirty="0"/>
          </a:p>
          <a:p>
            <a:endParaRPr lang="fr-MA" sz="1800" dirty="0" smtClean="0"/>
          </a:p>
          <a:p>
            <a:endParaRPr lang="fr-MA" sz="1800" dirty="0"/>
          </a:p>
          <a:p>
            <a:pPr marL="0" indent="0">
              <a:buNone/>
            </a:pPr>
            <a:r>
              <a:rPr lang="en-US" sz="1800" dirty="0"/>
              <a:t>(0,0)</a:t>
            </a:r>
          </a:p>
          <a:p>
            <a:pPr marL="0" indent="0">
              <a:buNone/>
            </a:pPr>
            <a:r>
              <a:rPr lang="en-US" sz="1800" dirty="0"/>
              <a:t>(0,1)</a:t>
            </a:r>
          </a:p>
          <a:p>
            <a:pPr marL="0" indent="0">
              <a:buNone/>
            </a:pPr>
            <a:r>
              <a:rPr lang="en-US" sz="1800" dirty="0"/>
              <a:t>(0,2)</a:t>
            </a:r>
          </a:p>
          <a:p>
            <a:pPr marL="0" indent="0">
              <a:buNone/>
            </a:pPr>
            <a:r>
              <a:rPr lang="en-US" sz="1800" dirty="0"/>
              <a:t>(1,0)</a:t>
            </a:r>
          </a:p>
          <a:p>
            <a:pPr marL="0" indent="0">
              <a:buNone/>
            </a:pPr>
            <a:r>
              <a:rPr lang="en-US" sz="1800" dirty="0"/>
              <a:t>(1,1)</a:t>
            </a:r>
          </a:p>
          <a:p>
            <a:pPr marL="0" indent="0">
              <a:buNone/>
            </a:pPr>
            <a:r>
              <a:rPr lang="en-US" sz="1800" dirty="0"/>
              <a:t>(1,2)</a:t>
            </a:r>
            <a:endParaRPr lang="fr-MA" sz="1800" dirty="0" smtClean="0"/>
          </a:p>
          <a:p>
            <a:endParaRPr lang="en-US" sz="18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994099"/>
            <a:ext cx="2695575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6482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1143000"/>
          </a:xfrm>
        </p:spPr>
        <p:txBody>
          <a:bodyPr>
            <a:normAutofit/>
          </a:bodyPr>
          <a:lstStyle/>
          <a:p>
            <a:r>
              <a:rPr lang="fr-MA" sz="3600" dirty="0"/>
              <a:t>Les répétitions : la boucle </a:t>
            </a:r>
            <a:r>
              <a:rPr lang="en-US" sz="3600" b="1" dirty="0" smtClean="0"/>
              <a:t>while(</a:t>
            </a:r>
            <a:r>
              <a:rPr lang="fr-MA" sz="3600" b="1" dirty="0"/>
              <a:t>tant que )</a:t>
            </a:r>
            <a:endParaRPr lang="en-US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MA" sz="2000" dirty="0"/>
              <a:t>La boucle tant que (ou </a:t>
            </a:r>
            <a:r>
              <a:rPr lang="fr-MA" sz="2000" dirty="0" err="1"/>
              <a:t>while</a:t>
            </a:r>
            <a:r>
              <a:rPr lang="fr-MA" sz="2000" dirty="0"/>
              <a:t> en anglais) est une structure de contrôle en algorithmique utilisée pour répéter un ensemble d'instructions tant qu'une condition est vraie. Contrairement à la boucle for, elle est particulièrement utile lorsqu'on ne connaît pas à l'avance le nombre d'itérations, mais qu'on sait qu'elles doivent se poursuivre tant qu'une certaine condition est vérifiée</a:t>
            </a:r>
            <a:r>
              <a:rPr lang="fr-MA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774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en-US" b="1" dirty="0"/>
              <a:t>while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 algn="just">
              <a:buNone/>
            </a:pPr>
            <a:r>
              <a:rPr lang="fr-MA" sz="2000" dirty="0"/>
              <a:t>La boucle </a:t>
            </a:r>
            <a:r>
              <a:rPr lang="fr-MA" sz="2000" dirty="0" err="1"/>
              <a:t>while</a:t>
            </a:r>
            <a:r>
              <a:rPr lang="fr-MA" sz="2000" dirty="0"/>
              <a:t> permet de répéter </a:t>
            </a:r>
            <a:r>
              <a:rPr lang="en-US" sz="2000" kern="0" dirty="0" smtClean="0">
                <a:latin typeface="arial (Corps)"/>
              </a:rPr>
              <a:t>le </a:t>
            </a:r>
            <a:r>
              <a:rPr lang="en-US" sz="2000" kern="0" dirty="0">
                <a:latin typeface="arial (Corps)"/>
              </a:rPr>
              <a:t>bloc </a:t>
            </a:r>
            <a:r>
              <a:rPr lang="en-US" sz="2000" kern="0" dirty="0" err="1">
                <a:latin typeface="arial (Corps)"/>
              </a:rPr>
              <a:t>d</a:t>
            </a:r>
            <a:r>
              <a:rPr lang="en-US" altLang="fr-FR" sz="2000" kern="0" dirty="0" err="1">
                <a:latin typeface="arial (Corps)"/>
              </a:rPr>
              <a:t>’</a:t>
            </a:r>
            <a:r>
              <a:rPr lang="en-US" sz="2000" kern="0" dirty="0" err="1">
                <a:latin typeface="arial (Corps)"/>
              </a:rPr>
              <a:t>instructions</a:t>
            </a:r>
            <a:r>
              <a:rPr lang="en-US" sz="2000" kern="0" dirty="0">
                <a:latin typeface="arial (Corps)"/>
              </a:rPr>
              <a:t> </a:t>
            </a:r>
            <a:r>
              <a:rPr lang="en-US" sz="2000" b="1" kern="0" dirty="0" err="1" smtClean="0">
                <a:solidFill>
                  <a:srgbClr val="0000FF"/>
                </a:solidFill>
                <a:latin typeface="arial (Corps)"/>
              </a:rPr>
              <a:t>tant</a:t>
            </a:r>
            <a:r>
              <a:rPr lang="en-US" sz="2000" b="1" kern="0" dirty="0" smtClean="0">
                <a:solidFill>
                  <a:srgbClr val="0000FF"/>
                </a:solidFill>
                <a:latin typeface="arial (Corps)"/>
              </a:rPr>
              <a:t> </a:t>
            </a:r>
            <a:r>
              <a:rPr lang="en-US" sz="2000" b="1" kern="0" dirty="0" err="1" smtClean="0">
                <a:solidFill>
                  <a:srgbClr val="0000FF"/>
                </a:solidFill>
                <a:latin typeface="arial (Corps)"/>
              </a:rPr>
              <a:t>que</a:t>
            </a:r>
            <a:r>
              <a:rPr lang="en-US" sz="2000" b="1" kern="0" dirty="0" smtClean="0">
                <a:solidFill>
                  <a:srgbClr val="0000FF"/>
                </a:solidFill>
                <a:latin typeface="arial (Corps)"/>
              </a:rPr>
              <a:t> </a:t>
            </a:r>
            <a:r>
              <a:rPr lang="en-US" sz="2000" kern="0" dirty="0" smtClean="0">
                <a:latin typeface="arial (Corps)"/>
              </a:rPr>
              <a:t>la condition </a:t>
            </a:r>
            <a:r>
              <a:rPr lang="en-US" sz="2000" kern="0" dirty="0" err="1">
                <a:latin typeface="arial (Corps)"/>
              </a:rPr>
              <a:t>est</a:t>
            </a:r>
            <a:r>
              <a:rPr lang="en-US" sz="2000" kern="0" dirty="0">
                <a:latin typeface="arial (Corps)"/>
              </a:rPr>
              <a:t> </a:t>
            </a:r>
            <a:r>
              <a:rPr lang="en-US" sz="2000" kern="0" dirty="0" err="1">
                <a:latin typeface="arial (Corps)"/>
              </a:rPr>
              <a:t>vraie</a:t>
            </a:r>
            <a:r>
              <a:rPr lang="en-US" sz="2000" kern="0" dirty="0" smtClean="0">
                <a:latin typeface="arial (Corps)"/>
              </a:rPr>
              <a:t>.</a:t>
            </a:r>
            <a:endParaRPr lang="fr-MA" sz="2000" dirty="0"/>
          </a:p>
          <a:p>
            <a:pPr marL="0" indent="0" algn="just">
              <a:buNone/>
            </a:pPr>
            <a:r>
              <a:rPr lang="en-US" sz="2000" dirty="0"/>
              <a:t>Par </a:t>
            </a:r>
            <a:r>
              <a:rPr lang="en-US" sz="2000" dirty="0" err="1"/>
              <a:t>exemple</a:t>
            </a:r>
            <a:r>
              <a:rPr lang="en-US" sz="2000" dirty="0"/>
              <a:t> </a:t>
            </a:r>
            <a:r>
              <a:rPr lang="en-US" sz="2000" dirty="0" smtClean="0"/>
              <a:t>:</a:t>
            </a:r>
          </a:p>
          <a:p>
            <a:endParaRPr lang="fr-FR" sz="1600" dirty="0"/>
          </a:p>
          <a:p>
            <a:endParaRPr lang="fr-FR" sz="1600" dirty="0" smtClean="0"/>
          </a:p>
          <a:p>
            <a:endParaRPr lang="fr-FR" sz="1600" dirty="0"/>
          </a:p>
          <a:p>
            <a:endParaRPr lang="fr-FR" sz="1600" dirty="0" smtClean="0"/>
          </a:p>
          <a:p>
            <a:endParaRPr lang="fr-FR" sz="1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996952"/>
            <a:ext cx="647700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740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en-US" b="1" dirty="0"/>
              <a:t>while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MA" sz="2000" dirty="0"/>
              <a:t>Dans le cas de notre exemple, la sortie de ce code serait </a:t>
            </a:r>
            <a:r>
              <a:rPr lang="fr-MA" sz="2000" dirty="0" smtClean="0"/>
              <a:t>: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dirty="0" smtClean="0"/>
              <a:t>0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1</a:t>
            </a:r>
          </a:p>
          <a:p>
            <a:pPr marL="0" indent="0" algn="just">
              <a:buNone/>
            </a:pPr>
            <a:r>
              <a:rPr lang="en-US" sz="2000" dirty="0"/>
              <a:t>2</a:t>
            </a:r>
          </a:p>
          <a:p>
            <a:pPr marL="0" indent="0" algn="just">
              <a:buNone/>
            </a:pPr>
            <a:r>
              <a:rPr lang="en-US" sz="2000" dirty="0"/>
              <a:t>3</a:t>
            </a:r>
          </a:p>
          <a:p>
            <a:pPr marL="0" indent="0" algn="just">
              <a:buNone/>
            </a:pPr>
            <a:r>
              <a:rPr lang="en-US" sz="2000" dirty="0"/>
              <a:t>fin de boucle</a:t>
            </a:r>
          </a:p>
        </p:txBody>
      </p:sp>
    </p:spTree>
    <p:extLst>
      <p:ext uri="{BB962C8B-B14F-4D97-AF65-F5344CB8AC3E}">
        <p14:creationId xmlns:p14="http://schemas.microsoft.com/office/powerpoint/2010/main" val="250814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en-US" b="1" dirty="0"/>
              <a:t>while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MA" sz="2000" dirty="0"/>
              <a:t>Vous aurez peut être remarqué que la boucle </a:t>
            </a:r>
            <a:r>
              <a:rPr lang="fr-MA" sz="2000" dirty="0" err="1"/>
              <a:t>while</a:t>
            </a:r>
            <a:r>
              <a:rPr lang="fr-MA" sz="2000" dirty="0"/>
              <a:t> de l’exemple précédent peut être </a:t>
            </a:r>
            <a:r>
              <a:rPr lang="fr-MA" sz="2000" dirty="0" smtClean="0"/>
              <a:t>remplacée par </a:t>
            </a:r>
            <a:r>
              <a:rPr lang="fr-MA" sz="2000" dirty="0"/>
              <a:t>la boucle for suivante </a:t>
            </a:r>
            <a:r>
              <a:rPr lang="fr-MA" sz="2000" dirty="0" smtClean="0"/>
              <a:t>:</a:t>
            </a:r>
          </a:p>
          <a:p>
            <a:endParaRPr lang="fr-MA" sz="1600" dirty="0"/>
          </a:p>
          <a:p>
            <a:endParaRPr lang="fr-MA" sz="1600" dirty="0" smtClean="0"/>
          </a:p>
          <a:p>
            <a:endParaRPr lang="fr-MA" sz="1600" dirty="0"/>
          </a:p>
          <a:p>
            <a:pPr marL="0" indent="0" algn="just">
              <a:buNone/>
            </a:pPr>
            <a:r>
              <a:rPr lang="fr-MA" sz="2000" dirty="0" smtClean="0"/>
              <a:t>Quand il </a:t>
            </a:r>
            <a:r>
              <a:rPr lang="fr-MA" sz="2000" dirty="0"/>
              <a:t>s’agit d’implémenter des compteurs, la boucle for est effectivement plus </a:t>
            </a:r>
            <a:r>
              <a:rPr lang="fr-MA" sz="2000" dirty="0" smtClean="0"/>
              <a:t>judicieuse. La </a:t>
            </a:r>
            <a:r>
              <a:rPr lang="fr-MA" sz="2000" dirty="0"/>
              <a:t>boucle </a:t>
            </a:r>
            <a:r>
              <a:rPr lang="fr-MA" sz="2000" dirty="0" err="1"/>
              <a:t>while</a:t>
            </a:r>
            <a:r>
              <a:rPr lang="fr-MA" sz="2000" dirty="0"/>
              <a:t> est elle par contre très utile lorsque le nombre d’itérations n’est pas connu </a:t>
            </a:r>
            <a:r>
              <a:rPr lang="fr-MA" sz="2000" dirty="0" smtClean="0"/>
              <a:t>à </a:t>
            </a:r>
            <a:r>
              <a:rPr lang="en-US" sz="2000" dirty="0" err="1" smtClean="0"/>
              <a:t>l’avance</a:t>
            </a:r>
            <a:r>
              <a:rPr lang="en-US" sz="2000" dirty="0" smtClean="0"/>
              <a:t> </a:t>
            </a:r>
            <a:r>
              <a:rPr lang="en-US" sz="2000" dirty="0"/>
              <a:t>par le </a:t>
            </a:r>
            <a:r>
              <a:rPr lang="en-US" sz="2000" dirty="0" err="1"/>
              <a:t>programmeur</a:t>
            </a:r>
            <a:r>
              <a:rPr lang="en-US" sz="2000" dirty="0"/>
              <a:t>.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61130"/>
            <a:ext cx="644842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532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en-US" b="1" dirty="0"/>
              <a:t>while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MA" sz="2000" dirty="0"/>
              <a:t>Imaginons que nous voulons écrire un programme qui demande à l’utilisateur de </a:t>
            </a:r>
            <a:r>
              <a:rPr lang="fr-MA" sz="2000" dirty="0" smtClean="0"/>
              <a:t>résoudre une </a:t>
            </a:r>
            <a:r>
              <a:rPr lang="fr-MA" sz="2000" dirty="0"/>
              <a:t>multiplication, par exemple </a:t>
            </a:r>
            <a:r>
              <a:rPr lang="fr-MA" sz="2000" dirty="0" smtClean="0"/>
              <a:t>7x4</a:t>
            </a:r>
            <a:r>
              <a:rPr lang="fr-MA" sz="2000" dirty="0"/>
              <a:t>. Le programme doit afficher l’instruction autant de fois </a:t>
            </a:r>
            <a:r>
              <a:rPr lang="fr-MA" sz="2000" dirty="0" smtClean="0"/>
              <a:t>que nécessaire</a:t>
            </a:r>
            <a:r>
              <a:rPr lang="fr-MA" sz="2000" dirty="0"/>
              <a:t>, jusqu’à ce que l’utilisateur entre effectivement la solution. On ne peut pas prédire </a:t>
            </a:r>
            <a:r>
              <a:rPr lang="fr-MA" sz="2000" dirty="0" smtClean="0"/>
              <a:t>à l’avance </a:t>
            </a:r>
            <a:r>
              <a:rPr lang="fr-MA" sz="2000" dirty="0"/>
              <a:t>combien d’essais l’utilisateur va tenter. Ce code s’écrirait alors ainsi </a:t>
            </a:r>
            <a:r>
              <a:rPr lang="fr-MA" sz="2000" dirty="0" smtClean="0"/>
              <a:t>:</a:t>
            </a:r>
          </a:p>
          <a:p>
            <a:endParaRPr lang="fr-MA" sz="1600" dirty="0"/>
          </a:p>
          <a:p>
            <a:endParaRPr lang="fr-MA" sz="1600" dirty="0" smtClean="0"/>
          </a:p>
          <a:p>
            <a:endParaRPr lang="fr-MA" sz="1600" dirty="0"/>
          </a:p>
          <a:p>
            <a:endParaRPr lang="fr-MA" sz="1600" dirty="0" smtClean="0"/>
          </a:p>
          <a:p>
            <a:pPr marL="0" indent="0" algn="just">
              <a:buNone/>
            </a:pPr>
            <a:r>
              <a:rPr lang="fr-MA" sz="2000" dirty="0"/>
              <a:t>La fonction input affiche la chaîne de caractères entre parenthèses et attend que </a:t>
            </a:r>
            <a:r>
              <a:rPr lang="fr-MA" sz="2000" dirty="0" smtClean="0"/>
              <a:t>l’utilisateur entre </a:t>
            </a:r>
            <a:r>
              <a:rPr lang="fr-MA" sz="2000" dirty="0"/>
              <a:t>quelque chose au clavier. L’entrée de l’utilisateur est alors stockée dans la variable de </a:t>
            </a:r>
            <a:r>
              <a:rPr lang="fr-MA" sz="2000" dirty="0" smtClean="0"/>
              <a:t>sortie (ici </a:t>
            </a:r>
            <a:r>
              <a:rPr lang="fr-MA" sz="2000" dirty="0" err="1"/>
              <a:t>input_utilisateur</a:t>
            </a:r>
            <a:r>
              <a:rPr lang="fr-MA" sz="2000" dirty="0"/>
              <a:t>) sous forme de string.</a:t>
            </a:r>
            <a:endParaRPr lang="en-US" sz="20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79" y="3227762"/>
            <a:ext cx="6448425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269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en-US" b="1" dirty="0"/>
              <a:t>while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MA" sz="2000" dirty="0"/>
              <a:t>Dans cet exemple, le programme commence par tester la condition du </a:t>
            </a:r>
            <a:r>
              <a:rPr lang="fr-MA" sz="2000" dirty="0" err="1"/>
              <a:t>while</a:t>
            </a:r>
            <a:r>
              <a:rPr lang="fr-MA" sz="2000" dirty="0"/>
              <a:t>. Au début </a:t>
            </a:r>
            <a:r>
              <a:rPr lang="fr-MA" sz="2000" dirty="0" smtClean="0"/>
              <a:t>comme </a:t>
            </a:r>
            <a:r>
              <a:rPr lang="fr-MA" sz="2000" dirty="0" err="1" smtClean="0"/>
              <a:t>input_utilisateur</a:t>
            </a:r>
            <a:r>
              <a:rPr lang="fr-MA" sz="2000" dirty="0" smtClean="0"/>
              <a:t> </a:t>
            </a:r>
            <a:r>
              <a:rPr lang="fr-MA" sz="2000" dirty="0"/>
              <a:t>vaut "0", il exécute l’intérieur de la boucle et demande donc une valeur à </a:t>
            </a:r>
            <a:r>
              <a:rPr lang="fr-MA" sz="2000" dirty="0" smtClean="0"/>
              <a:t>l’utilisateur. Le </a:t>
            </a:r>
            <a:r>
              <a:rPr lang="fr-MA" sz="2000" dirty="0"/>
              <a:t>programme test de nouveau la condition du </a:t>
            </a:r>
            <a:r>
              <a:rPr lang="fr-MA" sz="2000" dirty="0" err="1"/>
              <a:t>while</a:t>
            </a:r>
            <a:r>
              <a:rPr lang="fr-MA" sz="2000" dirty="0"/>
              <a:t>, si l’utilisateur entre 28, </a:t>
            </a:r>
            <a:r>
              <a:rPr lang="fr-MA" sz="2000" dirty="0" smtClean="0"/>
              <a:t>le </a:t>
            </a:r>
            <a:r>
              <a:rPr lang="fr-MA" sz="2000" dirty="0"/>
              <a:t>programme sort de la boucle et affiche "Bravo", sinon il redemande une </a:t>
            </a:r>
            <a:r>
              <a:rPr lang="fr-MA" sz="2000" dirty="0" smtClean="0"/>
              <a:t>nouvelle </a:t>
            </a:r>
            <a:r>
              <a:rPr lang="en-US" sz="2000" dirty="0" err="1" smtClean="0"/>
              <a:t>valeur</a:t>
            </a:r>
            <a:r>
              <a:rPr lang="en-US" sz="2000" dirty="0" smtClean="0"/>
              <a:t> </a:t>
            </a:r>
            <a:r>
              <a:rPr lang="en-US" sz="2000" dirty="0"/>
              <a:t>à </a:t>
            </a:r>
            <a:r>
              <a:rPr lang="en-US" sz="2000" dirty="0" err="1"/>
              <a:t>l’utilisateur</a:t>
            </a:r>
            <a:r>
              <a:rPr lang="en-US" sz="2000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388993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MA" dirty="0"/>
              <a:t>Les répétitions : la boucle </a:t>
            </a:r>
            <a:r>
              <a:rPr lang="en-US" b="1" dirty="0"/>
              <a:t>while</a:t>
            </a:r>
            <a:r>
              <a:rPr lang="fr-MA" dirty="0" smtClean="0"/>
              <a:t/>
            </a:r>
            <a:br>
              <a:rPr lang="fr-MA" dirty="0" smtClean="0"/>
            </a:b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fr-MA" sz="2000" b="1" dirty="0"/>
              <a:t>Combinaison de propositions par opérateurs </a:t>
            </a:r>
            <a:r>
              <a:rPr lang="fr-MA" sz="2000" b="1" dirty="0" smtClean="0"/>
              <a:t>logiques</a:t>
            </a:r>
          </a:p>
          <a:p>
            <a:pPr marL="0" indent="0" algn="ctr">
              <a:buNone/>
            </a:pPr>
            <a:endParaRPr lang="fr-MA" sz="2000" b="1" dirty="0" smtClean="0"/>
          </a:p>
          <a:p>
            <a:pPr marL="0" indent="0" algn="just">
              <a:buNone/>
            </a:pPr>
            <a:r>
              <a:rPr lang="fr-MA" sz="2000" dirty="0" smtClean="0"/>
              <a:t>Jusqu’à </a:t>
            </a:r>
            <a:r>
              <a:rPr lang="fr-MA" sz="2000" dirty="0"/>
              <a:t>présent nous avons vu que les structures if </a:t>
            </a:r>
            <a:r>
              <a:rPr lang="fr-MA" sz="2000" dirty="0" err="1"/>
              <a:t>elif</a:t>
            </a:r>
            <a:r>
              <a:rPr lang="fr-MA" sz="2000" dirty="0"/>
              <a:t> if et les boucles for requerraient </a:t>
            </a:r>
            <a:r>
              <a:rPr lang="fr-MA" sz="2000" dirty="0" smtClean="0"/>
              <a:t>une proposition </a:t>
            </a:r>
            <a:r>
              <a:rPr lang="fr-MA" sz="2000" dirty="0"/>
              <a:t>souvent sous la forme d’une comparaison. Il est également possible de tester </a:t>
            </a:r>
            <a:r>
              <a:rPr lang="fr-MA" sz="2000" dirty="0" smtClean="0"/>
              <a:t>plusieurs propositions </a:t>
            </a:r>
            <a:r>
              <a:rPr lang="fr-MA" sz="2000" dirty="0"/>
              <a:t>en même temps en les combinant dans une "super" proposition.</a:t>
            </a:r>
          </a:p>
          <a:p>
            <a:pPr marL="0" indent="0" algn="just">
              <a:buNone/>
            </a:pPr>
            <a:r>
              <a:rPr lang="en-US" sz="2000" dirty="0"/>
              <a:t>Par </a:t>
            </a:r>
            <a:r>
              <a:rPr lang="en-US" sz="2000" dirty="0" err="1" smtClean="0"/>
              <a:t>exemple</a:t>
            </a:r>
            <a:r>
              <a:rPr lang="en-US" sz="2000" dirty="0" smtClean="0"/>
              <a:t> :</a:t>
            </a:r>
          </a:p>
          <a:p>
            <a:endParaRPr lang="fr-FR" sz="1600" dirty="0"/>
          </a:p>
          <a:p>
            <a:endParaRPr lang="fr-FR" sz="1600" dirty="0" smtClean="0"/>
          </a:p>
          <a:p>
            <a:pPr marL="0" indent="0" algn="just">
              <a:buNone/>
            </a:pPr>
            <a:endParaRPr lang="fr-MA" sz="2200" dirty="0" smtClean="0"/>
          </a:p>
          <a:p>
            <a:pPr marL="0" indent="0" algn="just">
              <a:buNone/>
            </a:pPr>
            <a:r>
              <a:rPr lang="fr-MA" sz="2200" dirty="0" smtClean="0"/>
              <a:t>Ici </a:t>
            </a:r>
            <a:r>
              <a:rPr lang="fr-MA" sz="2200" dirty="0"/>
              <a:t>le programme affichera la valeur de a, seulement si la combinaison des deux </a:t>
            </a:r>
            <a:r>
              <a:rPr lang="fr-MA" sz="2200" dirty="0" smtClean="0"/>
              <a:t>conditions est </a:t>
            </a:r>
            <a:r>
              <a:rPr lang="fr-MA" sz="2200" dirty="0"/>
              <a:t>vérifiée, c’est-à-dire si a est supérieur à 0 et inférieur à 10.</a:t>
            </a:r>
          </a:p>
          <a:p>
            <a:pPr marL="0" indent="0" algn="just">
              <a:buNone/>
            </a:pPr>
            <a:r>
              <a:rPr lang="fr-MA" sz="2200" dirty="0"/>
              <a:t>La combinaison de conditions peut se faire en utilisant les mots clefs "and", "or" et "not</a:t>
            </a:r>
            <a:r>
              <a:rPr lang="fr-MA" sz="2200" dirty="0" smtClean="0"/>
              <a:t>". and </a:t>
            </a:r>
            <a:r>
              <a:rPr lang="fr-MA" sz="2200" dirty="0"/>
              <a:t>représente le ET logique et or le OU logique </a:t>
            </a:r>
            <a:r>
              <a:rPr lang="fr-MA" sz="2200" dirty="0" smtClean="0"/>
              <a:t>.</a:t>
            </a:r>
            <a:endParaRPr lang="fr-MA" sz="2200" dirty="0"/>
          </a:p>
          <a:p>
            <a:pPr marL="0" indent="0" algn="just">
              <a:buNone/>
            </a:pPr>
            <a:r>
              <a:rPr lang="fr-MA" sz="2200" dirty="0"/>
              <a:t>Il est possible de combiner autant de and et or que nécessaire dans une seule condition. </a:t>
            </a:r>
            <a:r>
              <a:rPr lang="fr-MA" sz="2200" dirty="0" smtClean="0"/>
              <a:t>Du point </a:t>
            </a:r>
            <a:r>
              <a:rPr lang="fr-MA" sz="2200" dirty="0"/>
              <a:t>de vue informatique, qu’il y ait une seule condition ou plusieurs ne change rien. En </a:t>
            </a:r>
            <a:r>
              <a:rPr lang="fr-MA" sz="2200" dirty="0" smtClean="0"/>
              <a:t>effet, le </a:t>
            </a:r>
            <a:r>
              <a:rPr lang="fr-MA" sz="2200" dirty="0"/>
              <a:t>résultat d’une comparaison ou d’une combinaison de comparaisons est toujours une </a:t>
            </a:r>
            <a:r>
              <a:rPr lang="fr-MA" sz="2200" dirty="0" smtClean="0"/>
              <a:t>valeur </a:t>
            </a:r>
            <a:r>
              <a:rPr lang="en-US" sz="2200" dirty="0" err="1" smtClean="0"/>
              <a:t>booléenne</a:t>
            </a:r>
            <a:r>
              <a:rPr lang="en-US" sz="2200" dirty="0" smtClean="0"/>
              <a:t> </a:t>
            </a:r>
            <a:r>
              <a:rPr lang="en-US" sz="2200" dirty="0"/>
              <a:t>: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138123"/>
            <a:ext cx="64674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461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en-US" b="1" dirty="0"/>
              <a:t>while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pPr marL="0" indent="0" algn="just">
              <a:buNone/>
            </a:pPr>
            <a:r>
              <a:rPr lang="fr-MA" sz="2000" dirty="0"/>
              <a:t>not permet la négation d’une proposition logique. not A est vraie si A est fausse, et fausse </a:t>
            </a:r>
            <a:r>
              <a:rPr lang="fr-MA" sz="2000" dirty="0" smtClean="0"/>
              <a:t>si </a:t>
            </a:r>
            <a:r>
              <a:rPr lang="en-US" sz="2000" dirty="0" smtClean="0"/>
              <a:t>A </a:t>
            </a:r>
            <a:r>
              <a:rPr lang="en-US" sz="2000" dirty="0" err="1"/>
              <a:t>est</a:t>
            </a:r>
            <a:r>
              <a:rPr lang="en-US" sz="2000" dirty="0"/>
              <a:t> </a:t>
            </a:r>
            <a:r>
              <a:rPr lang="en-US" sz="2000" dirty="0" err="1"/>
              <a:t>vraie</a:t>
            </a:r>
            <a:r>
              <a:rPr lang="en-US" sz="2000" dirty="0"/>
              <a:t>.</a:t>
            </a:r>
          </a:p>
          <a:p>
            <a:pPr marL="0" indent="0" algn="just">
              <a:buNone/>
            </a:pPr>
            <a:r>
              <a:rPr lang="en-US" sz="2000" dirty="0"/>
              <a:t>Par </a:t>
            </a:r>
            <a:r>
              <a:rPr lang="en-US" sz="2000" dirty="0" err="1"/>
              <a:t>exemple</a:t>
            </a:r>
            <a:r>
              <a:rPr lang="en-US" sz="2000" dirty="0"/>
              <a:t> :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28800"/>
            <a:ext cx="646747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515222"/>
            <a:ext cx="64389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978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en-US" b="1" dirty="0"/>
              <a:t>while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MA" sz="2000" b="1" dirty="0"/>
              <a:t>Retour sur les priorités entre </a:t>
            </a:r>
            <a:r>
              <a:rPr lang="fr-MA" sz="2000" b="1" dirty="0" smtClean="0"/>
              <a:t>opérateurs</a:t>
            </a:r>
          </a:p>
          <a:p>
            <a:pPr marL="0" indent="0" algn="ctr">
              <a:buNone/>
            </a:pPr>
            <a:endParaRPr lang="fr-MA" sz="2000" b="1" dirty="0"/>
          </a:p>
          <a:p>
            <a:pPr marL="0" indent="0">
              <a:buNone/>
            </a:pPr>
            <a:r>
              <a:rPr lang="fr-MA" sz="2000" dirty="0"/>
              <a:t>N</a:t>
            </a:r>
            <a:r>
              <a:rPr lang="fr-MA" sz="2000" dirty="0" smtClean="0"/>
              <a:t>ous </a:t>
            </a:r>
            <a:r>
              <a:rPr lang="fr-MA" sz="2000" dirty="0"/>
              <a:t>avons déjà vu qu’il existe des priorités entre opérateurs </a:t>
            </a:r>
            <a:r>
              <a:rPr lang="fr-MA" sz="2000" dirty="0" smtClean="0"/>
              <a:t>permettant à </a:t>
            </a:r>
            <a:r>
              <a:rPr lang="fr-MA" sz="2000" dirty="0"/>
              <a:t>l’interpréteur python de savoir quelle opération effectuée en premier lorsqu’il rencontre </a:t>
            </a:r>
            <a:r>
              <a:rPr lang="fr-MA" sz="2000" dirty="0" smtClean="0"/>
              <a:t>une </a:t>
            </a:r>
            <a:r>
              <a:rPr lang="en-US" sz="2000" dirty="0" err="1" smtClean="0"/>
              <a:t>combinaison</a:t>
            </a:r>
            <a:r>
              <a:rPr lang="en-US" sz="2000" dirty="0" smtClean="0"/>
              <a:t> </a:t>
            </a:r>
            <a:r>
              <a:rPr lang="en-US" sz="2000" dirty="0" err="1" smtClean="0"/>
              <a:t>d’opérations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fr-MA" sz="2000" dirty="0" smtClean="0"/>
              <a:t>Les </a:t>
            </a:r>
            <a:r>
              <a:rPr lang="fr-MA" sz="2000" dirty="0"/>
              <a:t>opérateurs de comparaison ainsi que les opérateurs logiques que nous avons </a:t>
            </a:r>
            <a:r>
              <a:rPr lang="fr-MA" sz="2000" dirty="0" smtClean="0"/>
              <a:t>vus </a:t>
            </a:r>
            <a:r>
              <a:rPr lang="fr-MA" sz="2000" dirty="0"/>
              <a:t>s’intègrent également dans cet ordre de priorité. L’ensemble des opérateurs vus </a:t>
            </a:r>
            <a:r>
              <a:rPr lang="fr-MA" sz="2000" dirty="0" smtClean="0"/>
              <a:t>jusqu’à présent </a:t>
            </a:r>
            <a:r>
              <a:rPr lang="fr-MA" sz="2000" dirty="0"/>
              <a:t>sont rangés par ordre de priorité décroissant dans le tableau ci-après :</a:t>
            </a:r>
            <a:endParaRPr lang="en-US" sz="20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373" y="4581128"/>
            <a:ext cx="2619375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641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Les répétitions : la boucle </a:t>
            </a:r>
            <a:r>
              <a:rPr lang="en-US" b="1" dirty="0"/>
              <a:t>while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MA" sz="1400" dirty="0"/>
              <a:t>La figure suivante montre un exemple de l’ordre d’exécution des opérations en python :</a:t>
            </a:r>
            <a:endParaRPr lang="en-US" sz="14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550" y="2509838"/>
            <a:ext cx="339090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03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138238"/>
            <a:ext cx="8186738" cy="5076825"/>
          </a:xfrm>
          <a:prstGeom prst="rect">
            <a:avLst/>
          </a:prstGeom>
        </p:spPr>
        <p:txBody>
          <a:bodyPr/>
          <a:lstStyle/>
          <a:p>
            <a:pPr marL="342900" indent="-342900" algn="just" eaLnBrk="1" hangingPunct="1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fr-FR" sz="2400" b="1" kern="0" dirty="0">
                <a:solidFill>
                  <a:srgbClr val="FF0000"/>
                </a:solidFill>
                <a:latin typeface="+mn-lt"/>
                <a:cs typeface="+mn-cs"/>
              </a:rPr>
              <a:t>Exercice </a:t>
            </a:r>
            <a:r>
              <a:rPr lang="fr-FR" sz="2400" kern="0" dirty="0">
                <a:latin typeface="+mn-lt"/>
                <a:cs typeface="+mn-cs"/>
              </a:rPr>
              <a:t>: écrire un programme calculant la somme d</a:t>
            </a:r>
            <a:r>
              <a:rPr lang="fr-FR" altLang="fr-FR" sz="2400" kern="0" dirty="0">
                <a:latin typeface="+mn-lt"/>
                <a:cs typeface="+mn-cs"/>
              </a:rPr>
              <a:t>’</a:t>
            </a:r>
            <a:r>
              <a:rPr lang="fr-FR" sz="2400" kern="0" dirty="0">
                <a:latin typeface="+mn-lt"/>
                <a:cs typeface="+mn-cs"/>
              </a:rPr>
              <a:t>une suite d</a:t>
            </a:r>
            <a:r>
              <a:rPr lang="fr-FR" altLang="fr-FR" sz="2400" kern="0" dirty="0">
                <a:latin typeface="+mn-lt"/>
                <a:cs typeface="+mn-cs"/>
              </a:rPr>
              <a:t>’</a:t>
            </a:r>
            <a:r>
              <a:rPr lang="fr-FR" sz="2400" kern="0" dirty="0">
                <a:latin typeface="+mn-lt"/>
                <a:cs typeface="+mn-cs"/>
              </a:rPr>
              <a:t>entiers saisie par l</a:t>
            </a:r>
            <a:r>
              <a:rPr lang="fr-FR" altLang="fr-FR" sz="2400" kern="0" dirty="0">
                <a:latin typeface="+mn-lt"/>
                <a:cs typeface="+mn-cs"/>
              </a:rPr>
              <a:t>’</a:t>
            </a:r>
            <a:r>
              <a:rPr lang="fr-FR" sz="2400" kern="0" dirty="0">
                <a:latin typeface="+mn-lt"/>
                <a:cs typeface="+mn-cs"/>
              </a:rPr>
              <a:t>utilisateur se terminant par 0 (exemple 5, 4, 9, 0 renverra 18).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952199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 txBox="1">
            <a:spLocks noGrp="1"/>
          </p:cNvSpPr>
          <p:nvPr>
            <p:ph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None/>
              <a:defRPr/>
            </a:pPr>
            <a:r>
              <a:rPr lang="en-US" b="1" kern="0" dirty="0">
                <a:solidFill>
                  <a:srgbClr val="FF0000"/>
                </a:solidFill>
                <a:latin typeface="+mn-lt"/>
                <a:cs typeface="+mn-cs"/>
              </a:rPr>
              <a:t>Solution</a:t>
            </a:r>
            <a:r>
              <a:rPr lang="en-US" kern="0" dirty="0">
                <a:latin typeface="+mn-lt"/>
                <a:cs typeface="+mn-cs"/>
              </a:rPr>
              <a:t> :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395536" y="2924944"/>
            <a:ext cx="8250238" cy="237648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somme,n = </a:t>
            </a:r>
            <a:r>
              <a:rPr lang="en-US" b="1" dirty="0">
                <a:solidFill>
                  <a:srgbClr val="3366FF"/>
                </a:solidFill>
                <a:latin typeface="Courier New"/>
                <a:cs typeface="Courier New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  <a:r>
              <a:rPr lang="en-US" b="1" dirty="0">
                <a:solidFill>
                  <a:srgbClr val="3366FF"/>
                </a:solidFill>
                <a:latin typeface="Courier New"/>
                <a:cs typeface="Courier New"/>
              </a:rPr>
              <a:t>1</a:t>
            </a:r>
          </a:p>
          <a:p>
            <a:pPr lvl="1">
              <a:defRPr/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while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n != </a:t>
            </a:r>
            <a:r>
              <a:rPr lang="en-US" b="1" dirty="0">
                <a:solidFill>
                  <a:srgbClr val="3366FF"/>
                </a:solidFill>
                <a:latin typeface="Courier New"/>
                <a:cs typeface="Courier New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:</a:t>
            </a:r>
          </a:p>
          <a:p>
            <a:pPr lvl="1">
              <a:defRPr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  n = </a:t>
            </a:r>
            <a:r>
              <a:rPr lang="fr-MA" dirty="0" err="1" smtClean="0"/>
              <a:t>int</a:t>
            </a:r>
            <a:r>
              <a:rPr lang="fr-MA" dirty="0" smtClean="0"/>
              <a:t> (</a:t>
            </a:r>
            <a:r>
              <a:rPr lang="fr-MA" dirty="0"/>
              <a:t>input("Entrez un nombre (0 pour arrêter) : </a:t>
            </a:r>
            <a:r>
              <a:rPr lang="fr-MA" dirty="0" smtClean="0"/>
              <a:t>"))</a:t>
            </a:r>
          </a:p>
          <a:p>
            <a:pPr lvl="1">
              <a:defRPr/>
            </a:pP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somme += n</a:t>
            </a:r>
          </a:p>
          <a:p>
            <a:pPr lvl="1">
              <a:defRPr/>
            </a:pPr>
            <a:r>
              <a:rPr lang="en-US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"la somme des entiers saisis vaut"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,somme)</a:t>
            </a:r>
            <a:endParaRPr lang="fr-FR" b="1" dirty="0">
              <a:solidFill>
                <a:srgbClr val="0000FF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00868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Principe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est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un 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bloc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instructions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réalisant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certaine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tâche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Il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possède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un 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nom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et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est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exécuté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lorsqu</a:t>
            </a:r>
            <a:r>
              <a:rPr kumimoji="0" lang="en-US" altLang="fr-FR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on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</a:t>
            </a:r>
            <a:r>
              <a:rPr kumimoji="0" lang="en-US" altLang="fr-FR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appelle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script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bien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structuré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contiendra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programme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dit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principal</a:t>
            </a:r>
            <a:r>
              <a:rPr kumimoji="0" lang="en-US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et </a:t>
            </a:r>
            <a:r>
              <a:rPr kumimoji="0" lang="en-US" altLang="ja-JP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plusieurs</a:t>
            </a:r>
            <a:r>
              <a:rPr kumimoji="0" lang="en-US" altLang="ja-JP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sous-programmes</a:t>
            </a:r>
            <a:r>
              <a:rPr kumimoji="0" lang="en-US" altLang="ja-JP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dédiés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à des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fonctionnalités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spécifiques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68961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Principe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7" name="ZoneTexte 1"/>
          <p:cNvSpPr txBox="1">
            <a:spLocks noChangeArrowheads="1"/>
          </p:cNvSpPr>
          <p:nvPr/>
        </p:nvSpPr>
        <p:spPr bwMode="auto">
          <a:xfrm>
            <a:off x="714348" y="1071546"/>
            <a:ext cx="3136927" cy="2801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200" b="1" u="sng" dirty="0"/>
              <a:t>Programme</a:t>
            </a:r>
            <a:endParaRPr lang="fr-FR" sz="2200" b="1" dirty="0"/>
          </a:p>
          <a:p>
            <a:pPr algn="ctr"/>
            <a:endParaRPr lang="fr-FR" sz="2200" i="1" u="sng" dirty="0"/>
          </a:p>
          <a:p>
            <a:pPr algn="ctr"/>
            <a:r>
              <a:rPr lang="fr-FR" sz="2200" dirty="0"/>
              <a:t> instructions</a:t>
            </a:r>
          </a:p>
          <a:p>
            <a:pPr algn="ctr"/>
            <a:r>
              <a:rPr lang="fr-FR" sz="2200" dirty="0"/>
              <a:t>...</a:t>
            </a:r>
          </a:p>
          <a:p>
            <a:pPr algn="ctr"/>
            <a:r>
              <a:rPr lang="fr-FR" sz="2200" dirty="0"/>
              <a:t>Toto</a:t>
            </a:r>
          </a:p>
          <a:p>
            <a:pPr algn="ctr"/>
            <a:r>
              <a:rPr lang="fr-FR" sz="2200" dirty="0"/>
              <a:t>...</a:t>
            </a:r>
          </a:p>
          <a:p>
            <a:pPr algn="ctr"/>
            <a:r>
              <a:rPr lang="fr-FR" sz="2200" dirty="0"/>
              <a:t>instructions</a:t>
            </a:r>
          </a:p>
          <a:p>
            <a:pPr algn="ctr"/>
            <a:r>
              <a:rPr lang="fr-FR" sz="2200" dirty="0"/>
              <a:t>...</a:t>
            </a:r>
          </a:p>
        </p:txBody>
      </p:sp>
      <p:sp>
        <p:nvSpPr>
          <p:cNvPr id="9" name="ZoneTexte 1"/>
          <p:cNvSpPr txBox="1">
            <a:spLocks noChangeArrowheads="1"/>
          </p:cNvSpPr>
          <p:nvPr/>
        </p:nvSpPr>
        <p:spPr bwMode="auto">
          <a:xfrm>
            <a:off x="5292725" y="1922446"/>
            <a:ext cx="3743325" cy="14462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200" i="1" u="sng"/>
              <a:t>Toto</a:t>
            </a:r>
            <a:endParaRPr lang="fr-FR" sz="2200"/>
          </a:p>
          <a:p>
            <a:pPr algn="ctr"/>
            <a:endParaRPr lang="fr-FR" sz="2200" i="1" u="sng"/>
          </a:p>
          <a:p>
            <a:pPr algn="ctr"/>
            <a:r>
              <a:rPr lang="fr-FR" sz="2200"/>
              <a:t> bloc d</a:t>
            </a:r>
            <a:r>
              <a:rPr lang="fr-FR" altLang="fr-FR" sz="2200"/>
              <a:t>’</a:t>
            </a:r>
            <a:r>
              <a:rPr lang="fr-FR" sz="2200"/>
              <a:t>instructions du sous-programme Toto</a:t>
            </a:r>
          </a:p>
        </p:txBody>
      </p:sp>
      <p:cxnSp>
        <p:nvCxnSpPr>
          <p:cNvPr id="11" name="Connecteur droit avec flèche 10"/>
          <p:cNvCxnSpPr>
            <a:cxnSpLocks noChangeShapeType="1"/>
          </p:cNvCxnSpPr>
          <p:nvPr/>
        </p:nvCxnSpPr>
        <p:spPr bwMode="auto">
          <a:xfrm flipV="1">
            <a:off x="2620968" y="2073259"/>
            <a:ext cx="2736850" cy="576262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2" name="Connecteur droit avec flèche 11"/>
          <p:cNvCxnSpPr>
            <a:cxnSpLocks noChangeShapeType="1"/>
          </p:cNvCxnSpPr>
          <p:nvPr/>
        </p:nvCxnSpPr>
        <p:spPr bwMode="auto">
          <a:xfrm flipH="1" flipV="1">
            <a:off x="2555875" y="3009884"/>
            <a:ext cx="2736850" cy="2873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13" name="ZoneTexte 17"/>
          <p:cNvSpPr txBox="1">
            <a:spLocks noChangeArrowheads="1"/>
          </p:cNvSpPr>
          <p:nvPr/>
        </p:nvSpPr>
        <p:spPr bwMode="auto">
          <a:xfrm>
            <a:off x="3851275" y="1712896"/>
            <a:ext cx="13684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200"/>
              <a:t>appel du sous-programme</a:t>
            </a:r>
          </a:p>
        </p:txBody>
      </p:sp>
      <p:sp>
        <p:nvSpPr>
          <p:cNvPr id="14" name="ZoneTexte 17"/>
          <p:cNvSpPr txBox="1">
            <a:spLocks noChangeArrowheads="1"/>
          </p:cNvSpPr>
          <p:nvPr/>
        </p:nvSpPr>
        <p:spPr bwMode="auto">
          <a:xfrm>
            <a:off x="4067175" y="2720959"/>
            <a:ext cx="10810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200"/>
              <a:t>Retour au programme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4283096"/>
            <a:ext cx="8435975" cy="1789110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Quand un programme dit « principal » fait appel à un sous–programme, il suspend son propre déroulement, exécute le sous–programme en question, et reprend ensuite son fonctionnement.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263217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Trois grands avantages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1.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Éviter la duplication de code.</a:t>
            </a:r>
            <a:endParaRPr kumimoji="0" lang="en-US" sz="26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900113" y="2422525"/>
            <a:ext cx="1655762" cy="430213"/>
          </a:xfrm>
          <a:prstGeom prst="rect">
            <a:avLst/>
          </a:prstGeom>
          <a:solidFill>
            <a:srgbClr val="0000FF"/>
          </a:solidFill>
        </p:spPr>
        <p:txBody>
          <a:bodyPr>
            <a:spAutoFit/>
          </a:bodyPr>
          <a:lstStyle/>
          <a:p>
            <a:pPr>
              <a:defRPr/>
            </a:pPr>
            <a:endParaRPr lang="fr-FR" sz="22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900113" y="2997200"/>
            <a:ext cx="1655762" cy="430213"/>
          </a:xfrm>
          <a:prstGeom prst="rect">
            <a:avLst/>
          </a:prstGeom>
          <a:solidFill>
            <a:srgbClr val="FF0000"/>
          </a:solidFill>
        </p:spPr>
        <p:txBody>
          <a:bodyPr>
            <a:spAutoFit/>
          </a:bodyPr>
          <a:lstStyle/>
          <a:p>
            <a:pPr>
              <a:defRPr/>
            </a:pPr>
            <a:endParaRPr lang="fr-FR" sz="22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900113" y="3573463"/>
            <a:ext cx="1655762" cy="430212"/>
          </a:xfrm>
          <a:prstGeom prst="rect">
            <a:avLst/>
          </a:prstGeom>
          <a:solidFill>
            <a:srgbClr val="008000"/>
          </a:solidFill>
        </p:spPr>
        <p:txBody>
          <a:bodyPr>
            <a:spAutoFit/>
          </a:bodyPr>
          <a:lstStyle/>
          <a:p>
            <a:pPr>
              <a:defRPr/>
            </a:pPr>
            <a:endParaRPr lang="fr-FR" sz="22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900113" y="4149725"/>
            <a:ext cx="1655762" cy="430213"/>
          </a:xfrm>
          <a:prstGeom prst="rect">
            <a:avLst/>
          </a:prstGeom>
          <a:solidFill>
            <a:srgbClr val="FF0000"/>
          </a:solidFill>
        </p:spPr>
        <p:txBody>
          <a:bodyPr>
            <a:spAutoFit/>
          </a:bodyPr>
          <a:lstStyle/>
          <a:p>
            <a:pPr>
              <a:defRPr/>
            </a:pPr>
            <a:endParaRPr lang="fr-FR" sz="22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900113" y="4724400"/>
            <a:ext cx="1655762" cy="430213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>
              <a:defRPr/>
            </a:pPr>
            <a:endParaRPr lang="fr-FR" sz="22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356100" y="2420938"/>
            <a:ext cx="1655763" cy="430212"/>
          </a:xfrm>
          <a:prstGeom prst="rect">
            <a:avLst/>
          </a:prstGeom>
          <a:solidFill>
            <a:srgbClr val="0000FF"/>
          </a:solidFill>
        </p:spPr>
        <p:txBody>
          <a:bodyPr>
            <a:spAutoFit/>
          </a:bodyPr>
          <a:lstStyle/>
          <a:p>
            <a:pPr>
              <a:defRPr/>
            </a:pPr>
            <a:endParaRPr lang="fr-FR" sz="22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356100" y="3573463"/>
            <a:ext cx="1655763" cy="430212"/>
          </a:xfrm>
          <a:prstGeom prst="rect">
            <a:avLst/>
          </a:prstGeom>
          <a:solidFill>
            <a:srgbClr val="008000"/>
          </a:solidFill>
        </p:spPr>
        <p:txBody>
          <a:bodyPr>
            <a:spAutoFit/>
          </a:bodyPr>
          <a:lstStyle/>
          <a:p>
            <a:pPr>
              <a:defRPr/>
            </a:pPr>
            <a:endParaRPr lang="fr-FR" sz="22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4356100" y="4724400"/>
            <a:ext cx="1655763" cy="430213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>
              <a:defRPr/>
            </a:pPr>
            <a:endParaRPr lang="fr-FR" sz="22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7019925" y="3573463"/>
            <a:ext cx="1655763" cy="430212"/>
          </a:xfrm>
          <a:prstGeom prst="rect">
            <a:avLst/>
          </a:prstGeom>
          <a:solidFill>
            <a:srgbClr val="FF0000"/>
          </a:solidFill>
        </p:spPr>
        <p:txBody>
          <a:bodyPr>
            <a:spAutoFit/>
          </a:bodyPr>
          <a:lstStyle/>
          <a:p>
            <a:pPr>
              <a:defRPr/>
            </a:pPr>
            <a:endParaRPr lang="fr-FR" sz="22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ZoneTexte 1"/>
          <p:cNvSpPr txBox="1">
            <a:spLocks noChangeArrowheads="1"/>
          </p:cNvSpPr>
          <p:nvPr/>
        </p:nvSpPr>
        <p:spPr bwMode="auto">
          <a:xfrm>
            <a:off x="4429124" y="3068638"/>
            <a:ext cx="1295401" cy="2778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200" dirty="0"/>
              <a:t>appel/retour</a:t>
            </a:r>
          </a:p>
        </p:txBody>
      </p:sp>
      <p:cxnSp>
        <p:nvCxnSpPr>
          <p:cNvPr id="17" name="Connecteur droit 16"/>
          <p:cNvCxnSpPr>
            <a:cxnSpLocks noChangeShapeType="1"/>
          </p:cNvCxnSpPr>
          <p:nvPr/>
        </p:nvCxnSpPr>
        <p:spPr bwMode="auto">
          <a:xfrm>
            <a:off x="3348038" y="2133600"/>
            <a:ext cx="0" cy="40322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18" name="ZoneTexte 17"/>
          <p:cNvSpPr txBox="1">
            <a:spLocks noChangeArrowheads="1"/>
          </p:cNvSpPr>
          <p:nvPr/>
        </p:nvSpPr>
        <p:spPr bwMode="auto">
          <a:xfrm>
            <a:off x="4429124" y="4232275"/>
            <a:ext cx="1295401" cy="276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200" dirty="0"/>
              <a:t>appel/retour</a:t>
            </a:r>
          </a:p>
        </p:txBody>
      </p:sp>
      <p:cxnSp>
        <p:nvCxnSpPr>
          <p:cNvPr id="19" name="Connecteur droit avec flèche 18"/>
          <p:cNvCxnSpPr>
            <a:cxnSpLocks noChangeShapeType="1"/>
          </p:cNvCxnSpPr>
          <p:nvPr/>
        </p:nvCxnSpPr>
        <p:spPr bwMode="auto">
          <a:xfrm>
            <a:off x="5724525" y="3068638"/>
            <a:ext cx="1584325" cy="50482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20" name="Connecteur droit avec flèche 19"/>
          <p:cNvCxnSpPr>
            <a:cxnSpLocks noChangeShapeType="1"/>
            <a:endCxn id="15" idx="0"/>
          </p:cNvCxnSpPr>
          <p:nvPr/>
        </p:nvCxnSpPr>
        <p:spPr bwMode="auto">
          <a:xfrm flipV="1">
            <a:off x="5724525" y="3573463"/>
            <a:ext cx="2124075" cy="6477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21" name="Connecteur droit 20"/>
          <p:cNvCxnSpPr>
            <a:cxnSpLocks noChangeShapeType="1"/>
          </p:cNvCxnSpPr>
          <p:nvPr/>
        </p:nvCxnSpPr>
        <p:spPr bwMode="auto">
          <a:xfrm>
            <a:off x="7308850" y="3573463"/>
            <a:ext cx="0" cy="431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22" name="Connecteur droit 21"/>
          <p:cNvCxnSpPr>
            <a:cxnSpLocks noChangeShapeType="1"/>
          </p:cNvCxnSpPr>
          <p:nvPr/>
        </p:nvCxnSpPr>
        <p:spPr bwMode="auto">
          <a:xfrm>
            <a:off x="7812088" y="3573463"/>
            <a:ext cx="0" cy="431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23" name="Connecteur droit avec flèche 22"/>
          <p:cNvCxnSpPr>
            <a:cxnSpLocks noChangeShapeType="1"/>
          </p:cNvCxnSpPr>
          <p:nvPr/>
        </p:nvCxnSpPr>
        <p:spPr bwMode="auto">
          <a:xfrm flipH="1" flipV="1">
            <a:off x="5724525" y="3357563"/>
            <a:ext cx="1584325" cy="6477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24" name="Connecteur droit avec flèche 23"/>
          <p:cNvCxnSpPr>
            <a:cxnSpLocks noChangeShapeType="1"/>
          </p:cNvCxnSpPr>
          <p:nvPr/>
        </p:nvCxnSpPr>
        <p:spPr bwMode="auto">
          <a:xfrm flipH="1">
            <a:off x="5724525" y="4005263"/>
            <a:ext cx="2087563" cy="503237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25" name="ZoneTexte 39"/>
          <p:cNvSpPr txBox="1">
            <a:spLocks noChangeArrowheads="1"/>
          </p:cNvSpPr>
          <p:nvPr/>
        </p:nvSpPr>
        <p:spPr bwMode="auto">
          <a:xfrm>
            <a:off x="611188" y="5516563"/>
            <a:ext cx="25209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/>
              <a:t>Ici le bloc de code en rouge est dupliqué</a:t>
            </a:r>
          </a:p>
        </p:txBody>
      </p:sp>
      <p:sp>
        <p:nvSpPr>
          <p:cNvPr id="26" name="ZoneTexte 40"/>
          <p:cNvSpPr txBox="1">
            <a:spLocks noChangeArrowheads="1"/>
          </p:cNvSpPr>
          <p:nvPr/>
        </p:nvSpPr>
        <p:spPr bwMode="auto">
          <a:xfrm>
            <a:off x="3779838" y="5516563"/>
            <a:ext cx="51847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/>
              <a:t>Ici on crée un sous-programme correspondant à ce bloc, et on l</a:t>
            </a:r>
            <a:r>
              <a:rPr lang="fr-FR" altLang="fr-FR"/>
              <a:t>’</a:t>
            </a:r>
            <a:r>
              <a:rPr lang="fr-FR"/>
              <a:t>appelle quand on en a besoin.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97324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Trois grands avantages.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2.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Favoriser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la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réutilisation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6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écrit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pour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résoudre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un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problème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donné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pourra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servir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nouveau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dans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un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autre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contexte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pourra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ainsi créer des « </a:t>
            </a:r>
            <a:r>
              <a:rPr kumimoji="0" lang="fr-FR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librairies</a:t>
            </a:r>
            <a:r>
              <a:rPr kumimoji="0" 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 » de sous-programmes.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61176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Trois grands avantages.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565181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3.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Améliorer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la conception.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</a:p>
        </p:txBody>
      </p:sp>
      <p:sp>
        <p:nvSpPr>
          <p:cNvPr id="28" name="ZoneTexte 2"/>
          <p:cNvSpPr txBox="1">
            <a:spLocks noChangeArrowheads="1"/>
          </p:cNvSpPr>
          <p:nvPr/>
        </p:nvSpPr>
        <p:spPr bwMode="auto">
          <a:xfrm>
            <a:off x="3384581" y="2349500"/>
            <a:ext cx="3598863" cy="338554"/>
          </a:xfrm>
          <a:prstGeom prst="rect">
            <a:avLst/>
          </a:prstGeom>
          <a:solidFill>
            <a:srgbClr val="FF0000">
              <a:alpha val="90195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600"/>
              <a:t>Programme  initial très complexe</a:t>
            </a:r>
          </a:p>
        </p:txBody>
      </p:sp>
      <p:sp>
        <p:nvSpPr>
          <p:cNvPr id="29" name="ZoneTexte 7"/>
          <p:cNvSpPr txBox="1">
            <a:spLocks noChangeArrowheads="1"/>
          </p:cNvSpPr>
          <p:nvPr/>
        </p:nvSpPr>
        <p:spPr bwMode="auto">
          <a:xfrm>
            <a:off x="1943131" y="3573463"/>
            <a:ext cx="2089150" cy="584775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600"/>
              <a:t>Sous-programme complexe</a:t>
            </a:r>
          </a:p>
        </p:txBody>
      </p:sp>
      <p:sp>
        <p:nvSpPr>
          <p:cNvPr id="30" name="ZoneTexte 8"/>
          <p:cNvSpPr txBox="1">
            <a:spLocks noChangeArrowheads="1"/>
          </p:cNvSpPr>
          <p:nvPr/>
        </p:nvSpPr>
        <p:spPr bwMode="auto">
          <a:xfrm>
            <a:off x="6335744" y="3573463"/>
            <a:ext cx="2160587" cy="584775"/>
          </a:xfrm>
          <a:prstGeom prst="rect">
            <a:avLst/>
          </a:prstGeom>
          <a:solidFill>
            <a:srgbClr val="00FB0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600"/>
              <a:t>Sous-programme  simple</a:t>
            </a:r>
          </a:p>
        </p:txBody>
      </p:sp>
      <p:sp>
        <p:nvSpPr>
          <p:cNvPr id="31" name="ZoneTexte 9"/>
          <p:cNvSpPr txBox="1">
            <a:spLocks noChangeArrowheads="1"/>
          </p:cNvSpPr>
          <p:nvPr/>
        </p:nvSpPr>
        <p:spPr bwMode="auto">
          <a:xfrm>
            <a:off x="503269" y="5097463"/>
            <a:ext cx="1496963" cy="830997"/>
          </a:xfrm>
          <a:prstGeom prst="rect">
            <a:avLst/>
          </a:prstGeom>
          <a:solidFill>
            <a:srgbClr val="00FB0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Sous-sous-programme  simple</a:t>
            </a:r>
          </a:p>
        </p:txBody>
      </p:sp>
      <p:sp>
        <p:nvSpPr>
          <p:cNvPr id="32" name="ZoneTexte 12"/>
          <p:cNvSpPr txBox="1">
            <a:spLocks noChangeArrowheads="1"/>
          </p:cNvSpPr>
          <p:nvPr/>
        </p:nvSpPr>
        <p:spPr bwMode="auto">
          <a:xfrm>
            <a:off x="2303494" y="5097463"/>
            <a:ext cx="1554126" cy="830997"/>
          </a:xfrm>
          <a:prstGeom prst="rect">
            <a:avLst/>
          </a:prstGeom>
          <a:solidFill>
            <a:srgbClr val="00FB0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Sous-sous-programme  simple</a:t>
            </a:r>
          </a:p>
        </p:txBody>
      </p:sp>
      <p:sp>
        <p:nvSpPr>
          <p:cNvPr id="33" name="ZoneTexte 13"/>
          <p:cNvSpPr txBox="1">
            <a:spLocks noChangeArrowheads="1"/>
          </p:cNvSpPr>
          <p:nvPr/>
        </p:nvSpPr>
        <p:spPr bwMode="auto">
          <a:xfrm>
            <a:off x="4103719" y="5097463"/>
            <a:ext cx="1539851" cy="830997"/>
          </a:xfrm>
          <a:prstGeom prst="rect">
            <a:avLst/>
          </a:prstGeom>
          <a:solidFill>
            <a:srgbClr val="00FB0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Sous-sous-programme  simple</a:t>
            </a:r>
          </a:p>
        </p:txBody>
      </p:sp>
      <p:cxnSp>
        <p:nvCxnSpPr>
          <p:cNvPr id="34" name="Connecteur droit avec flèche 33"/>
          <p:cNvCxnSpPr>
            <a:cxnSpLocks noChangeShapeType="1"/>
            <a:endCxn id="29" idx="0"/>
          </p:cNvCxnSpPr>
          <p:nvPr/>
        </p:nvCxnSpPr>
        <p:spPr bwMode="auto">
          <a:xfrm rot="10800000" flipV="1">
            <a:off x="2987706" y="2708275"/>
            <a:ext cx="2052638" cy="8651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5" name="Connecteur droit avec flèche 34"/>
          <p:cNvCxnSpPr>
            <a:cxnSpLocks noChangeShapeType="1"/>
            <a:stCxn id="28" idx="2"/>
            <a:endCxn id="30" idx="0"/>
          </p:cNvCxnSpPr>
          <p:nvPr/>
        </p:nvCxnSpPr>
        <p:spPr bwMode="auto">
          <a:xfrm rot="16200000" flipH="1">
            <a:off x="5857321" y="2014745"/>
            <a:ext cx="885409" cy="223202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6" name="Connecteur droit avec flèche 35"/>
          <p:cNvCxnSpPr>
            <a:cxnSpLocks noChangeShapeType="1"/>
            <a:stCxn id="29" idx="2"/>
            <a:endCxn id="31" idx="0"/>
          </p:cNvCxnSpPr>
          <p:nvPr/>
        </p:nvCxnSpPr>
        <p:spPr bwMode="auto">
          <a:xfrm rot="5400000">
            <a:off x="1650117" y="3759873"/>
            <a:ext cx="939225" cy="173595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7" name="Connecteur droit avec flèche 36"/>
          <p:cNvCxnSpPr>
            <a:cxnSpLocks noChangeShapeType="1"/>
            <a:stCxn id="29" idx="2"/>
            <a:endCxn id="33" idx="0"/>
          </p:cNvCxnSpPr>
          <p:nvPr/>
        </p:nvCxnSpPr>
        <p:spPr bwMode="auto">
          <a:xfrm rot="16200000" flipH="1">
            <a:off x="3461063" y="3684880"/>
            <a:ext cx="939225" cy="1885939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40" name="Connecteur droit avec flèche 39"/>
          <p:cNvCxnSpPr>
            <a:cxnSpLocks noChangeShapeType="1"/>
          </p:cNvCxnSpPr>
          <p:nvPr/>
        </p:nvCxnSpPr>
        <p:spPr bwMode="auto">
          <a:xfrm>
            <a:off x="3000364" y="4219575"/>
            <a:ext cx="0" cy="8778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77292259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Notion de paramètre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214422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sert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donc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à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effectuer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un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traitement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générique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traitement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porte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sur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données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dont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la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valeur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pourra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ainsi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changer d</a:t>
            </a:r>
            <a:r>
              <a:rPr kumimoji="0" lang="en-US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appel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du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à un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autre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</a:t>
            </a:r>
            <a:r>
              <a:rPr kumimoji="0" lang="en-US" altLang="fr-FR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on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appelle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paramètres</a:t>
            </a:r>
            <a:r>
              <a:rPr kumimoji="0" lang="en-US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sont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justement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ces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données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transmises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au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par le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programme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principal.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0394937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Notion de paramètre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Lors de l</a:t>
            </a:r>
            <a:r>
              <a:rPr kumimoji="0" lang="en-US" altLang="fr-FR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sz="26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implémentation</a:t>
            </a:r>
            <a:r>
              <a:rPr kumimoji="0" lang="en-US" altLang="ja-JP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</a:t>
            </a:r>
            <a:r>
              <a:rPr kumimoji="0" lang="en-US" altLang="fr-FR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sous-programme, on va donc préciser </a:t>
            </a:r>
            <a:r>
              <a:rPr kumimoji="0" lang="en-US" altLang="ja-JP" sz="26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la liste de tous les paramètres </a:t>
            </a:r>
            <a:r>
              <a:rPr kumimoji="0" lang="en-US" altLang="ja-JP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</a:t>
            </a:r>
            <a:r>
              <a:rPr kumimoji="0" lang="en-US" altLang="fr-FR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il va utiliser.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6" name="ZoneTexte 1"/>
          <p:cNvSpPr txBox="1">
            <a:spLocks noChangeArrowheads="1"/>
          </p:cNvSpPr>
          <p:nvPr/>
        </p:nvSpPr>
        <p:spPr bwMode="auto">
          <a:xfrm>
            <a:off x="2916238" y="3141663"/>
            <a:ext cx="4227530" cy="163121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i="1" u="sng" dirty="0"/>
              <a:t>Toto</a:t>
            </a:r>
            <a:endParaRPr lang="fr-FR" dirty="0"/>
          </a:p>
          <a:p>
            <a:pPr algn="ctr"/>
            <a:endParaRPr lang="fr-FR" i="1" u="sng" dirty="0"/>
          </a:p>
          <a:p>
            <a:pPr algn="ctr"/>
            <a:r>
              <a:rPr lang="fr-FR" dirty="0"/>
              <a:t> bloc d</a:t>
            </a:r>
            <a:r>
              <a:rPr lang="fr-FR" altLang="fr-FR" dirty="0"/>
              <a:t>’</a:t>
            </a:r>
            <a:r>
              <a:rPr lang="fr-FR" dirty="0"/>
              <a:t>instructions du sous-programme Toto, qui traite </a:t>
            </a:r>
            <a:r>
              <a:rPr lang="fr-FR" i="1" dirty="0"/>
              <a:t>para1</a:t>
            </a:r>
            <a:r>
              <a:rPr lang="fr-FR" dirty="0"/>
              <a:t>, </a:t>
            </a:r>
            <a:r>
              <a:rPr lang="fr-FR" i="1" dirty="0"/>
              <a:t>para2</a:t>
            </a:r>
            <a:r>
              <a:rPr lang="fr-FR" dirty="0"/>
              <a:t>, </a:t>
            </a:r>
            <a:r>
              <a:rPr lang="fr-FR" dirty="0" smtClean="0"/>
              <a:t>....</a:t>
            </a:r>
            <a:r>
              <a:rPr lang="fr-FR" dirty="0" err="1" smtClean="0"/>
              <a:t>paraN</a:t>
            </a:r>
            <a:endParaRPr lang="fr-FR" dirty="0"/>
          </a:p>
        </p:txBody>
      </p:sp>
      <p:sp>
        <p:nvSpPr>
          <p:cNvPr id="7" name="ZoneTexte 54"/>
          <p:cNvSpPr txBox="1">
            <a:spLocks noChangeArrowheads="1"/>
          </p:cNvSpPr>
          <p:nvPr/>
        </p:nvSpPr>
        <p:spPr bwMode="auto">
          <a:xfrm>
            <a:off x="2195513" y="3265488"/>
            <a:ext cx="7921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 i="1"/>
              <a:t>para1</a:t>
            </a:r>
          </a:p>
        </p:txBody>
      </p:sp>
      <p:sp>
        <p:nvSpPr>
          <p:cNvPr id="9" name="ZoneTexte 54"/>
          <p:cNvSpPr txBox="1">
            <a:spLocks noChangeArrowheads="1"/>
          </p:cNvSpPr>
          <p:nvPr/>
        </p:nvSpPr>
        <p:spPr bwMode="auto">
          <a:xfrm>
            <a:off x="2195513" y="3625850"/>
            <a:ext cx="7921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 i="1"/>
              <a:t>para2</a:t>
            </a:r>
          </a:p>
        </p:txBody>
      </p:sp>
      <p:sp>
        <p:nvSpPr>
          <p:cNvPr id="10" name="ZoneTexte 54"/>
          <p:cNvSpPr txBox="1">
            <a:spLocks noChangeArrowheads="1"/>
          </p:cNvSpPr>
          <p:nvPr/>
        </p:nvSpPr>
        <p:spPr bwMode="auto">
          <a:xfrm>
            <a:off x="2195513" y="4344988"/>
            <a:ext cx="7921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 i="1"/>
              <a:t>paraN</a:t>
            </a:r>
          </a:p>
        </p:txBody>
      </p:sp>
      <p:cxnSp>
        <p:nvCxnSpPr>
          <p:cNvPr id="11" name="Connecteur droit 10"/>
          <p:cNvCxnSpPr>
            <a:cxnSpLocks noChangeShapeType="1"/>
          </p:cNvCxnSpPr>
          <p:nvPr/>
        </p:nvCxnSpPr>
        <p:spPr bwMode="auto">
          <a:xfrm>
            <a:off x="2339975" y="4221163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2" name="Connecteur droit avec flèche 11"/>
          <p:cNvCxnSpPr>
            <a:cxnSpLocks noChangeShapeType="1"/>
          </p:cNvCxnSpPr>
          <p:nvPr/>
        </p:nvCxnSpPr>
        <p:spPr bwMode="auto">
          <a:xfrm>
            <a:off x="2195513" y="3573463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3" name="Connecteur droit avec flèche 12"/>
          <p:cNvCxnSpPr>
            <a:cxnSpLocks noChangeShapeType="1"/>
          </p:cNvCxnSpPr>
          <p:nvPr/>
        </p:nvCxnSpPr>
        <p:spPr bwMode="auto">
          <a:xfrm>
            <a:off x="2195513" y="4652963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4" name="Connecteur droit avec flèche 13"/>
          <p:cNvCxnSpPr>
            <a:cxnSpLocks noChangeShapeType="1"/>
          </p:cNvCxnSpPr>
          <p:nvPr/>
        </p:nvCxnSpPr>
        <p:spPr bwMode="auto">
          <a:xfrm>
            <a:off x="2195513" y="3933825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59923858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Notion de paramètre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Lors de l</a:t>
            </a:r>
            <a:r>
              <a:rPr kumimoji="0" lang="en-US" altLang="fr-FR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utilisation</a:t>
            </a:r>
            <a:r>
              <a:rPr kumimoji="0" lang="en-US" altLang="ja-JP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</a:t>
            </a:r>
            <a:r>
              <a:rPr kumimoji="0" lang="en-US" altLang="fr-FR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sous-programme, on va alors préciser la </a:t>
            </a:r>
            <a:r>
              <a:rPr kumimoji="0" lang="en-US" altLang="ja-JP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valeur</a:t>
            </a:r>
            <a:r>
              <a:rPr kumimoji="0" lang="en-US" altLang="ja-JP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chacun des paramètres qu</a:t>
            </a:r>
            <a:r>
              <a:rPr kumimoji="0" lang="en-US" altLang="fr-FR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il possède.</a:t>
            </a:r>
            <a:endParaRPr kumimoji="0" lang="en-US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6" name="ZoneTexte 1"/>
          <p:cNvSpPr txBox="1">
            <a:spLocks noChangeArrowheads="1"/>
          </p:cNvSpPr>
          <p:nvPr/>
        </p:nvSpPr>
        <p:spPr bwMode="auto">
          <a:xfrm>
            <a:off x="714348" y="2924175"/>
            <a:ext cx="3136927" cy="230832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1800" b="1" u="sng"/>
              <a:t>Programme</a:t>
            </a:r>
            <a:endParaRPr lang="fr-FR" sz="1800" b="1"/>
          </a:p>
          <a:p>
            <a:pPr algn="ctr"/>
            <a:endParaRPr lang="fr-FR" sz="1800" i="1" u="sng"/>
          </a:p>
          <a:p>
            <a:pPr algn="ctr"/>
            <a:r>
              <a:rPr lang="fr-FR" sz="1800"/>
              <a:t> instructions</a:t>
            </a:r>
          </a:p>
          <a:p>
            <a:pPr algn="ctr"/>
            <a:r>
              <a:rPr lang="fr-FR" sz="1800"/>
              <a:t>...</a:t>
            </a:r>
          </a:p>
          <a:p>
            <a:pPr algn="ctr"/>
            <a:r>
              <a:rPr lang="fr-FR" sz="1800"/>
              <a:t>Toto(val1,val2,...)</a:t>
            </a:r>
          </a:p>
          <a:p>
            <a:pPr algn="ctr"/>
            <a:r>
              <a:rPr lang="fr-FR" sz="1800"/>
              <a:t>...</a:t>
            </a:r>
          </a:p>
          <a:p>
            <a:pPr algn="ctr"/>
            <a:r>
              <a:rPr lang="fr-FR" sz="1800"/>
              <a:t>instructions</a:t>
            </a:r>
          </a:p>
          <a:p>
            <a:pPr algn="ctr"/>
            <a:r>
              <a:rPr lang="fr-FR" sz="1800"/>
              <a:t>...</a:t>
            </a:r>
          </a:p>
        </p:txBody>
      </p:sp>
      <p:sp>
        <p:nvSpPr>
          <p:cNvPr id="7" name="ZoneTexte 1"/>
          <p:cNvSpPr txBox="1">
            <a:spLocks noChangeArrowheads="1"/>
          </p:cNvSpPr>
          <p:nvPr/>
        </p:nvSpPr>
        <p:spPr bwMode="auto">
          <a:xfrm>
            <a:off x="5292725" y="3357563"/>
            <a:ext cx="3743325" cy="175432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800" i="1" u="sng" dirty="0"/>
              <a:t>Toto</a:t>
            </a:r>
            <a:endParaRPr lang="fr-FR" sz="1800" dirty="0"/>
          </a:p>
          <a:p>
            <a:pPr algn="ctr"/>
            <a:endParaRPr lang="fr-FR" sz="1800" i="1" u="sng" dirty="0"/>
          </a:p>
          <a:p>
            <a:pPr algn="ctr"/>
            <a:r>
              <a:rPr lang="fr-FR" sz="1800" dirty="0"/>
              <a:t> bloc d</a:t>
            </a:r>
            <a:r>
              <a:rPr lang="fr-FR" altLang="fr-FR" sz="1800" dirty="0"/>
              <a:t>’</a:t>
            </a:r>
            <a:r>
              <a:rPr lang="fr-FR" sz="1800" dirty="0"/>
              <a:t>instructions du sous-programme Toto qui traite </a:t>
            </a:r>
            <a:r>
              <a:rPr lang="fr-FR" sz="1800" i="1" dirty="0"/>
              <a:t>para1</a:t>
            </a:r>
            <a:r>
              <a:rPr lang="fr-FR" sz="1800" dirty="0"/>
              <a:t>, </a:t>
            </a:r>
            <a:r>
              <a:rPr lang="fr-FR" sz="1800" i="1" dirty="0"/>
              <a:t>para2</a:t>
            </a:r>
            <a:r>
              <a:rPr lang="fr-FR" sz="1800" dirty="0"/>
              <a:t>, .... avec les valeurs </a:t>
            </a:r>
            <a:r>
              <a:rPr lang="fr-FR" sz="1800" i="1" dirty="0"/>
              <a:t>val1</a:t>
            </a:r>
            <a:r>
              <a:rPr lang="fr-FR" sz="1800" dirty="0"/>
              <a:t>, </a:t>
            </a:r>
            <a:r>
              <a:rPr lang="fr-FR" sz="1800" i="1" dirty="0"/>
              <a:t>val2, </a:t>
            </a:r>
            <a:r>
              <a:rPr lang="fr-FR" sz="1800" dirty="0"/>
              <a:t>...</a:t>
            </a:r>
          </a:p>
        </p:txBody>
      </p:sp>
      <p:sp>
        <p:nvSpPr>
          <p:cNvPr id="9" name="ZoneTexte 54"/>
          <p:cNvSpPr txBox="1">
            <a:spLocks noChangeArrowheads="1"/>
          </p:cNvSpPr>
          <p:nvPr/>
        </p:nvSpPr>
        <p:spPr bwMode="auto">
          <a:xfrm>
            <a:off x="4572000" y="3644900"/>
            <a:ext cx="7921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100" i="1"/>
              <a:t>val1</a:t>
            </a:r>
          </a:p>
        </p:txBody>
      </p:sp>
      <p:sp>
        <p:nvSpPr>
          <p:cNvPr id="10" name="ZoneTexte 54"/>
          <p:cNvSpPr txBox="1">
            <a:spLocks noChangeArrowheads="1"/>
          </p:cNvSpPr>
          <p:nvPr/>
        </p:nvSpPr>
        <p:spPr bwMode="auto">
          <a:xfrm>
            <a:off x="4572000" y="4005263"/>
            <a:ext cx="7921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100" i="1"/>
              <a:t>val2</a:t>
            </a:r>
          </a:p>
        </p:txBody>
      </p:sp>
      <p:sp>
        <p:nvSpPr>
          <p:cNvPr id="11" name="ZoneTexte 54"/>
          <p:cNvSpPr txBox="1">
            <a:spLocks noChangeArrowheads="1"/>
          </p:cNvSpPr>
          <p:nvPr/>
        </p:nvSpPr>
        <p:spPr bwMode="auto">
          <a:xfrm>
            <a:off x="4572000" y="4724400"/>
            <a:ext cx="7921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100" i="1"/>
              <a:t>valN</a:t>
            </a:r>
          </a:p>
        </p:txBody>
      </p:sp>
      <p:cxnSp>
        <p:nvCxnSpPr>
          <p:cNvPr id="12" name="Connecteur droit 11"/>
          <p:cNvCxnSpPr>
            <a:cxnSpLocks noChangeShapeType="1"/>
          </p:cNvCxnSpPr>
          <p:nvPr/>
        </p:nvCxnSpPr>
        <p:spPr bwMode="auto">
          <a:xfrm>
            <a:off x="4716463" y="460057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3" name="Connecteur droit avec flèche 12"/>
          <p:cNvCxnSpPr>
            <a:cxnSpLocks noChangeShapeType="1"/>
          </p:cNvCxnSpPr>
          <p:nvPr/>
        </p:nvCxnSpPr>
        <p:spPr bwMode="auto">
          <a:xfrm>
            <a:off x="3132138" y="4508500"/>
            <a:ext cx="1439862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6" name="Connecteur droit avec flèche 15"/>
          <p:cNvCxnSpPr>
            <a:cxnSpLocks noChangeShapeType="1"/>
          </p:cNvCxnSpPr>
          <p:nvPr/>
        </p:nvCxnSpPr>
        <p:spPr bwMode="auto">
          <a:xfrm>
            <a:off x="4495805" y="3643314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7" name="Connecteur droit avec flèche 16"/>
          <p:cNvCxnSpPr>
            <a:cxnSpLocks noChangeShapeType="1"/>
          </p:cNvCxnSpPr>
          <p:nvPr/>
        </p:nvCxnSpPr>
        <p:spPr bwMode="auto">
          <a:xfrm>
            <a:off x="4495805" y="4722814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8" name="Connecteur droit avec flèche 17"/>
          <p:cNvCxnSpPr>
            <a:cxnSpLocks noChangeShapeType="1"/>
          </p:cNvCxnSpPr>
          <p:nvPr/>
        </p:nvCxnSpPr>
        <p:spPr bwMode="auto">
          <a:xfrm>
            <a:off x="4495805" y="4003676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5596204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Variables locales versus globales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Pour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fonctionner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un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peut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également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avoir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besoin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utiliser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variables qui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lui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sont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propres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 On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parle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alors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variables locales</a:t>
            </a:r>
            <a:r>
              <a:rPr kumimoji="0" lang="en-US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sont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par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résultats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calculs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intermédiaires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des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compteurs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tours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dans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structure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itérative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etc.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variables ne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sont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accessibles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</a:t>
            </a:r>
            <a:r>
              <a:rPr kumimoji="0" lang="en-US" altLang="fr-FR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au</a:t>
            </a:r>
            <a:r>
              <a:rPr kumimoji="0" lang="en-US" altLang="ja-JP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sein</a:t>
            </a:r>
            <a:r>
              <a:rPr kumimoji="0" lang="en-US" altLang="ja-JP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du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qui les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définit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et </a:t>
            </a:r>
            <a:r>
              <a:rPr kumimoji="0" lang="en-US" altLang="ja-JP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utilise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865962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Variables locales versus globales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sous programme reçoit donc des données à traiter, les </a:t>
            </a:r>
            <a:r>
              <a:rPr kumimoji="0" lang="en-US" sz="26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paramètres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et pour ce faire peut avoir besoin de </a:t>
            </a:r>
            <a:r>
              <a:rPr kumimoji="0" lang="en-US" sz="26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variables locales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6" name="ZoneTexte 1"/>
          <p:cNvSpPr txBox="1">
            <a:spLocks noChangeArrowheads="1"/>
          </p:cNvSpPr>
          <p:nvPr/>
        </p:nvSpPr>
        <p:spPr bwMode="auto">
          <a:xfrm>
            <a:off x="2916238" y="3054350"/>
            <a:ext cx="3743325" cy="22467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i="1" u="sng" dirty="0"/>
              <a:t>Toto</a:t>
            </a:r>
            <a:endParaRPr lang="fr-FR" dirty="0"/>
          </a:p>
          <a:p>
            <a:pPr algn="ctr"/>
            <a:endParaRPr lang="fr-FR" i="1" u="sng" dirty="0"/>
          </a:p>
          <a:p>
            <a:pPr algn="ctr"/>
            <a:r>
              <a:rPr lang="fr-FR" dirty="0"/>
              <a:t> bloc d</a:t>
            </a:r>
            <a:r>
              <a:rPr lang="fr-FR" altLang="fr-FR" dirty="0"/>
              <a:t>’</a:t>
            </a:r>
            <a:r>
              <a:rPr lang="fr-FR" dirty="0"/>
              <a:t>instructions du sous-programme Toto, qui traite </a:t>
            </a:r>
            <a:r>
              <a:rPr lang="fr-FR" i="1" dirty="0"/>
              <a:t>para1</a:t>
            </a:r>
            <a:r>
              <a:rPr lang="fr-FR" dirty="0"/>
              <a:t>, </a:t>
            </a:r>
            <a:r>
              <a:rPr lang="fr-FR" i="1" dirty="0"/>
              <a:t>para2</a:t>
            </a:r>
            <a:r>
              <a:rPr lang="fr-FR" dirty="0"/>
              <a:t>, ....</a:t>
            </a:r>
          </a:p>
          <a:p>
            <a:pPr algn="ctr"/>
            <a:r>
              <a:rPr lang="fr-FR" dirty="0"/>
              <a:t>à l</a:t>
            </a:r>
            <a:r>
              <a:rPr lang="fr-FR" altLang="fr-FR" dirty="0"/>
              <a:t>’</a:t>
            </a:r>
            <a:r>
              <a:rPr lang="fr-FR" dirty="0"/>
              <a:t>aide de variables locales </a:t>
            </a:r>
          </a:p>
          <a:p>
            <a:pPr algn="ctr"/>
            <a:r>
              <a:rPr lang="fr-FR" i="1" dirty="0"/>
              <a:t>var1</a:t>
            </a:r>
            <a:r>
              <a:rPr lang="fr-FR" dirty="0"/>
              <a:t>, </a:t>
            </a:r>
            <a:r>
              <a:rPr lang="fr-FR" i="1" dirty="0"/>
              <a:t>var2</a:t>
            </a:r>
            <a:r>
              <a:rPr lang="fr-FR" dirty="0"/>
              <a:t>, ...</a:t>
            </a:r>
          </a:p>
        </p:txBody>
      </p:sp>
      <p:sp>
        <p:nvSpPr>
          <p:cNvPr id="7" name="ZoneTexte 54"/>
          <p:cNvSpPr txBox="1">
            <a:spLocks noChangeArrowheads="1"/>
          </p:cNvSpPr>
          <p:nvPr/>
        </p:nvSpPr>
        <p:spPr bwMode="auto">
          <a:xfrm>
            <a:off x="2195513" y="3467100"/>
            <a:ext cx="7921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 i="1"/>
              <a:t>para1</a:t>
            </a:r>
          </a:p>
        </p:txBody>
      </p:sp>
      <p:sp>
        <p:nvSpPr>
          <p:cNvPr id="9" name="ZoneTexte 54"/>
          <p:cNvSpPr txBox="1">
            <a:spLocks noChangeArrowheads="1"/>
          </p:cNvSpPr>
          <p:nvPr/>
        </p:nvSpPr>
        <p:spPr bwMode="auto">
          <a:xfrm>
            <a:off x="2195513" y="3827463"/>
            <a:ext cx="7921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 i="1"/>
              <a:t>para2</a:t>
            </a:r>
          </a:p>
        </p:txBody>
      </p:sp>
      <p:sp>
        <p:nvSpPr>
          <p:cNvPr id="10" name="ZoneTexte 54"/>
          <p:cNvSpPr txBox="1">
            <a:spLocks noChangeArrowheads="1"/>
          </p:cNvSpPr>
          <p:nvPr/>
        </p:nvSpPr>
        <p:spPr bwMode="auto">
          <a:xfrm>
            <a:off x="2195513" y="4546600"/>
            <a:ext cx="7921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 i="1"/>
              <a:t>paraN</a:t>
            </a:r>
          </a:p>
        </p:txBody>
      </p:sp>
      <p:cxnSp>
        <p:nvCxnSpPr>
          <p:cNvPr id="11" name="Connecteur droit 10"/>
          <p:cNvCxnSpPr>
            <a:cxnSpLocks noChangeShapeType="1"/>
          </p:cNvCxnSpPr>
          <p:nvPr/>
        </p:nvCxnSpPr>
        <p:spPr bwMode="auto">
          <a:xfrm>
            <a:off x="2339975" y="442277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2" name="Connecteur droit avec flèche 11"/>
          <p:cNvCxnSpPr>
            <a:cxnSpLocks noChangeShapeType="1"/>
          </p:cNvCxnSpPr>
          <p:nvPr/>
        </p:nvCxnSpPr>
        <p:spPr bwMode="auto">
          <a:xfrm>
            <a:off x="2195513" y="3775075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3" name="Connecteur droit avec flèche 12"/>
          <p:cNvCxnSpPr>
            <a:cxnSpLocks noChangeShapeType="1"/>
          </p:cNvCxnSpPr>
          <p:nvPr/>
        </p:nvCxnSpPr>
        <p:spPr bwMode="auto">
          <a:xfrm>
            <a:off x="2195513" y="4854575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4" name="Connecteur droit avec flèche 13"/>
          <p:cNvCxnSpPr>
            <a:cxnSpLocks noChangeShapeType="1"/>
          </p:cNvCxnSpPr>
          <p:nvPr/>
        </p:nvCxnSpPr>
        <p:spPr bwMode="auto">
          <a:xfrm>
            <a:off x="2195513" y="4135438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33091104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Variables locales versus globales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On a vu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</a:t>
            </a:r>
            <a:r>
              <a:rPr kumimoji="0" lang="en-US" altLang="fr-FR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pouvait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utiliser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données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transmises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par le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programme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principal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forme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paramètres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Il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peut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également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manipuler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directement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variables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définies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par le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programme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principal. On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parle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alors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variables </a:t>
            </a:r>
            <a:r>
              <a:rPr kumimoji="0" lang="en-US" altLang="ja-JP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globales</a:t>
            </a:r>
            <a:r>
              <a:rPr kumimoji="0" lang="en-US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Il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</a:t>
            </a:r>
            <a:r>
              <a:rPr kumimoji="0" lang="en-US" altLang="fr-FR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agit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possibilité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mais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également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mauvaise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pratique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car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cela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limite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énormément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la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réutilisabilité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codes d</a:t>
            </a:r>
            <a:r>
              <a:rPr kumimoji="0" lang="en-US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projet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à un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autre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837910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Variables locales versus globales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sous-programme peut accéder aux </a:t>
            </a:r>
            <a:r>
              <a:rPr kumimoji="0" lang="en-US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variables globales </a:t>
            </a:r>
            <a:r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définies dans le </a:t>
            </a:r>
            <a:r>
              <a:rPr kumimoji="0" lang="en-US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programme principal </a:t>
            </a:r>
            <a:r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7" name="ZoneTexte 1"/>
          <p:cNvSpPr txBox="1">
            <a:spLocks noChangeArrowheads="1"/>
          </p:cNvSpPr>
          <p:nvPr/>
        </p:nvSpPr>
        <p:spPr bwMode="auto">
          <a:xfrm>
            <a:off x="500034" y="2492375"/>
            <a:ext cx="3351241" cy="2893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1800" b="1" u="sng" dirty="0"/>
              <a:t>Programme</a:t>
            </a:r>
            <a:endParaRPr lang="fr-FR" sz="1800" b="1" dirty="0"/>
          </a:p>
          <a:p>
            <a:pPr algn="ctr"/>
            <a:endParaRPr lang="fr-FR" sz="1800" i="1" u="sng" dirty="0"/>
          </a:p>
          <a:p>
            <a:pPr algn="ctr"/>
            <a:r>
              <a:rPr lang="fr-FR" sz="1800" dirty="0"/>
              <a:t> instructions</a:t>
            </a:r>
          </a:p>
          <a:p>
            <a:pPr algn="ctr"/>
            <a:r>
              <a:rPr lang="fr-FR" sz="1800" dirty="0"/>
              <a:t>Définition de variables globales </a:t>
            </a:r>
            <a:r>
              <a:rPr lang="fr-FR" sz="1800" i="1" dirty="0">
                <a:solidFill>
                  <a:srgbClr val="0000FF"/>
                </a:solidFill>
              </a:rPr>
              <a:t>glob1</a:t>
            </a:r>
            <a:r>
              <a:rPr lang="fr-FR" sz="1800" dirty="0"/>
              <a:t>, </a:t>
            </a:r>
            <a:r>
              <a:rPr lang="fr-FR" sz="1800" i="1" dirty="0">
                <a:solidFill>
                  <a:srgbClr val="0000FF"/>
                </a:solidFill>
              </a:rPr>
              <a:t>glob2</a:t>
            </a:r>
            <a:r>
              <a:rPr lang="fr-FR" sz="1800" dirty="0"/>
              <a:t>, ...</a:t>
            </a:r>
          </a:p>
          <a:p>
            <a:pPr algn="ctr"/>
            <a:r>
              <a:rPr lang="fr-FR" sz="1800" dirty="0"/>
              <a:t>...</a:t>
            </a:r>
          </a:p>
          <a:p>
            <a:pPr algn="ctr"/>
            <a:r>
              <a:rPr lang="fr-FR" sz="1800" dirty="0"/>
              <a:t>Toto(val1,val2,...)</a:t>
            </a:r>
          </a:p>
          <a:p>
            <a:pPr algn="ctr"/>
            <a:r>
              <a:rPr lang="fr-FR" sz="1800" dirty="0"/>
              <a:t>...</a:t>
            </a:r>
          </a:p>
          <a:p>
            <a:pPr algn="ctr"/>
            <a:r>
              <a:rPr lang="fr-FR" sz="1800" dirty="0"/>
              <a:t>instructions</a:t>
            </a:r>
          </a:p>
          <a:p>
            <a:pPr algn="ctr"/>
            <a:r>
              <a:rPr lang="fr-FR" sz="1800" dirty="0"/>
              <a:t>...</a:t>
            </a:r>
          </a:p>
        </p:txBody>
      </p:sp>
      <p:sp>
        <p:nvSpPr>
          <p:cNvPr id="9" name="ZoneTexte 1"/>
          <p:cNvSpPr txBox="1">
            <a:spLocks noChangeArrowheads="1"/>
          </p:cNvSpPr>
          <p:nvPr/>
        </p:nvSpPr>
        <p:spPr bwMode="auto">
          <a:xfrm>
            <a:off x="5292725" y="2708275"/>
            <a:ext cx="3743325" cy="286232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800" i="1" u="sng"/>
              <a:t>Toto</a:t>
            </a:r>
            <a:endParaRPr lang="fr-FR" sz="1800"/>
          </a:p>
          <a:p>
            <a:pPr algn="ctr"/>
            <a:endParaRPr lang="fr-FR" sz="1800" i="1" u="sng"/>
          </a:p>
          <a:p>
            <a:pPr algn="ctr"/>
            <a:r>
              <a:rPr lang="fr-FR" sz="1800"/>
              <a:t> bloc d</a:t>
            </a:r>
            <a:r>
              <a:rPr lang="fr-FR" altLang="fr-FR" sz="1800"/>
              <a:t>’</a:t>
            </a:r>
            <a:r>
              <a:rPr lang="fr-FR" sz="1800"/>
              <a:t>instructions du sous-programme Toto qui traite </a:t>
            </a:r>
            <a:r>
              <a:rPr lang="fr-FR" sz="1800" i="1"/>
              <a:t>para1</a:t>
            </a:r>
            <a:r>
              <a:rPr lang="fr-FR" sz="1800"/>
              <a:t>, </a:t>
            </a:r>
            <a:r>
              <a:rPr lang="fr-FR" sz="1800" i="1"/>
              <a:t>para2</a:t>
            </a:r>
            <a:r>
              <a:rPr lang="fr-FR" sz="1800"/>
              <a:t>, .... avec les valeurs </a:t>
            </a:r>
            <a:r>
              <a:rPr lang="fr-FR" sz="1800" i="1"/>
              <a:t>val1</a:t>
            </a:r>
            <a:r>
              <a:rPr lang="fr-FR" sz="1800"/>
              <a:t>, </a:t>
            </a:r>
            <a:r>
              <a:rPr lang="fr-FR" sz="1800" i="1"/>
              <a:t>val2, </a:t>
            </a:r>
            <a:r>
              <a:rPr lang="fr-FR" sz="1800"/>
              <a:t>...</a:t>
            </a:r>
          </a:p>
          <a:p>
            <a:pPr algn="ctr"/>
            <a:r>
              <a:rPr lang="fr-FR" sz="1800"/>
              <a:t>à l</a:t>
            </a:r>
            <a:r>
              <a:rPr lang="fr-FR" altLang="fr-FR" sz="1800"/>
              <a:t>’</a:t>
            </a:r>
            <a:r>
              <a:rPr lang="fr-FR" sz="1800"/>
              <a:t>aide de variables locales </a:t>
            </a:r>
          </a:p>
          <a:p>
            <a:pPr algn="ctr"/>
            <a:r>
              <a:rPr lang="fr-FR" sz="1800" i="1"/>
              <a:t>var1</a:t>
            </a:r>
            <a:r>
              <a:rPr lang="fr-FR" sz="1800"/>
              <a:t>, </a:t>
            </a:r>
            <a:r>
              <a:rPr lang="fr-FR" sz="1800" i="1"/>
              <a:t>var2</a:t>
            </a:r>
            <a:r>
              <a:rPr lang="fr-FR" sz="1800"/>
              <a:t>, ...</a:t>
            </a:r>
          </a:p>
          <a:p>
            <a:pPr algn="ctr"/>
            <a:r>
              <a:rPr lang="fr-FR" sz="1800"/>
              <a:t>Toto accède aux variables globales </a:t>
            </a:r>
            <a:r>
              <a:rPr lang="fr-FR" sz="1800" i="1">
                <a:solidFill>
                  <a:srgbClr val="0000FF"/>
                </a:solidFill>
              </a:rPr>
              <a:t>glob1</a:t>
            </a:r>
            <a:r>
              <a:rPr lang="fr-FR" sz="1800"/>
              <a:t>, </a:t>
            </a:r>
            <a:r>
              <a:rPr lang="fr-FR" sz="1800" i="1">
                <a:solidFill>
                  <a:srgbClr val="0000FF"/>
                </a:solidFill>
              </a:rPr>
              <a:t>glob2</a:t>
            </a:r>
            <a:r>
              <a:rPr lang="fr-FR" sz="1800"/>
              <a:t>, ...</a:t>
            </a:r>
          </a:p>
        </p:txBody>
      </p:sp>
      <p:cxnSp>
        <p:nvCxnSpPr>
          <p:cNvPr id="10" name="Connecteur droit avec flèche 9"/>
          <p:cNvCxnSpPr>
            <a:cxnSpLocks noChangeShapeType="1"/>
          </p:cNvCxnSpPr>
          <p:nvPr/>
        </p:nvCxnSpPr>
        <p:spPr bwMode="auto">
          <a:xfrm>
            <a:off x="4572000" y="5248275"/>
            <a:ext cx="719138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11" name="ZoneTexte 54"/>
          <p:cNvSpPr txBox="1">
            <a:spLocks noChangeArrowheads="1"/>
          </p:cNvSpPr>
          <p:nvPr/>
        </p:nvSpPr>
        <p:spPr bwMode="auto">
          <a:xfrm>
            <a:off x="4572000" y="3860800"/>
            <a:ext cx="7921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100" i="1"/>
              <a:t>val1</a:t>
            </a:r>
          </a:p>
        </p:txBody>
      </p:sp>
      <p:sp>
        <p:nvSpPr>
          <p:cNvPr id="12" name="ZoneTexte 54"/>
          <p:cNvSpPr txBox="1">
            <a:spLocks noChangeArrowheads="1"/>
          </p:cNvSpPr>
          <p:nvPr/>
        </p:nvSpPr>
        <p:spPr bwMode="auto">
          <a:xfrm>
            <a:off x="4572000" y="4221163"/>
            <a:ext cx="7921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100" i="1"/>
              <a:t>val2</a:t>
            </a:r>
          </a:p>
        </p:txBody>
      </p:sp>
      <p:sp>
        <p:nvSpPr>
          <p:cNvPr id="13" name="ZoneTexte 54"/>
          <p:cNvSpPr txBox="1">
            <a:spLocks noChangeArrowheads="1"/>
          </p:cNvSpPr>
          <p:nvPr/>
        </p:nvSpPr>
        <p:spPr bwMode="auto">
          <a:xfrm>
            <a:off x="4572000" y="4940300"/>
            <a:ext cx="7921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100" i="1"/>
              <a:t>valN</a:t>
            </a:r>
          </a:p>
        </p:txBody>
      </p:sp>
      <p:cxnSp>
        <p:nvCxnSpPr>
          <p:cNvPr id="14" name="Connecteur droit 13"/>
          <p:cNvCxnSpPr>
            <a:cxnSpLocks noChangeShapeType="1"/>
          </p:cNvCxnSpPr>
          <p:nvPr/>
        </p:nvCxnSpPr>
        <p:spPr bwMode="auto">
          <a:xfrm>
            <a:off x="4716463" y="481647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5" name="Connecteur droit avec flèche 14"/>
          <p:cNvCxnSpPr>
            <a:cxnSpLocks noChangeShapeType="1"/>
          </p:cNvCxnSpPr>
          <p:nvPr/>
        </p:nvCxnSpPr>
        <p:spPr bwMode="auto">
          <a:xfrm>
            <a:off x="3132138" y="4724400"/>
            <a:ext cx="1439862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9" name="Connecteur droit avec flèche 18"/>
          <p:cNvCxnSpPr>
            <a:cxnSpLocks noChangeShapeType="1"/>
          </p:cNvCxnSpPr>
          <p:nvPr/>
        </p:nvCxnSpPr>
        <p:spPr bwMode="auto">
          <a:xfrm>
            <a:off x="4572000" y="4168775"/>
            <a:ext cx="719138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20" name="Connecteur droit avec flèche 19"/>
          <p:cNvCxnSpPr>
            <a:cxnSpLocks noChangeShapeType="1"/>
          </p:cNvCxnSpPr>
          <p:nvPr/>
        </p:nvCxnSpPr>
        <p:spPr bwMode="auto">
          <a:xfrm>
            <a:off x="4572000" y="4529138"/>
            <a:ext cx="719138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813820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/>
      <p:bldP spid="12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Deux types de sous-programmes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En algorithmique on distingue </a:t>
            </a:r>
            <a:r>
              <a:rPr kumimoji="0" lang="fr-FR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deux types de sous-programmes </a:t>
            </a:r>
            <a:r>
              <a:rPr kumimoji="0" 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endParaRPr kumimoji="0" lang="fr-FR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Les </a:t>
            </a:r>
            <a:r>
              <a:rPr kumimoji="0" lang="fr-FR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procédures</a:t>
            </a:r>
            <a:r>
              <a:rPr kumimoji="0" 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qui modifient l</a:t>
            </a:r>
            <a:r>
              <a:rPr kumimoji="0" lang="fr-FR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état du programme sans retourner de résultat.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fr-FR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Les </a:t>
            </a:r>
            <a:r>
              <a:rPr kumimoji="0" lang="fr-FR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fonctions</a:t>
            </a:r>
            <a:r>
              <a:rPr kumimoji="0" 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qui elles ont pour but de retourner un résultat.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11672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Deux types de sous-programmes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Il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</a:t>
            </a:r>
            <a:r>
              <a:rPr kumimoji="0" lang="en-US" altLang="fr-FR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agit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donc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</a:t>
            </a:r>
            <a:r>
              <a:rPr kumimoji="0" lang="en-US" alt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qui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retourner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un </a:t>
            </a:r>
            <a:r>
              <a:rPr kumimoji="0" lang="en-US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résultat</a:t>
            </a: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au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programme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principal.</a:t>
            </a:r>
          </a:p>
        </p:txBody>
      </p:sp>
      <p:sp>
        <p:nvSpPr>
          <p:cNvPr id="13" name="ZoneTexte 1"/>
          <p:cNvSpPr txBox="1">
            <a:spLocks noChangeArrowheads="1"/>
          </p:cNvSpPr>
          <p:nvPr/>
        </p:nvSpPr>
        <p:spPr bwMode="auto">
          <a:xfrm>
            <a:off x="2916238" y="3732213"/>
            <a:ext cx="3743325" cy="163121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i="1" u="sng" dirty="0"/>
              <a:t>Toto</a:t>
            </a:r>
            <a:endParaRPr lang="fr-FR" dirty="0"/>
          </a:p>
          <a:p>
            <a:pPr algn="ctr"/>
            <a:endParaRPr lang="fr-FR" i="1" u="sng" dirty="0"/>
          </a:p>
          <a:p>
            <a:pPr algn="ctr"/>
            <a:r>
              <a:rPr lang="fr-FR" dirty="0"/>
              <a:t> bloc d</a:t>
            </a:r>
            <a:r>
              <a:rPr lang="fr-FR" altLang="fr-FR" dirty="0"/>
              <a:t>’</a:t>
            </a:r>
            <a:r>
              <a:rPr lang="fr-FR" dirty="0"/>
              <a:t>instructions du sous-programme Toto, qui traite </a:t>
            </a:r>
            <a:r>
              <a:rPr lang="fr-FR" i="1" dirty="0"/>
              <a:t>para1</a:t>
            </a:r>
            <a:r>
              <a:rPr lang="fr-FR" dirty="0"/>
              <a:t>, </a:t>
            </a:r>
            <a:r>
              <a:rPr lang="fr-FR" i="1" dirty="0"/>
              <a:t>para2</a:t>
            </a:r>
            <a:r>
              <a:rPr lang="fr-FR" dirty="0"/>
              <a:t>, ....</a:t>
            </a:r>
          </a:p>
        </p:txBody>
      </p:sp>
      <p:sp>
        <p:nvSpPr>
          <p:cNvPr id="14" name="ZoneTexte 54"/>
          <p:cNvSpPr txBox="1">
            <a:spLocks noChangeArrowheads="1"/>
          </p:cNvSpPr>
          <p:nvPr/>
        </p:nvSpPr>
        <p:spPr bwMode="auto">
          <a:xfrm>
            <a:off x="2195513" y="3856038"/>
            <a:ext cx="7921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 i="1"/>
              <a:t>para1</a:t>
            </a:r>
          </a:p>
        </p:txBody>
      </p:sp>
      <p:sp>
        <p:nvSpPr>
          <p:cNvPr id="15" name="ZoneTexte 54"/>
          <p:cNvSpPr txBox="1">
            <a:spLocks noChangeArrowheads="1"/>
          </p:cNvSpPr>
          <p:nvPr/>
        </p:nvSpPr>
        <p:spPr bwMode="auto">
          <a:xfrm>
            <a:off x="2195513" y="4216400"/>
            <a:ext cx="7921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 i="1"/>
              <a:t>para2</a:t>
            </a:r>
          </a:p>
        </p:txBody>
      </p:sp>
      <p:sp>
        <p:nvSpPr>
          <p:cNvPr id="16" name="ZoneTexte 54"/>
          <p:cNvSpPr txBox="1">
            <a:spLocks noChangeArrowheads="1"/>
          </p:cNvSpPr>
          <p:nvPr/>
        </p:nvSpPr>
        <p:spPr bwMode="auto">
          <a:xfrm>
            <a:off x="2195513" y="4935538"/>
            <a:ext cx="7921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 i="1"/>
              <a:t>paraN</a:t>
            </a:r>
          </a:p>
        </p:txBody>
      </p:sp>
      <p:cxnSp>
        <p:nvCxnSpPr>
          <p:cNvPr id="17" name="Connecteur droit 16"/>
          <p:cNvCxnSpPr>
            <a:cxnSpLocks noChangeShapeType="1"/>
          </p:cNvCxnSpPr>
          <p:nvPr/>
        </p:nvCxnSpPr>
        <p:spPr bwMode="auto">
          <a:xfrm>
            <a:off x="2339975" y="4811713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8" name="Connecteur droit avec flèche 17"/>
          <p:cNvCxnSpPr>
            <a:cxnSpLocks noChangeShapeType="1"/>
          </p:cNvCxnSpPr>
          <p:nvPr/>
        </p:nvCxnSpPr>
        <p:spPr bwMode="auto">
          <a:xfrm>
            <a:off x="6659563" y="4581525"/>
            <a:ext cx="1008062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19" name="ZoneTexte 54"/>
          <p:cNvSpPr txBox="1">
            <a:spLocks noChangeArrowheads="1"/>
          </p:cNvSpPr>
          <p:nvPr/>
        </p:nvSpPr>
        <p:spPr bwMode="auto">
          <a:xfrm>
            <a:off x="6732588" y="4273550"/>
            <a:ext cx="14113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1400" i="1" dirty="0"/>
              <a:t>résultat</a:t>
            </a:r>
          </a:p>
        </p:txBody>
      </p:sp>
      <p:cxnSp>
        <p:nvCxnSpPr>
          <p:cNvPr id="20" name="Connecteur droit avec flèche 19"/>
          <p:cNvCxnSpPr>
            <a:cxnSpLocks noChangeShapeType="1"/>
          </p:cNvCxnSpPr>
          <p:nvPr/>
        </p:nvCxnSpPr>
        <p:spPr bwMode="auto">
          <a:xfrm>
            <a:off x="2195513" y="4164013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21" name="Connecteur droit avec flèche 20"/>
          <p:cNvCxnSpPr>
            <a:cxnSpLocks noChangeShapeType="1"/>
          </p:cNvCxnSpPr>
          <p:nvPr/>
        </p:nvCxnSpPr>
        <p:spPr bwMode="auto">
          <a:xfrm>
            <a:off x="2195513" y="5243513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22" name="Connecteur droit avec flèche 21"/>
          <p:cNvCxnSpPr>
            <a:cxnSpLocks noChangeShapeType="1"/>
          </p:cNvCxnSpPr>
          <p:nvPr/>
        </p:nvCxnSpPr>
        <p:spPr bwMode="auto">
          <a:xfrm>
            <a:off x="2195513" y="4524375"/>
            <a:ext cx="719137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306372151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Sous-programmes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2643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</a:rPr>
              <a:t>Deux types de sous-programmes</a:t>
            </a:r>
            <a:endParaRPr lang="fr-FR" sz="24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923943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Remarque</a:t>
            </a:r>
            <a:r>
              <a:rPr kumimoji="0" lang="fr-FR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Tous les langages de programmation ne distinguent pas nommément ces deux types de sous–programmes.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fr-F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En Python, en C et en C++, on ne manipule ainsi a priori que des fonctions. Bien qu</a:t>
            </a:r>
            <a:r>
              <a:rPr kumimoji="0" lang="fr-FR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en pratique la distinction se fasse.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fr-F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En Pascal par contre, les deux types sont clairement séparés.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140436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1680" y="1556792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MA" dirty="0"/>
              <a:t>Prédit le résultat de chaque expression :</a:t>
            </a:r>
            <a:endParaRPr lang="en-US" dirty="0" smtClean="0"/>
          </a:p>
          <a:p>
            <a:r>
              <a:rPr lang="en-US" dirty="0" smtClean="0"/>
              <a:t>print(</a:t>
            </a:r>
            <a:r>
              <a:rPr lang="en-US" dirty="0" err="1" smtClean="0"/>
              <a:t>bool</a:t>
            </a:r>
            <a:r>
              <a:rPr lang="en-US" dirty="0" smtClean="0"/>
              <a:t>(0</a:t>
            </a:r>
            <a:r>
              <a:rPr lang="en-US" dirty="0"/>
              <a:t>))</a:t>
            </a:r>
          </a:p>
          <a:p>
            <a:r>
              <a:rPr lang="en-US" dirty="0"/>
              <a:t>print(</a:t>
            </a:r>
            <a:r>
              <a:rPr lang="en-US" dirty="0" err="1"/>
              <a:t>bool</a:t>
            </a:r>
            <a:r>
              <a:rPr lang="en-US" dirty="0"/>
              <a:t>(1))</a:t>
            </a:r>
          </a:p>
          <a:p>
            <a:r>
              <a:rPr lang="en-US" dirty="0"/>
              <a:t>print(</a:t>
            </a:r>
            <a:r>
              <a:rPr lang="en-US" dirty="0" err="1"/>
              <a:t>bool</a:t>
            </a:r>
            <a:r>
              <a:rPr lang="en-US" dirty="0"/>
              <a:t>(""))</a:t>
            </a:r>
          </a:p>
          <a:p>
            <a:r>
              <a:rPr lang="en-US" dirty="0"/>
              <a:t>print(</a:t>
            </a:r>
            <a:r>
              <a:rPr lang="en-US" dirty="0" err="1"/>
              <a:t>bool</a:t>
            </a:r>
            <a:r>
              <a:rPr lang="en-US" dirty="0"/>
              <a:t>("Python</a:t>
            </a:r>
            <a:r>
              <a:rPr lang="en-US" dirty="0" smtClean="0"/>
              <a:t>"))</a:t>
            </a:r>
          </a:p>
          <a:p>
            <a:r>
              <a:rPr lang="en-US" b="1" dirty="0"/>
              <a:t>Correction :</a:t>
            </a:r>
            <a:endParaRPr lang="en-US" dirty="0"/>
          </a:p>
          <a:p>
            <a:r>
              <a:rPr lang="en-US" dirty="0" err="1"/>
              <a:t>bool</a:t>
            </a:r>
            <a:r>
              <a:rPr lang="en-US" dirty="0"/>
              <a:t>(0) → False</a:t>
            </a:r>
          </a:p>
          <a:p>
            <a:r>
              <a:rPr lang="en-US" dirty="0" err="1"/>
              <a:t>bool</a:t>
            </a:r>
            <a:r>
              <a:rPr lang="en-US" dirty="0"/>
              <a:t>(1) → True</a:t>
            </a:r>
          </a:p>
          <a:p>
            <a:r>
              <a:rPr lang="en-US" dirty="0" err="1"/>
              <a:t>bool</a:t>
            </a:r>
            <a:r>
              <a:rPr lang="en-US" dirty="0"/>
              <a:t>("") → False (</a:t>
            </a:r>
            <a:r>
              <a:rPr lang="en-US" dirty="0" err="1"/>
              <a:t>chaîne</a:t>
            </a:r>
            <a:r>
              <a:rPr lang="en-US" dirty="0"/>
              <a:t> vide = faux)</a:t>
            </a:r>
          </a:p>
          <a:p>
            <a:r>
              <a:rPr lang="en-US" dirty="0" err="1"/>
              <a:t>bool</a:t>
            </a:r>
            <a:r>
              <a:rPr lang="en-US" dirty="0"/>
              <a:t>("Python") → True (</a:t>
            </a:r>
            <a:r>
              <a:rPr lang="en-US" dirty="0" err="1"/>
              <a:t>chaîne</a:t>
            </a:r>
            <a:r>
              <a:rPr lang="en-US" dirty="0"/>
              <a:t> non vide = </a:t>
            </a:r>
            <a:r>
              <a:rPr lang="en-US" dirty="0" err="1"/>
              <a:t>vrai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7413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Les Fonctions</a:t>
            </a:r>
            <a:endParaRPr lang="fr-FR" sz="2400" b="1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1500" y="956905"/>
            <a:ext cx="8143875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 smtClean="0">
                <a:latin typeface="+mj-lt"/>
              </a:rPr>
              <a:t>Le </a:t>
            </a:r>
            <a:r>
              <a:rPr lang="fr-FR" dirty="0">
                <a:latin typeface="+mj-lt"/>
              </a:rPr>
              <a:t>langage </a:t>
            </a:r>
            <a:r>
              <a:rPr lang="fr-FR" b="1" dirty="0">
                <a:solidFill>
                  <a:srgbClr val="0000FF"/>
                </a:solidFill>
                <a:latin typeface="+mj-lt"/>
              </a:rPr>
              <a:t>Python</a:t>
            </a:r>
            <a:r>
              <a:rPr lang="fr-FR" dirty="0">
                <a:latin typeface="+mj-lt"/>
              </a:rPr>
              <a:t> permet  de réaliser ce que l’on nomme des </a:t>
            </a:r>
            <a:r>
              <a:rPr lang="fr-FR" b="1" dirty="0">
                <a:solidFill>
                  <a:srgbClr val="0000FF"/>
                </a:solidFill>
                <a:latin typeface="+mj-lt"/>
              </a:rPr>
              <a:t>fonctions</a:t>
            </a:r>
            <a:r>
              <a:rPr lang="fr-FR" dirty="0">
                <a:latin typeface="+mj-lt"/>
              </a:rPr>
              <a:t>. Il s’agit d’un bloc d’instructions  qu’on écrit une seule fois en leur attribuant un nom et qui dépend ou non d’un certain nombre de paramètres.</a:t>
            </a:r>
          </a:p>
          <a:p>
            <a:pPr algn="just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>
                <a:latin typeface="+mj-lt"/>
              </a:rPr>
              <a:t>La  </a:t>
            </a:r>
            <a:r>
              <a:rPr lang="fr-FR" b="1" dirty="0">
                <a:solidFill>
                  <a:srgbClr val="0000FF"/>
                </a:solidFill>
                <a:latin typeface="+mj-lt"/>
              </a:rPr>
              <a:t>fonction</a:t>
            </a:r>
            <a:r>
              <a:rPr lang="fr-FR" dirty="0">
                <a:latin typeface="+mj-lt"/>
              </a:rPr>
              <a:t>, peut être utilisée en tout point d’un programme en utilisant juste un appel avec le nom du sous programme (ou de la fonction) avec les paramètres voulus.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08057" y="3282965"/>
            <a:ext cx="8435975" cy="50322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Syntaxe</a:t>
            </a: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générale</a:t>
            </a: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</a:t>
            </a: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644527" y="3786190"/>
            <a:ext cx="7499373" cy="121444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/>
            <a:r>
              <a:rPr lang="fr-FR" sz="2000" b="1" dirty="0" err="1">
                <a:solidFill>
                  <a:srgbClr val="0000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def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</a:t>
            </a:r>
            <a:r>
              <a:rPr lang="fr-FR" sz="20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maFonction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(para1,para2,...,</a:t>
            </a:r>
            <a:r>
              <a:rPr lang="fr-FR" sz="20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paraN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):</a:t>
            </a:r>
          </a:p>
          <a:p>
            <a:pPr lvl="1"/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 </a:t>
            </a:r>
            <a:r>
              <a:rPr lang="fr-FR" sz="2000" b="1" dirty="0">
                <a:solidFill>
                  <a:srgbClr val="7F7F7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bloc d</a:t>
            </a:r>
            <a:r>
              <a:rPr lang="fr-FR" altLang="fr-FR" sz="2000" b="1" dirty="0">
                <a:solidFill>
                  <a:srgbClr val="7F7F7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’</a:t>
            </a:r>
            <a:r>
              <a:rPr lang="fr-FR" sz="2000" b="1" dirty="0">
                <a:solidFill>
                  <a:srgbClr val="7F7F7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instructions de la fonction</a:t>
            </a:r>
          </a:p>
          <a:p>
            <a:pPr lvl="1"/>
            <a:r>
              <a:rPr lang="fr-FR" sz="2000" b="1" dirty="0">
                <a:solidFill>
                  <a:srgbClr val="7F7F7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 </a:t>
            </a:r>
            <a:r>
              <a:rPr lang="fr-FR" sz="2000" b="1" dirty="0">
                <a:solidFill>
                  <a:srgbClr val="0000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return</a:t>
            </a:r>
            <a:r>
              <a:rPr lang="fr-FR" sz="2000" b="1" dirty="0">
                <a:solidFill>
                  <a:srgbClr val="7F7F7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valeur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79495" y="5232095"/>
            <a:ext cx="8435975" cy="42862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 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calcul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du cube d</a:t>
            </a:r>
            <a:r>
              <a:rPr kumimoji="0" lang="en-US" altLang="fr-FR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nombre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679454" y="5652780"/>
            <a:ext cx="7464446" cy="9909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cube(x):</a:t>
            </a: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x*x*x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19028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0" grpId="0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Les Fonctions</a:t>
            </a:r>
            <a:endParaRPr lang="fr-FR" sz="2400" b="1" dirty="0">
              <a:latin typeface="+mj-lt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36619" y="4068771"/>
            <a:ext cx="8435975" cy="931854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lang="en-US" sz="2400" b="1" kern="0" dirty="0" smtClean="0">
                <a:solidFill>
                  <a:srgbClr val="FF0000"/>
                </a:solidFill>
                <a:latin typeface="+mn-lt"/>
                <a:ea typeface="ＭＳ Ｐゴシック" pitchFamily="34" charset="-128"/>
                <a:cs typeface="+mn-cs"/>
              </a:rPr>
              <a:t>E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xemple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calcul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du minimum et du maximum de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deux</a:t>
            </a:r>
            <a:r>
              <a:rPr lang="en-US" sz="2400" kern="0" dirty="0" smtClean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nombres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1287501" y="4854589"/>
            <a:ext cx="6821504" cy="17176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calculMiniMaxi(x,y):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if 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x &lt; y: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x,y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: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y,x</a:t>
            </a:r>
            <a:endParaRPr lang="fr-FR" sz="20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996948"/>
            <a:ext cx="8435975" cy="3646498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Remarques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importantes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peut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retourner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plusieurs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valeurs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il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suffit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séparer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celles-ci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par des virgules.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peut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contenir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plusieurs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fois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la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commande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return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mais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elle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cesse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son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fonctionnement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dès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</a:t>
            </a:r>
            <a:r>
              <a:rPr kumimoji="0" lang="en-US" altLang="fr-FR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elle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en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rencontre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22126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Les Fonctions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071546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Utilisation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On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appelle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la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par son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nom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en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lui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passant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autant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paramètres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</a:t>
            </a:r>
            <a:r>
              <a:rPr kumimoji="0" lang="en-US" altLang="fr-FR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elle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en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possède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Pour ne pas 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perdre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la(les)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valeur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(s)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retournée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(s), on les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incorporera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par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dans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opération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affichage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affectation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etc</a:t>
            </a:r>
            <a:r>
              <a:rPr kumimoji="0" lang="en-US" altLang="ja-JP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08057" y="4068782"/>
            <a:ext cx="8435975" cy="50322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utilisations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609632" y="4503729"/>
            <a:ext cx="7285059" cy="17145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(cube(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5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))</a:t>
            </a: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a,b = 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5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,-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2</a:t>
            </a: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min,max = calculMiniMaxi(a,cube(b))</a:t>
            </a:r>
          </a:p>
          <a:p>
            <a:pPr lvl="1">
              <a:defRPr/>
            </a:pP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fr-FR" sz="2000" b="1" dirty="0">
                <a:solidFill>
                  <a:srgbClr val="008000"/>
                </a:solidFill>
                <a:latin typeface="Courier New"/>
                <a:cs typeface="Courier New"/>
              </a:rPr>
              <a:t>"Minimum :"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,min,</a:t>
            </a:r>
            <a:r>
              <a:rPr lang="fr-FR" sz="2000" b="1" dirty="0">
                <a:solidFill>
                  <a:srgbClr val="008000"/>
                </a:solidFill>
                <a:latin typeface="Courier New"/>
                <a:cs typeface="Courier New"/>
              </a:rPr>
              <a:t>", Maximum :"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,max)</a:t>
            </a:r>
          </a:p>
        </p:txBody>
      </p:sp>
      <p:pic>
        <p:nvPicPr>
          <p:cNvPr id="9" name="Image 3" descr="Image 1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07049" y="6429397"/>
            <a:ext cx="2451100" cy="35719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cxnSp>
        <p:nvCxnSpPr>
          <p:cNvPr id="10" name="Connecteur droit avec flèche 9"/>
          <p:cNvCxnSpPr>
            <a:cxnSpLocks noChangeShapeType="1"/>
          </p:cNvCxnSpPr>
          <p:nvPr/>
        </p:nvCxnSpPr>
        <p:spPr bwMode="auto">
          <a:xfrm>
            <a:off x="3848104" y="6643710"/>
            <a:ext cx="12954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6198345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Les Fonctions</a:t>
            </a:r>
            <a:endParaRPr lang="fr-FR" sz="2400" b="1" dirty="0">
              <a:latin typeface="+mj-lt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500298" y="822311"/>
            <a:ext cx="3027359" cy="6064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Duck Typing</a:t>
            </a:r>
            <a:endParaRPr kumimoji="0" 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j-lt"/>
              <a:ea typeface="ＭＳ Ｐゴシック" pitchFamily="34" charset="-128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352571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Principe du </a:t>
            </a:r>
            <a:r>
              <a:rPr kumimoji="0" lang="en-US" alt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Duck Typing</a:t>
            </a:r>
            <a:r>
              <a:rPr kumimoji="0" lang="en-US" alt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En Python on ne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précise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pas les types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attendus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paramètres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Cela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implique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</a:t>
            </a:r>
            <a:r>
              <a:rPr kumimoji="0" lang="en-US" altLang="fr-FR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peut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utiliser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un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avec des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paramètres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n</a:t>
            </a:r>
            <a:r>
              <a:rPr kumimoji="0" lang="en-US" altLang="fr-FR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importe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quel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type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à la condition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les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opérations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du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soient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compatibles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avec les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types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paramètres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4424405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alt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Duck Typing</a:t>
            </a:r>
            <a:r>
              <a:rPr kumimoji="0" lang="en-US" alt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785787" y="4857760"/>
            <a:ext cx="7429552" cy="150019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addition(x,y):</a:t>
            </a: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x + </a:t>
            </a:r>
            <a:r>
              <a:rPr lang="fr-FR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y</a:t>
            </a:r>
            <a:endParaRPr lang="fr-FR" sz="2000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lvl="1">
              <a:defRPr/>
            </a:pP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(addition(666,1))</a:t>
            </a:r>
          </a:p>
          <a:p>
            <a:pPr lvl="1">
              <a:defRPr/>
            </a:pP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(addition(</a:t>
            </a:r>
            <a:r>
              <a:rPr lang="fr-FR" sz="2000" b="1" dirty="0">
                <a:solidFill>
                  <a:srgbClr val="008000"/>
                </a:solidFill>
                <a:latin typeface="Courier New"/>
                <a:cs typeface="Courier New"/>
              </a:rPr>
              <a:t>"Brown "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  <a:r>
              <a:rPr lang="fr-FR" sz="2000" b="1" dirty="0">
                <a:solidFill>
                  <a:srgbClr val="008000"/>
                </a:solidFill>
                <a:latin typeface="Courier New"/>
                <a:cs typeface="Courier New"/>
              </a:rPr>
              <a:t>'Sugar'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))</a:t>
            </a:r>
          </a:p>
        </p:txBody>
      </p:sp>
      <p:cxnSp>
        <p:nvCxnSpPr>
          <p:cNvPr id="10" name="Connecteur droit avec flèche 9"/>
          <p:cNvCxnSpPr>
            <a:cxnSpLocks noChangeShapeType="1"/>
          </p:cNvCxnSpPr>
          <p:nvPr/>
        </p:nvCxnSpPr>
        <p:spPr bwMode="auto">
          <a:xfrm>
            <a:off x="4500562" y="6645296"/>
            <a:ext cx="12954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pic>
        <p:nvPicPr>
          <p:cNvPr id="11" name="Image 1" descr="Image 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57912" y="6429396"/>
            <a:ext cx="11049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93992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 Paramètres par défaut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923943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paramètres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peuvent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comporter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valeurs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par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défaut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Deux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cas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possibles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  <a:p>
            <a:pPr marL="860425" marR="0" lvl="1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>
                <a:schemeClr val="bg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Lors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de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l</a:t>
            </a:r>
            <a:r>
              <a:rPr kumimoji="0" lang="en-US" altLang="fr-FR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’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appel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on ne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précise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pas de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valeurs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pour les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paramètres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en question et le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sous-programme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utilise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celles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par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défaut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.</a:t>
            </a:r>
          </a:p>
          <a:p>
            <a:pPr marL="860425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bg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Si on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précise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des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valeurs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ce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sont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celles-ci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qui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sont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utilisées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</a:rPr>
              <a:t>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00034" y="4210091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785786" y="4638719"/>
            <a:ext cx="7643866" cy="16478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fr-FR" sz="2000" b="1" dirty="0" err="1">
                <a:solidFill>
                  <a:srgbClr val="0000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def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rectangle(x=</a:t>
            </a:r>
            <a:r>
              <a:rPr lang="fr-FR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3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,y=</a:t>
            </a:r>
            <a:r>
              <a:rPr lang="fr-FR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1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):</a:t>
            </a:r>
          </a:p>
          <a:p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   </a:t>
            </a:r>
            <a:r>
              <a:rPr lang="fr-FR" sz="2000" b="1" dirty="0" err="1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print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</a:t>
            </a:r>
            <a:r>
              <a:rPr lang="fr-FR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"périmètre :"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,2*(x+y),</a:t>
            </a:r>
            <a:r>
              <a:rPr lang="fr-FR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"aire :"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,x*y</a:t>
            </a:r>
            <a:r>
              <a:rPr lang="fr-FR" sz="2000" b="1" dirty="0" smtClean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</a:t>
            </a:r>
            <a:endParaRPr lang="fr-FR" sz="2000" b="1" dirty="0">
              <a:solidFill>
                <a:schemeClr val="tx1"/>
              </a:solidFill>
              <a:latin typeface="Courier New" pitchFamily="49" charset="0"/>
              <a:ea typeface="ＭＳ Ｐゴシック" pitchFamily="34" charset="-128"/>
              <a:cs typeface="Courier New" pitchFamily="49" charset="0"/>
            </a:endParaRPr>
          </a:p>
          <a:p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rectangle()</a:t>
            </a:r>
          </a:p>
          <a:p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rectangle(</a:t>
            </a:r>
            <a:r>
              <a:rPr lang="fr-FR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2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</a:t>
            </a:r>
          </a:p>
          <a:p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rectangle(</a:t>
            </a:r>
            <a:r>
              <a:rPr lang="fr-FR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7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</a:t>
            </a:r>
            <a:r>
              <a:rPr lang="fr-FR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5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</a:t>
            </a:r>
          </a:p>
        </p:txBody>
      </p:sp>
      <p:pic>
        <p:nvPicPr>
          <p:cNvPr id="9" name="Image 1" descr="Image 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86380" y="6357958"/>
            <a:ext cx="2438400" cy="42862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cxnSp>
        <p:nvCxnSpPr>
          <p:cNvPr id="10" name="Connecteur droit avec flèche 9"/>
          <p:cNvCxnSpPr>
            <a:cxnSpLocks noChangeShapeType="1"/>
          </p:cNvCxnSpPr>
          <p:nvPr/>
        </p:nvCxnSpPr>
        <p:spPr bwMode="auto">
          <a:xfrm>
            <a:off x="3630618" y="6575445"/>
            <a:ext cx="12954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4180074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 Paramètres par défaut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Autre exemple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785786" y="2349500"/>
            <a:ext cx="8178827" cy="30241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fr-FR" sz="2000" b="1" dirty="0" err="1">
                <a:solidFill>
                  <a:srgbClr val="0000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def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rectangle(</a:t>
            </a:r>
            <a:r>
              <a:rPr lang="fr-FR" sz="20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x,y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=</a:t>
            </a:r>
            <a:r>
              <a:rPr lang="fr-FR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1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):</a:t>
            </a:r>
          </a:p>
          <a:p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   </a:t>
            </a:r>
            <a:r>
              <a:rPr lang="fr-FR" sz="2000" b="1" dirty="0" err="1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print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</a:t>
            </a:r>
            <a:r>
              <a:rPr lang="fr-FR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"périmètre :"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,2*(x+y),</a:t>
            </a:r>
            <a:r>
              <a:rPr lang="fr-FR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"aire :"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,x*y)</a:t>
            </a:r>
          </a:p>
          <a:p>
            <a:endParaRPr lang="fr-FR" sz="2000" b="1" dirty="0">
              <a:solidFill>
                <a:schemeClr val="tx1"/>
              </a:solidFill>
              <a:latin typeface="Courier New" pitchFamily="49" charset="0"/>
              <a:ea typeface="ＭＳ Ｐゴシック" pitchFamily="34" charset="-128"/>
              <a:cs typeface="Courier New" pitchFamily="49" charset="0"/>
            </a:endParaRPr>
          </a:p>
          <a:p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rectangle(</a:t>
            </a:r>
            <a:r>
              <a:rPr lang="fr-FR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2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</a:t>
            </a:r>
          </a:p>
          <a:p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rectangle(</a:t>
            </a:r>
            <a:r>
              <a:rPr lang="fr-FR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7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</a:t>
            </a:r>
            <a:r>
              <a:rPr lang="fr-FR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5</a:t>
            </a:r>
            <a:r>
              <a:rPr lang="fr-FR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</a:t>
            </a:r>
          </a:p>
        </p:txBody>
      </p:sp>
      <p:pic>
        <p:nvPicPr>
          <p:cNvPr id="7" name="Image 1" descr="Image 3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56325" y="5732463"/>
            <a:ext cx="24511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cxnSp>
        <p:nvCxnSpPr>
          <p:cNvPr id="9" name="Connecteur droit avec flèche 8"/>
          <p:cNvCxnSpPr>
            <a:cxnSpLocks noChangeShapeType="1"/>
          </p:cNvCxnSpPr>
          <p:nvPr/>
        </p:nvCxnSpPr>
        <p:spPr bwMode="auto">
          <a:xfrm>
            <a:off x="4500563" y="5949950"/>
            <a:ext cx="12954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3852911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Paramètres immuables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139824"/>
            <a:ext cx="8435975" cy="2074862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paramètres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type 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int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bool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float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complex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et 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str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sont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immuables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Cela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signifie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</a:t>
            </a:r>
            <a:r>
              <a:rPr kumimoji="0" lang="en-US" altLang="fr-FR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passe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variable de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</a:t>
            </a:r>
            <a:r>
              <a:rPr kumimoji="0" lang="en-US" altLang="fr-FR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types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comme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paramètre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à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celle-ci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ne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pourra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pas en modifier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sa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valeur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3533792"/>
            <a:ext cx="8435975" cy="64610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 tentative pour doubler un nombre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857224" y="4098941"/>
            <a:ext cx="8107389" cy="21526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def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doubler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(x):</a:t>
            </a:r>
          </a:p>
          <a:p>
            <a:pPr lvl="1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   x *= </a:t>
            </a:r>
            <a:r>
              <a:rPr lang="en-US" sz="2000" b="1" dirty="0" smtClean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2</a:t>
            </a:r>
          </a:p>
          <a:p>
            <a:pPr lvl="1"/>
            <a:endParaRPr lang="en-US" sz="2000" b="1" dirty="0">
              <a:solidFill>
                <a:schemeClr val="tx1"/>
              </a:solidFill>
              <a:latin typeface="Courier New" pitchFamily="49" charset="0"/>
              <a:ea typeface="ＭＳ Ｐゴシック" pitchFamily="34" charset="-128"/>
              <a:cs typeface="Courier New" pitchFamily="49" charset="0"/>
            </a:endParaRPr>
          </a:p>
          <a:p>
            <a:pPr lvl="1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a = </a:t>
            </a:r>
            <a:r>
              <a:rPr lang="en-US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3</a:t>
            </a:r>
          </a:p>
          <a:p>
            <a:pPr lvl="1"/>
            <a:r>
              <a:rPr lang="en-US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print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"</a:t>
            </a:r>
            <a:r>
              <a:rPr lang="en-US" sz="2000" b="1" dirty="0" err="1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valeur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de a </a:t>
            </a:r>
            <a:r>
              <a:rPr lang="en-US" sz="2000" b="1" dirty="0" err="1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avant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:"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,a)</a:t>
            </a:r>
          </a:p>
          <a:p>
            <a:pPr lvl="1"/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doubler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(a)</a:t>
            </a:r>
          </a:p>
          <a:p>
            <a:pPr lvl="1"/>
            <a:r>
              <a:rPr lang="en-US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print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"</a:t>
            </a:r>
            <a:r>
              <a:rPr lang="en-US" sz="2000" b="1" dirty="0" err="1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valeur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de a après :"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,a)</a:t>
            </a:r>
            <a:endParaRPr lang="fr-FR" sz="2000" b="1" dirty="0">
              <a:solidFill>
                <a:schemeClr val="tx1"/>
              </a:solidFill>
              <a:latin typeface="Courier New" pitchFamily="49" charset="0"/>
              <a:ea typeface="ＭＳ Ｐゴシック" pitchFamily="34" charset="-128"/>
              <a:cs typeface="Courier New" pitchFamily="49" charset="0"/>
            </a:endParaRPr>
          </a:p>
        </p:txBody>
      </p:sp>
      <p:pic>
        <p:nvPicPr>
          <p:cNvPr id="9" name="Image 2" descr="Image 6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7736" y="6321448"/>
            <a:ext cx="1993900" cy="393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cxnSp>
        <p:nvCxnSpPr>
          <p:cNvPr id="10" name="Connecteur droit avec flèche 9"/>
          <p:cNvCxnSpPr>
            <a:cxnSpLocks noChangeShapeType="1"/>
          </p:cNvCxnSpPr>
          <p:nvPr/>
        </p:nvCxnSpPr>
        <p:spPr bwMode="auto">
          <a:xfrm>
            <a:off x="4429124" y="6537348"/>
            <a:ext cx="1296987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32921950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Paramètres immuables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(suite) : contournement du problème précédent en utilisant une fonction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785786" y="2565400"/>
            <a:ext cx="8178827" cy="28082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/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def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doubler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(x):</a:t>
            </a:r>
          </a:p>
          <a:p>
            <a:pPr lvl="1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2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*x</a:t>
            </a:r>
          </a:p>
          <a:p>
            <a:pPr lvl="1"/>
            <a:endParaRPr lang="en-US" sz="2000" b="1" dirty="0">
              <a:solidFill>
                <a:schemeClr val="tx1"/>
              </a:solidFill>
              <a:latin typeface="Courier New" pitchFamily="49" charset="0"/>
              <a:ea typeface="ＭＳ Ｐゴシック" pitchFamily="34" charset="-128"/>
              <a:cs typeface="Courier New" pitchFamily="49" charset="0"/>
            </a:endParaRPr>
          </a:p>
          <a:p>
            <a:pPr lvl="1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a = </a:t>
            </a:r>
            <a:r>
              <a:rPr lang="en-US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3</a:t>
            </a:r>
          </a:p>
          <a:p>
            <a:pPr lvl="1"/>
            <a:r>
              <a:rPr lang="en-US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print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"</a:t>
            </a:r>
            <a:r>
              <a:rPr lang="en-US" sz="2000" b="1" dirty="0" err="1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valeur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de a </a:t>
            </a:r>
            <a:r>
              <a:rPr lang="en-US" sz="2000" b="1" dirty="0" err="1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avant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:"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,a)</a:t>
            </a:r>
          </a:p>
          <a:p>
            <a:pPr lvl="1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a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doubler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(a)</a:t>
            </a:r>
          </a:p>
          <a:p>
            <a:pPr lvl="1"/>
            <a:r>
              <a:rPr lang="en-US" sz="2000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print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"</a:t>
            </a:r>
            <a:r>
              <a:rPr lang="en-US" sz="2000" b="1" dirty="0" err="1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valeur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de a après :"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,a)</a:t>
            </a:r>
            <a:endParaRPr lang="fr-FR" sz="2000" b="1" dirty="0">
              <a:solidFill>
                <a:schemeClr val="tx1"/>
              </a:solidFill>
              <a:latin typeface="Courier New" pitchFamily="49" charset="0"/>
              <a:ea typeface="ＭＳ Ｐゴシック" pitchFamily="34" charset="-128"/>
              <a:cs typeface="Courier New" pitchFamily="49" charset="0"/>
            </a:endParaRPr>
          </a:p>
        </p:txBody>
      </p:sp>
      <p:pic>
        <p:nvPicPr>
          <p:cNvPr id="7" name="Image 1" descr="Image 1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16688" y="5732463"/>
            <a:ext cx="1993900" cy="368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cxnSp>
        <p:nvCxnSpPr>
          <p:cNvPr id="9" name="Connecteur droit avec flèche 8"/>
          <p:cNvCxnSpPr>
            <a:cxnSpLocks noChangeShapeType="1"/>
          </p:cNvCxnSpPr>
          <p:nvPr/>
        </p:nvCxnSpPr>
        <p:spPr bwMode="auto">
          <a:xfrm>
            <a:off x="4859338" y="5949950"/>
            <a:ext cx="1296987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029593560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Variables locales et globales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996948"/>
            <a:ext cx="8435975" cy="2289176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Variables locales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donc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variables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définies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à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</a:t>
            </a:r>
            <a:r>
              <a:rPr kumimoji="0" lang="en-US" altLang="fr-FR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intérieur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programme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et qui ne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sont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accessibles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qu</a:t>
            </a:r>
            <a:r>
              <a:rPr kumimoji="0" lang="en-US" altLang="fr-FR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au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sein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altLang="ja-JP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celui-ci</a:t>
            </a:r>
            <a:r>
              <a:rPr kumimoji="0" lang="en-US" altLang="ja-JP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Elles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servent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essentiellement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au bon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fonctionnement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du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3640154"/>
            <a:ext cx="8435975" cy="931854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calculant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la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somme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premiers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entiers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avec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deux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variables locales 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utilitaires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571472" y="4572008"/>
            <a:ext cx="7786742" cy="18573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sommeEntiers(n):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somme = </a:t>
            </a: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0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i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in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range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(n+</a:t>
            </a: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):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    somme += i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somme</a:t>
            </a:r>
            <a:endParaRPr lang="fr-FR" sz="20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17373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Variables locales et globales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142984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(suite) : tentative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utilisation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la variable locale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somme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en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dehors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la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714348" y="2492375"/>
            <a:ext cx="8250265" cy="25923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sommeEntiers(n):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somme = </a:t>
            </a: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0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i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in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range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(n+</a:t>
            </a: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):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    somme += i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somme</a:t>
            </a:r>
          </a:p>
          <a:p>
            <a:pPr lvl="1">
              <a:defRPr/>
            </a:pPr>
            <a:endParaRPr lang="en-US" sz="2000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lvl="1">
              <a:defRPr/>
            </a:pP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(somme)</a:t>
            </a:r>
            <a:endParaRPr lang="fr-FR" sz="20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pic>
        <p:nvPicPr>
          <p:cNvPr id="7" name="Image 1" descr="Image 8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42988" y="5516563"/>
            <a:ext cx="7988300" cy="723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3908744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Variables locales et globales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996948"/>
            <a:ext cx="8435975" cy="2217738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Variables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globales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des variables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définies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en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dehors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tout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 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Elles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globales</a:t>
            </a:r>
            <a:r>
              <a:rPr kumimoji="0" lang="en-US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au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sens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où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elles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visibles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et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utilisables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dans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tous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les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sous-programmes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du module courant.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22305" y="3640154"/>
            <a:ext cx="8721695" cy="2932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Ordre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 de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recherche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 des variables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dans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 un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sous-programme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  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ＭＳ Ｐゴシック" charset="0"/>
            </a:endParaRPr>
          </a:p>
          <a:p>
            <a:pPr algn="just" defTabSz="457200">
              <a:spcBef>
                <a:spcPct val="20000"/>
              </a:spcBef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La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rencontre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 d</a:t>
            </a:r>
            <a:r>
              <a:rPr kumimoji="0" lang="en-US" alt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’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un nom de variable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dans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 un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sous-programme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déclenche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une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recherche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LGI </a:t>
            </a:r>
            <a:r>
              <a:rPr lang="en-US" sz="2400" dirty="0" smtClean="0">
                <a:latin typeface="+mn-lt"/>
                <a:ea typeface="ＭＳ Ｐゴシック" pitchFamily="34" charset="-128"/>
                <a:cs typeface="ＭＳ Ｐゴシック" charset="0"/>
              </a:rPr>
              <a:t>(</a:t>
            </a:r>
            <a:r>
              <a:rPr lang="en-US" sz="2400" dirty="0" smtClean="0">
                <a:solidFill>
                  <a:srgbClr val="0000FF"/>
                </a:solidFill>
                <a:latin typeface="+mn-lt"/>
                <a:ea typeface="ＭＳ Ｐゴシック" pitchFamily="34" charset="-128"/>
                <a:cs typeface="ＭＳ Ｐゴシック" charset="0"/>
              </a:rPr>
              <a:t>L</a:t>
            </a:r>
            <a:r>
              <a:rPr lang="en-US" sz="2400" dirty="0" smtClean="0">
                <a:latin typeface="+mn-lt"/>
                <a:ea typeface="ＭＳ Ｐゴシック" pitchFamily="34" charset="-128"/>
                <a:cs typeface="ＭＳ Ｐゴシック" charset="0"/>
              </a:rPr>
              <a:t>ocale </a:t>
            </a:r>
            <a:r>
              <a:rPr lang="en-US" sz="2400" dirty="0" err="1" smtClean="0">
                <a:solidFill>
                  <a:srgbClr val="0000FF"/>
                </a:solidFill>
                <a:latin typeface="+mn-lt"/>
                <a:ea typeface="ＭＳ Ｐゴシック" pitchFamily="34" charset="-128"/>
                <a:cs typeface="ＭＳ Ｐゴシック" charset="0"/>
              </a:rPr>
              <a:t>G</a:t>
            </a:r>
            <a:r>
              <a:rPr lang="en-US" sz="2400" dirty="0" err="1" smtClean="0">
                <a:latin typeface="+mn-lt"/>
                <a:ea typeface="ＭＳ Ｐゴシック" pitchFamily="34" charset="-128"/>
                <a:cs typeface="ＭＳ Ｐゴシック" charset="0"/>
              </a:rPr>
              <a:t>lobale</a:t>
            </a:r>
            <a:r>
              <a:rPr lang="en-US" sz="2400" dirty="0" smtClean="0">
                <a:latin typeface="+mn-lt"/>
                <a:ea typeface="ＭＳ Ｐゴシック" pitchFamily="34" charset="-128"/>
                <a:cs typeface="ＭＳ Ｐゴシック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+mn-lt"/>
                <a:ea typeface="ＭＳ Ｐゴシック" pitchFamily="34" charset="-128"/>
                <a:cs typeface="ＭＳ Ｐゴシック" charset="0"/>
              </a:rPr>
              <a:t>I</a:t>
            </a:r>
            <a:r>
              <a:rPr lang="en-US" sz="2400" dirty="0" smtClean="0">
                <a:latin typeface="+mn-lt"/>
                <a:ea typeface="ＭＳ Ｐゴシック" pitchFamily="34" charset="-128"/>
                <a:cs typeface="ＭＳ Ｐゴシック" charset="0"/>
              </a:rPr>
              <a:t>nterne)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ＭＳ Ｐゴシック" charset="0"/>
              </a:rPr>
              <a:t>:</a:t>
            </a:r>
          </a:p>
          <a:p>
            <a:pPr marL="971550" marR="0" lvl="1" indent="-514350" algn="just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AutoNum type="arabicPeriod"/>
              <a:tabLst/>
              <a:defRPr/>
            </a:pP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Recherche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variable </a:t>
            </a:r>
            <a:r>
              <a:rPr lang="en-US" b="1" dirty="0" smtClean="0">
                <a:latin typeface="+mn-lt"/>
                <a:ea typeface="ＭＳ Ｐゴシック" pitchFamily="34" charset="-128"/>
                <a:cs typeface="+mn-cs"/>
              </a:rPr>
              <a:t>L</a:t>
            </a:r>
            <a:r>
              <a:rPr kumimoji="0" lang="en-US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ocale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correspondant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à 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nom.</a:t>
            </a:r>
          </a:p>
          <a:p>
            <a:pPr marL="971550" marR="0" lvl="1" indent="-514350" algn="just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AutoNum type="arabicPeriod"/>
              <a:tabLst/>
              <a:defRPr/>
            </a:pP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Recherche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kumimoji="0" lang="en-US" altLang="fr-FR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variable </a:t>
            </a:r>
            <a:r>
              <a:rPr lang="en-US" b="1" dirty="0" err="1" smtClean="0">
                <a:latin typeface="+mn-lt"/>
                <a:ea typeface="ＭＳ Ｐゴシック" pitchFamily="34" charset="-128"/>
                <a:cs typeface="+mn-cs"/>
              </a:rPr>
              <a:t>G</a:t>
            </a:r>
            <a:r>
              <a:rPr kumimoji="0" lang="en-US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lobale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correspondant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à 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nom.</a:t>
            </a:r>
          </a:p>
          <a:p>
            <a:pPr marL="971550" marR="0" lvl="1" indent="-514350" algn="just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AutoNum type="arabicPeriod"/>
              <a:tabLst/>
              <a:defRPr/>
            </a:pP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Recherche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</a:t>
            </a:r>
            <a:r>
              <a:rPr kumimoji="0" lang="en-US" altLang="fr-FR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 nom </a:t>
            </a:r>
            <a:r>
              <a:rPr lang="en-US" b="1" dirty="0" smtClean="0">
                <a:latin typeface="+mn-lt"/>
                <a:ea typeface="ＭＳ Ｐゴシック" pitchFamily="34" charset="-128"/>
                <a:cs typeface="+mn-cs"/>
              </a:rPr>
              <a:t>I</a:t>
            </a:r>
            <a:r>
              <a:rPr kumimoji="0" lang="en-US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nterne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au 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langage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87703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Variables locales et globales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923943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1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 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642910" y="1355731"/>
            <a:ext cx="8321703" cy="15795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ro-RO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exemple1():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(i)</a:t>
            </a:r>
          </a:p>
          <a:p>
            <a:pPr lvl="1">
              <a:defRPr/>
            </a:pPr>
            <a:endParaRPr lang="ro-RO" sz="2000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i =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666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exemple1()</a:t>
            </a:r>
            <a:endParaRPr lang="fr-FR" sz="20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pic>
        <p:nvPicPr>
          <p:cNvPr id="7" name="Image 2" descr="Image 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56351" y="2989281"/>
            <a:ext cx="419100" cy="254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cxnSp>
        <p:nvCxnSpPr>
          <p:cNvPr id="9" name="Connecteur droit avec flèche 8"/>
          <p:cNvCxnSpPr>
            <a:cxnSpLocks noChangeShapeType="1"/>
          </p:cNvCxnSpPr>
          <p:nvPr/>
        </p:nvCxnSpPr>
        <p:spPr bwMode="auto">
          <a:xfrm>
            <a:off x="4714876" y="3141681"/>
            <a:ext cx="1296987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10" name="Content Placeholder 2"/>
          <p:cNvSpPr txBox="1">
            <a:spLocks/>
          </p:cNvSpPr>
          <p:nvPr/>
        </p:nvSpPr>
        <p:spPr>
          <a:xfrm>
            <a:off x="457200" y="3209959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2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785786" y="3643314"/>
            <a:ext cx="8178827" cy="25717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ro-RO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exemple2():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    i =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111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(i)</a:t>
            </a:r>
          </a:p>
          <a:p>
            <a:pPr lvl="1">
              <a:defRPr/>
            </a:pPr>
            <a:endParaRPr lang="ro-RO" sz="2000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i =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666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exemple2()</a:t>
            </a:r>
          </a:p>
          <a:p>
            <a:pPr lvl="1">
              <a:defRPr/>
            </a:pP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(i)</a:t>
            </a:r>
            <a:endParaRPr lang="fr-FR" sz="20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pic>
        <p:nvPicPr>
          <p:cNvPr id="12" name="Image 1" descr="Image 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42142" y="6429396"/>
            <a:ext cx="381000" cy="368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cxnSp>
        <p:nvCxnSpPr>
          <p:cNvPr id="13" name="Connecteur droit avec flèche 12"/>
          <p:cNvCxnSpPr>
            <a:cxnSpLocks noChangeShapeType="1"/>
          </p:cNvCxnSpPr>
          <p:nvPr/>
        </p:nvCxnSpPr>
        <p:spPr bwMode="auto">
          <a:xfrm>
            <a:off x="5286380" y="6646883"/>
            <a:ext cx="1296987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7303046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Variables locales et globales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 3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642910" y="2133600"/>
            <a:ext cx="8321703" cy="26638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ro-RO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exemple3():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(i)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    i =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111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(i)</a:t>
            </a:r>
          </a:p>
          <a:p>
            <a:pPr lvl="1">
              <a:defRPr/>
            </a:pPr>
            <a:endParaRPr lang="ro-RO" sz="2000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i =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666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exemple3()</a:t>
            </a:r>
            <a:endParaRPr lang="fr-FR" sz="20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pic>
        <p:nvPicPr>
          <p:cNvPr id="399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425" y="5049430"/>
            <a:ext cx="7615640" cy="1404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10404810" y="4797425"/>
            <a:ext cx="914400" cy="914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336666"/>
              </a:buClr>
              <a:buSzTx/>
              <a:buFont typeface="Wingdings" pitchFamily="2" charset="2"/>
              <a:buNone/>
              <a:tabLst/>
            </a:pPr>
            <a:endParaRPr kumimoji="0" lang="fr-F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238461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/>
              <a:t>Variables locales et globales</a:t>
            </a:r>
            <a:endParaRPr lang="fr-FR" sz="24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071546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Modification de la valeur de variables globales 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6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Les variables globales ne sont a priori pas modifiables par des sous-programmes.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Pour que cela soit possible, il faut le signaler explicitement dans le sous programme à l</a:t>
            </a:r>
            <a:r>
              <a:rPr kumimoji="0" lang="en-US" altLang="fr-FR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aide de l</a:t>
            </a:r>
            <a:r>
              <a:rPr kumimoji="0" lang="en-US" altLang="fr-FR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instruction </a:t>
            </a:r>
            <a:r>
              <a:rPr kumimoji="0" lang="en-US" altLang="fr-FR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kumimoji="0" lang="en-US" altLang="ja-JP" sz="26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global</a:t>
            </a:r>
            <a:r>
              <a:rPr kumimoji="0" lang="en-US" altLang="fr-FR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kumimoji="0" lang="en-US" altLang="ja-JP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sz="26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Syntaxe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3563938" y="5565796"/>
            <a:ext cx="3960812" cy="863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global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var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1310426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/>
              <a:t>Variables locales et globales</a:t>
            </a:r>
            <a:endParaRPr lang="fr-FR" sz="24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 4</a:t>
            </a:r>
            <a:r>
              <a:rPr kumimoji="0" lang="en-US" sz="2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6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857224" y="2205038"/>
            <a:ext cx="8107389" cy="33115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ro-RO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exemple4():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ro-RO" sz="2000" b="1" dirty="0">
                <a:solidFill>
                  <a:srgbClr val="0000FF"/>
                </a:solidFill>
                <a:latin typeface="Courier New"/>
                <a:cs typeface="Courier New"/>
              </a:rPr>
              <a:t>global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 i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(i)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    i =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111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(i)</a:t>
            </a:r>
          </a:p>
          <a:p>
            <a:pPr lvl="1">
              <a:defRPr/>
            </a:pPr>
            <a:endParaRPr lang="ro-RO" sz="2000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i = </a:t>
            </a: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666</a:t>
            </a:r>
          </a:p>
          <a:p>
            <a:pPr lvl="1">
              <a:defRPr/>
            </a:pP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exemple4()</a:t>
            </a:r>
          </a:p>
          <a:p>
            <a:pPr lvl="1">
              <a:defRPr/>
            </a:pPr>
            <a:r>
              <a:rPr lang="ro-RO" sz="20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ro-RO" sz="2000" b="1" dirty="0">
                <a:solidFill>
                  <a:schemeClr val="tx1"/>
                </a:solidFill>
                <a:latin typeface="Courier New"/>
                <a:cs typeface="Courier New"/>
              </a:rPr>
              <a:t>(i)</a:t>
            </a:r>
            <a:endParaRPr lang="fr-FR" sz="20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pic>
        <p:nvPicPr>
          <p:cNvPr id="7" name="Image 1" descr="Image 6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027988" y="5732463"/>
            <a:ext cx="381000" cy="546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9" name="Connecteur droit avec flèche 8"/>
          <p:cNvCxnSpPr>
            <a:cxnSpLocks noChangeShapeType="1"/>
          </p:cNvCxnSpPr>
          <p:nvPr/>
        </p:nvCxnSpPr>
        <p:spPr bwMode="auto">
          <a:xfrm>
            <a:off x="6372225" y="6021388"/>
            <a:ext cx="12954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142980220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Exercice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65181" y="1354139"/>
            <a:ext cx="8435975" cy="1503358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Ecrire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fonction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(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procédure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)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prenant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paramètre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durée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secondes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et qui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affiche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la conversion de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cette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durée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en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heures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minutes,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secondes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2786058"/>
            <a:ext cx="8435975" cy="5746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24579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664" y="1988840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defRPr/>
            </a:pPr>
            <a:r>
              <a:rPr lang="en-US" b="1" kern="0" dirty="0">
                <a:solidFill>
                  <a:srgbClr val="FF0000"/>
                </a:solidFill>
                <a:ea typeface="ＭＳ Ｐゴシック" pitchFamily="34" charset="-128"/>
              </a:rPr>
              <a:t>Solution</a:t>
            </a:r>
            <a:r>
              <a:rPr lang="en-US" kern="0" dirty="0">
                <a:ea typeface="ＭＳ Ｐゴシック" pitchFamily="34" charset="-128"/>
              </a:rPr>
              <a:t> :</a:t>
            </a:r>
          </a:p>
        </p:txBody>
      </p:sp>
      <p:sp>
        <p:nvSpPr>
          <p:cNvPr id="3" name="Rectangle à coins arrondis 2"/>
          <p:cNvSpPr/>
          <p:nvPr/>
        </p:nvSpPr>
        <p:spPr>
          <a:xfrm>
            <a:off x="683460" y="3289283"/>
            <a:ext cx="8316047" cy="29527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conversion1(n):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h = n // </a:t>
            </a: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3600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m = (n - </a:t>
            </a: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3600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*h) // </a:t>
            </a: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60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 s = n % </a:t>
            </a: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60</a:t>
            </a:r>
          </a:p>
          <a:p>
            <a:pPr lvl="1">
              <a:defRPr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  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000" b="1" dirty="0" smtClean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(h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"heures,"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,m,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"minutes,"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,s,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"secondes"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  <a:endParaRPr lang="fr-FR" sz="20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7430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Récursivité</a:t>
            </a:r>
            <a:endParaRPr lang="fr-FR" sz="2400" b="1" dirty="0">
              <a:latin typeface="+mj-lt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00034" y="973162"/>
            <a:ext cx="7777162" cy="6064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pitchFamily="34" charset="-128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071546"/>
            <a:ext cx="8435975" cy="50768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Définition 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 un sous–programme (fonction) est dit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récursif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</a:t>
            </a:r>
            <a:r>
              <a:rPr kumimoji="0" lang="fr-FR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il s</a:t>
            </a:r>
            <a:r>
              <a:rPr kumimoji="0" lang="fr-FR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appelle lui même.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Idée 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 pour effectuer une tâche ou un calcul, on se ramène à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la réalisation d</a:t>
            </a:r>
            <a:r>
              <a:rPr kumimoji="0" lang="fr-FR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 tâche similaire mais de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complexité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moindre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 On recommence jusqu</a:t>
            </a:r>
            <a:r>
              <a:rPr kumimoji="0" lang="fr-FR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à obtenir une tâche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élémentaire.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03270" y="3571876"/>
            <a:ext cx="8712200" cy="2717804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 classique 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 calcul de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n! = 1 x 2 x 3 x … x n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On montre facilement la relation de récurrence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n! = n x (n-1)!</a:t>
            </a:r>
            <a:endParaRPr kumimoji="0" lang="fr-F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Si on sait calculer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(n-1)!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on connaîtra donc la valeur de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n!</a:t>
            </a:r>
            <a:endParaRPr kumimoji="0" lang="fr-F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Mais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(n-1)! = (n-1) x (n-2)!</a:t>
            </a:r>
            <a:endParaRPr kumimoji="0" lang="fr-F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On est donc ramené au calcul de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(n-2)!</a:t>
            </a:r>
            <a:endParaRPr kumimoji="0" lang="fr-F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Et ainsi de suite jusqu</a:t>
            </a:r>
            <a:r>
              <a:rPr kumimoji="0" lang="fr-FR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à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1!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dont on connaît la valeur : 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679367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Récursivité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857232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calcul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récursif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n!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857224" y="1357298"/>
            <a:ext cx="7500990" cy="17145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def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factorielleRecursive(n):</a:t>
            </a: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if 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n == 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0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or n == 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1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:</a:t>
            </a: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       </a:t>
            </a: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1</a:t>
            </a:r>
            <a:endParaRPr lang="fr-FR" sz="2000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:</a:t>
            </a: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       </a:t>
            </a: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n*factorielleRecursive(n-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1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3424273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Déroulement</a:t>
            </a: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du </a:t>
            </a:r>
            <a:r>
              <a:rPr kumimoji="0" 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programme</a:t>
            </a: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 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si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par 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n = 4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16013" y="3927481"/>
            <a:ext cx="2879725" cy="4302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fr-FR" sz="2200" dirty="0">
                <a:latin typeface="+mn-lt"/>
                <a:ea typeface="ＭＳ Ｐゴシック" charset="0"/>
                <a:cs typeface="ＭＳ Ｐゴシック" charset="0"/>
              </a:rPr>
              <a:t>facto(4) = 4 x facto(3)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116013" y="4579939"/>
            <a:ext cx="2879725" cy="431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fr-FR" sz="2200" dirty="0">
                <a:latin typeface="+mn-lt"/>
                <a:ea typeface="ＭＳ Ｐゴシック" charset="0"/>
                <a:cs typeface="ＭＳ Ｐゴシック" charset="0"/>
              </a:rPr>
              <a:t>facto(3) = 3 x facto(2)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116013" y="5286388"/>
            <a:ext cx="2879725" cy="4302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fr-FR" sz="2200" dirty="0">
                <a:latin typeface="+mn-lt"/>
                <a:ea typeface="ＭＳ Ｐゴシック" charset="0"/>
                <a:cs typeface="ＭＳ Ｐゴシック" charset="0"/>
              </a:rPr>
              <a:t>facto(2) = 2 x facto(1)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116013" y="5929330"/>
            <a:ext cx="2879725" cy="4302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fr-FR" sz="2200">
                <a:latin typeface="+mn-lt"/>
                <a:ea typeface="ＭＳ Ｐゴシック" charset="0"/>
                <a:cs typeface="ＭＳ Ｐゴシック" charset="0"/>
              </a:rPr>
              <a:t>facto(1) = 1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5076825" y="5286388"/>
            <a:ext cx="2879725" cy="4302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fr-FR" sz="2200" dirty="0">
                <a:latin typeface="+mn-lt"/>
                <a:ea typeface="ＭＳ Ｐゴシック" charset="0"/>
                <a:cs typeface="ＭＳ Ｐゴシック" charset="0"/>
              </a:rPr>
              <a:t>facto(2) = 2 x 1 = 2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5076825" y="4643446"/>
            <a:ext cx="2879725" cy="431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fr-FR" sz="2200" dirty="0">
                <a:latin typeface="+mn-lt"/>
                <a:ea typeface="ＭＳ Ｐゴシック" charset="0"/>
                <a:cs typeface="ＭＳ Ｐゴシック" charset="0"/>
              </a:rPr>
              <a:t>facto(3) = 3 x 2 = 6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5076825" y="3998919"/>
            <a:ext cx="2879725" cy="4302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fr-FR" sz="2200" dirty="0">
                <a:latin typeface="+mn-lt"/>
                <a:ea typeface="ＭＳ Ｐゴシック" charset="0"/>
                <a:cs typeface="ＭＳ Ｐゴシック" charset="0"/>
              </a:rPr>
              <a:t>facto(4) = 4 x 6 = 24</a:t>
            </a:r>
          </a:p>
        </p:txBody>
      </p:sp>
      <p:sp>
        <p:nvSpPr>
          <p:cNvPr id="16" name="Flèche vers le bas 15"/>
          <p:cNvSpPr>
            <a:spLocks noChangeArrowheads="1"/>
          </p:cNvSpPr>
          <p:nvPr/>
        </p:nvSpPr>
        <p:spPr bwMode="auto">
          <a:xfrm>
            <a:off x="712762" y="3857628"/>
            <a:ext cx="287338" cy="2714644"/>
          </a:xfrm>
          <a:prstGeom prst="downArrow">
            <a:avLst>
              <a:gd name="adj1" fmla="val 50000"/>
              <a:gd name="adj2" fmla="val 49977"/>
            </a:avLst>
          </a:prstGeom>
          <a:solidFill>
            <a:srgbClr val="7F7F7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fr-FR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7" name="Flèche à angle droit 4"/>
          <p:cNvSpPr>
            <a:spLocks/>
          </p:cNvSpPr>
          <p:nvPr/>
        </p:nvSpPr>
        <p:spPr bwMode="auto">
          <a:xfrm>
            <a:off x="4857752" y="3786190"/>
            <a:ext cx="3600450" cy="2857520"/>
          </a:xfrm>
          <a:custGeom>
            <a:avLst/>
            <a:gdLst>
              <a:gd name="T0" fmla="*/ 0 w 3600450"/>
              <a:gd name="T1" fmla="*/ 3025934 h 3168650"/>
              <a:gd name="T2" fmla="*/ 3393632 w 3600450"/>
              <a:gd name="T3" fmla="*/ 3025934 h 3168650"/>
              <a:gd name="T4" fmla="*/ 3393632 w 3600450"/>
              <a:gd name="T5" fmla="*/ 204219 h 3168650"/>
              <a:gd name="T6" fmla="*/ 3329530 w 3600450"/>
              <a:gd name="T7" fmla="*/ 204219 h 3168650"/>
              <a:gd name="T8" fmla="*/ 3464990 w 3600450"/>
              <a:gd name="T9" fmla="*/ 0 h 3168650"/>
              <a:gd name="T10" fmla="*/ 3600450 w 3600450"/>
              <a:gd name="T11" fmla="*/ 204219 h 3168650"/>
              <a:gd name="T12" fmla="*/ 3536348 w 3600450"/>
              <a:gd name="T13" fmla="*/ 204219 h 3168650"/>
              <a:gd name="T14" fmla="*/ 3536348 w 3600450"/>
              <a:gd name="T15" fmla="*/ 3168650 h 3168650"/>
              <a:gd name="T16" fmla="*/ 0 w 3600450"/>
              <a:gd name="T17" fmla="*/ 3168650 h 3168650"/>
              <a:gd name="T18" fmla="*/ 0 w 3600450"/>
              <a:gd name="T19" fmla="*/ 3025934 h 316865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600450" h="3168650">
                <a:moveTo>
                  <a:pt x="0" y="3025934"/>
                </a:moveTo>
                <a:lnTo>
                  <a:pt x="3393632" y="3025934"/>
                </a:lnTo>
                <a:lnTo>
                  <a:pt x="3393632" y="204219"/>
                </a:lnTo>
                <a:lnTo>
                  <a:pt x="3329530" y="204219"/>
                </a:lnTo>
                <a:lnTo>
                  <a:pt x="3464990" y="0"/>
                </a:lnTo>
                <a:lnTo>
                  <a:pt x="3600450" y="204219"/>
                </a:lnTo>
                <a:lnTo>
                  <a:pt x="3536348" y="204219"/>
                </a:lnTo>
                <a:lnTo>
                  <a:pt x="3536348" y="3168650"/>
                </a:lnTo>
                <a:lnTo>
                  <a:pt x="0" y="3168650"/>
                </a:lnTo>
                <a:lnTo>
                  <a:pt x="0" y="3025934"/>
                </a:lnTo>
                <a:close/>
              </a:path>
            </a:pathLst>
          </a:custGeom>
          <a:solidFill>
            <a:srgbClr val="7F7F7F"/>
          </a:solidFill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5072066" y="5929330"/>
            <a:ext cx="2879725" cy="4302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fr-FR" sz="2200">
                <a:latin typeface="+mn-lt"/>
                <a:ea typeface="ＭＳ Ｐゴシック" charset="0"/>
                <a:cs typeface="ＭＳ Ｐゴシック" charset="0"/>
              </a:rPr>
              <a:t>facto(1) = 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905513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Récursivité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52571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Remarque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importante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Il est indispensable de prévoir une condition d</a:t>
            </a:r>
            <a:r>
              <a:rPr kumimoji="0" lang="fr-FR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arrêt à la récurions sinon le programme ne se termine jamais.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pic>
        <p:nvPicPr>
          <p:cNvPr id="6" name="Image 8" descr="warning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00496" y="1285860"/>
            <a:ext cx="785818" cy="569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3209959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à ne pas 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suivre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642910" y="3714752"/>
            <a:ext cx="8035951" cy="18002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factorielleRecursiveBadJob(n):</a:t>
            </a:r>
          </a:p>
          <a:p>
            <a:pPr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 	</a:t>
            </a: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return 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n*factorielleRecursiveBadJob(n-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1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83848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Récursivité versus itération</a:t>
            </a:r>
            <a:endParaRPr lang="fr-FR" sz="2400" b="1" dirty="0">
              <a:latin typeface="+mj-lt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071546"/>
            <a:ext cx="8435975" cy="2217738"/>
          </a:xfrm>
          <a:prstGeom prst="rect">
            <a:avLst/>
          </a:prstGeom>
        </p:spPr>
        <p:txBody>
          <a:bodyPr/>
          <a:lstStyle/>
          <a:p>
            <a:pPr marL="342900" lvl="0" indent="-342900" algn="just" eaLnBrk="1" hangingPunct="1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n"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On peut toujours transformer </a:t>
            </a:r>
            <a:r>
              <a:rPr lang="fr-FR" sz="2400" kern="0" dirty="0">
                <a:latin typeface="+mn-lt"/>
                <a:ea typeface="ＭＳ Ｐゴシック" pitchFamily="34" charset="-128"/>
                <a:cs typeface="+mn-cs"/>
              </a:rPr>
              <a:t>un algorithme 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récursif en un algorithme itératif et inversement.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</a:t>
            </a:r>
            <a:r>
              <a:rPr kumimoji="0" lang="fr-FR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algorithme itératif sera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plus rapide 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 fois implémenté dans un langage de programmation mais souvent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plus complexe à écrire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fr-F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9495" y="3352835"/>
            <a:ext cx="8435975" cy="50768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 version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itérative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du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calcul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de n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!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681070" y="3856061"/>
            <a:ext cx="7285059" cy="22320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defRPr/>
            </a:pP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def 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factorielleIterative(n):</a:t>
            </a: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   resultat = 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1</a:t>
            </a: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i </a:t>
            </a: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in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range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2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,n+</a:t>
            </a:r>
            <a:r>
              <a:rPr lang="fr-FR" sz="2000" b="1" dirty="0">
                <a:solidFill>
                  <a:srgbClr val="3366FF"/>
                </a:solidFill>
                <a:latin typeface="Courier New"/>
                <a:cs typeface="Courier New"/>
              </a:rPr>
              <a:t>1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):</a:t>
            </a: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       resultat *= i</a:t>
            </a:r>
          </a:p>
          <a:p>
            <a:pPr lvl="1">
              <a:defRPr/>
            </a:pP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fr-FR" sz="20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fr-FR" sz="2000" b="1" dirty="0">
                <a:solidFill>
                  <a:schemeClr val="tx1"/>
                </a:solidFill>
                <a:latin typeface="Courier New"/>
                <a:cs typeface="Courier New"/>
              </a:rPr>
              <a:t> resultat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015275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 dirty="0" smtClean="0">
                <a:solidFill>
                  <a:srgbClr val="000000"/>
                </a:solidFill>
                <a:latin typeface="Arial" pitchFamily="34" charset="0"/>
              </a:rPr>
              <a:t>Les sous-programmes en Python</a:t>
            </a:r>
            <a:endParaRPr lang="fr-FR" sz="1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 smtClean="0">
                <a:latin typeface="+mj-lt"/>
              </a:rPr>
              <a:t>Récursivité versus itération</a:t>
            </a:r>
            <a:endParaRPr lang="fr-FR" sz="2400" b="1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65181" y="1000108"/>
            <a:ext cx="8435975" cy="3289308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Intérêts de la récursivité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: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Technique de programmation très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élégante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et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lisible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(elle évite souvent le recours à de nombreuses structures itératives).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Elle est très utile pour concevoir des algorithmes sur des structures complexes.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1" y="4211658"/>
            <a:ext cx="8186766" cy="2003424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Inconvénient majeur de la récursivité  </a:t>
            </a: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: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Une fois implémentée dans un langage de programmation, cette technique est très « gourmande » en mémoire.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Elle peut même provoquer des débordements de capacité.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0669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23034</TotalTime>
  <Words>4722</Words>
  <Application>Microsoft Office PowerPoint</Application>
  <PresentationFormat>Affichage à l'écran (4:3)</PresentationFormat>
  <Paragraphs>775</Paragraphs>
  <Slides>66</Slides>
  <Notes>37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66</vt:i4>
      </vt:variant>
    </vt:vector>
  </HeadingPairs>
  <TitlesOfParts>
    <vt:vector size="67" baseType="lpstr">
      <vt:lpstr>Capitaux</vt:lpstr>
      <vt:lpstr>Présentation PowerPoint</vt:lpstr>
      <vt:lpstr>Indentation </vt:lpstr>
      <vt:lpstr>Structure conditionnelle</vt:lpstr>
      <vt:lpstr>Structure conditionnelle</vt:lpstr>
      <vt:lpstr>Structure conditionnelle</vt:lpstr>
      <vt:lpstr>Structure conditionnelle</vt:lpstr>
      <vt:lpstr>Structure conditionnelle</vt:lpstr>
      <vt:lpstr>Structure conditionnelle</vt:lpstr>
      <vt:lpstr>Structure conditionnelle</vt:lpstr>
      <vt:lpstr>Structure conditionnelle</vt:lpstr>
      <vt:lpstr>Présentation PowerPoint</vt:lpstr>
      <vt:lpstr>Les répétitions : la boucle for</vt:lpstr>
      <vt:lpstr>Les répétitions : la boucle for</vt:lpstr>
      <vt:lpstr>Les répétitions : la boucle for</vt:lpstr>
      <vt:lpstr>Les répétitions : la boucle for</vt:lpstr>
      <vt:lpstr>Les répétitions : la boucle for</vt:lpstr>
      <vt:lpstr>Les répétitions : la boucle while(tant que )</vt:lpstr>
      <vt:lpstr>Les répétitions : la boucle while</vt:lpstr>
      <vt:lpstr>Les répétitions : la boucle while</vt:lpstr>
      <vt:lpstr>Les répétitions : la boucle while</vt:lpstr>
      <vt:lpstr>Les répétitions : la boucle while</vt:lpstr>
      <vt:lpstr>Les répétitions : la boucle while</vt:lpstr>
      <vt:lpstr>Les répétitions : la boucle while </vt:lpstr>
      <vt:lpstr>Les répétitions : la boucle while</vt:lpstr>
      <vt:lpstr>Les répétitions : la boucle while</vt:lpstr>
      <vt:lpstr>Les répétitions : la boucle while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: ALGORITHMIQUE ET PROGRAMMATION (PYTHON)</dc:title>
  <dc:creator>Utilisateur Windows</dc:creator>
  <cp:lastModifiedBy>Utilisateur Windows</cp:lastModifiedBy>
  <cp:revision>153</cp:revision>
  <dcterms:created xsi:type="dcterms:W3CDTF">2024-10-30T10:18:55Z</dcterms:created>
  <dcterms:modified xsi:type="dcterms:W3CDTF">2025-10-10T19:54:32Z</dcterms:modified>
</cp:coreProperties>
</file>